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CC36DB7-B804-4A0E-823F-8CE4923E1CEA}">
          <p14:sldIdLst>
            <p14:sldId id="256"/>
          </p14:sldIdLst>
        </p14:section>
        <p14:section name="The problem" id="{B4AE20BB-9034-4E6E-8F67-8D0F02025850}">
          <p14:sldIdLst>
            <p14:sldId id="257"/>
            <p14:sldId id="258"/>
          </p14:sldIdLst>
        </p14:section>
        <p14:section name="The answer" id="{8D566F6B-0025-498F-9483-AB0B3A4EA1C5}">
          <p14:sldIdLst>
            <p14:sldId id="259"/>
          </p14:sldIdLst>
        </p14:section>
        <p14:section name="The five calls" id="{35499CFB-AF45-4277-B4BC-B738DF7B2B4B}">
          <p14:sldIdLst>
            <p14:sldId id="260"/>
            <p14:sldId id="261"/>
            <p14:sldId id="262"/>
            <p14:sldId id="263"/>
            <p14:sldId id="264"/>
          </p14:sldIdLst>
        </p14:section>
        <p14:section name="Will it hold" id="{6160854A-F5D2-4583-887B-EFF1C1FB7764}">
          <p14:sldIdLst>
            <p14:sldId id="265"/>
          </p14:sldIdLst>
        </p14:section>
        <p14:section name="What next" id="{F1AB1DD9-F96E-4BC1-9261-EA1FFA6A1B6C}">
          <p14:sldIdLst>
            <p14:sldId id="266"/>
            <p14:sldId id="267"/>
          </p14:sldIdLst>
        </p14:section>
        <p14:section name="Us" id="{BE82FD12-45C9-4477-9010-40DE4ACE323C}">
          <p14:sldIdLst>
            <p14:sldId id="268"/>
            <p14:sldId id="269"/>
          </p14:sldIdLst>
        </p14:section>
        <p14:section name="Close" id="{4C57063A-78E2-4343-B017-A55E4647955D}">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1233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41% of income saved, little debt.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But will it last? Our written case measured investments alone: 33%. The fairer test is what a sensible family would do: sell the business when Carmen retires, keep the flat, and sell it only if they must. Across 10,000 simulated markets, in 51% they must. In a typical one, Carmen, at 83 and on her own, sells the home where they raised Ryan and Chloe. By 86 the money has run out again, and the wealth meant for their children pays the bills: of HK$24.4 million,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one couldn't work, their pay would stop. So disability cover comes first, 65% of pay until they retire; then critical illness, medical cover of their own, and a term-life top-up. About HK$100K a year, 14% of their surplus. Term, because the need ends at retirement. And within three months: wills, a guardian for Chloe, powers of attorney, and a buy-sell agreement so her business survives her. Fahtai.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Thanks, Lookbua. Call two: the home and the business will pay for their retirement either way. The question is when, and on whose terms. At 65 they choose: stay, with a reverse mortgage paying HK$230K a year for life, or downsize. The business is sold in stages to her co-founder and managers; we count only HK$3 million of its five. A survivor plans on 70%, and the MPF buys annuities. Four decisions, taken now: 83%, not 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their budget leaves out. Kept on Flexi for life, medical premiums climb to HK$375K a year. So at Adrian's 75 they review the tier: the Standard plan costs about a third as much. And from 2039, two spending rules: no raise for inflation after a year markets fall, and a 10% trim only if they draw on savings too fast; essentials are never cut. Remember that future? Now the money lasts to 89, and the home stays theirs. The odds: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policy, a plan for each person. Today HK$2.5 million sits idle in cash, and most of their shares are in funds charging 1.5% a year. We give every dollar a job: a twelve-month reserve; HK$2.57 million for Chloe's degree, funded today wherever she goes; and a portfolio each,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Carmen asked for 20 to 25% in ESG. We reach 25%, up from 11%, in SFC-listed funds that must pass two ratings. Crypto isn't yes or no, it's sized per person. Adrian holds none; Carmen up to 2%, through an ETF; Ryan keeps his HK$500K but adds nothing new, so its share falls from 74% of his wealth to 20% by 35.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The four decisions alone last in 30% of futures; the full plan,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and a joint account in month one, the cover within three months, a portfolio each within six, a family meeting at a year. After that, dates trigger each step: Chloe's offer in 2028, the business from 2035, the home and the annuities from 2037, the medical review in 2047.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And if either parent dies early, the wills name a guardian for Chloe and hold each child's share in trust until 25, 30 and 35. Meanwhile,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And for us? Since 2021, Wealth Management Connect has let residents of Hong Kong, Macao and nine mainland cities invest across the boundary, now up to three million renminbi each. Southbound, a Hong Kong bank won't solicit or recommend across the boundary unless the investor asks, so an adviser's value is a clear, suitable answer. We kept Northbound out: their home, income and business are all in Hong Kong. If Adrian's work moves across the boundary, it becomes the right tool.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ex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ext"/>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ext"/>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ext"/>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ext"/>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ext"/>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ext"/>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ext"/>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ext"/>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ext"/>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ext"/>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ext"/>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ext"/>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ext"/>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ext"/>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ext"/>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ext"/>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ext"/>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ext"/>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ext"/>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ext"/>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ext"/>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ext"/>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ext"/>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ext"/>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ext"/>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ext"/>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ext"/>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ext"/>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ext"/>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ext"/>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ext"/>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ext"/>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ext"/>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ext"/>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ext"/>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ext"/>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ext"/>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ext"/>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ext"/>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ext"/>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ext"/>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ext"/>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ext"/>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ext"/>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ext"/>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ext"/>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ext"/>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ext"/>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ext"/>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ext"/>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ex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ext"/>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ext"/>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ext"/>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ext"/>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ext"/>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ext"/>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ext"/>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ext"/>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ext"/>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ext"/>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ext"/>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ext"/>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ext"/>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ext"/>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ext"/>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ext"/>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ext"/>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ext"/>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ext"/>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ext"/>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ext"/>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ext"/>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spTree>
      <p:nvGrpSpPr>
        <p:cNvPr id="1" name=""/>
        <p:cNvGrpSpPr/>
        <p:nvPr/>
      </p:nvGrpSpPr>
      <p:grpSpPr>
        <a:xfrm>
          <a:off x="0" y="0"/>
          <a:ext cx="0" cy="0"/>
          <a:chOff x="0" y="0"/>
          <a:chExt cx="0" cy="0"/>
        </a:xfrm>
      </p:grpSpPr>
      <p:sp>
        <p:nvSpPr>
          <p:cNvPr id="2" name="section"/>
          <p:cNvSpPr/>
          <p:nvPr/>
        </p:nvSpPr>
        <p:spPr>
          <a:xfrm>
            <a:off x="0" y="0"/>
            <a:ext cx="12192000" cy="6858000"/>
          </a:xfrm>
          <a:prstGeom prst="rect">
            <a:avLst/>
          </a:prstGeom>
          <a:gradFill rotWithShape="0">
            <a:gsLst>
              <a:gs pos="0">
                <a:srgbClr val="BB1626"/>
              </a:gs>
              <a:gs pos="40000">
                <a:srgbClr val="971320"/>
              </a:gs>
              <a:gs pos="72000">
                <a:srgbClr val="700E19"/>
              </a:gs>
              <a:gs pos="100000">
                <a:srgbClr val="500911"/>
              </a:gs>
            </a:gsLst>
            <a:path path="circle">
              <a:fillToRect l="50000" t="50000" r="50000" b="50000"/>
            </a:path>
          </a:gradFill>
          <a:ln>
            <a:noFill/>
          </a:ln>
        </p:spPr>
        <p:txBody>
          <a:bodyPr rtlCol="0" anchor="ctr"/>
          <a:lstStyle/>
          <a:p>
            <a:pPr algn="ctr"/>
            <a:endParaRPr/>
          </a:p>
        </p:txBody>
      </p:sp>
      <p:sp>
        <p:nvSpPr>
          <p:cNvPr id="3" name="Rule"/>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4" name="Text"/>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5" name="Text"/>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7" name="span"/>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8"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9" name="Text"/>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10" name="Text"/>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1" name="span"/>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3" name="Text"/>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4" name="Text"/>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5" name="span"/>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6"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7" name="Text"/>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8" name="Text"/>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9" name="Text"/>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20" name="Text"/>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1" name="span"/>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3" name="Text"/>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4" name="Text"/>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5" name="span"/>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7" name="Text"/>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8" name="Text"/>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9" name="span"/>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30"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1" name="div"/>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2" name="Text"/>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3" name="Text"/>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4" name="Text"/>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5" name="Text"/>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6" name="Text"/>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7" name="Text"/>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8" name="Text"/>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9" name="Text"/>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40" name="Text"/>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1" name="Text"/>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2" name="Text"/>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3" name="T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4" name="Text"/>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5" name="Text"/>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ext"/>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ext"/>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ext"/>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ext"/>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ex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ext"/>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ext"/>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ext"/>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ex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ext"/>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ext"/>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ext"/>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ext"/>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ext"/>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ext"/>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ext"/>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ext"/>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ext"/>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ext"/>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ext"/>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ext"/>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ext"/>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ext"/>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ext"/>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ext"/>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ext"/>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ext"/>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ext"/>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ext"/>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ex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ext"/>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ext"/>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ext"/>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ext"/>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ext"/>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ext"/>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ext"/>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ext"/>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ext"/>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ext"/>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ext"/>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ext"/>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ext"/>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ex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ext"/>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ext"/>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ext"/>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ext"/>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ext"/>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ex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ext"/>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ext"/>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ext"/>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ext"/>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ext"/>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ext"/>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ext"/>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ext"/>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ext"/>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ext"/>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ext"/>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ext"/>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ext"/>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ext"/>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ext"/>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ext"/>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ex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ext"/>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ext"/>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ext"/>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ext"/>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ext"/>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ext"/>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ext"/>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ext"/>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ext"/>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ex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ext"/>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ext"/>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ext"/>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ext"/>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ext"/>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ext"/>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ext"/>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ext"/>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ext"/>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ext"/>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ext"/>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ex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ext"/>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ext"/>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ext"/>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ex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ex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ext"/>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ext"/>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ext"/>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ext"/>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ext"/>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ext"/>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ext"/>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ext"/>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ext"/>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ext"/>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ext"/>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ext"/>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ext"/>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ext"/>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ext"/>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ext"/>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ext"/>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ext"/>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ext"/>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ext"/>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ext"/>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ext"/>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ext"/>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ext"/>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ext"/>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ext"/>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ext"/>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ext"/>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ext"/>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ext"/>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ext"/>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ext"/>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ext"/>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ext"/>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ext"/>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ext"/>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ext"/>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ext"/>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ext"/>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ext"/>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ext"/>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ext"/>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ext"/>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ext"/>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ext"/>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ext"/>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ext"/>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ext"/>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ext"/>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ext"/>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ext"/>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ext"/>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ext"/>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ext"/>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ext"/>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ext"/>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ext"/>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ext"/>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ext"/>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ext"/>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ext"/>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ext"/>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ext"/>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ext"/>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ext"/>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ext"/>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ext"/>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ext"/>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ext"/>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ext"/>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ext"/>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ext"/>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ext"/>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ext"/>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ext"/>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ext"/>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ext"/>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ext"/>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ext"/>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ext"/>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ext"/>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ext"/>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ext"/>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ext"/>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ext"/>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ext"/>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ext"/>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ext"/>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ext"/>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ext"/>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ext"/>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ext"/>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ext"/>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ext"/>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ext"/>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ext"/>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ext"/>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ext"/>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ex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ext"/>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ext"/>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ext"/>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ext"/>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ext"/>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ext"/>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ext"/>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ext"/>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ext"/>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ext"/>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ex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ext"/>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ex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ext"/>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ext"/>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ext"/>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ext"/>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ext"/>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ext"/>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ext"/>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ext"/>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ext"/>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ext"/>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ext"/>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ext"/>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ext"/>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ext"/>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ext"/>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ext"/>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ext"/>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ex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ext"/>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ext"/>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ext"/>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ext"/>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ext"/>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ext"/>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ext"/>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ext"/>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ext"/>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ext"/>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ext"/>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ext"/>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ext"/>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ext"/>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ext"/>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ext"/>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ext"/>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ext"/>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ext"/>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ext"/>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ext"/>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ex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ext"/>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ext"/>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ext"/>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ext"/>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ext"/>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ext"/>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ext"/>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ext"/>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ext"/>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ext"/>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ext"/>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ext"/>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ext"/>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ext"/>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ext"/>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ext"/>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ext"/>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ext"/>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ext"/>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ext"/>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ext"/>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ext"/>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ext"/>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ext"/>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ext"/>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ext"/>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ext"/>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ext"/>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ext"/>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ext"/>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ext"/>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ext"/>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ext"/>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ext"/>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ext"/>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ext"/>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ext"/>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ext"/>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ext"/>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ext"/>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ext"/>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ext"/>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ext"/>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ext"/>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ext"/>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ext"/>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ext"/>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ext"/>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ext"/>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ex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ext"/>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ext"/>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ext"/>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ext"/>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ext"/>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ext"/>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ex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ext"/>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ext"/>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ext"/>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ext"/>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ext"/>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ext"/>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ext"/>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ext"/>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ext"/>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ext"/>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ext"/>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ext"/>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ext"/>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ext"/>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ext"/>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ext"/>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ext"/>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ext"/>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ext"/>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ext"/>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ext"/>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ext"/>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ext"/>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ext"/>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ext"/>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ext"/>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ext"/>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ext"/>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ext"/>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ext"/>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ext"/>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ext"/>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ext"/>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ext"/>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ext"/>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ext"/>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ext"/>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ext"/>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ext"/>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ext"/>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ext"/>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ext"/>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ext"/>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ext"/>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ext"/>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ext"/>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ext"/>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ext"/>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ex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ext"/>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ext"/>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ext"/>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ext"/>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ext"/>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ext"/>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ex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ext"/>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ext"/>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ext"/>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ext"/>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ext"/>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ext"/>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ext"/>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ext"/>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ext"/>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ext"/>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ext"/>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ext"/>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ext"/>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ext"/>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ext"/>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ext"/>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ext"/>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ext"/>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ext"/>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ext"/>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ext"/>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ext"/>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ext"/>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ext"/>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ext"/>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ext"/>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ext"/>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ext"/>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ext"/>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ex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ext"/>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ext"/>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ext"/>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ext"/>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ex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ext"/>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2026-10-25T11:07:25Z</dcterms:created>
  <dcterms:modified xsi:type="dcterms:W3CDTF">2026-10-25T11:07:25Z</dcterms:modified>
</cp:coreProperties>
</file>