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embedTrueType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embeddedFontLst>
    <p:embeddedFont>
      <p:font typeface="Plus Jakarta Sans" pitchFamily="2" charset="0"/>
      <p:regular r:id="rId18"/>
      <p:bold r:id="rId19"/>
    </p:embeddedFont>
    <p:embeddedFont>
      <p:font typeface="Plus Jakarta Sans Medium" pitchFamily="2" charset="0"/>
      <p:regular r:id="rId20"/>
    </p:embeddedFont>
    <p:embeddedFont>
      <p:font typeface="Plus Jakarta Sans SemiBold" pitchFamily="2" charset="0"/>
      <p:bold r:id="rId2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F97283D7-F421-4C62-BF26-01AD972183CE}">
          <p14:sldIdLst>
            <p14:sldId id="256"/>
          </p14:sldIdLst>
        </p14:section>
        <p14:section name="The problem" id="{06C325B4-8EAC-4674-AC9D-8B27D054DCAE}">
          <p14:sldIdLst>
            <p14:sldId id="257"/>
            <p14:sldId id="258"/>
          </p14:sldIdLst>
        </p14:section>
        <p14:section name="The answer" id="{32487D19-4432-4ED7-BF2A-DBD479AF98A6}">
          <p14:sldIdLst>
            <p14:sldId id="259"/>
          </p14:sldIdLst>
        </p14:section>
        <p14:section name="The five calls" id="{E10E7975-F12A-4E71-BF90-62D743E06665}">
          <p14:sldIdLst>
            <p14:sldId id="260"/>
            <p14:sldId id="261"/>
            <p14:sldId id="262"/>
            <p14:sldId id="263"/>
            <p14:sldId id="264"/>
          </p14:sldIdLst>
        </p14:section>
        <p14:section name="Will it hold" id="{8A56E647-5397-4575-85B2-FD89F5F6AE48}">
          <p14:sldIdLst>
            <p14:sldId id="265"/>
          </p14:sldIdLst>
        </p14:section>
        <p14:section name="What next" id="{B025E062-29E1-49BA-BEA4-4EA273A27552}">
          <p14:sldIdLst>
            <p14:sldId id="266"/>
            <p14:sldId id="267"/>
          </p14:sldIdLst>
        </p14:section>
        <p14:section name="Us" id="{54184064-EAAB-464F-BA1A-CB40A565CAA3}">
          <p14:sldIdLst>
            <p14:sldId id="268"/>
            <p14:sldId id="269"/>
          </p14:sldIdLst>
        </p14:section>
        <p14:section name="Close" id="{0217D62E-6241-4F06-8BE8-D87ACBC94D39}">
          <p14:sldIdLst>
            <p14:sldId id="270"/>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781371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Hello, we're Team Axis, and this is Built to Last, our plan for the Wong family. I'm Pete, the lead adviser.</a:t>
            </a:r>
          </a:p>
          <a:p>
            <a:r>
              <a:t>Fahtai: I'm Fahtai: retirement.</a:t>
            </a:r>
          </a:p>
          <a:p>
            <a:r>
              <a:t>Win: I'm Win: investments.</a:t>
            </a:r>
          </a:p>
          <a:p>
            <a:r>
              <a:t>Lookbua: And I'm Lookbua: protection and risk.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Meet the Wongs. Adrian, 54, wants his capital, retirement and health protected. Carmen, 49, runs a business and wants money that reflects her values. Ryan, 24, holds crypto. Chloe, 16, starts university in 2028. On paper, they're secure: HK$24.4 million, 41% of income saved, little debt.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But will it last? Our written case measured investments alone: 33%. The fairer test is what a sensible family would do: sell the business when Carmen retires, keep the flat, and sell it only if they must. Across 10,000 simulated markets, in 51% they must. In a typical one, Carmen, at 83 and on her own, sells the home where they raised Ryan and Chloe. By 86 the money has run out again, and the wealth meant for their children pays the bills: of HK$24.4 million, just HK$2.3M is left to them.</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They asked for a plan that's innovative yet prudent. Our answer: five calls. Insure the income, not the life. Put the home and the business to work, on their terms. Fix the cost the budget ignores. Give each person a plan of their own. And make room for their values and Ryan's crypto, with guardrails. Done their own way, the money lasts to Carmen's 89 in 62%; the five calls lift it to 97%, and the home becomes their choice, not their last resort. Lookbua.</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Thanks, Pete. Call one: insure the income, not the life. Neither parent has disability cover: if one couldn't work, their pay would stop. So disability cover comes first, 65% of pay until they retire; then critical illness, medical cover of their own, and a term-life top-up. About HK$100K a year, 14% of their surplus. Term, because the need ends at retirement. And within three months: wills, a guardian for Chloe, powers of attorney, and a buy-sell agreement so her business survives her. Fahtai.</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Thanks, Lookbua. Call two: the home and the business will pay for their retirement either way. The question is when, and on whose terms. At 65 they choose: stay, with a reverse mortgage paying HK$230K a year for life, or downsize. The business is sold in stages to her co-founder and managers; we count only HK$3 million of its five. A survivor plans on 70%, and the MPF buys annuities. Four decisions, taken now: 83%, not 62%.</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Call three: the cost their budget leaves out. Kept on Flexi for life, medical premiums climb to HK$375K a year. So at Adrian's 75 they review the tier: the Standard plan costs about a third as much. And from 2039, two spending rules: no raise for inflation after a year markets fall, and a 10% trim only if they draw on savings too fast; essentials are never cut. Remember that future? Now the money lasts to 89, and the home stays theirs. The odds: 97% with the review, almost every future with the rules. Win.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Thanks, Fahtai. Call four: one family policy, a plan for each person. Today HK$2.5 million sits idle in cash, and most of their shares are in funds charging 1.5% a year. We give every dollar a job: a twelve-month reserve; HK$2.57 million for Chloe's degree, funded today wherever she goes; and a portfolio each, Adrian 40% in shares, Carmen 60%. Ryan saves 30% of his pay in a plan of his own. Index funds alone save HK$45K a year.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Call five: values and innovation, with guardrails. Carmen asked for 20 to 25% in ESG. We reach 25%, up from 11%, in SFC-listed funds that must pass two ratings. Crypto isn't yes or no, it's sized per person. Adrian holds none; Carmen up to 2%, through an ETF; Ryan keeps his HK$500K but adds nothing new, so its share falls from 74% of his wealth to 20% by 35. Lookbua.</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Then we tried to break the plan. The hardest test: Adrian loses his job at 60. The four decisions alone last in 30% of futures; the full plan, 83%. Years of low returns, or high inflation with dearer medical care: 92% or better. And if Carmen lives to 95: 99%.</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It starts this month: wills and a joint account in month one, the cover within three months, a portfolio each within six, a family meeting at a year. After that, dates trigger each step: Chloe's offer in 2028, the business from 2035, the home and the annuities from 2037, the medical review in 2047. Pete.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The legacy the case is named for: in the futures where Carmen had to sell, the plan leaves Ryan and Chloe HK$7.7M, not HK$2.3M. And if either parent dies early, the wills name a guardian for Chloe and hold each child's share in trust until 25, 30 and 35. Meanwhile, a scholarship in sustainable design joins Carmen's mission to Chloe's interest.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And for us? Since 2021, Wealth Management Connect has let residents of Hong Kong, Macao and nine mainland cities invest across the boundary, now up to three million renminbi each. Southbound, a Hong Kong bank won't solicit or recommend across the boundary unless the investor asks, so an adviser's value is a clear, suitable answer. We kept Northbound out: their home, income and business are all in Hong Kong. If Adrian's work moves across the boundary, it becomes the right tool.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In five years I want to be an investment specialist in a Hong Kong bank's wealth team, matching each Connect client's portfolio to their risk, with the currency risk made clear. Fitting the Wongs' three risk profiles into one plan was that job in miniature.</a:t>
            </a:r>
          </a:p>
          <a:p>
            <a:r>
              <a:t>Fahtai: I want to build the data and risk models that wealth managers across East and Southeast Asia use for families. This plan taught me that a model's job is to price the trade-offs between people. Next is the FRM, with Connect funds as my first case.</a:t>
            </a:r>
          </a:p>
          <a:p>
            <a:r>
              <a:t>Win: I want to be an investment strategist for family clients across Asia-Pacific, fitting each portfolio to its owner on either side of the boundary.</a:t>
            </a:r>
          </a:p>
          <a:p>
            <a:r>
              <a:t>Lookbua: I aim to focus on systems risk. The Connect links two markets with different rules, so a shock in one can cross the boundary and reach the other side. Stress-testing this plan taught me that every risk needs a named defence.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Protected first, income for life, and a place for every voice. The home stays their choice, and the next generation keeps its inheritance: built to last. We are Team Axis.</a:t>
            </a:r>
          </a:p>
          <a:p>
            <a:r>
              <a:t>All: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4.jpg"/><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8.svg"/><Relationship Id="rId9" Type="http://schemas.openxmlformats.org/officeDocument/2006/relationships/image" Target="../media/image13.svg"/></Relationships>
</file>

<file path=ppt/slides/_rels/slide5.xml.rels><?xml version="1.0" encoding="UTF-8" standalone="yes"?>
<Relationships xmlns="http://schemas.openxmlformats.org/package/2006/relationships"><Relationship Id="rId3" Type="http://schemas.openxmlformats.org/officeDocument/2006/relationships/image" Target="../media/image14.svg"/><Relationship Id="rId7"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svg"/></Relationships>
</file>

<file path=ppt/slides/_rels/slide6.xml.rels><?xml version="1.0" encoding="UTF-8" standalone="yes"?>
<Relationships xmlns="http://schemas.openxmlformats.org/package/2006/relationships"><Relationship Id="rId8" Type="http://schemas.openxmlformats.org/officeDocument/2006/relationships/image" Target="../media/image24.svg"/><Relationship Id="rId3" Type="http://schemas.openxmlformats.org/officeDocument/2006/relationships/image" Target="../media/image19.svg"/><Relationship Id="rId7" Type="http://schemas.openxmlformats.org/officeDocument/2006/relationships/image" Target="../media/image23.sv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2.svg"/><Relationship Id="rId5" Type="http://schemas.openxmlformats.org/officeDocument/2006/relationships/image" Target="../media/image21.svg"/><Relationship Id="rId4" Type="http://schemas.openxmlformats.org/officeDocument/2006/relationships/image" Target="../media/image20.svg"/></Relationships>
</file>

<file path=ppt/slides/_rels/slide7.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8.xml.rels><?xml version="1.0" encoding="UTF-8" standalone="yes"?>
<Relationships xmlns="http://schemas.openxmlformats.org/package/2006/relationships"><Relationship Id="rId3" Type="http://schemas.openxmlformats.org/officeDocument/2006/relationships/image" Target="../media/image31.svg"/><Relationship Id="rId7"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3.jpg"/><Relationship Id="rId4" Type="http://schemas.openxmlformats.org/officeDocument/2006/relationships/image" Target="../media/image4.jpg"/></Relationships>
</file>

<file path=ppt/slides/_rels/slide9.xml.rels><?xml version="1.0" encoding="UTF-8" standalone="yes"?>
<Relationships xmlns="http://schemas.openxmlformats.org/package/2006/relationships"><Relationship Id="rId3" Type="http://schemas.openxmlformats.org/officeDocument/2006/relationships/image" Target="../media/image32.svg"/><Relationship Id="rId7"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4.jpg"/><Relationship Id="rId5" Type="http://schemas.openxmlformats.org/officeDocument/2006/relationships/image" Target="../media/image5.jpg"/><Relationship Id="rId4" Type="http://schemas.openxmlformats.org/officeDocument/2006/relationships/image" Target="../media/image3.jpg"/></Relationships>
</file>

<file path=ppt/slides/_rels/slide10.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11.xml.rels><?xml version="1.0" encoding="UTF-8" standalone="yes"?>
<Relationships xmlns="http://schemas.openxmlformats.org/package/2006/relationships"><Relationship Id="rId8" Type="http://schemas.openxmlformats.org/officeDocument/2006/relationships/image" Target="../media/image39.svg"/><Relationship Id="rId3" Type="http://schemas.openxmlformats.org/officeDocument/2006/relationships/image" Target="../media/image3.jpg"/><Relationship Id="rId7" Type="http://schemas.openxmlformats.org/officeDocument/2006/relationships/image" Target="../media/image38.sv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4.jpg"/><Relationship Id="rId11" Type="http://schemas.openxmlformats.org/officeDocument/2006/relationships/image" Target="../media/image42.svg"/><Relationship Id="rId5" Type="http://schemas.openxmlformats.org/officeDocument/2006/relationships/image" Target="../media/image2.jpg"/><Relationship Id="rId10" Type="http://schemas.openxmlformats.org/officeDocument/2006/relationships/image" Target="../media/image41.svg"/><Relationship Id="rId4" Type="http://schemas.openxmlformats.org/officeDocument/2006/relationships/image" Target="../media/image5.jpg"/><Relationship Id="rId9" Type="http://schemas.openxmlformats.org/officeDocument/2006/relationships/image" Target="../media/image40.svg"/></Relationships>
</file>

<file path=ppt/slides/_rels/slide12.xml.rels><?xml version="1.0" encoding="UTF-8" standalone="yes"?>
<Relationships xmlns="http://schemas.openxmlformats.org/package/2006/relationships"><Relationship Id="rId8" Type="http://schemas.openxmlformats.org/officeDocument/2006/relationships/image" Target="../media/image44.svg"/><Relationship Id="rId3" Type="http://schemas.openxmlformats.org/officeDocument/2006/relationships/image" Target="../media/image43.svg"/><Relationship Id="rId7" Type="http://schemas.openxmlformats.org/officeDocument/2006/relationships/image" Target="../media/image4.jp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jpg"/><Relationship Id="rId5" Type="http://schemas.openxmlformats.org/officeDocument/2006/relationships/image" Target="../media/image5.jpg"/><Relationship Id="rId4" Type="http://schemas.openxmlformats.org/officeDocument/2006/relationships/image" Target="../media/image3.jpg"/></Relationships>
</file>

<file path=ppt/slides/_rels/slide13.xml.rels><?xml version="1.0" encoding="UTF-8" standalone="yes"?>
<Relationships xmlns="http://schemas.openxmlformats.org/package/2006/relationships"><Relationship Id="rId3" Type="http://schemas.openxmlformats.org/officeDocument/2006/relationships/image" Target="../media/image45.sv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47.svg"/><Relationship Id="rId4" Type="http://schemas.openxmlformats.org/officeDocument/2006/relationships/image" Target="../media/image46.svg"/></Relationships>
</file>

<file path=ppt/slides/_rels/slide14.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51.svg"/><Relationship Id="rId5" Type="http://schemas.openxmlformats.org/officeDocument/2006/relationships/image" Target="../media/image50.jpg"/><Relationship Id="rId4" Type="http://schemas.openxmlformats.org/officeDocument/2006/relationships/image" Target="../media/image49.jpg"/></Relationships>
</file>

<file path=ppt/slides/_rels/slide15.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ext"/>
          <p:cNvSpPr txBox="1"/>
          <p:nvPr/>
        </p:nvSpPr>
        <p:spPr>
          <a:xfrm>
            <a:off x="533400" y="845106"/>
            <a:ext cx="5004161" cy="414338"/>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80606A"/>
                </a:solidFill>
                <a:latin typeface="Plus Jakarta Sans"/>
              </a:rPr>
              <a:t>Hong Kong Undergraduate Financial Planners of the Year Award 2026</a:t>
            </a:r>
          </a:p>
          <a:p>
            <a:pPr algn="l">
              <a:lnSpc>
                <a:spcPts val="1631"/>
              </a:lnSpc>
              <a:spcBef>
                <a:spcPts val="0"/>
              </a:spcBef>
              <a:spcAft>
                <a:spcPts val="0"/>
              </a:spcAft>
            </a:pPr>
            <a:r>
              <a:rPr sz="1125" b="0" i="0" kern="100">
                <a:solidFill>
                  <a:srgbClr val="80606A"/>
                </a:solidFill>
                <a:latin typeface="Plus Jakarta Sans"/>
              </a:rPr>
              <a:t>Round Two: our financial proposal for the Wong family</a:t>
            </a:r>
          </a:p>
        </p:txBody>
      </p:sp>
      <p:sp>
        <p:nvSpPr>
          <p:cNvPr id="4" name="Text"/>
          <p:cNvSpPr txBox="1"/>
          <p:nvPr/>
        </p:nvSpPr>
        <p:spPr>
          <a:xfrm>
            <a:off x="533400" y="1779842"/>
            <a:ext cx="4478828" cy="2313408"/>
          </a:xfrm>
          <a:prstGeom prst="rect">
            <a:avLst/>
          </a:prstGeom>
          <a:noFill/>
        </p:spPr>
        <p:txBody>
          <a:bodyPr wrap="none" lIns="0" tIns="0" rIns="0" bIns="0" anchor="t">
            <a:noAutofit/>
          </a:bodyPr>
          <a:lstStyle/>
          <a:p>
            <a:pPr algn="l">
              <a:lnSpc>
                <a:spcPts val="9108"/>
              </a:lnSpc>
              <a:spcBef>
                <a:spcPts val="0"/>
              </a:spcBef>
              <a:spcAft>
                <a:spcPts val="0"/>
              </a:spcAft>
            </a:pPr>
            <a:r>
              <a:rPr sz="9900" b="0" i="0" kern="100" spc="-150">
                <a:solidFill>
                  <a:srgbClr val="1B1716"/>
                </a:solidFill>
                <a:latin typeface="Plus Jakarta Sans SemiBold"/>
              </a:rPr>
              <a:t>Built to</a:t>
            </a:r>
          </a:p>
          <a:p>
            <a:pPr algn="l">
              <a:lnSpc>
                <a:spcPts val="9108"/>
              </a:lnSpc>
              <a:spcBef>
                <a:spcPts val="0"/>
              </a:spcBef>
              <a:spcAft>
                <a:spcPts val="0"/>
              </a:spcAft>
            </a:pPr>
            <a:r>
              <a:rPr sz="9900" b="0" i="0" kern="100" spc="-150">
                <a:solidFill>
                  <a:srgbClr val="1B1716"/>
                </a:solidFill>
                <a:latin typeface="Plus Jakarta Sans SemiBold"/>
              </a:rPr>
              <a:t>Last</a:t>
            </a:r>
          </a:p>
        </p:txBody>
      </p:sp>
      <p:sp>
        <p:nvSpPr>
          <p:cNvPr id="5" name="Text"/>
          <p:cNvSpPr txBox="1"/>
          <p:nvPr/>
        </p:nvSpPr>
        <p:spPr>
          <a:xfrm>
            <a:off x="533400" y="4385453"/>
            <a:ext cx="5688041" cy="643860"/>
          </a:xfrm>
          <a:prstGeom prst="rect">
            <a:avLst/>
          </a:prstGeom>
          <a:noFill/>
        </p:spPr>
        <p:txBody>
          <a:bodyPr wrap="none" lIns="0" tIns="0" rIns="0" bIns="0" anchor="t">
            <a:noAutofit/>
          </a:bodyPr>
          <a:lstStyle/>
          <a:p>
            <a:pPr algn="l">
              <a:lnSpc>
                <a:spcPts val="2535"/>
              </a:lnSpc>
              <a:spcBef>
                <a:spcPts val="0"/>
              </a:spcBef>
              <a:spcAft>
                <a:spcPts val="0"/>
              </a:spcAft>
            </a:pPr>
            <a:r>
              <a:rPr sz="1950" b="0" i="0" kern="100">
                <a:solidFill>
                  <a:srgbClr val="890816"/>
                </a:solidFill>
                <a:latin typeface="Plus Jakarta Sans Medium"/>
              </a:rPr>
              <a:t>Five calls that make the Wong family's wealth</a:t>
            </a:r>
          </a:p>
          <a:p>
            <a:pPr algn="l">
              <a:lnSpc>
                <a:spcPts val="2535"/>
              </a:lnSpc>
              <a:spcBef>
                <a:spcPts val="0"/>
              </a:spcBef>
              <a:spcAft>
                <a:spcPts val="0"/>
              </a:spcAft>
            </a:pPr>
            <a:r>
              <a:rPr sz="1950" b="0" i="0" kern="100">
                <a:solidFill>
                  <a:srgbClr val="890816"/>
                </a:solidFill>
                <a:latin typeface="Plus Jakarta Sans Medium"/>
              </a:rPr>
              <a:t>last, for every one of them</a:t>
            </a:r>
          </a:p>
        </p:txBody>
      </p:sp>
      <p:sp>
        <p:nvSpPr>
          <p:cNvPr id="6" name="Text"/>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7" name="Text"/>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8" name="Text"/>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9" name="Text"/>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0" name="Text"/>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1" name="Tex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12" name="Text"/>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13" name="Tex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14" name="Text"/>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15" name="Text"/>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16" name="div"/>
          <p:cNvSpPr/>
          <p:nvPr/>
        </p:nvSpPr>
        <p:spPr>
          <a:xfrm>
            <a:off x="7715250" y="0"/>
            <a:ext cx="4476750" cy="6858000"/>
          </a:xfrm>
          <a:prstGeom prst="rect">
            <a:avLst/>
          </a:prstGeom>
          <a:solidFill>
            <a:srgbClr val="2A2A2A"/>
          </a:solidFill>
          <a:ln>
            <a:noFill/>
          </a:ln>
        </p:spPr>
        <p:txBody>
          <a:bodyPr rtlCol="0" anchor="ctr"/>
          <a:lstStyle/>
          <a:p>
            <a:pPr algn="ctr"/>
            <a:endParaRPr/>
          </a:p>
        </p:txBody>
      </p:sp>
      <p:pic>
        <p:nvPicPr>
          <p:cNvPr id="17" name="Picture" descr="image.jpg"/>
          <p:cNvPicPr>
            <a:picLocks noChangeAspect="1"/>
          </p:cNvPicPr>
          <p:nvPr/>
        </p:nvPicPr>
        <p:blipFill>
          <a:blip r:embed="rId3"/>
          <a:srcRect l="19396" r="31646"/>
          <a:stretch>
            <a:fillRect/>
          </a:stretch>
        </p:blipFill>
        <p:spPr>
          <a:xfrm>
            <a:off x="7715250" y="0"/>
            <a:ext cx="4476750" cy="6858000"/>
          </a:xfrm>
          <a:prstGeom prst="rect">
            <a:avLst/>
          </a:prstGeom>
        </p:spPr>
      </p:pic>
      <p:sp>
        <p:nvSpPr>
          <p:cNvPr id="18" name="Text"/>
          <p:cNvSpPr txBox="1"/>
          <p:nvPr/>
        </p:nvSpPr>
        <p:spPr>
          <a:xfrm>
            <a:off x="9647119" y="6585454"/>
            <a:ext cx="2392481" cy="148590"/>
          </a:xfrm>
          <a:prstGeom prst="rect">
            <a:avLst/>
          </a:prstGeom>
          <a:noFill/>
        </p:spPr>
        <p:txBody>
          <a:bodyPr wrap="none" lIns="0" tIns="0" rIns="0" bIns="0" anchor="t">
            <a:noAutofit/>
          </a:bodyPr>
          <a:lstStyle/>
          <a:p>
            <a:pPr algn="r">
              <a:lnSpc>
                <a:spcPts val="1170"/>
              </a:lnSpc>
              <a:spcBef>
                <a:spcPts val="0"/>
              </a:spcBef>
              <a:spcAft>
                <a:spcPts val="0"/>
              </a:spcAft>
            </a:pPr>
            <a:r>
              <a:rPr sz="900" b="0" i="0" kern="100">
                <a:solidFill>
                  <a:srgbClr val="FFFFFF">
                    <a:alpha val="85000"/>
                  </a:srgbClr>
                </a:solidFill>
                <a:latin typeface="Plus Jakarta Sans"/>
              </a:rPr>
              <a:t>Photograph: Peter Steinhauer, </a:t>
            </a:r>
            <a:r>
              <a:rPr sz="900" b="0" i="1" kern="100">
                <a:solidFill>
                  <a:srgbClr val="FFFFFF">
                    <a:alpha val="85000"/>
                  </a:srgbClr>
                </a:solidFill>
                <a:latin typeface="Plus Jakarta Sans"/>
              </a:rPr>
              <a:t>Cocoons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On paper, the Wongs are secure, for a plan that must last forty years">
    <p:spTree>
      <p:nvGrpSpPr>
        <p:cNvPr id="1" name=""/>
        <p:cNvGrpSpPr/>
        <p:nvPr/>
      </p:nvGrpSpPr>
      <p:grpSpPr>
        <a:xfrm>
          <a:off x="0" y="0"/>
          <a:ext cx="0" cy="0"/>
          <a:chOff x="0" y="0"/>
          <a:chExt cx="0" cy="0"/>
        </a:xfrm>
      </p:grpSpPr>
      <p:sp>
        <p:nvSpPr>
          <p:cNvPr id="2" name="Rul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ext"/>
          <p:cNvSpPr txBox="1"/>
          <p:nvPr/>
        </p:nvSpPr>
        <p:spPr>
          <a:xfrm>
            <a:off x="638175" y="324421"/>
            <a:ext cx="122223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Meet the Wongs</a:t>
            </a:r>
          </a:p>
        </p:txBody>
      </p:sp>
      <p:sp>
        <p:nvSpPr>
          <p:cNvPr id="4" name="Text"/>
          <p:cNvSpPr txBox="1"/>
          <p:nvPr/>
        </p:nvSpPr>
        <p:spPr>
          <a:xfrm>
            <a:off x="638175" y="529852"/>
            <a:ext cx="9321835"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 paper, the Wongs are secure, for a plan that must last forty years</a:t>
            </a:r>
          </a:p>
        </p:txBody>
      </p:sp>
      <p:sp>
        <p:nvSpPr>
          <p:cNvPr id="5" name="Rule"/>
          <p:cNvSpPr/>
          <p:nvPr/>
        </p:nvSpPr>
        <p:spPr>
          <a:xfrm>
            <a:off x="457200" y="1419820"/>
            <a:ext cx="11277600" cy="9525"/>
          </a:xfrm>
          <a:prstGeom prst="rect">
            <a:avLst/>
          </a:prstGeom>
          <a:solidFill>
            <a:srgbClr val="1B1716"/>
          </a:solidFill>
          <a:ln>
            <a:noFill/>
          </a:ln>
        </p:spPr>
        <p:txBody>
          <a:bodyPr rtlCol="0" anchor="ctr"/>
          <a:lstStyle/>
          <a:p>
            <a:pPr algn="ctr"/>
            <a:endParaRPr/>
          </a:p>
        </p:txBody>
      </p:sp>
      <p:sp>
        <p:nvSpPr>
          <p:cNvPr id="6" name="Text"/>
          <p:cNvSpPr txBox="1"/>
          <p:nvPr/>
        </p:nvSpPr>
        <p:spPr>
          <a:xfrm>
            <a:off x="457200" y="1125545"/>
            <a:ext cx="202711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What they have today…</a:t>
            </a:r>
          </a:p>
        </p:txBody>
      </p:sp>
      <p:sp>
        <p:nvSpPr>
          <p:cNvPr id="7" name="Text"/>
          <p:cNvSpPr txBox="1"/>
          <p:nvPr/>
        </p:nvSpPr>
        <p:spPr>
          <a:xfrm>
            <a:off x="457200" y="1624989"/>
            <a:ext cx="128943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own</a:t>
            </a:r>
          </a:p>
        </p:txBody>
      </p:sp>
      <p:sp>
        <p:nvSpPr>
          <p:cNvPr id="8" name="Text"/>
          <p:cNvSpPr txBox="1"/>
          <p:nvPr/>
        </p:nvSpPr>
        <p:spPr>
          <a:xfrm>
            <a:off x="457200" y="1820442"/>
            <a:ext cx="81521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HK$27.2M</a:t>
            </a:r>
          </a:p>
        </p:txBody>
      </p:sp>
      <p:sp>
        <p:nvSpPr>
          <p:cNvPr id="9" name="i"/>
          <p:cNvSpPr/>
          <p:nvPr/>
        </p:nvSpPr>
        <p:spPr>
          <a:xfrm>
            <a:off x="1943100" y="1581745"/>
            <a:ext cx="2996803" cy="514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0" name="Text"/>
          <p:cNvSpPr txBox="1"/>
          <p:nvPr/>
        </p:nvSpPr>
        <p:spPr>
          <a:xfrm>
            <a:off x="2057400" y="1649373"/>
            <a:ext cx="827050"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home</a:t>
            </a:r>
          </a:p>
        </p:txBody>
      </p:sp>
      <p:sp>
        <p:nvSpPr>
          <p:cNvPr id="11" name="Text"/>
          <p:cNvSpPr txBox="1"/>
          <p:nvPr/>
        </p:nvSpPr>
        <p:spPr>
          <a:xfrm>
            <a:off x="2057400" y="1829729"/>
            <a:ext cx="75132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HK$11.5M</a:t>
            </a:r>
          </a:p>
        </p:txBody>
      </p:sp>
      <p:sp>
        <p:nvSpPr>
          <p:cNvPr id="12" name="i"/>
          <p:cNvSpPr/>
          <p:nvPr/>
        </p:nvSpPr>
        <p:spPr>
          <a:xfrm>
            <a:off x="4939903" y="1581745"/>
            <a:ext cx="1303139" cy="514350"/>
          </a:xfrm>
          <a:prstGeom prst="rect">
            <a:avLst/>
          </a:prstGeom>
          <a:solidFill>
            <a:srgbClr val="B4535D"/>
          </a:solidFill>
          <a:ln>
            <a:noFill/>
          </a:ln>
        </p:spPr>
        <p:txBody>
          <a:bodyPr rtlCol="0" anchor="ctr"/>
          <a:lstStyle/>
          <a:p>
            <a:pPr algn="ctr"/>
            <a:endParaRPr/>
          </a:p>
        </p:txBody>
      </p:sp>
      <p:sp>
        <p:nvSpPr>
          <p:cNvPr id="13" name="Rule"/>
          <p:cNvSpPr/>
          <p:nvPr/>
        </p:nvSpPr>
        <p:spPr>
          <a:xfrm>
            <a:off x="4939903" y="1581745"/>
            <a:ext cx="19050" cy="514350"/>
          </a:xfrm>
          <a:prstGeom prst="rect">
            <a:avLst/>
          </a:prstGeom>
          <a:solidFill>
            <a:srgbClr val="FFFFFF"/>
          </a:solidFill>
          <a:ln>
            <a:noFill/>
          </a:ln>
        </p:spPr>
        <p:txBody>
          <a:bodyPr rtlCol="0" anchor="ctr"/>
          <a:lstStyle/>
          <a:p>
            <a:pPr algn="ctr"/>
            <a:endParaRPr/>
          </a:p>
        </p:txBody>
      </p:sp>
      <p:sp>
        <p:nvSpPr>
          <p:cNvPr id="14" name="Text"/>
          <p:cNvSpPr txBox="1"/>
          <p:nvPr/>
        </p:nvSpPr>
        <p:spPr>
          <a:xfrm>
            <a:off x="5073253" y="1649373"/>
            <a:ext cx="1051697"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business</a:t>
            </a:r>
          </a:p>
        </p:txBody>
      </p:sp>
      <p:sp>
        <p:nvSpPr>
          <p:cNvPr id="15" name="Text"/>
          <p:cNvSpPr txBox="1"/>
          <p:nvPr/>
        </p:nvSpPr>
        <p:spPr>
          <a:xfrm>
            <a:off x="5073253" y="1829729"/>
            <a:ext cx="74990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HK$5.0M</a:t>
            </a:r>
          </a:p>
        </p:txBody>
      </p:sp>
      <p:sp>
        <p:nvSpPr>
          <p:cNvPr id="16" name="i"/>
          <p:cNvSpPr/>
          <p:nvPr/>
        </p:nvSpPr>
        <p:spPr>
          <a:xfrm>
            <a:off x="6243042" y="1581745"/>
            <a:ext cx="1595140" cy="514350"/>
          </a:xfrm>
          <a:prstGeom prst="rect">
            <a:avLst/>
          </a:prstGeom>
          <a:solidFill>
            <a:srgbClr val="D3A6AD"/>
          </a:solidFill>
          <a:ln>
            <a:noFill/>
          </a:ln>
        </p:spPr>
        <p:txBody>
          <a:bodyPr rtlCol="0" anchor="ctr"/>
          <a:lstStyle/>
          <a:p>
            <a:pPr algn="ctr"/>
            <a:endParaRPr/>
          </a:p>
        </p:txBody>
      </p:sp>
      <p:sp>
        <p:nvSpPr>
          <p:cNvPr id="17" name="Rule"/>
          <p:cNvSpPr/>
          <p:nvPr/>
        </p:nvSpPr>
        <p:spPr>
          <a:xfrm>
            <a:off x="6243042" y="1581745"/>
            <a:ext cx="19050" cy="514350"/>
          </a:xfrm>
          <a:prstGeom prst="rect">
            <a:avLst/>
          </a:prstGeom>
          <a:solidFill>
            <a:srgbClr val="FFFFFF"/>
          </a:solidFill>
          <a:ln>
            <a:noFill/>
          </a:ln>
        </p:spPr>
        <p:txBody>
          <a:bodyPr rtlCol="0" anchor="ctr"/>
          <a:lstStyle/>
          <a:p>
            <a:pPr algn="ctr"/>
            <a:endParaRPr/>
          </a:p>
        </p:txBody>
      </p:sp>
      <p:sp>
        <p:nvSpPr>
          <p:cNvPr id="18" name="Text"/>
          <p:cNvSpPr txBox="1"/>
          <p:nvPr/>
        </p:nvSpPr>
        <p:spPr>
          <a:xfrm>
            <a:off x="6376392" y="1649373"/>
            <a:ext cx="1025036"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1B1716"/>
                </a:solidFill>
                <a:latin typeface="Plus Jakarta Sans"/>
              </a:rPr>
              <a:t>Investments</a:t>
            </a:r>
          </a:p>
        </p:txBody>
      </p:sp>
      <p:sp>
        <p:nvSpPr>
          <p:cNvPr id="19" name="Text"/>
          <p:cNvSpPr txBox="1"/>
          <p:nvPr/>
        </p:nvSpPr>
        <p:spPr>
          <a:xfrm>
            <a:off x="6376392" y="1829729"/>
            <a:ext cx="6934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a:rPr>
              <a:t>HK$6.1M</a:t>
            </a:r>
          </a:p>
        </p:txBody>
      </p:sp>
      <p:sp>
        <p:nvSpPr>
          <p:cNvPr id="20" name="i"/>
          <p:cNvSpPr/>
          <p:nvPr/>
        </p:nvSpPr>
        <p:spPr>
          <a:xfrm>
            <a:off x="7838182" y="1581745"/>
            <a:ext cx="481757" cy="514350"/>
          </a:xfrm>
          <a:prstGeom prst="rect">
            <a:avLst/>
          </a:prstGeom>
          <a:solidFill>
            <a:srgbClr val="EFD9DC"/>
          </a:solidFill>
          <a:ln>
            <a:noFill/>
          </a:ln>
        </p:spPr>
        <p:txBody>
          <a:bodyPr rtlCol="0" anchor="ctr"/>
          <a:lstStyle/>
          <a:p>
            <a:pPr algn="ctr"/>
            <a:endParaRPr/>
          </a:p>
        </p:txBody>
      </p:sp>
      <p:sp>
        <p:nvSpPr>
          <p:cNvPr id="21" name="Rule"/>
          <p:cNvSpPr/>
          <p:nvPr/>
        </p:nvSpPr>
        <p:spPr>
          <a:xfrm>
            <a:off x="7838182" y="1581745"/>
            <a:ext cx="19050" cy="514350"/>
          </a:xfrm>
          <a:prstGeom prst="rect">
            <a:avLst/>
          </a:prstGeom>
          <a:solidFill>
            <a:srgbClr val="FFFFFF"/>
          </a:solidFill>
          <a:ln>
            <a:noFill/>
          </a:ln>
        </p:spPr>
        <p:txBody>
          <a:bodyPr rtlCol="0" anchor="ctr"/>
          <a:lstStyle/>
          <a:p>
            <a:pPr algn="ctr"/>
            <a:endParaRPr/>
          </a:p>
        </p:txBody>
      </p:sp>
      <p:sp>
        <p:nvSpPr>
          <p:cNvPr id="22" name="i"/>
          <p:cNvSpPr/>
          <p:nvPr/>
        </p:nvSpPr>
        <p:spPr>
          <a:xfrm>
            <a:off x="8319939" y="1581745"/>
            <a:ext cx="651123" cy="514350"/>
          </a:xfrm>
          <a:prstGeom prst="rect">
            <a:avLst/>
          </a:prstGeom>
          <a:solidFill>
            <a:srgbClr val="E6CDD1"/>
          </a:solidFill>
          <a:ln>
            <a:noFill/>
          </a:ln>
        </p:spPr>
        <p:txBody>
          <a:bodyPr rtlCol="0" anchor="ctr"/>
          <a:lstStyle/>
          <a:p>
            <a:pPr algn="ctr"/>
            <a:endParaRPr/>
          </a:p>
        </p:txBody>
      </p:sp>
      <p:sp>
        <p:nvSpPr>
          <p:cNvPr id="23" name="Rule"/>
          <p:cNvSpPr/>
          <p:nvPr/>
        </p:nvSpPr>
        <p:spPr>
          <a:xfrm>
            <a:off x="8319939" y="1581745"/>
            <a:ext cx="19050" cy="514350"/>
          </a:xfrm>
          <a:prstGeom prst="rect">
            <a:avLst/>
          </a:prstGeom>
          <a:solidFill>
            <a:srgbClr val="FFFFFF"/>
          </a:solidFill>
          <a:ln>
            <a:noFill/>
          </a:ln>
        </p:spPr>
        <p:txBody>
          <a:bodyPr rtlCol="0" anchor="ctr"/>
          <a:lstStyle/>
          <a:p>
            <a:pPr algn="ctr"/>
            <a:endParaRPr/>
          </a:p>
        </p:txBody>
      </p:sp>
      <p:sp>
        <p:nvSpPr>
          <p:cNvPr id="24" name="i"/>
          <p:cNvSpPr/>
          <p:nvPr/>
        </p:nvSpPr>
        <p:spPr>
          <a:xfrm>
            <a:off x="8971062" y="1581745"/>
            <a:ext cx="57299" cy="514350"/>
          </a:xfrm>
          <a:prstGeom prst="rect">
            <a:avLst/>
          </a:prstGeom>
          <a:solidFill>
            <a:srgbClr val="B5979D"/>
          </a:solidFill>
          <a:ln>
            <a:noFill/>
          </a:ln>
        </p:spPr>
        <p:txBody>
          <a:bodyPr rtlCol="0" anchor="ctr"/>
          <a:lstStyle/>
          <a:p>
            <a:pPr algn="ctr"/>
            <a:endParaRPr/>
          </a:p>
        </p:txBody>
      </p:sp>
      <p:sp>
        <p:nvSpPr>
          <p:cNvPr id="25" name="Rule"/>
          <p:cNvSpPr/>
          <p:nvPr/>
        </p:nvSpPr>
        <p:spPr>
          <a:xfrm>
            <a:off x="8971062" y="1581745"/>
            <a:ext cx="19050" cy="514350"/>
          </a:xfrm>
          <a:prstGeom prst="rect">
            <a:avLst/>
          </a:prstGeom>
          <a:solidFill>
            <a:srgbClr val="FFFFFF"/>
          </a:solidFill>
          <a:ln>
            <a:noFill/>
          </a:ln>
        </p:spPr>
        <p:txBody>
          <a:bodyPr rtlCol="0" anchor="ctr"/>
          <a:lstStyle/>
          <a:p>
            <a:pPr algn="ctr"/>
            <a:endParaRPr/>
          </a:p>
        </p:txBody>
      </p:sp>
      <p:sp>
        <p:nvSpPr>
          <p:cNvPr id="26" name="Rule"/>
          <p:cNvSpPr/>
          <p:nvPr/>
        </p:nvSpPr>
        <p:spPr>
          <a:xfrm>
            <a:off x="7838331" y="2096095"/>
            <a:ext cx="9525" cy="211336"/>
          </a:xfrm>
          <a:prstGeom prst="rect">
            <a:avLst/>
          </a:prstGeom>
          <a:solidFill>
            <a:srgbClr val="B5979D"/>
          </a:solidFill>
          <a:ln>
            <a:noFill/>
          </a:ln>
        </p:spPr>
        <p:txBody>
          <a:bodyPr rtlCol="0" anchor="ctr"/>
          <a:lstStyle/>
          <a:p>
            <a:pPr algn="ctr"/>
            <a:endParaRPr/>
          </a:p>
        </p:txBody>
      </p:sp>
      <p:sp>
        <p:nvSpPr>
          <p:cNvPr id="27" name="Text"/>
          <p:cNvSpPr txBox="1"/>
          <p:nvPr/>
        </p:nvSpPr>
        <p:spPr>
          <a:xfrm>
            <a:off x="7914531" y="2125242"/>
            <a:ext cx="106053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MPF,</a:t>
            </a:r>
            <a:r>
              <a:rPr sz="1050" b="0" i="0" kern="100">
                <a:solidFill>
                  <a:srgbClr val="80606A"/>
                </a:solidFill>
                <a:latin typeface="Plus Jakarta Sans"/>
              </a:rPr>
              <a:t> HK$1.9M</a:t>
            </a:r>
          </a:p>
        </p:txBody>
      </p:sp>
      <p:sp>
        <p:nvSpPr>
          <p:cNvPr id="28" name="Rule"/>
          <p:cNvSpPr/>
          <p:nvPr/>
        </p:nvSpPr>
        <p:spPr>
          <a:xfrm>
            <a:off x="8962876" y="2096095"/>
            <a:ext cx="9525" cy="420886"/>
          </a:xfrm>
          <a:prstGeom prst="rect">
            <a:avLst/>
          </a:prstGeom>
          <a:solidFill>
            <a:srgbClr val="B5979D"/>
          </a:solidFill>
          <a:ln>
            <a:noFill/>
          </a:ln>
        </p:spPr>
        <p:txBody>
          <a:bodyPr rtlCol="0" anchor="ctr"/>
          <a:lstStyle/>
          <a:p>
            <a:pPr algn="ctr"/>
            <a:endParaRPr/>
          </a:p>
        </p:txBody>
      </p:sp>
      <p:sp>
        <p:nvSpPr>
          <p:cNvPr id="29" name="Text"/>
          <p:cNvSpPr txBox="1"/>
          <p:nvPr/>
        </p:nvSpPr>
        <p:spPr>
          <a:xfrm>
            <a:off x="6107433" y="2334792"/>
            <a:ext cx="2788768" cy="173355"/>
          </a:xfrm>
          <a:prstGeom prst="rect">
            <a:avLst/>
          </a:prstGeom>
          <a:noFill/>
        </p:spPr>
        <p:txBody>
          <a:bodyPr wrap="none" lIns="0" tIns="0" rIns="0" bIns="0" anchor="t">
            <a:noAutofit/>
          </a:bodyPr>
          <a:lstStyle/>
          <a:p>
            <a:pPr algn="r">
              <a:lnSpc>
                <a:spcPts val="1364"/>
              </a:lnSpc>
              <a:spcBef>
                <a:spcPts val="0"/>
              </a:spcBef>
              <a:spcAft>
                <a:spcPts val="0"/>
              </a:spcAft>
            </a:pPr>
            <a:r>
              <a:rPr sz="1050" b="0" i="0" kern="100">
                <a:solidFill>
                  <a:srgbClr val="1B1716"/>
                </a:solidFill>
                <a:latin typeface="Plus Jakarta Sans SemiBold"/>
              </a:rPr>
              <a:t>Cash, HK$2.5M:</a:t>
            </a:r>
            <a:r>
              <a:rPr sz="1050" b="0" i="0" kern="100">
                <a:solidFill>
                  <a:srgbClr val="80606A"/>
                </a:solidFill>
                <a:latin typeface="Plus Jakarta Sans"/>
              </a:rPr>
              <a:t> 30 months of spending</a:t>
            </a:r>
          </a:p>
        </p:txBody>
      </p:sp>
      <p:sp>
        <p:nvSpPr>
          <p:cNvPr id="30" name="Rule"/>
          <p:cNvSpPr/>
          <p:nvPr/>
        </p:nvSpPr>
        <p:spPr>
          <a:xfrm>
            <a:off x="9258300" y="1581745"/>
            <a:ext cx="9525" cy="1575197"/>
          </a:xfrm>
          <a:prstGeom prst="rect">
            <a:avLst/>
          </a:prstGeom>
          <a:solidFill>
            <a:srgbClr val="ECDADD"/>
          </a:solidFill>
          <a:ln>
            <a:noFill/>
          </a:ln>
        </p:spPr>
        <p:txBody>
          <a:bodyPr rtlCol="0" anchor="ctr"/>
          <a:lstStyle/>
          <a:p>
            <a:pPr algn="ctr"/>
            <a:endParaRPr/>
          </a:p>
        </p:txBody>
      </p:sp>
      <p:sp>
        <p:nvSpPr>
          <p:cNvPr id="31" name="Text"/>
          <p:cNvSpPr txBox="1"/>
          <p:nvPr/>
        </p:nvSpPr>
        <p:spPr>
          <a:xfrm>
            <a:off x="9439275" y="1568601"/>
            <a:ext cx="2520580"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C80E1E"/>
                </a:solidFill>
                <a:latin typeface="Plus Jakarta Sans"/>
              </a:rPr>
              <a:t>HK$24.4M</a:t>
            </a:r>
          </a:p>
        </p:txBody>
      </p:sp>
      <p:sp>
        <p:nvSpPr>
          <p:cNvPr id="32" name="Text"/>
          <p:cNvSpPr txBox="1"/>
          <p:nvPr/>
        </p:nvSpPr>
        <p:spPr>
          <a:xfrm>
            <a:off x="9439275" y="2101239"/>
            <a:ext cx="1373050"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net worth today</a:t>
            </a:r>
          </a:p>
        </p:txBody>
      </p:sp>
      <p:sp>
        <p:nvSpPr>
          <p:cNvPr id="33" name="Text"/>
          <p:cNvSpPr txBox="1"/>
          <p:nvPr/>
        </p:nvSpPr>
        <p:spPr>
          <a:xfrm>
            <a:off x="9439275" y="2296692"/>
            <a:ext cx="238695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what they own, less what they owe</a:t>
            </a:r>
          </a:p>
        </p:txBody>
      </p:sp>
      <p:sp>
        <p:nvSpPr>
          <p:cNvPr id="34" name="Rule"/>
          <p:cNvSpPr/>
          <p:nvPr/>
        </p:nvSpPr>
        <p:spPr>
          <a:xfrm>
            <a:off x="9439275" y="2593181"/>
            <a:ext cx="2295525" cy="9525"/>
          </a:xfrm>
          <a:prstGeom prst="rect">
            <a:avLst/>
          </a:prstGeom>
          <a:solidFill>
            <a:srgbClr val="ECDADD"/>
          </a:solidFill>
          <a:ln>
            <a:noFill/>
          </a:ln>
        </p:spPr>
        <p:txBody>
          <a:bodyPr rtlCol="0" anchor="ctr"/>
          <a:lstStyle/>
          <a:p>
            <a:pPr algn="ctr"/>
            <a:endParaRPr/>
          </a:p>
        </p:txBody>
      </p:sp>
      <p:sp>
        <p:nvSpPr>
          <p:cNvPr id="35" name="Text"/>
          <p:cNvSpPr txBox="1"/>
          <p:nvPr/>
        </p:nvSpPr>
        <p:spPr>
          <a:xfrm>
            <a:off x="9439275" y="2677192"/>
            <a:ext cx="708889" cy="266700"/>
          </a:xfrm>
          <a:prstGeom prst="rect">
            <a:avLst/>
          </a:prstGeom>
          <a:noFill/>
        </p:spPr>
        <p:txBody>
          <a:bodyPr wrap="none" lIns="0" tIns="0" rIns="0" bIns="0" anchor="t">
            <a:noAutofit/>
          </a:bodyPr>
          <a:lstStyle/>
          <a:p>
            <a:pPr algn="l">
              <a:lnSpc>
                <a:spcPts val="2100"/>
              </a:lnSpc>
              <a:spcBef>
                <a:spcPts val="0"/>
              </a:spcBef>
              <a:spcAft>
                <a:spcPts val="0"/>
              </a:spcAft>
            </a:pPr>
            <a:r>
              <a:rPr sz="2100" b="1" i="0" kern="100">
                <a:solidFill>
                  <a:srgbClr val="1B1716"/>
                </a:solidFill>
                <a:latin typeface="Plus Jakarta Sans"/>
              </a:rPr>
              <a:t>41%</a:t>
            </a:r>
          </a:p>
        </p:txBody>
      </p:sp>
      <p:sp>
        <p:nvSpPr>
          <p:cNvPr id="36" name="Text"/>
          <p:cNvSpPr txBox="1"/>
          <p:nvPr/>
        </p:nvSpPr>
        <p:spPr>
          <a:xfrm>
            <a:off x="9439275" y="2974753"/>
            <a:ext cx="250890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of after-tax income saved each year</a:t>
            </a:r>
          </a:p>
        </p:txBody>
      </p:sp>
      <p:sp>
        <p:nvSpPr>
          <p:cNvPr id="37" name="Text"/>
          <p:cNvSpPr txBox="1"/>
          <p:nvPr/>
        </p:nvSpPr>
        <p:spPr>
          <a:xfrm>
            <a:off x="457200" y="2726019"/>
            <a:ext cx="129085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owe</a:t>
            </a:r>
          </a:p>
        </p:txBody>
      </p:sp>
      <p:sp>
        <p:nvSpPr>
          <p:cNvPr id="38" name="Text"/>
          <p:cNvSpPr txBox="1"/>
          <p:nvPr/>
        </p:nvSpPr>
        <p:spPr>
          <a:xfrm>
            <a:off x="457200" y="2921472"/>
            <a:ext cx="74927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HK$2.8M</a:t>
            </a:r>
          </a:p>
        </p:txBody>
      </p:sp>
      <p:sp>
        <p:nvSpPr>
          <p:cNvPr id="39" name="i"/>
          <p:cNvSpPr/>
          <p:nvPr/>
        </p:nvSpPr>
        <p:spPr>
          <a:xfrm>
            <a:off x="1943100" y="2682776"/>
            <a:ext cx="469106" cy="266700"/>
          </a:xfrm>
          <a:prstGeom prst="rect">
            <a:avLst/>
          </a:prstGeom>
          <a:solidFill>
            <a:srgbClr val="80606A"/>
          </a:solidFill>
          <a:ln>
            <a:noFill/>
          </a:ln>
        </p:spPr>
        <p:txBody>
          <a:bodyPr rtlCol="0" anchor="ctr"/>
          <a:lstStyle/>
          <a:p>
            <a:pPr algn="ctr"/>
            <a:endParaRPr/>
          </a:p>
        </p:txBody>
      </p:sp>
      <p:sp>
        <p:nvSpPr>
          <p:cNvPr id="40" name="i"/>
          <p:cNvSpPr/>
          <p:nvPr/>
        </p:nvSpPr>
        <p:spPr>
          <a:xfrm>
            <a:off x="2412206" y="2682776"/>
            <a:ext cx="234553" cy="266700"/>
          </a:xfrm>
          <a:prstGeom prst="rect">
            <a:avLst/>
          </a:prstGeom>
          <a:solidFill>
            <a:srgbClr val="80606A"/>
          </a:solidFill>
          <a:ln>
            <a:noFill/>
          </a:ln>
        </p:spPr>
        <p:txBody>
          <a:bodyPr rtlCol="0" anchor="ctr"/>
          <a:lstStyle/>
          <a:p>
            <a:pPr algn="ctr"/>
            <a:endParaRPr/>
          </a:p>
        </p:txBody>
      </p:sp>
      <p:sp>
        <p:nvSpPr>
          <p:cNvPr id="41" name="Rule"/>
          <p:cNvSpPr/>
          <p:nvPr/>
        </p:nvSpPr>
        <p:spPr>
          <a:xfrm>
            <a:off x="2412206" y="2682776"/>
            <a:ext cx="19050" cy="266700"/>
          </a:xfrm>
          <a:prstGeom prst="rect">
            <a:avLst/>
          </a:prstGeom>
          <a:solidFill>
            <a:srgbClr val="FFFFFF"/>
          </a:solidFill>
          <a:ln>
            <a:noFill/>
          </a:ln>
        </p:spPr>
        <p:txBody>
          <a:bodyPr rtlCol="0" anchor="ctr"/>
          <a:lstStyle/>
          <a:p>
            <a:pPr algn="ctr"/>
            <a:endParaRPr/>
          </a:p>
        </p:txBody>
      </p:sp>
      <p:sp>
        <p:nvSpPr>
          <p:cNvPr id="42" name="i"/>
          <p:cNvSpPr/>
          <p:nvPr/>
        </p:nvSpPr>
        <p:spPr>
          <a:xfrm>
            <a:off x="2646759" y="2682776"/>
            <a:ext cx="21878" cy="266700"/>
          </a:xfrm>
          <a:prstGeom prst="rect">
            <a:avLst/>
          </a:prstGeom>
          <a:solidFill>
            <a:srgbClr val="80606A"/>
          </a:solidFill>
          <a:ln>
            <a:noFill/>
          </a:ln>
        </p:spPr>
        <p:txBody>
          <a:bodyPr rtlCol="0" anchor="ctr"/>
          <a:lstStyle/>
          <a:p>
            <a:pPr algn="ctr"/>
            <a:endParaRPr/>
          </a:p>
        </p:txBody>
      </p:sp>
      <p:sp>
        <p:nvSpPr>
          <p:cNvPr id="43" name="Rule"/>
          <p:cNvSpPr/>
          <p:nvPr/>
        </p:nvSpPr>
        <p:spPr>
          <a:xfrm>
            <a:off x="2646759" y="2682776"/>
            <a:ext cx="19050" cy="266700"/>
          </a:xfrm>
          <a:prstGeom prst="rect">
            <a:avLst/>
          </a:prstGeom>
          <a:solidFill>
            <a:srgbClr val="FFFFFF"/>
          </a:solidFill>
          <a:ln>
            <a:noFill/>
          </a:ln>
        </p:spPr>
        <p:txBody>
          <a:bodyPr rtlCol="0" anchor="ctr"/>
          <a:lstStyle/>
          <a:p>
            <a:pPr algn="ctr"/>
            <a:endParaRPr/>
          </a:p>
        </p:txBody>
      </p:sp>
      <p:sp>
        <p:nvSpPr>
          <p:cNvPr id="44" name="Text"/>
          <p:cNvSpPr txBox="1"/>
          <p:nvPr/>
        </p:nvSpPr>
        <p:spPr>
          <a:xfrm>
            <a:off x="2782937" y="2720554"/>
            <a:ext cx="47077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10% of what they own:</a:t>
            </a:r>
            <a:r>
              <a:rPr sz="1050" b="0" i="0" kern="100">
                <a:solidFill>
                  <a:srgbClr val="80606A"/>
                </a:solidFill>
                <a:latin typeface="Plus Jakarta Sans"/>
              </a:rPr>
              <a:t> the mortgage, a business loan, a card balance</a:t>
            </a:r>
          </a:p>
        </p:txBody>
      </p:sp>
      <p:sp>
        <p:nvSpPr>
          <p:cNvPr id="45" name="Rule"/>
          <p:cNvSpPr/>
          <p:nvPr/>
        </p:nvSpPr>
        <p:spPr>
          <a:xfrm>
            <a:off x="457200" y="3629025"/>
            <a:ext cx="11277600" cy="9525"/>
          </a:xfrm>
          <a:prstGeom prst="rect">
            <a:avLst/>
          </a:prstGeom>
          <a:solidFill>
            <a:srgbClr val="1B1716"/>
          </a:solidFill>
          <a:ln>
            <a:noFill/>
          </a:ln>
        </p:spPr>
        <p:txBody>
          <a:bodyPr rtlCol="0" anchor="ctr"/>
          <a:lstStyle/>
          <a:p>
            <a:pPr algn="ctr"/>
            <a:endParaRPr/>
          </a:p>
        </p:txBody>
      </p:sp>
      <p:sp>
        <p:nvSpPr>
          <p:cNvPr id="46" name="Text"/>
          <p:cNvSpPr txBox="1"/>
          <p:nvPr/>
        </p:nvSpPr>
        <p:spPr>
          <a:xfrm>
            <a:off x="457200" y="3334750"/>
            <a:ext cx="2778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…and the forty years it has to last</a:t>
            </a:r>
          </a:p>
        </p:txBody>
      </p:sp>
      <p:sp>
        <p:nvSpPr>
          <p:cNvPr id="47" name="i"/>
          <p:cNvSpPr/>
          <p:nvPr/>
        </p:nvSpPr>
        <p:spPr>
          <a:xfrm>
            <a:off x="4289524" y="4591050"/>
            <a:ext cx="7445127" cy="190500"/>
          </a:xfrm>
          <a:prstGeom prst="rect">
            <a:avLst/>
          </a:prstGeom>
          <a:solidFill>
            <a:srgbClr val="EFD9DC"/>
          </a:solidFill>
          <a:ln>
            <a:noFill/>
          </a:ln>
        </p:spPr>
        <p:txBody>
          <a:bodyPr rtlCol="0" anchor="ctr"/>
          <a:lstStyle/>
          <a:p>
            <a:pPr algn="ctr"/>
            <a:endParaRPr/>
          </a:p>
        </p:txBody>
      </p:sp>
      <p:sp>
        <p:nvSpPr>
          <p:cNvPr id="48" name="i"/>
          <p:cNvSpPr/>
          <p:nvPr/>
        </p:nvSpPr>
        <p:spPr>
          <a:xfrm>
            <a:off x="704850" y="4672012"/>
            <a:ext cx="11029950" cy="28575"/>
          </a:xfrm>
          <a:prstGeom prst="rect">
            <a:avLst/>
          </a:prstGeom>
          <a:solidFill>
            <a:srgbClr val="1B1716"/>
          </a:solidFill>
          <a:ln>
            <a:noFill/>
          </a:ln>
        </p:spPr>
        <p:txBody>
          <a:bodyPr rtlCol="0" anchor="ctr"/>
          <a:lstStyle/>
          <a:p>
            <a:pPr algn="ctr"/>
            <a:endParaRPr/>
          </a:p>
        </p:txBody>
      </p:sp>
      <p:sp>
        <p:nvSpPr>
          <p:cNvPr id="49" name="i"/>
          <p:cNvSpPr/>
          <p:nvPr/>
        </p:nvSpPr>
        <p:spPr>
          <a:xfrm>
            <a:off x="1265783" y="4619625"/>
            <a:ext cx="1083915" cy="133350"/>
          </a:xfrm>
          <a:prstGeom prst="rect">
            <a:avLst/>
          </a:prstGeom>
          <a:solidFill>
            <a:srgbClr val="FFFFFF"/>
          </a:solidFill>
          <a:ln w="19050">
            <a:solidFill>
              <a:srgbClr val="971320"/>
            </a:solidFill>
          </a:ln>
        </p:spPr>
        <p:txBody>
          <a:bodyPr rtlCol="0" anchor="ctr"/>
          <a:lstStyle/>
          <a:p>
            <a:pPr algn="ctr"/>
            <a:endParaRPr/>
          </a:p>
        </p:txBody>
      </p:sp>
      <p:sp>
        <p:nvSpPr>
          <p:cNvPr id="50" name="Text"/>
          <p:cNvSpPr txBox="1"/>
          <p:nvPr/>
        </p:nvSpPr>
        <p:spPr>
          <a:xfrm>
            <a:off x="6498208" y="4330065"/>
            <a:ext cx="4200701" cy="171450"/>
          </a:xfrm>
          <a:prstGeom prst="rect">
            <a:avLst/>
          </a:prstGeom>
          <a:noFill/>
        </p:spPr>
        <p:txBody>
          <a:bodyPr wrap="none" lIns="0" tIns="0" rIns="0" bIns="0" anchor="t">
            <a:noAutofit/>
          </a:bodyPr>
          <a:lstStyle/>
          <a:p>
            <a:pPr algn="l">
              <a:lnSpc>
                <a:spcPts val="1350"/>
              </a:lnSpc>
              <a:spcBef>
                <a:spcPts val="0"/>
              </a:spcBef>
              <a:spcAft>
                <a:spcPts val="0"/>
              </a:spcAft>
            </a:pPr>
            <a:r>
              <a:rPr sz="1125" b="0" i="0" kern="100">
                <a:solidFill>
                  <a:srgbClr val="80606A"/>
                </a:solidFill>
                <a:latin typeface="Plus Jakarta Sans"/>
              </a:rPr>
              <a:t>Both retired from 2039: </a:t>
            </a:r>
            <a:r>
              <a:rPr sz="1125" b="1" i="0" kern="100">
                <a:solidFill>
                  <a:srgbClr val="1B1716"/>
                </a:solidFill>
                <a:latin typeface="Plus Jakarta Sans"/>
              </a:rPr>
              <a:t>27 years</a:t>
            </a:r>
            <a:r>
              <a:rPr sz="1125" b="0" i="0" kern="100">
                <a:solidFill>
                  <a:srgbClr val="80606A"/>
                </a:solidFill>
                <a:latin typeface="Plus Jakarta Sans"/>
              </a:rPr>
              <a:t> paid from what they own</a:t>
            </a:r>
          </a:p>
        </p:txBody>
      </p:sp>
      <p:sp>
        <p:nvSpPr>
          <p:cNvPr id="51" name="ps-el"/>
          <p:cNvSpPr/>
          <p:nvPr/>
        </p:nvSpPr>
        <p:spPr>
          <a:xfrm>
            <a:off x="695325" y="4191000"/>
            <a:ext cx="19050" cy="438150"/>
          </a:xfrm>
          <a:prstGeom prst="rect">
            <a:avLst/>
          </a:prstGeom>
          <a:solidFill>
            <a:srgbClr val="1B1716"/>
          </a:solidFill>
          <a:ln>
            <a:noFill/>
          </a:ln>
        </p:spPr>
        <p:txBody>
          <a:bodyPr rtlCol="0" anchor="ctr"/>
          <a:lstStyle/>
          <a:p>
            <a:pPr algn="ctr"/>
            <a:endParaRPr/>
          </a:p>
        </p:txBody>
      </p:sp>
      <p:sp>
        <p:nvSpPr>
          <p:cNvPr id="52" name="span"/>
          <p:cNvSpPr/>
          <p:nvPr/>
        </p:nvSpPr>
        <p:spPr>
          <a:xfrm>
            <a:off x="457200"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53" name="Picture" descr="image.jpg"/>
          <p:cNvPicPr>
            <a:picLocks noChangeAspect="1"/>
          </p:cNvPicPr>
          <p:nvPr/>
        </p:nvPicPr>
        <p:blipFill>
          <a:blip r:embed="rId3"/>
          <a:stretch>
            <a:fillRect/>
          </a:stretch>
        </p:blipFill>
        <p:spPr>
          <a:xfrm>
            <a:off x="457200" y="3695700"/>
            <a:ext cx="495300" cy="495300"/>
          </a:xfrm>
          <a:prstGeom prst="ellipse">
            <a:avLst/>
          </a:prstGeom>
        </p:spPr>
      </p:pic>
      <p:sp>
        <p:nvSpPr>
          <p:cNvPr id="54" name="Text"/>
          <p:cNvSpPr txBox="1"/>
          <p:nvPr/>
        </p:nvSpPr>
        <p:spPr>
          <a:xfrm>
            <a:off x="1066800" y="3733610"/>
            <a:ext cx="81711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Ryan, 24</a:t>
            </a:r>
          </a:p>
        </p:txBody>
      </p:sp>
      <p:sp>
        <p:nvSpPr>
          <p:cNvPr id="55" name="Text"/>
          <p:cNvSpPr txBox="1"/>
          <p:nvPr/>
        </p:nvSpPr>
        <p:spPr>
          <a:xfrm>
            <a:off x="1066800" y="3940731"/>
            <a:ext cx="195296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holds crypto; his own plan</a:t>
            </a:r>
          </a:p>
        </p:txBody>
      </p:sp>
      <p:sp>
        <p:nvSpPr>
          <p:cNvPr id="56" name="ps-el"/>
          <p:cNvSpPr/>
          <p:nvPr/>
        </p:nvSpPr>
        <p:spPr>
          <a:xfrm>
            <a:off x="647700" y="4629150"/>
            <a:ext cx="114300" cy="114300"/>
          </a:xfrm>
          <a:prstGeom prst="ellipse">
            <a:avLst/>
          </a:prstGeom>
          <a:solidFill>
            <a:srgbClr val="1B1716"/>
          </a:solidFill>
          <a:ln>
            <a:noFill/>
          </a:ln>
        </p:spPr>
        <p:txBody>
          <a:bodyPr rtlCol="0" anchor="ctr"/>
          <a:lstStyle/>
          <a:p>
            <a:pPr algn="ctr"/>
            <a:endParaRPr/>
          </a:p>
        </p:txBody>
      </p:sp>
      <p:sp>
        <p:nvSpPr>
          <p:cNvPr id="57" name="ps-el"/>
          <p:cNvSpPr/>
          <p:nvPr/>
        </p:nvSpPr>
        <p:spPr>
          <a:xfrm>
            <a:off x="3728442" y="4191000"/>
            <a:ext cx="19050" cy="438150"/>
          </a:xfrm>
          <a:prstGeom prst="rect">
            <a:avLst/>
          </a:prstGeom>
          <a:solidFill>
            <a:srgbClr val="1B1716"/>
          </a:solidFill>
          <a:ln>
            <a:noFill/>
          </a:ln>
        </p:spPr>
        <p:txBody>
          <a:bodyPr rtlCol="0" anchor="ctr"/>
          <a:lstStyle/>
          <a:p>
            <a:pPr algn="ctr"/>
            <a:endParaRPr/>
          </a:p>
        </p:txBody>
      </p:sp>
      <p:sp>
        <p:nvSpPr>
          <p:cNvPr id="58" name="span"/>
          <p:cNvSpPr/>
          <p:nvPr/>
        </p:nvSpPr>
        <p:spPr>
          <a:xfrm>
            <a:off x="3490317"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59" name="Picture" descr="image.jpg"/>
          <p:cNvPicPr>
            <a:picLocks noChangeAspect="1"/>
          </p:cNvPicPr>
          <p:nvPr/>
        </p:nvPicPr>
        <p:blipFill>
          <a:blip r:embed="rId4"/>
          <a:stretch>
            <a:fillRect/>
          </a:stretch>
        </p:blipFill>
        <p:spPr>
          <a:xfrm>
            <a:off x="3490317" y="3695700"/>
            <a:ext cx="495300" cy="495300"/>
          </a:xfrm>
          <a:prstGeom prst="ellipse">
            <a:avLst/>
          </a:prstGeom>
        </p:spPr>
      </p:pic>
      <p:sp>
        <p:nvSpPr>
          <p:cNvPr id="60" name="Text"/>
          <p:cNvSpPr txBox="1"/>
          <p:nvPr/>
        </p:nvSpPr>
        <p:spPr>
          <a:xfrm>
            <a:off x="4099917" y="3733610"/>
            <a:ext cx="95152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Adrian, 54</a:t>
            </a:r>
          </a:p>
        </p:txBody>
      </p:sp>
      <p:sp>
        <p:nvSpPr>
          <p:cNvPr id="61" name="Text"/>
          <p:cNvSpPr txBox="1"/>
          <p:nvPr/>
        </p:nvSpPr>
        <p:spPr>
          <a:xfrm>
            <a:off x="4099917" y="3940731"/>
            <a:ext cx="288310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protect capital and health; retires 2037</a:t>
            </a:r>
          </a:p>
        </p:txBody>
      </p:sp>
      <p:sp>
        <p:nvSpPr>
          <p:cNvPr id="62" name="ps-el"/>
          <p:cNvSpPr/>
          <p:nvPr/>
        </p:nvSpPr>
        <p:spPr>
          <a:xfrm>
            <a:off x="3680817" y="4629150"/>
            <a:ext cx="114300" cy="114300"/>
          </a:xfrm>
          <a:prstGeom prst="ellipse">
            <a:avLst/>
          </a:prstGeom>
          <a:solidFill>
            <a:srgbClr val="1B1716"/>
          </a:solidFill>
          <a:ln>
            <a:noFill/>
          </a:ln>
        </p:spPr>
        <p:txBody>
          <a:bodyPr rtlCol="0" anchor="ctr"/>
          <a:lstStyle/>
          <a:p>
            <a:pPr algn="ctr"/>
            <a:endParaRPr/>
          </a:p>
        </p:txBody>
      </p:sp>
      <p:sp>
        <p:nvSpPr>
          <p:cNvPr id="63" name="ps-el"/>
          <p:cNvSpPr/>
          <p:nvPr/>
        </p:nvSpPr>
        <p:spPr>
          <a:xfrm>
            <a:off x="1246733" y="4743450"/>
            <a:ext cx="19050" cy="438150"/>
          </a:xfrm>
          <a:prstGeom prst="rect">
            <a:avLst/>
          </a:prstGeom>
          <a:solidFill>
            <a:srgbClr val="1B1716"/>
          </a:solidFill>
          <a:ln>
            <a:noFill/>
          </a:ln>
        </p:spPr>
        <p:txBody>
          <a:bodyPr rtlCol="0" anchor="ctr"/>
          <a:lstStyle/>
          <a:p>
            <a:pPr algn="ctr"/>
            <a:endParaRPr/>
          </a:p>
        </p:txBody>
      </p:sp>
      <p:sp>
        <p:nvSpPr>
          <p:cNvPr id="64" name="span"/>
          <p:cNvSpPr/>
          <p:nvPr/>
        </p:nvSpPr>
        <p:spPr>
          <a:xfrm>
            <a:off x="1008608"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65" name="Picture" descr="image.jpg"/>
          <p:cNvPicPr>
            <a:picLocks noChangeAspect="1"/>
          </p:cNvPicPr>
          <p:nvPr/>
        </p:nvPicPr>
        <p:blipFill>
          <a:blip r:embed="rId5"/>
          <a:stretch>
            <a:fillRect/>
          </a:stretch>
        </p:blipFill>
        <p:spPr>
          <a:xfrm>
            <a:off x="1008608" y="5181600"/>
            <a:ext cx="495300" cy="495300"/>
          </a:xfrm>
          <a:prstGeom prst="ellipse">
            <a:avLst/>
          </a:prstGeom>
        </p:spPr>
      </p:pic>
      <p:sp>
        <p:nvSpPr>
          <p:cNvPr id="66" name="Text"/>
          <p:cNvSpPr txBox="1"/>
          <p:nvPr/>
        </p:nvSpPr>
        <p:spPr>
          <a:xfrm>
            <a:off x="1618208" y="5219510"/>
            <a:ext cx="86270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Chloe, 16</a:t>
            </a:r>
          </a:p>
        </p:txBody>
      </p:sp>
      <p:sp>
        <p:nvSpPr>
          <p:cNvPr id="67" name="Text"/>
          <p:cNvSpPr txBox="1"/>
          <p:nvPr/>
        </p:nvSpPr>
        <p:spPr>
          <a:xfrm>
            <a:off x="1618208" y="5426631"/>
            <a:ext cx="183496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university, 2028 to 2032</a:t>
            </a:r>
          </a:p>
        </p:txBody>
      </p:sp>
      <p:sp>
        <p:nvSpPr>
          <p:cNvPr id="68" name="ps-el"/>
          <p:cNvSpPr/>
          <p:nvPr/>
        </p:nvSpPr>
        <p:spPr>
          <a:xfrm>
            <a:off x="1199108" y="4629150"/>
            <a:ext cx="114300" cy="114300"/>
          </a:xfrm>
          <a:prstGeom prst="ellipse">
            <a:avLst/>
          </a:prstGeom>
          <a:solidFill>
            <a:srgbClr val="1B1716"/>
          </a:solidFill>
          <a:ln>
            <a:noFill/>
          </a:ln>
        </p:spPr>
        <p:txBody>
          <a:bodyPr rtlCol="0" anchor="ctr"/>
          <a:lstStyle/>
          <a:p>
            <a:pPr algn="ctr"/>
            <a:endParaRPr/>
          </a:p>
        </p:txBody>
      </p:sp>
      <p:sp>
        <p:nvSpPr>
          <p:cNvPr id="69" name="ps-el"/>
          <p:cNvSpPr/>
          <p:nvPr/>
        </p:nvSpPr>
        <p:spPr>
          <a:xfrm>
            <a:off x="4279999" y="4743450"/>
            <a:ext cx="19050" cy="438150"/>
          </a:xfrm>
          <a:prstGeom prst="rect">
            <a:avLst/>
          </a:prstGeom>
          <a:solidFill>
            <a:srgbClr val="1B1716"/>
          </a:solidFill>
          <a:ln>
            <a:noFill/>
          </a:ln>
        </p:spPr>
        <p:txBody>
          <a:bodyPr rtlCol="0" anchor="ctr"/>
          <a:lstStyle/>
          <a:p>
            <a:pPr algn="ctr"/>
            <a:endParaRPr/>
          </a:p>
        </p:txBody>
      </p:sp>
      <p:sp>
        <p:nvSpPr>
          <p:cNvPr id="70" name="span"/>
          <p:cNvSpPr/>
          <p:nvPr/>
        </p:nvSpPr>
        <p:spPr>
          <a:xfrm>
            <a:off x="4041874"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71" name="Picture" descr="image.jpg"/>
          <p:cNvPicPr>
            <a:picLocks noChangeAspect="1"/>
          </p:cNvPicPr>
          <p:nvPr/>
        </p:nvPicPr>
        <p:blipFill>
          <a:blip r:embed="rId6"/>
          <a:stretch>
            <a:fillRect/>
          </a:stretch>
        </p:blipFill>
        <p:spPr>
          <a:xfrm>
            <a:off x="4041874" y="5181600"/>
            <a:ext cx="495300" cy="495300"/>
          </a:xfrm>
          <a:prstGeom prst="ellipse">
            <a:avLst/>
          </a:prstGeom>
        </p:spPr>
      </p:pic>
      <p:sp>
        <p:nvSpPr>
          <p:cNvPr id="72" name="Text"/>
          <p:cNvSpPr txBox="1"/>
          <p:nvPr/>
        </p:nvSpPr>
        <p:spPr>
          <a:xfrm>
            <a:off x="4651474" y="5219510"/>
            <a:ext cx="107125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Carmen, 49</a:t>
            </a:r>
          </a:p>
        </p:txBody>
      </p:sp>
      <p:sp>
        <p:nvSpPr>
          <p:cNvPr id="73" name="Text"/>
          <p:cNvSpPr txBox="1"/>
          <p:nvPr/>
        </p:nvSpPr>
        <p:spPr>
          <a:xfrm>
            <a:off x="4651474" y="5426631"/>
            <a:ext cx="176618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her values; retires 2039</a:t>
            </a:r>
          </a:p>
        </p:txBody>
      </p:sp>
      <p:sp>
        <p:nvSpPr>
          <p:cNvPr id="74" name="ps-el"/>
          <p:cNvSpPr/>
          <p:nvPr/>
        </p:nvSpPr>
        <p:spPr>
          <a:xfrm>
            <a:off x="4232374" y="4629150"/>
            <a:ext cx="114300" cy="114300"/>
          </a:xfrm>
          <a:prstGeom prst="ellipse">
            <a:avLst/>
          </a:prstGeom>
          <a:solidFill>
            <a:srgbClr val="1B1716"/>
          </a:solidFill>
          <a:ln>
            <a:noFill/>
          </a:ln>
        </p:spPr>
        <p:txBody>
          <a:bodyPr rtlCol="0" anchor="ctr"/>
          <a:lstStyle/>
          <a:p>
            <a:pPr algn="ctr"/>
            <a:endParaRPr/>
          </a:p>
        </p:txBody>
      </p:sp>
      <p:sp>
        <p:nvSpPr>
          <p:cNvPr id="75" name="Text"/>
          <p:cNvSpPr txBox="1"/>
          <p:nvPr/>
        </p:nvSpPr>
        <p:spPr>
          <a:xfrm>
            <a:off x="9945779" y="5165931"/>
            <a:ext cx="1693771" cy="202406"/>
          </a:xfrm>
          <a:prstGeom prst="rect">
            <a:avLst/>
          </a:prstGeom>
          <a:noFill/>
        </p:spPr>
        <p:txBody>
          <a:bodyPr wrap="none" lIns="0" tIns="0" rIns="0" bIns="0" anchor="t">
            <a:noAutofit/>
          </a:bodyPr>
          <a:lstStyle/>
          <a:p>
            <a:pPr algn="r">
              <a:lnSpc>
                <a:spcPts val="1593"/>
              </a:lnSpc>
              <a:spcBef>
                <a:spcPts val="0"/>
              </a:spcBef>
              <a:spcAft>
                <a:spcPts val="0"/>
              </a:spcAft>
            </a:pPr>
            <a:r>
              <a:rPr sz="1275" b="0" i="0" kern="100">
                <a:solidFill>
                  <a:srgbClr val="1B1716"/>
                </a:solidFill>
                <a:latin typeface="Plus Jakarta Sans SemiBold"/>
              </a:rPr>
              <a:t>2066: Carmen is 89</a:t>
            </a:r>
          </a:p>
        </p:txBody>
      </p:sp>
      <p:sp>
        <p:nvSpPr>
          <p:cNvPr id="76" name="Text"/>
          <p:cNvSpPr txBox="1"/>
          <p:nvPr/>
        </p:nvSpPr>
        <p:spPr>
          <a:xfrm>
            <a:off x="9563532" y="5373052"/>
            <a:ext cx="2076018" cy="185738"/>
          </a:xfrm>
          <a:prstGeom prst="rect">
            <a:avLst/>
          </a:prstGeom>
          <a:noFill/>
        </p:spPr>
        <p:txBody>
          <a:bodyPr wrap="none" lIns="0" tIns="0" rIns="0" bIns="0" anchor="t">
            <a:noAutofit/>
          </a:bodyPr>
          <a:lstStyle/>
          <a:p>
            <a:pPr algn="r">
              <a:lnSpc>
                <a:spcPts val="1462"/>
              </a:lnSpc>
              <a:spcBef>
                <a:spcPts val="0"/>
              </a:spcBef>
              <a:spcAft>
                <a:spcPts val="0"/>
              </a:spcAft>
            </a:pPr>
            <a:r>
              <a:rPr sz="1125" b="0" i="0" kern="100">
                <a:solidFill>
                  <a:srgbClr val="80606A"/>
                </a:solidFill>
                <a:latin typeface="Plus Jakarta Sans"/>
              </a:rPr>
              <a:t>the money must last to here</a:t>
            </a:r>
          </a:p>
        </p:txBody>
      </p:sp>
      <p:cxnSp>
        <p:nvCxnSpPr>
          <p:cNvPr id="77" name="Rule"/>
          <p:cNvCxnSpPr/>
          <p:nvPr/>
        </p:nvCxnSpPr>
        <p:spPr>
          <a:xfrm>
            <a:off x="11725275" y="4343400"/>
            <a:ext cx="0" cy="685800"/>
          </a:xfrm>
          <a:prstGeom prst="line">
            <a:avLst/>
          </a:prstGeom>
          <a:ln w="19050">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78"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79" name="Text"/>
          <p:cNvSpPr txBox="1"/>
          <p:nvPr/>
        </p:nvSpPr>
        <p:spPr>
          <a:xfrm>
            <a:off x="3122228" y="5984558"/>
            <a:ext cx="5947395"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But will it last to Carmen's 89? We tested it in 10,000 futures.</a:t>
            </a:r>
          </a:p>
        </p:txBody>
      </p:sp>
      <p:sp>
        <p:nvSpPr>
          <p:cNvPr id="80" name="Text"/>
          <p:cNvSpPr txBox="1"/>
          <p:nvPr/>
        </p:nvSpPr>
        <p:spPr>
          <a:xfrm>
            <a:off x="457200" y="6452104"/>
            <a:ext cx="6374919"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Case: statement of assets and liabilities (investments: funds, stocks, crypto, policy cash values; the last sliver, a</a:t>
            </a:r>
          </a:p>
          <a:p>
            <a:pPr algn="l">
              <a:lnSpc>
                <a:spcPts val="1170"/>
              </a:lnSpc>
              <a:spcBef>
                <a:spcPts val="0"/>
              </a:spcBef>
              <a:spcAft>
                <a:spcPts val="0"/>
              </a:spcAft>
            </a:pPr>
            <a:r>
              <a:rPr sz="900" b="0" i="0" kern="100">
                <a:solidFill>
                  <a:srgbClr val="80606A"/>
                </a:solidFill>
                <a:latin typeface="Plus Jakarta Sans"/>
              </a:rPr>
              <a:t>car, HK$0.2M); savings after tax and MPF (written case §2). Portraits: illustrations, fictional.</a:t>
            </a:r>
          </a:p>
        </p:txBody>
      </p:sp>
      <p:sp>
        <p:nvSpPr>
          <p:cNvPr id="81" name="Text"/>
          <p:cNvSpPr txBox="1"/>
          <p:nvPr/>
        </p:nvSpPr>
        <p:spPr>
          <a:xfrm>
            <a:off x="6683871"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82" name="Text"/>
          <p:cNvSpPr txBox="1"/>
          <p:nvPr/>
        </p:nvSpPr>
        <p:spPr>
          <a:xfrm>
            <a:off x="7641134"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3" name="Text"/>
          <p:cNvSpPr txBox="1"/>
          <p:nvPr/>
        </p:nvSpPr>
        <p:spPr>
          <a:xfrm>
            <a:off x="8501360"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84" name="Text"/>
          <p:cNvSpPr txBox="1"/>
          <p:nvPr/>
        </p:nvSpPr>
        <p:spPr>
          <a:xfrm>
            <a:off x="9438233"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85" name="Text"/>
          <p:cNvSpPr txBox="1"/>
          <p:nvPr/>
        </p:nvSpPr>
        <p:spPr>
          <a:xfrm>
            <a:off x="1023625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86" name="Text"/>
          <p:cNvSpPr txBox="1"/>
          <p:nvPr/>
        </p:nvSpPr>
        <p:spPr>
          <a:xfrm>
            <a:off x="11031587"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87" name="Text"/>
          <p:cNvSpPr txBox="1"/>
          <p:nvPr/>
        </p:nvSpPr>
        <p:spPr>
          <a:xfrm>
            <a:off x="11409908" y="6535674"/>
            <a:ext cx="45868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2 / 15</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Their own way, Carmen is forced to sell the home at about 83, too late to save the money or the inheritance">
    <p:spTree>
      <p:nvGrpSpPr>
        <p:cNvPr id="1" name=""/>
        <p:cNvGrpSpPr/>
        <p:nvPr/>
      </p:nvGrpSpPr>
      <p:grpSpPr>
        <a:xfrm>
          <a:off x="0" y="0"/>
          <a:ext cx="0" cy="0"/>
          <a:chOff x="0" y="0"/>
          <a:chExt cx="0" cy="0"/>
        </a:xfrm>
      </p:grpSpPr>
      <p:sp>
        <p:nvSpPr>
          <p:cNvPr id="2" name="Rule"/>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ext"/>
          <p:cNvSpPr txBox="1"/>
          <p:nvPr/>
        </p:nvSpPr>
        <p:spPr>
          <a:xfrm>
            <a:off x="638175" y="324421"/>
            <a:ext cx="82657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last?</a:t>
            </a:r>
          </a:p>
        </p:txBody>
      </p:sp>
      <p:sp>
        <p:nvSpPr>
          <p:cNvPr id="4" name="Text"/>
          <p:cNvSpPr txBox="1"/>
          <p:nvPr/>
        </p:nvSpPr>
        <p:spPr>
          <a:xfrm>
            <a:off x="638175" y="529852"/>
            <a:ext cx="752702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Their own way, Carmen is forced to sell the home at</a:t>
            </a:r>
          </a:p>
          <a:p>
            <a:pPr algn="l">
              <a:lnSpc>
                <a:spcPts val="2523"/>
              </a:lnSpc>
              <a:spcBef>
                <a:spcPts val="0"/>
              </a:spcBef>
              <a:spcAft>
                <a:spcPts val="0"/>
              </a:spcAft>
            </a:pPr>
            <a:r>
              <a:rPr sz="2175" b="1" i="0" kern="100" spc="-38">
                <a:solidFill>
                  <a:srgbClr val="1B1716"/>
                </a:solidFill>
                <a:latin typeface="Plus Jakarta Sans"/>
              </a:rPr>
              <a:t>about 83, too late to save the money or the inheritance</a:t>
            </a:r>
          </a:p>
        </p:txBody>
      </p:sp>
      <p:sp>
        <p:nvSpPr>
          <p:cNvPr id="5" name="Rule"/>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6" name="Text"/>
          <p:cNvSpPr txBox="1"/>
          <p:nvPr/>
        </p:nvSpPr>
        <p:spPr>
          <a:xfrm>
            <a:off x="457200" y="1445824"/>
            <a:ext cx="372884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One typical future, managed their own way…</a:t>
            </a:r>
          </a:p>
        </p:txBody>
      </p:sp>
      <p:sp>
        <p:nvSpPr>
          <p:cNvPr id="7" name="Text"/>
          <p:cNvSpPr txBox="1"/>
          <p:nvPr/>
        </p:nvSpPr>
        <p:spPr>
          <a:xfrm>
            <a:off x="457200" y="1817251"/>
            <a:ext cx="5968377"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Our written case measured investments alone: 33%. The fairer test is their own way.</a:t>
            </a:r>
          </a:p>
        </p:txBody>
      </p:sp>
      <p:pic>
        <p:nvPicPr>
          <p:cNvPr id="8"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0600" y="2387798"/>
            <a:ext cx="5949851" cy="2724150"/>
          </a:xfrm>
          <a:prstGeom prst="rect">
            <a:avLst/>
          </a:prstGeom>
        </p:spPr>
      </p:pic>
      <p:sp>
        <p:nvSpPr>
          <p:cNvPr id="9" name="Rule"/>
          <p:cNvSpPr/>
          <p:nvPr/>
        </p:nvSpPr>
        <p:spPr>
          <a:xfrm>
            <a:off x="990600" y="5111948"/>
            <a:ext cx="5949851" cy="9525"/>
          </a:xfrm>
          <a:prstGeom prst="rect">
            <a:avLst/>
          </a:prstGeom>
          <a:solidFill>
            <a:srgbClr val="1B1716"/>
          </a:solidFill>
          <a:ln>
            <a:noFill/>
          </a:ln>
        </p:spPr>
        <p:txBody>
          <a:bodyPr rtlCol="0" anchor="ctr"/>
          <a:lstStyle/>
          <a:p>
            <a:pPr algn="ctr"/>
            <a:endParaRPr/>
          </a:p>
        </p:txBody>
      </p:sp>
      <p:sp>
        <p:nvSpPr>
          <p:cNvPr id="10" name="Text"/>
          <p:cNvSpPr txBox="1"/>
          <p:nvPr/>
        </p:nvSpPr>
        <p:spPr>
          <a:xfrm>
            <a:off x="990600" y="5339691"/>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11" name="Text"/>
          <p:cNvSpPr txBox="1"/>
          <p:nvPr/>
        </p:nvSpPr>
        <p:spPr>
          <a:xfrm>
            <a:off x="990600" y="5173004"/>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12" name="Text"/>
          <p:cNvSpPr txBox="1"/>
          <p:nvPr/>
        </p:nvSpPr>
        <p:spPr>
          <a:xfrm>
            <a:off x="2117147" y="5339691"/>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13" name="Text"/>
          <p:cNvSpPr txBox="1"/>
          <p:nvPr/>
        </p:nvSpPr>
        <p:spPr>
          <a:xfrm>
            <a:off x="2393859" y="5173004"/>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14" name="Text"/>
          <p:cNvSpPr txBox="1"/>
          <p:nvPr/>
        </p:nvSpPr>
        <p:spPr>
          <a:xfrm>
            <a:off x="3541746" y="5339691"/>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15" name="Text"/>
          <p:cNvSpPr txBox="1"/>
          <p:nvPr/>
        </p:nvSpPr>
        <p:spPr>
          <a:xfrm>
            <a:off x="3727432" y="5173004"/>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16" name="Text"/>
          <p:cNvSpPr txBox="1"/>
          <p:nvPr/>
        </p:nvSpPr>
        <p:spPr>
          <a:xfrm>
            <a:off x="5019196" y="5339691"/>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17" name="Text"/>
          <p:cNvSpPr txBox="1"/>
          <p:nvPr/>
        </p:nvSpPr>
        <p:spPr>
          <a:xfrm>
            <a:off x="5215766" y="5173004"/>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18" name="Text"/>
          <p:cNvSpPr txBox="1"/>
          <p:nvPr/>
        </p:nvSpPr>
        <p:spPr>
          <a:xfrm>
            <a:off x="6086582" y="5339691"/>
            <a:ext cx="853869"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1B1716"/>
                </a:solidFill>
                <a:latin typeface="Plus Jakarta Sans SemiBold"/>
              </a:rPr>
              <a:t>Carmen 89</a:t>
            </a:r>
          </a:p>
        </p:txBody>
      </p:sp>
      <p:sp>
        <p:nvSpPr>
          <p:cNvPr id="19" name="Text"/>
          <p:cNvSpPr txBox="1"/>
          <p:nvPr/>
        </p:nvSpPr>
        <p:spPr>
          <a:xfrm>
            <a:off x="6468987" y="5173004"/>
            <a:ext cx="471464"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80606A"/>
                </a:solidFill>
                <a:latin typeface="Plus Jakarta Sans"/>
              </a:rPr>
              <a:t>2066</a:t>
            </a:r>
          </a:p>
        </p:txBody>
      </p:sp>
      <p:sp>
        <p:nvSpPr>
          <p:cNvPr id="20" name="Rule"/>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1" name="Text"/>
          <p:cNvSpPr txBox="1"/>
          <p:nvPr/>
        </p:nvSpPr>
        <p:spPr>
          <a:xfrm>
            <a:off x="7169051" y="1445824"/>
            <a:ext cx="2384435"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across 10,000 futures</a:t>
            </a:r>
          </a:p>
        </p:txBody>
      </p:sp>
      <p:sp>
        <p:nvSpPr>
          <p:cNvPr id="22" name="Text"/>
          <p:cNvSpPr txBox="1"/>
          <p:nvPr/>
        </p:nvSpPr>
        <p:spPr>
          <a:xfrm>
            <a:off x="7169051" y="1817251"/>
            <a:ext cx="3775386"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same test in every simulated market (measured)</a:t>
            </a:r>
          </a:p>
        </p:txBody>
      </p:sp>
      <p:sp>
        <p:nvSpPr>
          <p:cNvPr id="23" name="Text"/>
          <p:cNvSpPr txBox="1"/>
          <p:nvPr/>
        </p:nvSpPr>
        <p:spPr>
          <a:xfrm>
            <a:off x="7169051" y="2184154"/>
            <a:ext cx="1069208"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1B1716"/>
                </a:solidFill>
                <a:latin typeface="Plus Jakarta Sans"/>
              </a:rPr>
              <a:t>51%</a:t>
            </a:r>
          </a:p>
        </p:txBody>
      </p:sp>
      <p:sp>
        <p:nvSpPr>
          <p:cNvPr id="24" name="Text"/>
          <p:cNvSpPr txBox="1"/>
          <p:nvPr/>
        </p:nvSpPr>
        <p:spPr>
          <a:xfrm>
            <a:off x="8165157" y="2455807"/>
            <a:ext cx="295883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of futures are forced to sell the home</a:t>
            </a:r>
          </a:p>
        </p:txBody>
      </p:sp>
      <p:sp>
        <p:nvSpPr>
          <p:cNvPr id="25" name="div"/>
          <p:cNvSpPr/>
          <p:nvPr/>
        </p:nvSpPr>
        <p:spPr>
          <a:xfrm rot="5400000">
            <a:off x="9270876" y="705073"/>
            <a:ext cx="361950" cy="4565600"/>
          </a:xfrm>
          <a:prstGeom prst="round2SameRect">
            <a:avLst>
              <a:gd name="adj1" fmla="val 15789"/>
              <a:gd name="adj2" fmla="val 0"/>
            </a:avLst>
          </a:prstGeom>
          <a:gradFill rotWithShape="0">
            <a:gsLst>
              <a:gs pos="0">
                <a:srgbClr val="F3E2E4"/>
              </a:gs>
              <a:gs pos="100000">
                <a:srgbClr val="E7CCD1"/>
              </a:gs>
            </a:gsLst>
            <a:lin ang="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6" name="i"/>
          <p:cNvSpPr/>
          <p:nvPr/>
        </p:nvSpPr>
        <p:spPr>
          <a:xfrm>
            <a:off x="7169051" y="2806898"/>
            <a:ext cx="2328416" cy="3619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27" name="Text"/>
          <p:cNvSpPr txBox="1"/>
          <p:nvPr/>
        </p:nvSpPr>
        <p:spPr>
          <a:xfrm>
            <a:off x="7283351" y="2907863"/>
            <a:ext cx="449851"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FFFFFF"/>
                </a:solidFill>
                <a:latin typeface="Plus Jakarta Sans SemiBold"/>
              </a:rPr>
              <a:t>Sold</a:t>
            </a:r>
          </a:p>
        </p:txBody>
      </p:sp>
      <p:sp>
        <p:nvSpPr>
          <p:cNvPr id="28" name="Text"/>
          <p:cNvSpPr txBox="1"/>
          <p:nvPr/>
        </p:nvSpPr>
        <p:spPr>
          <a:xfrm>
            <a:off x="11287571" y="2907863"/>
            <a:ext cx="467046"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0606A"/>
                </a:solidFill>
                <a:latin typeface="Plus Jakarta Sans SemiBold"/>
              </a:rPr>
              <a:t>Kept</a:t>
            </a:r>
          </a:p>
        </p:txBody>
      </p:sp>
      <p:sp>
        <p:nvSpPr>
          <p:cNvPr id="29" name="Text"/>
          <p:cNvSpPr txBox="1"/>
          <p:nvPr/>
        </p:nvSpPr>
        <p:spPr>
          <a:xfrm>
            <a:off x="7169051" y="3249573"/>
            <a:ext cx="4551712" cy="192881"/>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80606A"/>
                </a:solidFill>
                <a:latin typeface="Plus Jakarta Sans"/>
              </a:rPr>
              <a:t>when the money runs out, Carmen about 83, usually on her own</a:t>
            </a:r>
          </a:p>
        </p:txBody>
      </p:sp>
      <p:sp>
        <p:nvSpPr>
          <p:cNvPr id="30" name="Rule"/>
          <p:cNvSpPr/>
          <p:nvPr/>
        </p:nvSpPr>
        <p:spPr>
          <a:xfrm>
            <a:off x="7169051" y="3704630"/>
            <a:ext cx="4565600" cy="9525"/>
          </a:xfrm>
          <a:prstGeom prst="rect">
            <a:avLst/>
          </a:prstGeom>
          <a:solidFill>
            <a:srgbClr val="ECDADD"/>
          </a:solidFill>
          <a:ln>
            <a:noFill/>
          </a:ln>
        </p:spPr>
        <p:txBody>
          <a:bodyPr rtlCol="0" anchor="ctr"/>
          <a:lstStyle/>
          <a:p>
            <a:pPr algn="ctr"/>
            <a:endParaRPr/>
          </a:p>
        </p:txBody>
      </p:sp>
      <p:sp>
        <p:nvSpPr>
          <p:cNvPr id="31" name="Text"/>
          <p:cNvSpPr txBox="1"/>
          <p:nvPr/>
        </p:nvSpPr>
        <p:spPr>
          <a:xfrm>
            <a:off x="7169051" y="3905988"/>
            <a:ext cx="349363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What Ryan and Chloe inherit, where it is sold</a:t>
            </a:r>
          </a:p>
        </p:txBody>
      </p:sp>
      <p:sp>
        <p:nvSpPr>
          <p:cNvPr id="32" name="Text"/>
          <p:cNvSpPr txBox="1"/>
          <p:nvPr/>
        </p:nvSpPr>
        <p:spPr>
          <a:xfrm>
            <a:off x="7169051" y="4348966"/>
            <a:ext cx="549396"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Today</a:t>
            </a:r>
          </a:p>
        </p:txBody>
      </p:sp>
      <p:sp>
        <p:nvSpPr>
          <p:cNvPr id="33" name="i"/>
          <p:cNvSpPr/>
          <p:nvPr/>
        </p:nvSpPr>
        <p:spPr>
          <a:xfrm>
            <a:off x="8235851" y="4274195"/>
            <a:ext cx="3498800" cy="3619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34" name="Text"/>
          <p:cNvSpPr txBox="1"/>
          <p:nvPr/>
        </p:nvSpPr>
        <p:spPr>
          <a:xfrm>
            <a:off x="10844510" y="4365063"/>
            <a:ext cx="956884"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HK$24.4M</a:t>
            </a:r>
          </a:p>
        </p:txBody>
      </p:sp>
      <p:sp>
        <p:nvSpPr>
          <p:cNvPr id="35" name="Text"/>
          <p:cNvSpPr txBox="1"/>
          <p:nvPr/>
        </p:nvSpPr>
        <p:spPr>
          <a:xfrm>
            <a:off x="7169051" y="4968091"/>
            <a:ext cx="990329"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Left to them</a:t>
            </a:r>
          </a:p>
        </p:txBody>
      </p:sp>
      <p:sp>
        <p:nvSpPr>
          <p:cNvPr id="36" name="i"/>
          <p:cNvSpPr/>
          <p:nvPr/>
        </p:nvSpPr>
        <p:spPr>
          <a:xfrm>
            <a:off x="8235851" y="4893320"/>
            <a:ext cx="328761" cy="36195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37" name="Text"/>
          <p:cNvSpPr txBox="1"/>
          <p:nvPr/>
        </p:nvSpPr>
        <p:spPr>
          <a:xfrm>
            <a:off x="8697962" y="4749492"/>
            <a:ext cx="2716042"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50">
                <a:solidFill>
                  <a:srgbClr val="C80E1E"/>
                </a:solidFill>
                <a:latin typeface="Plus Jakarta Sans"/>
              </a:rPr>
              <a:t>HK$2.3M</a:t>
            </a:r>
          </a:p>
        </p:txBody>
      </p:sp>
      <p:sp>
        <p:nvSpPr>
          <p:cNvPr id="38"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39" name="Text"/>
          <p:cNvSpPr txBox="1"/>
          <p:nvPr/>
        </p:nvSpPr>
        <p:spPr>
          <a:xfrm>
            <a:off x="1513256" y="5984558"/>
            <a:ext cx="916533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wealth will pay for their retirement either way. The question is when, and on whose terms.</a:t>
            </a:r>
          </a:p>
        </p:txBody>
      </p:sp>
      <p:sp>
        <p:nvSpPr>
          <p:cNvPr id="40" name="Text"/>
          <p:cNvSpPr txBox="1"/>
          <p:nvPr/>
        </p:nvSpPr>
        <p:spPr>
          <a:xfrm>
            <a:off x="457200" y="6452104"/>
            <a:ext cx="606082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Their own way: the business sold; the flat sold only when the money runs out. One typical future of 10,000</a:t>
            </a:r>
          </a:p>
          <a:p>
            <a:pPr algn="l">
              <a:lnSpc>
                <a:spcPts val="1170"/>
              </a:lnSpc>
              <a:spcBef>
                <a:spcPts val="0"/>
              </a:spcBef>
              <a:spcAft>
                <a:spcPts val="0"/>
              </a:spcAft>
            </a:pPr>
            <a:r>
              <a:rPr sz="900" b="0" i="0" kern="100">
                <a:solidFill>
                  <a:srgbClr val="80606A"/>
                </a:solidFill>
                <a:latin typeface="Plus Jakarta Sans"/>
              </a:rPr>
              <a:t>simulated markets, in today's money: an illustration, not a forecast.</a:t>
            </a:r>
          </a:p>
        </p:txBody>
      </p:sp>
      <p:sp>
        <p:nvSpPr>
          <p:cNvPr id="41" name="Text"/>
          <p:cNvSpPr txBox="1"/>
          <p:nvPr/>
        </p:nvSpPr>
        <p:spPr>
          <a:xfrm>
            <a:off x="6682085"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42" name="Text"/>
          <p:cNvSpPr txBox="1"/>
          <p:nvPr/>
        </p:nvSpPr>
        <p:spPr>
          <a:xfrm>
            <a:off x="7639348"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3" name="Text"/>
          <p:cNvSpPr txBox="1"/>
          <p:nvPr/>
        </p:nvSpPr>
        <p:spPr>
          <a:xfrm>
            <a:off x="8499574"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44" name="Text"/>
          <p:cNvSpPr txBox="1"/>
          <p:nvPr/>
        </p:nvSpPr>
        <p:spPr>
          <a:xfrm>
            <a:off x="943644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45" name="Text"/>
          <p:cNvSpPr txBox="1"/>
          <p:nvPr/>
        </p:nvSpPr>
        <p:spPr>
          <a:xfrm>
            <a:off x="1023446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46" name="Text"/>
          <p:cNvSpPr txBox="1"/>
          <p:nvPr/>
        </p:nvSpPr>
        <p:spPr>
          <a:xfrm>
            <a:off x="1102980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47" name="Text"/>
          <p:cNvSpPr txBox="1"/>
          <p:nvPr/>
        </p:nvSpPr>
        <p:spPr>
          <a:xfrm>
            <a:off x="11408122" y="6535674"/>
            <a:ext cx="46057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3 / 15</a:t>
            </a:r>
          </a:p>
        </p:txBody>
      </p:sp>
      <p:sp>
        <p:nvSpPr>
          <p:cNvPr id="48" name="Text"/>
          <p:cNvSpPr txBox="1"/>
          <p:nvPr/>
        </p:nvSpPr>
        <p:spPr>
          <a:xfrm>
            <a:off x="1123950" y="3588818"/>
            <a:ext cx="21123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investments and MPF</a:t>
            </a:r>
          </a:p>
        </p:txBody>
      </p:sp>
      <p:sp>
        <p:nvSpPr>
          <p:cNvPr id="49" name="Text"/>
          <p:cNvSpPr txBox="1"/>
          <p:nvPr/>
        </p:nvSpPr>
        <p:spPr>
          <a:xfrm>
            <a:off x="1123950" y="4845675"/>
            <a:ext cx="2451482" cy="144463"/>
          </a:xfrm>
          <a:prstGeom prst="rect">
            <a:avLst/>
          </a:prstGeom>
          <a:noFill/>
        </p:spPr>
        <p:txBody>
          <a:bodyPr wrap="none" lIns="0" tIns="0" rIns="0" bIns="0" anchor="t">
            <a:noAutofit/>
          </a:bodyPr>
          <a:lstStyle/>
          <a:p>
            <a:pPr algn="l">
              <a:lnSpc>
                <a:spcPts val="1137"/>
              </a:lnSpc>
              <a:spcBef>
                <a:spcPts val="0"/>
              </a:spcBef>
              <a:spcAft>
                <a:spcPts val="0"/>
              </a:spcAft>
            </a:pPr>
            <a:r>
              <a:rPr sz="875" b="0" i="0" kern="100">
                <a:solidFill>
                  <a:srgbClr val="FFFFFF">
                    <a:alpha val="90000"/>
                  </a:srgbClr>
                </a:solidFill>
                <a:latin typeface="Plus Jakarta Sans"/>
              </a:rPr>
              <a:t>since 2015, where Ryan and Chloe grew up</a:t>
            </a:r>
          </a:p>
        </p:txBody>
      </p:sp>
      <p:sp>
        <p:nvSpPr>
          <p:cNvPr id="50" name="Text"/>
          <p:cNvSpPr txBox="1"/>
          <p:nvPr/>
        </p:nvSpPr>
        <p:spPr>
          <a:xfrm>
            <a:off x="1123950" y="4670947"/>
            <a:ext cx="7754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 home</a:t>
            </a:r>
          </a:p>
        </p:txBody>
      </p:sp>
      <p:sp>
        <p:nvSpPr>
          <p:cNvPr id="51" name="Rule"/>
          <p:cNvSpPr/>
          <p:nvPr/>
        </p:nvSpPr>
        <p:spPr>
          <a:xfrm>
            <a:off x="990600" y="2387798"/>
            <a:ext cx="9525" cy="2724150"/>
          </a:xfrm>
          <a:prstGeom prst="rect">
            <a:avLst/>
          </a:prstGeom>
          <a:solidFill>
            <a:srgbClr val="1B1716"/>
          </a:solidFill>
          <a:ln>
            <a:noFill/>
          </a:ln>
        </p:spPr>
        <p:txBody>
          <a:bodyPr rtlCol="0" anchor="ctr"/>
          <a:lstStyle/>
          <a:p>
            <a:pPr algn="ctr"/>
            <a:endParaRPr/>
          </a:p>
        </p:txBody>
      </p:sp>
      <p:sp>
        <p:nvSpPr>
          <p:cNvPr id="52" name="Rule"/>
          <p:cNvSpPr/>
          <p:nvPr/>
        </p:nvSpPr>
        <p:spPr>
          <a:xfrm>
            <a:off x="933450" y="4204692"/>
            <a:ext cx="57150" cy="9525"/>
          </a:xfrm>
          <a:prstGeom prst="rect">
            <a:avLst/>
          </a:prstGeom>
          <a:solidFill>
            <a:srgbClr val="1B1716"/>
          </a:solidFill>
          <a:ln>
            <a:noFill/>
          </a:ln>
        </p:spPr>
        <p:txBody>
          <a:bodyPr rtlCol="0" anchor="ctr"/>
          <a:lstStyle/>
          <a:p>
            <a:pPr algn="ctr"/>
            <a:endParaRPr/>
          </a:p>
        </p:txBody>
      </p:sp>
      <p:sp>
        <p:nvSpPr>
          <p:cNvPr id="53" name="Text"/>
          <p:cNvSpPr txBox="1"/>
          <p:nvPr/>
        </p:nvSpPr>
        <p:spPr>
          <a:xfrm>
            <a:off x="385614" y="4120491"/>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54" name="Rule"/>
          <p:cNvSpPr/>
          <p:nvPr/>
        </p:nvSpPr>
        <p:spPr>
          <a:xfrm>
            <a:off x="933450" y="3294906"/>
            <a:ext cx="57150" cy="9525"/>
          </a:xfrm>
          <a:prstGeom prst="rect">
            <a:avLst/>
          </a:prstGeom>
          <a:solidFill>
            <a:srgbClr val="1B1716"/>
          </a:solidFill>
          <a:ln>
            <a:noFill/>
          </a:ln>
        </p:spPr>
        <p:txBody>
          <a:bodyPr rtlCol="0" anchor="ctr"/>
          <a:lstStyle/>
          <a:p>
            <a:pPr algn="ctr"/>
            <a:endParaRPr/>
          </a:p>
        </p:txBody>
      </p:sp>
      <p:sp>
        <p:nvSpPr>
          <p:cNvPr id="55" name="Text"/>
          <p:cNvSpPr txBox="1"/>
          <p:nvPr/>
        </p:nvSpPr>
        <p:spPr>
          <a:xfrm>
            <a:off x="355104" y="3210705"/>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56" name="Rule"/>
          <p:cNvSpPr/>
          <p:nvPr/>
        </p:nvSpPr>
        <p:spPr>
          <a:xfrm>
            <a:off x="933450" y="2387798"/>
            <a:ext cx="57150" cy="9525"/>
          </a:xfrm>
          <a:prstGeom prst="rect">
            <a:avLst/>
          </a:prstGeom>
          <a:solidFill>
            <a:srgbClr val="1B1716"/>
          </a:solidFill>
          <a:ln>
            <a:noFill/>
          </a:ln>
        </p:spPr>
        <p:txBody>
          <a:bodyPr rtlCol="0" anchor="ctr"/>
          <a:lstStyle/>
          <a:p>
            <a:pPr algn="ctr"/>
            <a:endParaRPr/>
          </a:p>
        </p:txBody>
      </p:sp>
      <p:sp>
        <p:nvSpPr>
          <p:cNvPr id="57" name="Text"/>
          <p:cNvSpPr txBox="1"/>
          <p:nvPr/>
        </p:nvSpPr>
        <p:spPr>
          <a:xfrm>
            <a:off x="353913" y="2303597"/>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58" name="Rule"/>
          <p:cNvSpPr/>
          <p:nvPr/>
        </p:nvSpPr>
        <p:spPr>
          <a:xfrm>
            <a:off x="6196608" y="2673548"/>
            <a:ext cx="9525" cy="1765399"/>
          </a:xfrm>
          <a:prstGeom prst="rect">
            <a:avLst/>
          </a:prstGeom>
          <a:solidFill>
            <a:srgbClr val="1B1716"/>
          </a:solidFill>
          <a:ln>
            <a:noFill/>
          </a:ln>
        </p:spPr>
        <p:txBody>
          <a:bodyPr rtlCol="0" anchor="ctr"/>
          <a:lstStyle/>
          <a:p>
            <a:pPr algn="ctr"/>
            <a:endParaRPr/>
          </a:p>
        </p:txBody>
      </p:sp>
      <p:sp>
        <p:nvSpPr>
          <p:cNvPr id="59" name="Text"/>
          <p:cNvSpPr txBox="1"/>
          <p:nvPr/>
        </p:nvSpPr>
        <p:spPr>
          <a:xfrm>
            <a:off x="4237229" y="2664595"/>
            <a:ext cx="1892704"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The flat is sold, Carmen 83</a:t>
            </a:r>
          </a:p>
          <a:p>
            <a:pPr algn="r">
              <a:lnSpc>
                <a:spcPts val="1364"/>
              </a:lnSpc>
              <a:spcBef>
                <a:spcPts val="0"/>
              </a:spcBef>
              <a:spcAft>
                <a:spcPts val="0"/>
              </a:spcAft>
            </a:pPr>
            <a:r>
              <a:rPr sz="1050" b="0" i="0" kern="100">
                <a:solidFill>
                  <a:srgbClr val="80606A"/>
                </a:solidFill>
                <a:latin typeface="Plus Jakarta Sans"/>
              </a:rPr>
              <a:t>when her savings are gone</a:t>
            </a:r>
          </a:p>
        </p:txBody>
      </p:sp>
      <p:sp>
        <p:nvSpPr>
          <p:cNvPr id="60" name="ps-el"/>
          <p:cNvSpPr/>
          <p:nvPr/>
        </p:nvSpPr>
        <p:spPr>
          <a:xfrm>
            <a:off x="6148983" y="4419898"/>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
        <p:nvSpPr>
          <p:cNvPr id="61" name="Rule"/>
          <p:cNvSpPr/>
          <p:nvPr/>
        </p:nvSpPr>
        <p:spPr>
          <a:xfrm>
            <a:off x="6642943" y="2254448"/>
            <a:ext cx="9525" cy="2446139"/>
          </a:xfrm>
          <a:prstGeom prst="rect">
            <a:avLst/>
          </a:prstGeom>
          <a:solidFill>
            <a:srgbClr val="1B1716"/>
          </a:solidFill>
          <a:ln>
            <a:noFill/>
          </a:ln>
        </p:spPr>
        <p:txBody>
          <a:bodyPr rtlCol="0" anchor="ctr"/>
          <a:lstStyle/>
          <a:p>
            <a:pPr algn="ctr"/>
            <a:endParaRPr/>
          </a:p>
        </p:txBody>
      </p:sp>
      <p:sp>
        <p:nvSpPr>
          <p:cNvPr id="62" name="Text"/>
          <p:cNvSpPr txBox="1"/>
          <p:nvPr/>
        </p:nvSpPr>
        <p:spPr>
          <a:xfrm>
            <a:off x="3859438" y="2245495"/>
            <a:ext cx="2716831"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Runs out again, Carmen 86</a:t>
            </a:r>
          </a:p>
          <a:p>
            <a:pPr algn="r">
              <a:lnSpc>
                <a:spcPts val="1364"/>
              </a:lnSpc>
              <a:spcBef>
                <a:spcPts val="0"/>
              </a:spcBef>
              <a:spcAft>
                <a:spcPts val="0"/>
              </a:spcAft>
            </a:pPr>
            <a:r>
              <a:rPr sz="1050" b="0" i="0" kern="100">
                <a:solidFill>
                  <a:srgbClr val="80606A"/>
                </a:solidFill>
                <a:latin typeface="Plus Jakarta Sans"/>
              </a:rPr>
              <a:t>then unpaid bills eat into the smaller flat</a:t>
            </a:r>
          </a:p>
        </p:txBody>
      </p:sp>
      <p:sp>
        <p:nvSpPr>
          <p:cNvPr id="63" name="ps-el"/>
          <p:cNvSpPr/>
          <p:nvPr/>
        </p:nvSpPr>
        <p:spPr>
          <a:xfrm>
            <a:off x="6595318" y="4681389"/>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Five calls make their wealth last, on their terms">
    <p:spTree>
      <p:nvGrpSpPr>
        <p:cNvPr id="1" name=""/>
        <p:cNvGrpSpPr/>
        <p:nvPr/>
      </p:nvGrpSpPr>
      <p:grpSpPr>
        <a:xfrm>
          <a:off x="0" y="0"/>
          <a:ext cx="0" cy="0"/>
          <a:chOff x="0" y="0"/>
          <a:chExt cx="0" cy="0"/>
        </a:xfrm>
      </p:grpSpPr>
      <p:sp>
        <p:nvSpPr>
          <p:cNvPr id="2" name="section"/>
          <p:cNvSpPr/>
          <p:nvPr/>
        </p:nvSpPr>
        <p:spPr>
          <a:xfrm>
            <a:off x="0" y="0"/>
            <a:ext cx="12192000" cy="6858000"/>
          </a:xfrm>
          <a:prstGeom prst="rect">
            <a:avLst/>
          </a:prstGeom>
          <a:gradFill rotWithShape="0">
            <a:gsLst>
              <a:gs pos="0">
                <a:srgbClr val="BB1626"/>
              </a:gs>
              <a:gs pos="40000">
                <a:srgbClr val="971320"/>
              </a:gs>
              <a:gs pos="72000">
                <a:srgbClr val="700E19"/>
              </a:gs>
              <a:gs pos="100000">
                <a:srgbClr val="500911"/>
              </a:gs>
            </a:gsLst>
            <a:path path="circle">
              <a:fillToRect l="50000" t="50000" r="50000" b="50000"/>
            </a:path>
          </a:gradFill>
          <a:ln>
            <a:noFill/>
          </a:ln>
        </p:spPr>
        <p:txBody>
          <a:bodyPr rtlCol="0" anchor="ctr"/>
          <a:lstStyle/>
          <a:p>
            <a:pPr algn="ctr"/>
            <a:endParaRPr/>
          </a:p>
        </p:txBody>
      </p:sp>
      <p:sp>
        <p:nvSpPr>
          <p:cNvPr id="3" name="Rule"/>
          <p:cNvSpPr/>
          <p:nvPr/>
        </p:nvSpPr>
        <p:spPr>
          <a:xfrm>
            <a:off x="457200" y="323850"/>
            <a:ext cx="47625" cy="676126"/>
          </a:xfrm>
          <a:prstGeom prst="rect">
            <a:avLst/>
          </a:prstGeom>
          <a:solidFill>
            <a:srgbClr val="C80E1E"/>
          </a:solidFill>
          <a:ln>
            <a:noFill/>
          </a:ln>
        </p:spPr>
        <p:txBody>
          <a:bodyPr rtlCol="0" anchor="ctr"/>
          <a:lstStyle/>
          <a:p>
            <a:pPr algn="ctr"/>
            <a:endParaRPr/>
          </a:p>
        </p:txBody>
      </p:sp>
      <p:sp>
        <p:nvSpPr>
          <p:cNvPr id="4" name="Text"/>
          <p:cNvSpPr txBox="1"/>
          <p:nvPr/>
        </p:nvSpPr>
        <p:spPr>
          <a:xfrm>
            <a:off x="638175" y="324421"/>
            <a:ext cx="88999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0C9CE"/>
                </a:solidFill>
                <a:latin typeface="Plus Jakarta Sans SemiBold"/>
              </a:rPr>
              <a:t>Our answer</a:t>
            </a:r>
          </a:p>
        </p:txBody>
      </p:sp>
      <p:sp>
        <p:nvSpPr>
          <p:cNvPr id="5" name="Text"/>
          <p:cNvSpPr txBox="1"/>
          <p:nvPr/>
        </p:nvSpPr>
        <p:spPr>
          <a:xfrm>
            <a:off x="638175" y="522803"/>
            <a:ext cx="8682916" cy="426720"/>
          </a:xfrm>
          <a:prstGeom prst="rect">
            <a:avLst/>
          </a:prstGeom>
          <a:noFill/>
        </p:spPr>
        <p:txBody>
          <a:bodyPr wrap="none" lIns="0" tIns="0" rIns="0" bIns="0" anchor="t">
            <a:noAutofit/>
          </a:bodyPr>
          <a:lstStyle/>
          <a:p>
            <a:pPr algn="l">
              <a:lnSpc>
                <a:spcPts val="3359"/>
              </a:lnSpc>
              <a:spcBef>
                <a:spcPts val="0"/>
              </a:spcBef>
              <a:spcAft>
                <a:spcPts val="0"/>
              </a:spcAft>
            </a:pPr>
            <a:r>
              <a:rPr sz="3000" b="1" i="0" kern="100" spc="-68">
                <a:solidFill>
                  <a:srgbClr val="FFFFFF"/>
                </a:solidFill>
                <a:latin typeface="Plus Jakarta Sans"/>
              </a:rPr>
              <a:t>Five calls make their wealth last, on their terms</a:t>
            </a:r>
          </a:p>
        </p:txBody>
      </p:sp>
      <p:pic>
        <p:nvPicPr>
          <p:cNvPr id="6"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 y="1247626"/>
            <a:ext cx="11277600" cy="4181624"/>
          </a:xfrm>
          <a:prstGeom prst="rect">
            <a:avLst/>
          </a:prstGeom>
        </p:spPr>
      </p:pic>
      <p:sp>
        <p:nvSpPr>
          <p:cNvPr id="7" name="span"/>
          <p:cNvSpPr/>
          <p:nvPr/>
        </p:nvSpPr>
        <p:spPr>
          <a:xfrm>
            <a:off x="8401050" y="1752451"/>
            <a:ext cx="361950" cy="361950"/>
          </a:xfrm>
          <a:prstGeom prst="ellipse">
            <a:avLst/>
          </a:prstGeom>
          <a:solidFill>
            <a:srgbClr val="FFFFFF">
              <a:alpha val="12000"/>
            </a:srgbClr>
          </a:solidFill>
          <a:ln>
            <a:noFill/>
          </a:ln>
        </p:spPr>
        <p:txBody>
          <a:bodyPr rtlCol="0" anchor="ctr"/>
          <a:lstStyle/>
          <a:p>
            <a:pPr algn="ctr"/>
            <a:endParaRPr/>
          </a:p>
        </p:txBody>
      </p:sp>
      <p:pic>
        <p:nvPicPr>
          <p:cNvPr id="8" name="Drawing"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86775" y="1838176"/>
            <a:ext cx="190500" cy="190500"/>
          </a:xfrm>
          <a:prstGeom prst="rect">
            <a:avLst/>
          </a:prstGeom>
        </p:spPr>
      </p:pic>
      <p:sp>
        <p:nvSpPr>
          <p:cNvPr id="9" name="Text"/>
          <p:cNvSpPr txBox="1"/>
          <p:nvPr/>
        </p:nvSpPr>
        <p:spPr>
          <a:xfrm>
            <a:off x="8877300" y="1812983"/>
            <a:ext cx="14107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FFFFFF"/>
                </a:solidFill>
                <a:latin typeface="Plus Jakarta Sans SemiBold"/>
              </a:rPr>
              <a:t>What passes on</a:t>
            </a:r>
          </a:p>
        </p:txBody>
      </p:sp>
      <p:sp>
        <p:nvSpPr>
          <p:cNvPr id="10" name="Text"/>
          <p:cNvSpPr txBox="1"/>
          <p:nvPr/>
        </p:nvSpPr>
        <p:spPr>
          <a:xfrm>
            <a:off x="8877300" y="2037820"/>
            <a:ext cx="282442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the inheritance kept, passed on in stages</a:t>
            </a:r>
          </a:p>
        </p:txBody>
      </p:sp>
      <p:sp>
        <p:nvSpPr>
          <p:cNvPr id="11" name="span"/>
          <p:cNvSpPr/>
          <p:nvPr/>
        </p:nvSpPr>
        <p:spPr>
          <a:xfrm>
            <a:off x="8401050" y="2743051"/>
            <a:ext cx="361950" cy="361950"/>
          </a:xfrm>
          <a:prstGeom prst="ellipse">
            <a:avLst/>
          </a:prstGeom>
          <a:solidFill>
            <a:srgbClr val="FFFFFF">
              <a:alpha val="12000"/>
            </a:srgbClr>
          </a:solidFill>
          <a:ln>
            <a:noFill/>
          </a:ln>
        </p:spPr>
        <p:txBody>
          <a:bodyPr rtlCol="0" anchor="ctr"/>
          <a:lstStyle/>
          <a:p>
            <a:pPr algn="ctr"/>
            <a:endParaRPr/>
          </a:p>
        </p:txBody>
      </p:sp>
      <p:pic>
        <p:nvPicPr>
          <p:cNvPr id="12" name="Drawing"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86775" y="2828776"/>
            <a:ext cx="190500" cy="190500"/>
          </a:xfrm>
          <a:prstGeom prst="rect">
            <a:avLst/>
          </a:prstGeom>
        </p:spPr>
      </p:pic>
      <p:sp>
        <p:nvSpPr>
          <p:cNvPr id="13" name="Text"/>
          <p:cNvSpPr txBox="1"/>
          <p:nvPr/>
        </p:nvSpPr>
        <p:spPr>
          <a:xfrm>
            <a:off x="8877300" y="2803583"/>
            <a:ext cx="3075730"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5</a:t>
            </a:r>
            <a:r>
              <a:rPr sz="1275" b="0" i="0" kern="100">
                <a:solidFill>
                  <a:srgbClr val="FFFFFF"/>
                </a:solidFill>
                <a:latin typeface="Plus Jakarta Sans SemiBold"/>
              </a:rPr>
              <a:t>   Values and crypto, with guardrails</a:t>
            </a:r>
          </a:p>
        </p:txBody>
      </p:sp>
      <p:sp>
        <p:nvSpPr>
          <p:cNvPr id="14" name="Text"/>
          <p:cNvSpPr txBox="1"/>
          <p:nvPr/>
        </p:nvSpPr>
        <p:spPr>
          <a:xfrm>
            <a:off x="8877300" y="3028420"/>
            <a:ext cx="253777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ESG at 25%; crypto sized per person</a:t>
            </a:r>
          </a:p>
        </p:txBody>
      </p:sp>
      <p:sp>
        <p:nvSpPr>
          <p:cNvPr id="15" name="span"/>
          <p:cNvSpPr/>
          <p:nvPr/>
        </p:nvSpPr>
        <p:spPr>
          <a:xfrm>
            <a:off x="8401050" y="3638401"/>
            <a:ext cx="361950" cy="361950"/>
          </a:xfrm>
          <a:prstGeom prst="ellipse">
            <a:avLst/>
          </a:prstGeom>
          <a:solidFill>
            <a:srgbClr val="FFFFFF">
              <a:alpha val="12000"/>
            </a:srgbClr>
          </a:solidFill>
          <a:ln>
            <a:noFill/>
          </a:ln>
        </p:spPr>
        <p:txBody>
          <a:bodyPr rtlCol="0" anchor="ctr"/>
          <a:lstStyle/>
          <a:p>
            <a:pPr algn="ctr"/>
            <a:endParaRPr/>
          </a:p>
        </p:txBody>
      </p:sp>
      <p:pic>
        <p:nvPicPr>
          <p:cNvPr id="16" name="Drawing"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86775" y="3724126"/>
            <a:ext cx="190500" cy="190500"/>
          </a:xfrm>
          <a:prstGeom prst="rect">
            <a:avLst/>
          </a:prstGeom>
        </p:spPr>
      </p:pic>
      <p:sp>
        <p:nvSpPr>
          <p:cNvPr id="17" name="Text"/>
          <p:cNvSpPr txBox="1"/>
          <p:nvPr/>
        </p:nvSpPr>
        <p:spPr>
          <a:xfrm>
            <a:off x="8877300" y="3698933"/>
            <a:ext cx="2848558"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3</a:t>
            </a:r>
            <a:r>
              <a:rPr sz="1275" b="0" i="0" kern="100">
                <a:solidFill>
                  <a:srgbClr val="FFFFFF"/>
                </a:solidFill>
                <a:latin typeface="Plus Jakarta Sans SemiBold"/>
              </a:rPr>
              <a:t>   Fix the cost the budget ignores</a:t>
            </a:r>
          </a:p>
        </p:txBody>
      </p:sp>
      <p:sp>
        <p:nvSpPr>
          <p:cNvPr id="18" name="Text"/>
          <p:cNvSpPr txBox="1"/>
          <p:nvPr/>
        </p:nvSpPr>
        <p:spPr>
          <a:xfrm>
            <a:off x="8877300" y="3923770"/>
            <a:ext cx="261018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a medical review at 75; spending rules</a:t>
            </a:r>
          </a:p>
        </p:txBody>
      </p:sp>
      <p:sp>
        <p:nvSpPr>
          <p:cNvPr id="19" name="Text"/>
          <p:cNvSpPr txBox="1"/>
          <p:nvPr/>
        </p:nvSpPr>
        <p:spPr>
          <a:xfrm>
            <a:off x="1180627" y="2632133"/>
            <a:ext cx="2134073"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4</a:t>
            </a:r>
            <a:r>
              <a:rPr sz="1275" b="0" i="0" kern="100">
                <a:solidFill>
                  <a:srgbClr val="FFFFFF"/>
                </a:solidFill>
                <a:latin typeface="Plus Jakarta Sans SemiBold"/>
              </a:rPr>
              <a:t>   A plan for each person</a:t>
            </a:r>
          </a:p>
        </p:txBody>
      </p:sp>
      <p:sp>
        <p:nvSpPr>
          <p:cNvPr id="20" name="Text"/>
          <p:cNvSpPr txBox="1"/>
          <p:nvPr/>
        </p:nvSpPr>
        <p:spPr>
          <a:xfrm>
            <a:off x="494538" y="2856970"/>
            <a:ext cx="2820162"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Chloe funded; HK$45K a year less in fees</a:t>
            </a:r>
          </a:p>
        </p:txBody>
      </p:sp>
      <p:sp>
        <p:nvSpPr>
          <p:cNvPr id="21" name="span"/>
          <p:cNvSpPr/>
          <p:nvPr/>
        </p:nvSpPr>
        <p:spPr>
          <a:xfrm>
            <a:off x="3429000" y="2571601"/>
            <a:ext cx="361950" cy="361950"/>
          </a:xfrm>
          <a:prstGeom prst="ellipse">
            <a:avLst/>
          </a:prstGeom>
          <a:solidFill>
            <a:srgbClr val="FFFFFF">
              <a:alpha val="12000"/>
            </a:srgbClr>
          </a:solidFill>
          <a:ln>
            <a:noFill/>
          </a:ln>
        </p:spPr>
        <p:txBody>
          <a:bodyPr rtlCol="0" anchor="ctr"/>
          <a:lstStyle/>
          <a:p>
            <a:pPr algn="ctr"/>
            <a:endParaRPr/>
          </a:p>
        </p:txBody>
      </p:sp>
      <p:pic>
        <p:nvPicPr>
          <p:cNvPr id="22" name="Drawing"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14725" y="2657326"/>
            <a:ext cx="190500" cy="190500"/>
          </a:xfrm>
          <a:prstGeom prst="rect">
            <a:avLst/>
          </a:prstGeom>
        </p:spPr>
      </p:pic>
      <p:sp>
        <p:nvSpPr>
          <p:cNvPr id="23" name="Text"/>
          <p:cNvSpPr txBox="1"/>
          <p:nvPr/>
        </p:nvSpPr>
        <p:spPr>
          <a:xfrm>
            <a:off x="806898" y="3527483"/>
            <a:ext cx="2507802"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2</a:t>
            </a:r>
            <a:r>
              <a:rPr sz="1275" b="0" i="0" kern="100">
                <a:solidFill>
                  <a:srgbClr val="FFFFFF"/>
                </a:solidFill>
                <a:latin typeface="Plus Jakarta Sans SemiBold"/>
              </a:rPr>
              <a:t>   The home and the business</a:t>
            </a:r>
          </a:p>
        </p:txBody>
      </p:sp>
      <p:sp>
        <p:nvSpPr>
          <p:cNvPr id="24" name="Text"/>
          <p:cNvSpPr txBox="1"/>
          <p:nvPr/>
        </p:nvSpPr>
        <p:spPr>
          <a:xfrm>
            <a:off x="1144500" y="3752320"/>
            <a:ext cx="2170200"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decided at 65, not forced at 83</a:t>
            </a:r>
          </a:p>
        </p:txBody>
      </p:sp>
      <p:sp>
        <p:nvSpPr>
          <p:cNvPr id="25" name="span"/>
          <p:cNvSpPr/>
          <p:nvPr/>
        </p:nvSpPr>
        <p:spPr>
          <a:xfrm>
            <a:off x="3429000" y="3466951"/>
            <a:ext cx="361950" cy="361950"/>
          </a:xfrm>
          <a:prstGeom prst="ellipse">
            <a:avLst/>
          </a:prstGeom>
          <a:solidFill>
            <a:srgbClr val="FFFFFF">
              <a:alpha val="12000"/>
            </a:srgbClr>
          </a:solidFill>
          <a:ln>
            <a:noFill/>
          </a:ln>
        </p:spPr>
        <p:txBody>
          <a:bodyPr rtlCol="0" anchor="ctr"/>
          <a:lstStyle/>
          <a:p>
            <a:pPr algn="ctr"/>
            <a:endParaRPr/>
          </a:p>
        </p:txBody>
      </p:sp>
      <p:pic>
        <p:nvPicPr>
          <p:cNvPr id="26" name="Drawing"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514725" y="3552676"/>
            <a:ext cx="190500" cy="190500"/>
          </a:xfrm>
          <a:prstGeom prst="rect">
            <a:avLst/>
          </a:prstGeom>
        </p:spPr>
      </p:pic>
      <p:sp>
        <p:nvSpPr>
          <p:cNvPr id="27" name="Text"/>
          <p:cNvSpPr txBox="1"/>
          <p:nvPr/>
        </p:nvSpPr>
        <p:spPr>
          <a:xfrm>
            <a:off x="633049" y="4232333"/>
            <a:ext cx="2681651"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1</a:t>
            </a:r>
            <a:r>
              <a:rPr sz="1275" b="0" i="0" kern="100">
                <a:solidFill>
                  <a:srgbClr val="FFFFFF"/>
                </a:solidFill>
                <a:latin typeface="Plus Jakarta Sans SemiBold"/>
              </a:rPr>
              <a:t>   Insure the income, not the life</a:t>
            </a:r>
          </a:p>
        </p:txBody>
      </p:sp>
      <p:sp>
        <p:nvSpPr>
          <p:cNvPr id="28" name="Text"/>
          <p:cNvSpPr txBox="1"/>
          <p:nvPr/>
        </p:nvSpPr>
        <p:spPr>
          <a:xfrm>
            <a:off x="568053" y="4457170"/>
            <a:ext cx="2746647"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about HK$100K a year closes every gap</a:t>
            </a:r>
          </a:p>
        </p:txBody>
      </p:sp>
      <p:sp>
        <p:nvSpPr>
          <p:cNvPr id="29" name="span"/>
          <p:cNvSpPr/>
          <p:nvPr/>
        </p:nvSpPr>
        <p:spPr>
          <a:xfrm>
            <a:off x="3429000" y="4171801"/>
            <a:ext cx="361950" cy="361950"/>
          </a:xfrm>
          <a:prstGeom prst="ellipse">
            <a:avLst/>
          </a:prstGeom>
          <a:solidFill>
            <a:srgbClr val="FFFFFF">
              <a:alpha val="12000"/>
            </a:srgbClr>
          </a:solidFill>
          <a:ln>
            <a:noFill/>
          </a:ln>
        </p:spPr>
        <p:txBody>
          <a:bodyPr rtlCol="0" anchor="ctr"/>
          <a:lstStyle/>
          <a:p>
            <a:pPr algn="ctr"/>
            <a:endParaRPr/>
          </a:p>
        </p:txBody>
      </p:sp>
      <p:pic>
        <p:nvPicPr>
          <p:cNvPr id="30" name="Drawing"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514725" y="4257526"/>
            <a:ext cx="190500" cy="190500"/>
          </a:xfrm>
          <a:prstGeom prst="rect">
            <a:avLst/>
          </a:prstGeom>
        </p:spPr>
      </p:pic>
      <p:sp>
        <p:nvSpPr>
          <p:cNvPr id="31" name="div"/>
          <p:cNvSpPr/>
          <p:nvPr/>
        </p:nvSpPr>
        <p:spPr>
          <a:xfrm>
            <a:off x="2470398" y="5434012"/>
            <a:ext cx="7251055" cy="809625"/>
          </a:xfrm>
          <a:prstGeom prst="rect">
            <a:avLst/>
          </a:prstGeom>
          <a:solidFill>
            <a:srgbClr val="FFFFFF">
              <a:alpha val="6000"/>
            </a:srgbClr>
          </a:solidFill>
          <a:ln w="9525">
            <a:solidFill>
              <a:srgbClr val="FFFFFF">
                <a:alpha val="38000"/>
              </a:srgbClr>
            </a:solidFill>
          </a:ln>
        </p:spPr>
        <p:txBody>
          <a:bodyPr rtlCol="0" anchor="ctr"/>
          <a:lstStyle/>
          <a:p>
            <a:pPr algn="ctr"/>
            <a:endParaRPr/>
          </a:p>
        </p:txBody>
      </p:sp>
      <p:sp>
        <p:nvSpPr>
          <p:cNvPr id="32" name="Text"/>
          <p:cNvSpPr txBox="1"/>
          <p:nvPr/>
        </p:nvSpPr>
        <p:spPr>
          <a:xfrm>
            <a:off x="2760911" y="5642134"/>
            <a:ext cx="1580817" cy="371475"/>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Chance the money</a:t>
            </a:r>
          </a:p>
          <a:p>
            <a:pPr algn="l">
              <a:lnSpc>
                <a:spcPts val="1462"/>
              </a:lnSpc>
              <a:spcBef>
                <a:spcPts val="0"/>
              </a:spcBef>
              <a:spcAft>
                <a:spcPts val="0"/>
              </a:spcAft>
            </a:pPr>
            <a:r>
              <a:rPr sz="1125" b="0" i="0" kern="100">
                <a:solidFill>
                  <a:srgbClr val="FFFFFF"/>
                </a:solidFill>
                <a:latin typeface="Plus Jakarta Sans SemiBold"/>
              </a:rPr>
              <a:t>lasts to Carmen's 89</a:t>
            </a:r>
          </a:p>
        </p:txBody>
      </p:sp>
      <p:sp>
        <p:nvSpPr>
          <p:cNvPr id="33" name="Text"/>
          <p:cNvSpPr txBox="1"/>
          <p:nvPr/>
        </p:nvSpPr>
        <p:spPr>
          <a:xfrm>
            <a:off x="4589711" y="5652706"/>
            <a:ext cx="885105"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a:solidFill>
                  <a:srgbClr val="C9A2A8"/>
                </a:solidFill>
                <a:latin typeface="Plus Jakarta Sans"/>
              </a:rPr>
              <a:t>62%</a:t>
            </a:r>
          </a:p>
        </p:txBody>
      </p:sp>
      <p:sp>
        <p:nvSpPr>
          <p:cNvPr id="34" name="Text"/>
          <p:cNvSpPr txBox="1"/>
          <p:nvPr/>
        </p:nvSpPr>
        <p:spPr>
          <a:xfrm>
            <a:off x="5393085" y="5799296"/>
            <a:ext cx="1081040"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E8C6CB"/>
                </a:solidFill>
                <a:latin typeface="Plus Jakarta Sans"/>
              </a:rPr>
              <a:t>their own way</a:t>
            </a:r>
          </a:p>
        </p:txBody>
      </p:sp>
      <p:sp>
        <p:nvSpPr>
          <p:cNvPr id="35" name="Text"/>
          <p:cNvSpPr txBox="1"/>
          <p:nvPr/>
        </p:nvSpPr>
        <p:spPr>
          <a:xfrm>
            <a:off x="6514654" y="5652706"/>
            <a:ext cx="359456" cy="323850"/>
          </a:xfrm>
          <a:prstGeom prst="rect">
            <a:avLst/>
          </a:prstGeom>
          <a:noFill/>
        </p:spPr>
        <p:txBody>
          <a:bodyPr wrap="none" lIns="0" tIns="0" rIns="0" bIns="0" anchor="t">
            <a:noAutofit/>
          </a:bodyPr>
          <a:lstStyle/>
          <a:p>
            <a:pPr algn="l">
              <a:lnSpc>
                <a:spcPts val="2550"/>
              </a:lnSpc>
              <a:spcBef>
                <a:spcPts val="0"/>
              </a:spcBef>
              <a:spcAft>
                <a:spcPts val="0"/>
              </a:spcAft>
            </a:pPr>
            <a:r>
              <a:rPr sz="2550" b="0" i="0" kern="100">
                <a:solidFill>
                  <a:srgbClr val="C9A2A8"/>
                </a:solidFill>
                <a:latin typeface="Plus Jakarta Sans"/>
              </a:rPr>
              <a:t>→</a:t>
            </a:r>
          </a:p>
        </p:txBody>
      </p:sp>
      <p:sp>
        <p:nvSpPr>
          <p:cNvPr id="36" name="Text"/>
          <p:cNvSpPr txBox="1"/>
          <p:nvPr/>
        </p:nvSpPr>
        <p:spPr>
          <a:xfrm>
            <a:off x="6955482" y="5514022"/>
            <a:ext cx="1421008"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75">
                <a:solidFill>
                  <a:srgbClr val="FFFFFF"/>
                </a:solidFill>
                <a:latin typeface="Plus Jakarta Sans"/>
              </a:rPr>
              <a:t>97%</a:t>
            </a:r>
          </a:p>
        </p:txBody>
      </p:sp>
      <p:sp>
        <p:nvSpPr>
          <p:cNvPr id="37" name="Text"/>
          <p:cNvSpPr txBox="1"/>
          <p:nvPr/>
        </p:nvSpPr>
        <p:spPr>
          <a:xfrm>
            <a:off x="8264426" y="5904071"/>
            <a:ext cx="1350806"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with the five calls</a:t>
            </a:r>
          </a:p>
        </p:txBody>
      </p:sp>
      <p:sp>
        <p:nvSpPr>
          <p:cNvPr id="38" name="Text"/>
          <p:cNvSpPr txBox="1"/>
          <p:nvPr/>
        </p:nvSpPr>
        <p:spPr>
          <a:xfrm>
            <a:off x="457200" y="6452104"/>
            <a:ext cx="641404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D9B3B9"/>
                </a:solidFill>
                <a:latin typeface="Plus Jakarta Sans"/>
              </a:rPr>
              <a:t>Chance the money lasts to Carmen's 89, 10,000 simulated markets (measured); with the spending rules, almost</a:t>
            </a:r>
          </a:p>
          <a:p>
            <a:pPr algn="l">
              <a:lnSpc>
                <a:spcPts val="1170"/>
              </a:lnSpc>
              <a:spcBef>
                <a:spcPts val="0"/>
              </a:spcBef>
              <a:spcAft>
                <a:spcPts val="0"/>
              </a:spcAft>
            </a:pPr>
            <a:r>
              <a:rPr sz="900" b="0" i="0" kern="100">
                <a:solidFill>
                  <a:srgbClr val="D9B3B9"/>
                </a:solidFill>
                <a:latin typeface="Plus Jakarta Sans"/>
              </a:rPr>
              <a:t>every future. Their own way: the business sold, the flat sold when the money runs out.</a:t>
            </a:r>
          </a:p>
        </p:txBody>
      </p:sp>
      <p:sp>
        <p:nvSpPr>
          <p:cNvPr id="39" name="Text"/>
          <p:cNvSpPr txBox="1"/>
          <p:nvPr/>
        </p:nvSpPr>
        <p:spPr>
          <a:xfrm>
            <a:off x="667137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problem</a:t>
            </a:r>
          </a:p>
        </p:txBody>
      </p:sp>
      <p:sp>
        <p:nvSpPr>
          <p:cNvPr id="40" name="Text"/>
          <p:cNvSpPr txBox="1"/>
          <p:nvPr/>
        </p:nvSpPr>
        <p:spPr>
          <a:xfrm>
            <a:off x="7617619" y="6536246"/>
            <a:ext cx="82215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FFFFFF"/>
                </a:solidFill>
                <a:latin typeface="Plus Jakarta Sans SemiBold"/>
              </a:rPr>
              <a:t>The answer</a:t>
            </a:r>
          </a:p>
        </p:txBody>
      </p:sp>
      <p:sp>
        <p:nvSpPr>
          <p:cNvPr id="41" name="Text"/>
          <p:cNvSpPr txBox="1"/>
          <p:nvPr/>
        </p:nvSpPr>
        <p:spPr>
          <a:xfrm>
            <a:off x="849496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five calls</a:t>
            </a:r>
          </a:p>
        </p:txBody>
      </p:sp>
      <p:sp>
        <p:nvSpPr>
          <p:cNvPr id="42" name="Text"/>
          <p:cNvSpPr txBox="1"/>
          <p:nvPr/>
        </p:nvSpPr>
        <p:spPr>
          <a:xfrm>
            <a:off x="9431834"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Will it hold</a:t>
            </a:r>
          </a:p>
        </p:txBody>
      </p:sp>
      <p:sp>
        <p:nvSpPr>
          <p:cNvPr id="43" name="Text"/>
          <p:cNvSpPr txBox="1"/>
          <p:nvPr/>
        </p:nvSpPr>
        <p:spPr>
          <a:xfrm>
            <a:off x="1022985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What next</a:t>
            </a:r>
          </a:p>
        </p:txBody>
      </p:sp>
      <p:sp>
        <p:nvSpPr>
          <p:cNvPr id="44" name="Text"/>
          <p:cNvSpPr txBox="1"/>
          <p:nvPr/>
        </p:nvSpPr>
        <p:spPr>
          <a:xfrm>
            <a:off x="1102518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Us</a:t>
            </a:r>
          </a:p>
        </p:txBody>
      </p:sp>
      <p:sp>
        <p:nvSpPr>
          <p:cNvPr id="45" name="Text"/>
          <p:cNvSpPr txBox="1"/>
          <p:nvPr/>
        </p:nvSpPr>
        <p:spPr>
          <a:xfrm>
            <a:off x="11403509" y="6535674"/>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FFFFFF"/>
                </a:solidFill>
                <a:latin typeface="Plus Jakarta Sans SemiBold"/>
              </a:rPr>
              <a:t>4 / 15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Insure the income, not the life: about HK$100K a year closes every gap">
    <p:spTree>
      <p:nvGrpSpPr>
        <p:cNvPr id="1" name=""/>
        <p:cNvGrpSpPr/>
        <p:nvPr/>
      </p:nvGrpSpPr>
      <p:grpSpPr>
        <a:xfrm>
          <a:off x="0" y="0"/>
          <a:ext cx="0" cy="0"/>
          <a:chOff x="0" y="0"/>
          <a:chExt cx="0" cy="0"/>
        </a:xfrm>
      </p:grpSpPr>
      <p:sp>
        <p:nvSpPr>
          <p:cNvPr id="2" name="Rul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ext"/>
          <p:cNvSpPr txBox="1"/>
          <p:nvPr/>
        </p:nvSpPr>
        <p:spPr>
          <a:xfrm>
            <a:off x="638175" y="324421"/>
            <a:ext cx="125615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1: Protection</a:t>
            </a:r>
          </a:p>
        </p:txBody>
      </p:sp>
      <p:sp>
        <p:nvSpPr>
          <p:cNvPr id="5" name="Text"/>
          <p:cNvSpPr txBox="1"/>
          <p:nvPr/>
        </p:nvSpPr>
        <p:spPr>
          <a:xfrm>
            <a:off x="638175" y="529852"/>
            <a:ext cx="9666693"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Insure the income, not the life: about HK$100K a year closes every gap</a:t>
            </a:r>
          </a:p>
        </p:txBody>
      </p:sp>
      <p:sp>
        <p:nvSpPr>
          <p:cNvPr id="6" name="Rule"/>
          <p:cNvSpPr/>
          <p:nvPr/>
        </p:nvSpPr>
        <p:spPr>
          <a:xfrm>
            <a:off x="457200" y="1419820"/>
            <a:ext cx="5410200" cy="9525"/>
          </a:xfrm>
          <a:prstGeom prst="rect">
            <a:avLst/>
          </a:prstGeom>
          <a:solidFill>
            <a:srgbClr val="1B1716"/>
          </a:solidFill>
          <a:ln>
            <a:noFill/>
          </a:ln>
        </p:spPr>
        <p:txBody>
          <a:bodyPr rtlCol="0" anchor="ctr"/>
          <a:lstStyle/>
          <a:p>
            <a:pPr algn="ctr"/>
            <a:endParaRPr/>
          </a:p>
        </p:txBody>
      </p:sp>
      <p:sp>
        <p:nvSpPr>
          <p:cNvPr id="7" name="Text"/>
          <p:cNvSpPr txBox="1"/>
          <p:nvPr/>
        </p:nvSpPr>
        <p:spPr>
          <a:xfrm>
            <a:off x="457200" y="1125545"/>
            <a:ext cx="29137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If Adrian couldn't work tomorrow…</a:t>
            </a:r>
          </a:p>
        </p:txBody>
      </p:sp>
      <p:sp>
        <p:nvSpPr>
          <p:cNvPr id="8" name="Text"/>
          <p:cNvSpPr txBox="1"/>
          <p:nvPr/>
        </p:nvSpPr>
        <p:spPr>
          <a:xfrm>
            <a:off x="457200" y="1496973"/>
            <a:ext cx="4239351"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household's money each month, against its bills (case)</a:t>
            </a:r>
          </a:p>
        </p:txBody>
      </p:sp>
      <p:sp>
        <p:nvSpPr>
          <p:cNvPr id="9" name="Rule"/>
          <p:cNvSpPr/>
          <p:nvPr/>
        </p:nvSpPr>
        <p:spPr>
          <a:xfrm>
            <a:off x="3962400" y="4074021"/>
            <a:ext cx="28575" cy="764679"/>
          </a:xfrm>
          <a:prstGeom prst="rect">
            <a:avLst/>
          </a:prstGeom>
          <a:solidFill>
            <a:srgbClr val="ECDADD"/>
          </a:solidFill>
          <a:ln>
            <a:noFill/>
          </a:ln>
        </p:spPr>
        <p:txBody>
          <a:bodyPr rtlCol="0" anchor="ctr"/>
          <a:lstStyle/>
          <a:p>
            <a:pPr algn="ctr"/>
            <a:endParaRPr/>
          </a:p>
        </p:txBody>
      </p:sp>
      <p:sp>
        <p:nvSpPr>
          <p:cNvPr id="10" name="Text"/>
          <p:cNvSpPr txBox="1"/>
          <p:nvPr/>
        </p:nvSpPr>
        <p:spPr>
          <a:xfrm>
            <a:off x="4105275" y="4063067"/>
            <a:ext cx="1907218"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Why not more life cover?</a:t>
            </a:r>
          </a:p>
        </p:txBody>
      </p:sp>
      <p:sp>
        <p:nvSpPr>
          <p:cNvPr id="11" name="Text"/>
          <p:cNvSpPr txBox="1"/>
          <p:nvPr/>
        </p:nvSpPr>
        <p:spPr>
          <a:xfrm>
            <a:off x="4105275" y="4263188"/>
            <a:ext cx="1830863" cy="559951"/>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His HK$2.0M whole-life</a:t>
            </a:r>
          </a:p>
          <a:p>
            <a:pPr algn="l">
              <a:lnSpc>
                <a:spcPts val="1470"/>
              </a:lnSpc>
              <a:spcBef>
                <a:spcPts val="0"/>
              </a:spcBef>
              <a:spcAft>
                <a:spcPts val="0"/>
              </a:spcAft>
            </a:pPr>
            <a:r>
              <a:rPr sz="1050" b="0" i="0" kern="100">
                <a:solidFill>
                  <a:srgbClr val="1B1716"/>
                </a:solidFill>
                <a:latin typeface="Plus Jakarta Sans"/>
              </a:rPr>
              <a:t>policy pays only if he dies,</a:t>
            </a:r>
          </a:p>
          <a:p>
            <a:pPr algn="l">
              <a:lnSpc>
                <a:spcPts val="1470"/>
              </a:lnSpc>
              <a:spcBef>
                <a:spcPts val="0"/>
              </a:spcBef>
              <a:spcAft>
                <a:spcPts val="0"/>
              </a:spcAft>
            </a:pPr>
            <a:r>
              <a:rPr sz="1050" b="0" i="0" kern="100">
                <a:solidFill>
                  <a:srgbClr val="1B1716"/>
                </a:solidFill>
                <a:latin typeface="Plus Jakarta Sans"/>
              </a:rPr>
              <a:t>not if he can't work (case).</a:t>
            </a:r>
          </a:p>
        </p:txBody>
      </p:sp>
      <p:sp>
        <p:nvSpPr>
          <p:cNvPr id="12" name="Rule"/>
          <p:cNvSpPr/>
          <p:nvPr/>
        </p:nvSpPr>
        <p:spPr>
          <a:xfrm>
            <a:off x="6324600" y="1419820"/>
            <a:ext cx="5410200" cy="9525"/>
          </a:xfrm>
          <a:prstGeom prst="rect">
            <a:avLst/>
          </a:prstGeom>
          <a:solidFill>
            <a:srgbClr val="1B1716"/>
          </a:solidFill>
          <a:ln>
            <a:noFill/>
          </a:ln>
        </p:spPr>
        <p:txBody>
          <a:bodyPr rtlCol="0" anchor="ctr"/>
          <a:lstStyle/>
          <a:p>
            <a:pPr algn="ctr"/>
            <a:endParaRPr/>
          </a:p>
        </p:txBody>
      </p:sp>
      <p:sp>
        <p:nvSpPr>
          <p:cNvPr id="13" name="Text"/>
          <p:cNvSpPr txBox="1"/>
          <p:nvPr/>
        </p:nvSpPr>
        <p:spPr>
          <a:xfrm>
            <a:off x="6324600" y="1125545"/>
            <a:ext cx="2536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we insure the income first</a:t>
            </a:r>
          </a:p>
        </p:txBody>
      </p:sp>
      <p:sp>
        <p:nvSpPr>
          <p:cNvPr id="14" name="Text"/>
          <p:cNvSpPr txBox="1"/>
          <p:nvPr/>
        </p:nvSpPr>
        <p:spPr>
          <a:xfrm>
            <a:off x="6324600" y="1517356"/>
            <a:ext cx="2120191" cy="438150"/>
          </a:xfrm>
          <a:prstGeom prst="rect">
            <a:avLst/>
          </a:prstGeom>
          <a:noFill/>
        </p:spPr>
        <p:txBody>
          <a:bodyPr wrap="none" lIns="0" tIns="0" rIns="0" bIns="0" anchor="t">
            <a:noAutofit/>
          </a:bodyPr>
          <a:lstStyle/>
          <a:p>
            <a:pPr algn="l">
              <a:lnSpc>
                <a:spcPts val="3450"/>
              </a:lnSpc>
              <a:spcBef>
                <a:spcPts val="0"/>
              </a:spcBef>
              <a:spcAft>
                <a:spcPts val="0"/>
              </a:spcAft>
            </a:pPr>
            <a:r>
              <a:rPr sz="3450" b="1" i="0" kern="100" spc="-112">
                <a:solidFill>
                  <a:srgbClr val="C80E1E"/>
                </a:solidFill>
                <a:latin typeface="Plus Jakarta Sans"/>
              </a:rPr>
              <a:t>HK$100K</a:t>
            </a:r>
          </a:p>
        </p:txBody>
      </p:sp>
      <p:sp>
        <p:nvSpPr>
          <p:cNvPr id="15" name="Text"/>
          <p:cNvSpPr txBox="1"/>
          <p:nvPr/>
        </p:nvSpPr>
        <p:spPr>
          <a:xfrm>
            <a:off x="8369350" y="1555313"/>
            <a:ext cx="196464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a year for four new covers,</a:t>
            </a:r>
          </a:p>
          <a:p>
            <a:pPr algn="l">
              <a:lnSpc>
                <a:spcPts val="1518"/>
              </a:lnSpc>
              <a:spcBef>
                <a:spcPts val="0"/>
              </a:spcBef>
              <a:spcAft>
                <a:spcPts val="0"/>
              </a:spcAft>
            </a:pPr>
            <a:r>
              <a:rPr sz="1125" b="0" i="0" kern="100">
                <a:solidFill>
                  <a:srgbClr val="1B1716"/>
                </a:solidFill>
                <a:latin typeface="Plus Jakarta Sans"/>
              </a:rPr>
              <a:t>14% of their surplus</a:t>
            </a:r>
          </a:p>
        </p:txBody>
      </p:sp>
      <p:pic>
        <p:nvPicPr>
          <p:cNvPr id="16" name="Drawing"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24600" y="2153245"/>
            <a:ext cx="190500" cy="190500"/>
          </a:xfrm>
          <a:prstGeom prst="rect">
            <a:avLst/>
          </a:prstGeom>
        </p:spPr>
      </p:pic>
      <p:sp>
        <p:nvSpPr>
          <p:cNvPr id="17" name="Text"/>
          <p:cNvSpPr txBox="1"/>
          <p:nvPr/>
        </p:nvSpPr>
        <p:spPr>
          <a:xfrm>
            <a:off x="6591300" y="2143149"/>
            <a:ext cx="833991"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Disability</a:t>
            </a:r>
          </a:p>
        </p:txBody>
      </p:sp>
      <p:sp>
        <p:nvSpPr>
          <p:cNvPr id="18" name="Text"/>
          <p:cNvSpPr txBox="1"/>
          <p:nvPr/>
        </p:nvSpPr>
        <p:spPr>
          <a:xfrm>
            <a:off x="7346454" y="2160484"/>
            <a:ext cx="1800731"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65% of pay, to retirement</a:t>
            </a:r>
          </a:p>
        </p:txBody>
      </p:sp>
      <p:sp>
        <p:nvSpPr>
          <p:cNvPr id="19" name="Text"/>
          <p:cNvSpPr txBox="1"/>
          <p:nvPr/>
        </p:nvSpPr>
        <p:spPr>
          <a:xfrm>
            <a:off x="11103471" y="2148292"/>
            <a:ext cx="783509"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HK$37K</a:t>
            </a:r>
          </a:p>
        </p:txBody>
      </p:sp>
      <p:sp>
        <p:nvSpPr>
          <p:cNvPr id="20" name="div"/>
          <p:cNvSpPr/>
          <p:nvPr/>
        </p:nvSpPr>
        <p:spPr>
          <a:xfrm rot="5400000">
            <a:off x="8972550" y="-24705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1" name="i"/>
          <p:cNvSpPr/>
          <p:nvPr/>
        </p:nvSpPr>
        <p:spPr>
          <a:xfrm rot="5400000">
            <a:off x="8701980" y="23515"/>
            <a:ext cx="114300" cy="4869061"/>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2" name="Drawing"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24600" y="2667595"/>
            <a:ext cx="190500" cy="190500"/>
          </a:xfrm>
          <a:prstGeom prst="rect">
            <a:avLst/>
          </a:prstGeom>
        </p:spPr>
      </p:pic>
      <p:sp>
        <p:nvSpPr>
          <p:cNvPr id="23" name="Text"/>
          <p:cNvSpPr txBox="1"/>
          <p:nvPr/>
        </p:nvSpPr>
        <p:spPr>
          <a:xfrm>
            <a:off x="6591300" y="2657499"/>
            <a:ext cx="1179165"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Critical illness</a:t>
            </a:r>
          </a:p>
        </p:txBody>
      </p:sp>
      <p:sp>
        <p:nvSpPr>
          <p:cNvPr id="24" name="Text"/>
          <p:cNvSpPr txBox="1"/>
          <p:nvPr/>
        </p:nvSpPr>
        <p:spPr>
          <a:xfrm>
            <a:off x="7672090" y="2674834"/>
            <a:ext cx="105501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HK$1.5M each</a:t>
            </a:r>
          </a:p>
        </p:txBody>
      </p:sp>
      <p:sp>
        <p:nvSpPr>
          <p:cNvPr id="25" name="Text"/>
          <p:cNvSpPr txBox="1"/>
          <p:nvPr/>
        </p:nvSpPr>
        <p:spPr>
          <a:xfrm>
            <a:off x="11121777" y="2662642"/>
            <a:ext cx="764104"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HK$41K</a:t>
            </a:r>
          </a:p>
        </p:txBody>
      </p:sp>
      <p:sp>
        <p:nvSpPr>
          <p:cNvPr id="26" name="div"/>
          <p:cNvSpPr/>
          <p:nvPr/>
        </p:nvSpPr>
        <p:spPr>
          <a:xfrm rot="5400000">
            <a:off x="8972550" y="2672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7" name="i"/>
          <p:cNvSpPr/>
          <p:nvPr/>
        </p:nvSpPr>
        <p:spPr>
          <a:xfrm rot="5400000">
            <a:off x="8972550" y="267295"/>
            <a:ext cx="114300" cy="5410200"/>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8" name="Drawing"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24600" y="3181945"/>
            <a:ext cx="190500" cy="190500"/>
          </a:xfrm>
          <a:prstGeom prst="rect">
            <a:avLst/>
          </a:prstGeom>
        </p:spPr>
      </p:pic>
      <p:sp>
        <p:nvSpPr>
          <p:cNvPr id="29" name="Text"/>
          <p:cNvSpPr txBox="1"/>
          <p:nvPr/>
        </p:nvSpPr>
        <p:spPr>
          <a:xfrm>
            <a:off x="6591300" y="3171849"/>
            <a:ext cx="1679100"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Medical of their own</a:t>
            </a:r>
          </a:p>
        </p:txBody>
      </p:sp>
      <p:sp>
        <p:nvSpPr>
          <p:cNvPr id="30" name="Text"/>
          <p:cNvSpPr txBox="1"/>
          <p:nvPr/>
        </p:nvSpPr>
        <p:spPr>
          <a:xfrm>
            <a:off x="8143726" y="3189184"/>
            <a:ext cx="1772019"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before group cover ends</a:t>
            </a:r>
          </a:p>
        </p:txBody>
      </p:sp>
      <p:sp>
        <p:nvSpPr>
          <p:cNvPr id="31" name="Text"/>
          <p:cNvSpPr txBox="1"/>
          <p:nvPr/>
        </p:nvSpPr>
        <p:spPr>
          <a:xfrm>
            <a:off x="11128177" y="3176992"/>
            <a:ext cx="757321"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HK$15K</a:t>
            </a:r>
          </a:p>
        </p:txBody>
      </p:sp>
      <p:sp>
        <p:nvSpPr>
          <p:cNvPr id="32" name="div"/>
          <p:cNvSpPr/>
          <p:nvPr/>
        </p:nvSpPr>
        <p:spPr>
          <a:xfrm rot="5400000">
            <a:off x="8972550" y="78164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3" name="i"/>
          <p:cNvSpPr/>
          <p:nvPr/>
        </p:nvSpPr>
        <p:spPr>
          <a:xfrm rot="5400000">
            <a:off x="7268319" y="2485876"/>
            <a:ext cx="114300" cy="2001738"/>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34" name="Drawing"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324600" y="3696295"/>
            <a:ext cx="190500" cy="190500"/>
          </a:xfrm>
          <a:prstGeom prst="rect">
            <a:avLst/>
          </a:prstGeom>
        </p:spPr>
      </p:pic>
      <p:sp>
        <p:nvSpPr>
          <p:cNvPr id="35" name="Text"/>
          <p:cNvSpPr txBox="1"/>
          <p:nvPr/>
        </p:nvSpPr>
        <p:spPr>
          <a:xfrm>
            <a:off x="6591300" y="3686199"/>
            <a:ext cx="1426372"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Term-life top-up</a:t>
            </a:r>
          </a:p>
        </p:txBody>
      </p:sp>
      <p:sp>
        <p:nvSpPr>
          <p:cNvPr id="36" name="Text"/>
          <p:cNvSpPr txBox="1"/>
          <p:nvPr/>
        </p:nvSpPr>
        <p:spPr>
          <a:xfrm>
            <a:off x="7905304" y="3703534"/>
            <a:ext cx="92785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 65 and 62</a:t>
            </a:r>
          </a:p>
        </p:txBody>
      </p:sp>
      <p:sp>
        <p:nvSpPr>
          <p:cNvPr id="37" name="Text"/>
          <p:cNvSpPr txBox="1"/>
          <p:nvPr/>
        </p:nvSpPr>
        <p:spPr>
          <a:xfrm>
            <a:off x="11202442" y="3691342"/>
            <a:ext cx="678600"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HK$7K</a:t>
            </a:r>
          </a:p>
        </p:txBody>
      </p:sp>
      <p:sp>
        <p:nvSpPr>
          <p:cNvPr id="38" name="div"/>
          <p:cNvSpPr/>
          <p:nvPr/>
        </p:nvSpPr>
        <p:spPr>
          <a:xfrm rot="5400000">
            <a:off x="8972550" y="12959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9" name="i"/>
          <p:cNvSpPr/>
          <p:nvPr/>
        </p:nvSpPr>
        <p:spPr>
          <a:xfrm rot="5400000">
            <a:off x="6727254" y="3541291"/>
            <a:ext cx="114300" cy="91960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0" name="p"/>
          <p:cNvSpPr/>
          <p:nvPr/>
        </p:nvSpPr>
        <p:spPr>
          <a:xfrm>
            <a:off x="6324600" y="4229695"/>
            <a:ext cx="5410200" cy="590550"/>
          </a:xfrm>
          <a:prstGeom prst="rect">
            <a:avLst/>
          </a:prstGeom>
          <a:solidFill>
            <a:srgbClr val="F8EFF0"/>
          </a:solidFill>
          <a:ln>
            <a:noFill/>
          </a:ln>
        </p:spPr>
        <p:txBody>
          <a:bodyPr rtlCol="0" anchor="ctr"/>
          <a:lstStyle/>
          <a:p>
            <a:pPr algn="ctr"/>
            <a:endParaRPr/>
          </a:p>
        </p:txBody>
      </p:sp>
      <p:sp>
        <p:nvSpPr>
          <p:cNvPr id="41" name="Text"/>
          <p:cNvSpPr txBox="1"/>
          <p:nvPr/>
        </p:nvSpPr>
        <p:spPr>
          <a:xfrm>
            <a:off x="6457950" y="4316373"/>
            <a:ext cx="5373314" cy="400050"/>
          </a:xfrm>
          <a:prstGeom prst="rect">
            <a:avLst/>
          </a:prstGeom>
          <a:noFill/>
        </p:spPr>
        <p:txBody>
          <a:bodyPr wrap="none" lIns="0" tIns="0" rIns="0" bIns="0" anchor="t">
            <a:noAutofit/>
          </a:bodyPr>
          <a:lstStyle/>
          <a:p>
            <a:pPr algn="l">
              <a:lnSpc>
                <a:spcPts val="1575"/>
              </a:lnSpc>
              <a:spcBef>
                <a:spcPts val="0"/>
              </a:spcBef>
              <a:spcAft>
                <a:spcPts val="0"/>
              </a:spcAft>
            </a:pPr>
            <a:r>
              <a:rPr sz="1125" b="1" i="0" kern="100">
                <a:solidFill>
                  <a:srgbClr val="1B1716"/>
                </a:solidFill>
                <a:latin typeface="Plus Jakarta Sans"/>
              </a:rPr>
              <a:t>The price:</a:t>
            </a:r>
            <a:r>
              <a:rPr sz="1125" b="0" i="0" kern="100">
                <a:solidFill>
                  <a:srgbClr val="1B1716"/>
                </a:solidFill>
                <a:latin typeface="Plus Jakarta Sans"/>
              </a:rPr>
              <a:t> term cover lapses at 65 and 62; after that, their own policies and</a:t>
            </a:r>
          </a:p>
          <a:p>
            <a:pPr algn="l">
              <a:lnSpc>
                <a:spcPts val="1575"/>
              </a:lnSpc>
              <a:spcBef>
                <a:spcPts val="0"/>
              </a:spcBef>
              <a:spcAft>
                <a:spcPts val="0"/>
              </a:spcAft>
            </a:pPr>
            <a:r>
              <a:rPr sz="1125" b="0" i="0" kern="100">
                <a:solidFill>
                  <a:srgbClr val="1B1716"/>
                </a:solidFill>
                <a:latin typeface="Plus Jakarta Sans"/>
              </a:rPr>
              <a:t>savings carry the risk.</a:t>
            </a:r>
          </a:p>
        </p:txBody>
      </p:sp>
      <p:sp>
        <p:nvSpPr>
          <p:cNvPr id="42" name="Rule"/>
          <p:cNvSpPr/>
          <p:nvPr/>
        </p:nvSpPr>
        <p:spPr>
          <a:xfrm>
            <a:off x="6324600" y="5176838"/>
            <a:ext cx="5410200" cy="9525"/>
          </a:xfrm>
          <a:prstGeom prst="rect">
            <a:avLst/>
          </a:prstGeom>
          <a:solidFill>
            <a:srgbClr val="ECDADD"/>
          </a:solidFill>
          <a:ln>
            <a:noFill/>
          </a:ln>
        </p:spPr>
        <p:txBody>
          <a:bodyPr rtlCol="0" anchor="ctr"/>
          <a:lstStyle/>
          <a:p>
            <a:pPr algn="ctr"/>
            <a:endParaRPr/>
          </a:p>
        </p:txBody>
      </p:sp>
      <p:sp>
        <p:nvSpPr>
          <p:cNvPr id="43" name="Text"/>
          <p:cNvSpPr txBox="1"/>
          <p:nvPr/>
        </p:nvSpPr>
        <p:spPr>
          <a:xfrm>
            <a:off x="6324600" y="5288518"/>
            <a:ext cx="5709496" cy="414338"/>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And within three months, under HK$25K:</a:t>
            </a:r>
            <a:r>
              <a:rPr sz="1125" b="0" i="0" kern="100">
                <a:solidFill>
                  <a:srgbClr val="1B1716"/>
                </a:solidFill>
                <a:latin typeface="Plus Jakarta Sans"/>
              </a:rPr>
              <a:t> wills, a guardian for Chloe, powers of</a:t>
            </a:r>
          </a:p>
          <a:p>
            <a:pPr algn="l">
              <a:lnSpc>
                <a:spcPts val="1631"/>
              </a:lnSpc>
              <a:spcBef>
                <a:spcPts val="0"/>
              </a:spcBef>
              <a:spcAft>
                <a:spcPts val="0"/>
              </a:spcAft>
            </a:pPr>
            <a:r>
              <a:rPr sz="1125" b="0" i="0" kern="100">
                <a:solidFill>
                  <a:srgbClr val="1B1716"/>
                </a:solidFill>
                <a:latin typeface="Plus Jakarta Sans"/>
              </a:rPr>
              <a:t>attorney, a buy-sell agreement</a:t>
            </a:r>
          </a:p>
        </p:txBody>
      </p:sp>
      <p:sp>
        <p:nvSpPr>
          <p:cNvPr id="44"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45" name="Text"/>
          <p:cNvSpPr txBox="1"/>
          <p:nvPr/>
        </p:nvSpPr>
        <p:spPr>
          <a:xfrm>
            <a:off x="2899316" y="5984558"/>
            <a:ext cx="639321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Protected first: now the plan can turn what they own into income.</a:t>
            </a:r>
          </a:p>
        </p:txBody>
      </p:sp>
      <p:sp>
        <p:nvSpPr>
          <p:cNvPr id="46" name="Text"/>
          <p:cNvSpPr txBox="1"/>
          <p:nvPr/>
        </p:nvSpPr>
        <p:spPr>
          <a:xfrm>
            <a:off x="457200" y="6452104"/>
            <a:ext cx="6214479"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Year-1 premiums from 2026 rate cards and the market range for disability cover; quotes to follow (estimated</a:t>
            </a:r>
          </a:p>
          <a:p>
            <a:pPr algn="l">
              <a:lnSpc>
                <a:spcPts val="1170"/>
              </a:lnSpc>
              <a:spcBef>
                <a:spcPts val="0"/>
              </a:spcBef>
              <a:spcAft>
                <a:spcPts val="0"/>
              </a:spcAft>
            </a:pPr>
            <a:r>
              <a:rPr sz="900" b="0" i="0" kern="100">
                <a:solidFill>
                  <a:srgbClr val="80606A"/>
                </a:solidFill>
                <a:latin typeface="Plus Jakarta Sans"/>
              </a:rPr>
              <a:t>from market range and rate cards). Surplus: HK$718K a year after tax and MPF (written case §2).</a:t>
            </a:r>
          </a:p>
        </p:txBody>
      </p:sp>
      <p:sp>
        <p:nvSpPr>
          <p:cNvPr id="47" name="Text"/>
          <p:cNvSpPr txBox="1"/>
          <p:nvPr/>
        </p:nvSpPr>
        <p:spPr>
          <a:xfrm>
            <a:off x="667390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48" name="Text"/>
          <p:cNvSpPr txBox="1"/>
          <p:nvPr/>
        </p:nvSpPr>
        <p:spPr>
          <a:xfrm>
            <a:off x="7620149"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9" name="Text"/>
          <p:cNvSpPr txBox="1"/>
          <p:nvPr/>
        </p:nvSpPr>
        <p:spPr>
          <a:xfrm>
            <a:off x="8480375"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0" name="Text"/>
          <p:cNvSpPr txBox="1"/>
          <p:nvPr/>
        </p:nvSpPr>
        <p:spPr>
          <a:xfrm>
            <a:off x="9436001"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51" name="Text"/>
          <p:cNvSpPr txBox="1"/>
          <p:nvPr/>
        </p:nvSpPr>
        <p:spPr>
          <a:xfrm>
            <a:off x="10234017"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52" name="Text"/>
          <p:cNvSpPr txBox="1"/>
          <p:nvPr/>
        </p:nvSpPr>
        <p:spPr>
          <a:xfrm>
            <a:off x="11029355"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53" name="Text"/>
          <p:cNvSpPr txBox="1"/>
          <p:nvPr/>
        </p:nvSpPr>
        <p:spPr>
          <a:xfrm>
            <a:off x="11407676" y="6535674"/>
            <a:ext cx="46105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5 / 15</a:t>
            </a:r>
          </a:p>
        </p:txBody>
      </p:sp>
      <p:sp>
        <p:nvSpPr>
          <p:cNvPr id="54" name="i"/>
          <p:cNvSpPr/>
          <p:nvPr/>
        </p:nvSpPr>
        <p:spPr>
          <a:xfrm>
            <a:off x="495300" y="3484364"/>
            <a:ext cx="1562100" cy="523875"/>
          </a:xfrm>
          <a:prstGeom prst="round2SameRect">
            <a:avLst>
              <a:gd name="adj1" fmla="val 10909"/>
              <a:gd name="adj2" fmla="val 0"/>
            </a:avLst>
          </a:prstGeom>
          <a:solidFill>
            <a:srgbClr val="FFFFFF"/>
          </a:solidFill>
          <a:ln>
            <a:noFill/>
          </a:ln>
        </p:spPr>
        <p:txBody>
          <a:bodyPr rtlCol="0" anchor="ctr"/>
          <a:lstStyle/>
          <a:p>
            <a:pPr algn="ctr"/>
            <a:endParaRPr/>
          </a:p>
        </p:txBody>
      </p:sp>
      <p:cxnSp>
        <p:nvCxnSpPr>
          <p:cNvPr id="55" name="Rule"/>
          <p:cNvCxnSpPr/>
          <p:nvPr/>
        </p:nvCxnSpPr>
        <p:spPr>
          <a:xfrm>
            <a:off x="495300" y="3493889"/>
            <a:ext cx="1562100" cy="0"/>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6" name="Rule"/>
          <p:cNvCxnSpPr/>
          <p:nvPr/>
        </p:nvCxnSpPr>
        <p:spPr>
          <a:xfrm>
            <a:off x="204787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7" name="Rule"/>
          <p:cNvCxnSpPr/>
          <p:nvPr/>
        </p:nvCxnSpPr>
        <p:spPr>
          <a:xfrm>
            <a:off x="50482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sp>
        <p:nvSpPr>
          <p:cNvPr id="58" name="Text"/>
          <p:cNvSpPr txBox="1"/>
          <p:nvPr/>
        </p:nvSpPr>
        <p:spPr>
          <a:xfrm>
            <a:off x="546525" y="3538716"/>
            <a:ext cx="1459501" cy="228600"/>
          </a:xfrm>
          <a:prstGeom prst="rect">
            <a:avLst/>
          </a:prstGeom>
          <a:noFill/>
        </p:spPr>
        <p:txBody>
          <a:bodyPr wrap="none" lIns="0" tIns="0" rIns="0" bIns="0" anchor="t">
            <a:noAutofit/>
          </a:bodyPr>
          <a:lstStyle/>
          <a:p>
            <a:pPr algn="ctr">
              <a:lnSpc>
                <a:spcPts val="1800"/>
              </a:lnSpc>
              <a:spcBef>
                <a:spcPts val="0"/>
              </a:spcBef>
              <a:spcAft>
                <a:spcPts val="0"/>
              </a:spcAft>
            </a:pPr>
            <a:r>
              <a:rPr sz="1500" b="1" i="0" kern="100">
                <a:solidFill>
                  <a:srgbClr val="C80E1E"/>
                </a:solidFill>
                <a:latin typeface="Plus Jakarta Sans"/>
              </a:rPr>
              <a:t>HK$22K short</a:t>
            </a:r>
          </a:p>
        </p:txBody>
      </p:sp>
      <p:sp>
        <p:nvSpPr>
          <p:cNvPr id="59" name="Text"/>
          <p:cNvSpPr txBox="1"/>
          <p:nvPr/>
        </p:nvSpPr>
        <p:spPr>
          <a:xfrm>
            <a:off x="804306" y="3774555"/>
            <a:ext cx="943791" cy="173355"/>
          </a:xfrm>
          <a:prstGeom prst="rect">
            <a:avLst/>
          </a:prstGeom>
          <a:noFill/>
        </p:spPr>
        <p:txBody>
          <a:bodyPr wrap="none" lIns="0" tIns="0" rIns="0" bIns="0" anchor="t">
            <a:noAutofit/>
          </a:bodyPr>
          <a:lstStyle/>
          <a:p>
            <a:pPr algn="ctr">
              <a:lnSpc>
                <a:spcPts val="1364"/>
              </a:lnSpc>
              <a:spcBef>
                <a:spcPts val="0"/>
              </a:spcBef>
              <a:spcAft>
                <a:spcPts val="0"/>
              </a:spcAft>
            </a:pPr>
            <a:r>
              <a:rPr sz="1050" b="0" i="0" kern="100">
                <a:solidFill>
                  <a:srgbClr val="C80E1E"/>
                </a:solidFill>
                <a:latin typeface="Plus Jakarta Sans"/>
              </a:rPr>
              <a:t>every month</a:t>
            </a:r>
          </a:p>
        </p:txBody>
      </p:sp>
      <p:sp>
        <p:nvSpPr>
          <p:cNvPr id="60" name="i"/>
          <p:cNvSpPr/>
          <p:nvPr/>
        </p:nvSpPr>
        <p:spPr>
          <a:xfrm>
            <a:off x="49530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1" name="Text"/>
          <p:cNvSpPr txBox="1"/>
          <p:nvPr/>
        </p:nvSpPr>
        <p:spPr>
          <a:xfrm>
            <a:off x="72873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2" name="Text"/>
          <p:cNvSpPr txBox="1"/>
          <p:nvPr/>
        </p:nvSpPr>
        <p:spPr>
          <a:xfrm>
            <a:off x="1052810" y="5522143"/>
            <a:ext cx="58804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Today</a:t>
            </a:r>
          </a:p>
        </p:txBody>
      </p:sp>
      <p:sp>
        <p:nvSpPr>
          <p:cNvPr id="63" name="i"/>
          <p:cNvSpPr/>
          <p:nvPr/>
        </p:nvSpPr>
        <p:spPr>
          <a:xfrm>
            <a:off x="2305050" y="2465189"/>
            <a:ext cx="1562100" cy="1543050"/>
          </a:xfrm>
          <a:prstGeom prst="round2SameRect">
            <a:avLst>
              <a:gd name="adj1" fmla="val 3703"/>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64" name="Text"/>
          <p:cNvSpPr txBox="1"/>
          <p:nvPr/>
        </p:nvSpPr>
        <p:spPr>
          <a:xfrm>
            <a:off x="2526023" y="2625685"/>
            <a:ext cx="1120006"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FFFFFF"/>
                </a:solidFill>
                <a:latin typeface="Plus Jakarta Sans"/>
              </a:rPr>
              <a:t>Adrian's cover</a:t>
            </a:r>
          </a:p>
          <a:p>
            <a:pPr algn="ctr">
              <a:lnSpc>
                <a:spcPts val="1800"/>
              </a:lnSpc>
              <a:spcBef>
                <a:spcPts val="0"/>
              </a:spcBef>
              <a:spcAft>
                <a:spcPts val="0"/>
              </a:spcAft>
            </a:pPr>
            <a:r>
              <a:rPr sz="1500" b="1" i="0" kern="100">
                <a:solidFill>
                  <a:srgbClr val="FFFFFF"/>
                </a:solidFill>
                <a:latin typeface="Plus Jakarta Sans"/>
              </a:rPr>
              <a:t>HK$65K</a:t>
            </a:r>
          </a:p>
        </p:txBody>
      </p:sp>
      <p:sp>
        <p:nvSpPr>
          <p:cNvPr id="65" name="i"/>
          <p:cNvSpPr/>
          <p:nvPr/>
        </p:nvSpPr>
        <p:spPr>
          <a:xfrm>
            <a:off x="230505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6" name="Text"/>
          <p:cNvSpPr txBox="1"/>
          <p:nvPr/>
        </p:nvSpPr>
        <p:spPr>
          <a:xfrm>
            <a:off x="253848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7" name="Text"/>
          <p:cNvSpPr txBox="1"/>
          <p:nvPr/>
        </p:nvSpPr>
        <p:spPr>
          <a:xfrm>
            <a:off x="2607766" y="5522143"/>
            <a:ext cx="112836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With the plan</a:t>
            </a:r>
          </a:p>
        </p:txBody>
      </p:sp>
      <p:sp>
        <p:nvSpPr>
          <p:cNvPr id="68" name="Rule"/>
          <p:cNvSpPr/>
          <p:nvPr/>
        </p:nvSpPr>
        <p:spPr>
          <a:xfrm>
            <a:off x="457200" y="3448050"/>
            <a:ext cx="5410200" cy="19050"/>
          </a:xfrm>
          <a:prstGeom prst="rect">
            <a:avLst/>
          </a:prstGeom>
          <a:solidFill>
            <a:srgbClr val="1B1716"/>
          </a:solidFill>
          <a:ln>
            <a:noFill/>
          </a:ln>
        </p:spPr>
        <p:txBody>
          <a:bodyPr rtlCol="0" anchor="ctr"/>
          <a:lstStyle/>
          <a:p>
            <a:pPr algn="ctr"/>
            <a:endParaRPr/>
          </a:p>
        </p:txBody>
      </p:sp>
      <p:sp>
        <p:nvSpPr>
          <p:cNvPr id="69" name="Text"/>
          <p:cNvSpPr txBox="1"/>
          <p:nvPr/>
        </p:nvSpPr>
        <p:spPr>
          <a:xfrm>
            <a:off x="4252912" y="3510915"/>
            <a:ext cx="1825657" cy="171450"/>
          </a:xfrm>
          <a:prstGeom prst="rect">
            <a:avLst/>
          </a:prstGeom>
          <a:noFill/>
        </p:spPr>
        <p:txBody>
          <a:bodyPr wrap="none" lIns="0" tIns="0" rIns="0" bIns="0" anchor="t">
            <a:noAutofit/>
          </a:bodyPr>
          <a:lstStyle/>
          <a:p>
            <a:pPr algn="l">
              <a:lnSpc>
                <a:spcPts val="1350"/>
              </a:lnSpc>
              <a:spcBef>
                <a:spcPts val="0"/>
              </a:spcBef>
              <a:spcAft>
                <a:spcPts val="0"/>
              </a:spcAft>
            </a:pPr>
            <a:r>
              <a:rPr sz="1125" b="1" i="0" kern="100">
                <a:solidFill>
                  <a:srgbClr val="1B1716"/>
                </a:solidFill>
                <a:latin typeface="Plus Jakarta Sans"/>
              </a:rPr>
              <a:t>HK$82K a month</a:t>
            </a:r>
            <a:r>
              <a:rPr sz="1125" b="0" i="0" kern="100">
                <a:solidFill>
                  <a:srgbClr val="80606A"/>
                </a:solidFill>
                <a:latin typeface="Plus Jakarta Sans"/>
              </a:rPr>
              <a:t> of bills</a:t>
            </a:r>
          </a:p>
        </p:txBody>
      </p:sp>
      <p:sp>
        <p:nvSpPr>
          <p:cNvPr id="70" name="Rule"/>
          <p:cNvSpPr/>
          <p:nvPr/>
        </p:nvSpPr>
        <p:spPr>
          <a:xfrm>
            <a:off x="3981450" y="2465189"/>
            <a:ext cx="95250" cy="9525"/>
          </a:xfrm>
          <a:prstGeom prst="rect">
            <a:avLst/>
          </a:prstGeom>
          <a:solidFill>
            <a:srgbClr val="1B1716"/>
          </a:solidFill>
          <a:ln>
            <a:noFill/>
          </a:ln>
        </p:spPr>
        <p:txBody>
          <a:bodyPr rtlCol="0" anchor="ctr"/>
          <a:lstStyle/>
          <a:p>
            <a:pPr algn="ctr"/>
            <a:endParaRPr/>
          </a:p>
        </p:txBody>
      </p:sp>
      <p:sp>
        <p:nvSpPr>
          <p:cNvPr id="71" name="Rule"/>
          <p:cNvSpPr/>
          <p:nvPr/>
        </p:nvSpPr>
        <p:spPr>
          <a:xfrm>
            <a:off x="4067175" y="2465189"/>
            <a:ext cx="9525" cy="1543050"/>
          </a:xfrm>
          <a:prstGeom prst="rect">
            <a:avLst/>
          </a:prstGeom>
          <a:solidFill>
            <a:srgbClr val="1B1716"/>
          </a:solidFill>
          <a:ln>
            <a:noFill/>
          </a:ln>
        </p:spPr>
        <p:txBody>
          <a:bodyPr rtlCol="0" anchor="ctr"/>
          <a:lstStyle/>
          <a:p>
            <a:pPr algn="ctr"/>
            <a:endParaRPr/>
          </a:p>
        </p:txBody>
      </p:sp>
      <p:sp>
        <p:nvSpPr>
          <p:cNvPr id="72" name="Rule"/>
          <p:cNvSpPr/>
          <p:nvPr/>
        </p:nvSpPr>
        <p:spPr>
          <a:xfrm>
            <a:off x="3981450" y="3998714"/>
            <a:ext cx="95250" cy="9525"/>
          </a:xfrm>
          <a:prstGeom prst="rect">
            <a:avLst/>
          </a:prstGeom>
          <a:solidFill>
            <a:srgbClr val="1B1716"/>
          </a:solidFill>
          <a:ln>
            <a:noFill/>
          </a:ln>
        </p:spPr>
        <p:txBody>
          <a:bodyPr rtlCol="0" anchor="ctr"/>
          <a:lstStyle/>
          <a:p>
            <a:pPr algn="ctr"/>
            <a:endParaRPr/>
          </a:p>
        </p:txBody>
      </p:sp>
      <p:sp>
        <p:nvSpPr>
          <p:cNvPr id="73" name="Text"/>
          <p:cNvSpPr txBox="1"/>
          <p:nvPr/>
        </p:nvSpPr>
        <p:spPr>
          <a:xfrm>
            <a:off x="4191000" y="2444710"/>
            <a:ext cx="176271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65% of his pay, until 65</a:t>
            </a:r>
          </a:p>
        </p:txBody>
      </p:sp>
      <p:sp>
        <p:nvSpPr>
          <p:cNvPr id="74" name="Text"/>
          <p:cNvSpPr txBox="1"/>
          <p:nvPr/>
        </p:nvSpPr>
        <p:spPr>
          <a:xfrm>
            <a:off x="4191000" y="2648164"/>
            <a:ext cx="208374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Carmen's own cover: HK$39K</a:t>
            </a:r>
          </a:p>
          <a:p>
            <a:pPr algn="l">
              <a:lnSpc>
                <a:spcPts val="1417"/>
              </a:lnSpc>
              <a:spcBef>
                <a:spcPts val="0"/>
              </a:spcBef>
              <a:spcAft>
                <a:spcPts val="0"/>
              </a:spcAft>
            </a:pPr>
            <a:r>
              <a:rPr sz="1050" b="0" i="0" kern="100">
                <a:solidFill>
                  <a:srgbClr val="1B1716"/>
                </a:solidFill>
                <a:latin typeface="Plus Jakarta Sans"/>
              </a:rPr>
              <a:t>a month, until 62</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Decide now, not at 83: four decisions on what they own and spend lift the odds from 62% to 83%">
    <p:spTree>
      <p:nvGrpSpPr>
        <p:cNvPr id="1" name=""/>
        <p:cNvGrpSpPr/>
        <p:nvPr/>
      </p:nvGrpSpPr>
      <p:grpSpPr>
        <a:xfrm>
          <a:off x="0" y="0"/>
          <a:ext cx="0" cy="0"/>
          <a:chOff x="0" y="0"/>
          <a:chExt cx="0" cy="0"/>
        </a:xfrm>
      </p:grpSpPr>
      <p:sp>
        <p:nvSpPr>
          <p:cNvPr id="2" name="Rule"/>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ext"/>
          <p:cNvSpPr txBox="1"/>
          <p:nvPr/>
        </p:nvSpPr>
        <p:spPr>
          <a:xfrm>
            <a:off x="638175" y="324421"/>
            <a:ext cx="23768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2: The home and the business</a:t>
            </a:r>
          </a:p>
        </p:txBody>
      </p:sp>
      <p:sp>
        <p:nvSpPr>
          <p:cNvPr id="5" name="Text"/>
          <p:cNvSpPr txBox="1"/>
          <p:nvPr/>
        </p:nvSpPr>
        <p:spPr>
          <a:xfrm>
            <a:off x="638175" y="529852"/>
            <a:ext cx="6998062"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Decide now, not at 83: four decisions on what they</a:t>
            </a:r>
          </a:p>
          <a:p>
            <a:pPr algn="l">
              <a:lnSpc>
                <a:spcPts val="2523"/>
              </a:lnSpc>
              <a:spcBef>
                <a:spcPts val="0"/>
              </a:spcBef>
              <a:spcAft>
                <a:spcPts val="0"/>
              </a:spcAft>
            </a:pPr>
            <a:r>
              <a:rPr sz="2175" b="1" i="0" kern="100" spc="-38">
                <a:solidFill>
                  <a:srgbClr val="1B1716"/>
                </a:solidFill>
                <a:latin typeface="Plus Jakarta Sans"/>
              </a:rPr>
              <a:t>own and spend lift the odds from 62% to 83%</a:t>
            </a:r>
          </a:p>
        </p:txBody>
      </p:sp>
      <p:sp>
        <p:nvSpPr>
          <p:cNvPr id="6" name="Text"/>
          <p:cNvSpPr txBox="1"/>
          <p:nvPr/>
        </p:nvSpPr>
        <p:spPr>
          <a:xfrm>
            <a:off x="457200" y="1453491"/>
            <a:ext cx="193309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they own and spend</a:t>
            </a:r>
          </a:p>
        </p:txBody>
      </p:sp>
      <p:sp>
        <p:nvSpPr>
          <p:cNvPr id="7" name="Text"/>
          <p:cNvSpPr txBox="1"/>
          <p:nvPr/>
        </p:nvSpPr>
        <p:spPr>
          <a:xfrm>
            <a:off x="3790950" y="1453491"/>
            <a:ext cx="2559231"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each becomes, decided now</a:t>
            </a:r>
          </a:p>
        </p:txBody>
      </p:sp>
      <p:sp>
        <p:nvSpPr>
          <p:cNvPr id="8" name="Text"/>
          <p:cNvSpPr txBox="1"/>
          <p:nvPr/>
        </p:nvSpPr>
        <p:spPr>
          <a:xfrm>
            <a:off x="8172450" y="1453491"/>
            <a:ext cx="1412016"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it gives them</a:t>
            </a:r>
          </a:p>
        </p:txBody>
      </p:sp>
      <p:pic>
        <p:nvPicPr>
          <p:cNvPr id="9" name="Drawing"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200" y="1671042"/>
            <a:ext cx="11277600" cy="2609850"/>
          </a:xfrm>
          <a:prstGeom prst="rect">
            <a:avLst/>
          </a:prstGeom>
        </p:spPr>
      </p:pic>
      <p:sp>
        <p:nvSpPr>
          <p:cNvPr id="10" name="span"/>
          <p:cNvSpPr/>
          <p:nvPr/>
        </p:nvSpPr>
        <p:spPr>
          <a:xfrm>
            <a:off x="457200" y="1709142"/>
            <a:ext cx="381000" cy="381000"/>
          </a:xfrm>
          <a:prstGeom prst="ellipse">
            <a:avLst/>
          </a:prstGeom>
          <a:solidFill>
            <a:srgbClr val="F8EFF0"/>
          </a:solidFill>
          <a:ln>
            <a:noFill/>
          </a:ln>
        </p:spPr>
        <p:txBody>
          <a:bodyPr rtlCol="0" anchor="ctr"/>
          <a:lstStyle/>
          <a:p>
            <a:pPr algn="ctr"/>
            <a:endParaRPr/>
          </a:p>
        </p:txBody>
      </p:sp>
      <p:pic>
        <p:nvPicPr>
          <p:cNvPr id="11" name="Drawing"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7688" y="1799630"/>
            <a:ext cx="200025" cy="200025"/>
          </a:xfrm>
          <a:prstGeom prst="rect">
            <a:avLst/>
          </a:prstGeom>
        </p:spPr>
      </p:pic>
      <p:sp>
        <p:nvSpPr>
          <p:cNvPr id="12" name="Text"/>
          <p:cNvSpPr txBox="1"/>
          <p:nvPr/>
        </p:nvSpPr>
        <p:spPr>
          <a:xfrm>
            <a:off x="952500" y="1692914"/>
            <a:ext cx="6838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flat</a:t>
            </a:r>
          </a:p>
        </p:txBody>
      </p:sp>
      <p:sp>
        <p:nvSpPr>
          <p:cNvPr id="13" name="Text"/>
          <p:cNvSpPr txBox="1"/>
          <p:nvPr/>
        </p:nvSpPr>
        <p:spPr>
          <a:xfrm>
            <a:off x="952500" y="1896433"/>
            <a:ext cx="77341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HK$11.5M</a:t>
            </a:r>
          </a:p>
        </p:txBody>
      </p:sp>
      <p:sp>
        <p:nvSpPr>
          <p:cNvPr id="14" name="span"/>
          <p:cNvSpPr/>
          <p:nvPr/>
        </p:nvSpPr>
        <p:spPr>
          <a:xfrm>
            <a:off x="457200" y="2318742"/>
            <a:ext cx="381000" cy="381000"/>
          </a:xfrm>
          <a:prstGeom prst="ellipse">
            <a:avLst/>
          </a:prstGeom>
          <a:solidFill>
            <a:srgbClr val="F8EFF0"/>
          </a:solidFill>
          <a:ln>
            <a:noFill/>
          </a:ln>
        </p:spPr>
        <p:txBody>
          <a:bodyPr rtlCol="0" anchor="ctr"/>
          <a:lstStyle/>
          <a:p>
            <a:pPr algn="ctr"/>
            <a:endParaRPr/>
          </a:p>
        </p:txBody>
      </p:sp>
      <p:pic>
        <p:nvPicPr>
          <p:cNvPr id="15" name="Drawing"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7688" y="2409230"/>
            <a:ext cx="200025" cy="200025"/>
          </a:xfrm>
          <a:prstGeom prst="rect">
            <a:avLst/>
          </a:prstGeom>
        </p:spPr>
      </p:pic>
      <p:sp>
        <p:nvSpPr>
          <p:cNvPr id="16" name="Text"/>
          <p:cNvSpPr txBox="1"/>
          <p:nvPr/>
        </p:nvSpPr>
        <p:spPr>
          <a:xfrm>
            <a:off x="952500" y="2302514"/>
            <a:ext cx="7622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MPF</a:t>
            </a:r>
          </a:p>
        </p:txBody>
      </p:sp>
      <p:sp>
        <p:nvSpPr>
          <p:cNvPr id="17" name="Text"/>
          <p:cNvSpPr txBox="1"/>
          <p:nvPr/>
        </p:nvSpPr>
        <p:spPr>
          <a:xfrm>
            <a:off x="952500" y="2506033"/>
            <a:ext cx="7093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HK$1.7M</a:t>
            </a:r>
          </a:p>
        </p:txBody>
      </p:sp>
      <p:sp>
        <p:nvSpPr>
          <p:cNvPr id="18" name="span"/>
          <p:cNvSpPr/>
          <p:nvPr/>
        </p:nvSpPr>
        <p:spPr>
          <a:xfrm>
            <a:off x="457200" y="2928342"/>
            <a:ext cx="381000" cy="381000"/>
          </a:xfrm>
          <a:prstGeom prst="ellipse">
            <a:avLst/>
          </a:prstGeom>
          <a:solidFill>
            <a:srgbClr val="F8EFF0"/>
          </a:solidFill>
          <a:ln>
            <a:noFill/>
          </a:ln>
        </p:spPr>
        <p:txBody>
          <a:bodyPr rtlCol="0" anchor="ctr"/>
          <a:lstStyle/>
          <a:p>
            <a:pPr algn="ctr"/>
            <a:endParaRPr/>
          </a:p>
        </p:txBody>
      </p:sp>
      <p:pic>
        <p:nvPicPr>
          <p:cNvPr id="19" name="Drawing"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7688" y="3018830"/>
            <a:ext cx="200025" cy="200025"/>
          </a:xfrm>
          <a:prstGeom prst="rect">
            <a:avLst/>
          </a:prstGeom>
        </p:spPr>
      </p:pic>
      <p:sp>
        <p:nvSpPr>
          <p:cNvPr id="20" name="Text"/>
          <p:cNvSpPr txBox="1"/>
          <p:nvPr/>
        </p:nvSpPr>
        <p:spPr>
          <a:xfrm>
            <a:off x="952500" y="2912114"/>
            <a:ext cx="110659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business</a:t>
            </a:r>
          </a:p>
        </p:txBody>
      </p:sp>
      <p:sp>
        <p:nvSpPr>
          <p:cNvPr id="21" name="Text"/>
          <p:cNvSpPr txBox="1"/>
          <p:nvPr/>
        </p:nvSpPr>
        <p:spPr>
          <a:xfrm>
            <a:off x="952500" y="3115633"/>
            <a:ext cx="76378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HK$5.0M</a:t>
            </a:r>
          </a:p>
        </p:txBody>
      </p:sp>
      <p:sp>
        <p:nvSpPr>
          <p:cNvPr id="22" name="span"/>
          <p:cNvSpPr/>
          <p:nvPr/>
        </p:nvSpPr>
        <p:spPr>
          <a:xfrm>
            <a:off x="457200" y="3537942"/>
            <a:ext cx="381000" cy="381000"/>
          </a:xfrm>
          <a:prstGeom prst="ellipse">
            <a:avLst/>
          </a:prstGeom>
          <a:solidFill>
            <a:srgbClr val="F8EFF0"/>
          </a:solidFill>
          <a:ln>
            <a:noFill/>
          </a:ln>
        </p:spPr>
        <p:txBody>
          <a:bodyPr rtlCol="0" anchor="ctr"/>
          <a:lstStyle/>
          <a:p>
            <a:pPr algn="ctr"/>
            <a:endParaRPr/>
          </a:p>
        </p:txBody>
      </p:sp>
      <p:pic>
        <p:nvPicPr>
          <p:cNvPr id="23" name="Drawing"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47688" y="3628430"/>
            <a:ext cx="200025" cy="200025"/>
          </a:xfrm>
          <a:prstGeom prst="rect">
            <a:avLst/>
          </a:prstGeom>
        </p:spPr>
      </p:pic>
      <p:sp>
        <p:nvSpPr>
          <p:cNvPr id="24" name="Text"/>
          <p:cNvSpPr txBox="1"/>
          <p:nvPr/>
        </p:nvSpPr>
        <p:spPr>
          <a:xfrm>
            <a:off x="952500" y="3521714"/>
            <a:ext cx="11017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Their budget</a:t>
            </a:r>
          </a:p>
        </p:txBody>
      </p:sp>
      <p:sp>
        <p:nvSpPr>
          <p:cNvPr id="25" name="Text"/>
          <p:cNvSpPr txBox="1"/>
          <p:nvPr/>
        </p:nvSpPr>
        <p:spPr>
          <a:xfrm>
            <a:off x="952500" y="3725233"/>
            <a:ext cx="11955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HK$780K a year</a:t>
            </a:r>
          </a:p>
        </p:txBody>
      </p:sp>
      <p:sp>
        <p:nvSpPr>
          <p:cNvPr id="26" name="Text"/>
          <p:cNvSpPr txBox="1"/>
          <p:nvPr/>
        </p:nvSpPr>
        <p:spPr>
          <a:xfrm>
            <a:off x="3790950" y="1694402"/>
            <a:ext cx="27625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HK$230K a year for life, from 2037</a:t>
            </a:r>
          </a:p>
        </p:txBody>
      </p:sp>
      <p:sp>
        <p:nvSpPr>
          <p:cNvPr id="27" name="Text"/>
          <p:cNvSpPr txBox="1"/>
          <p:nvPr/>
        </p:nvSpPr>
        <p:spPr>
          <a:xfrm>
            <a:off x="3790950" y="1897922"/>
            <a:ext cx="409784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they stay, with a reverse mortgage, or downsize: their choice</a:t>
            </a:r>
          </a:p>
        </p:txBody>
      </p:sp>
      <p:sp>
        <p:nvSpPr>
          <p:cNvPr id="28" name="Text"/>
          <p:cNvSpPr txBox="1"/>
          <p:nvPr/>
        </p:nvSpPr>
        <p:spPr>
          <a:xfrm>
            <a:off x="3790950" y="2304002"/>
            <a:ext cx="1860679"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HK$268K a year for life</a:t>
            </a:r>
          </a:p>
        </p:txBody>
      </p:sp>
      <p:sp>
        <p:nvSpPr>
          <p:cNvPr id="29" name="Text"/>
          <p:cNvSpPr txBox="1"/>
          <p:nvPr/>
        </p:nvSpPr>
        <p:spPr>
          <a:xfrm>
            <a:off x="3790950" y="2507522"/>
            <a:ext cx="283514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two HKMC annuities, bought at 65 and 62</a:t>
            </a:r>
          </a:p>
        </p:txBody>
      </p:sp>
      <p:sp>
        <p:nvSpPr>
          <p:cNvPr id="30" name="Text"/>
          <p:cNvSpPr txBox="1"/>
          <p:nvPr/>
        </p:nvSpPr>
        <p:spPr>
          <a:xfrm>
            <a:off x="3790950" y="2913602"/>
            <a:ext cx="197978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Sold in stages, 2035–39</a:t>
            </a:r>
          </a:p>
        </p:txBody>
      </p:sp>
      <p:sp>
        <p:nvSpPr>
          <p:cNvPr id="31" name="Text"/>
          <p:cNvSpPr txBox="1"/>
          <p:nvPr/>
        </p:nvSpPr>
        <p:spPr>
          <a:xfrm>
            <a:off x="3790950" y="3117122"/>
            <a:ext cx="394245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to her co-founder and managers; their own way sells it too</a:t>
            </a:r>
          </a:p>
        </p:txBody>
      </p:sp>
      <p:sp>
        <p:nvSpPr>
          <p:cNvPr id="32" name="Text"/>
          <p:cNvSpPr txBox="1"/>
          <p:nvPr/>
        </p:nvSpPr>
        <p:spPr>
          <a:xfrm>
            <a:off x="3790950" y="3523202"/>
            <a:ext cx="2179034"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Planned now, for a survivor</a:t>
            </a:r>
          </a:p>
        </p:txBody>
      </p:sp>
      <p:sp>
        <p:nvSpPr>
          <p:cNvPr id="33" name="Text"/>
          <p:cNvSpPr txBox="1"/>
          <p:nvPr/>
        </p:nvSpPr>
        <p:spPr>
          <a:xfrm>
            <a:off x="3790950" y="3726722"/>
            <a:ext cx="22326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for the years after the first death</a:t>
            </a:r>
          </a:p>
        </p:txBody>
      </p:sp>
      <p:sp>
        <p:nvSpPr>
          <p:cNvPr id="34" name="div"/>
          <p:cNvSpPr/>
          <p:nvPr/>
        </p:nvSpPr>
        <p:spPr>
          <a:xfrm>
            <a:off x="8172450" y="1861542"/>
            <a:ext cx="3562350" cy="12954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5" name="Rule"/>
          <p:cNvSpPr/>
          <p:nvPr/>
        </p:nvSpPr>
        <p:spPr>
          <a:xfrm>
            <a:off x="8172450" y="1861542"/>
            <a:ext cx="28575" cy="1295400"/>
          </a:xfrm>
          <a:prstGeom prst="rect">
            <a:avLst/>
          </a:prstGeom>
          <a:solidFill>
            <a:srgbClr val="971320"/>
          </a:solidFill>
          <a:ln>
            <a:noFill/>
          </a:ln>
        </p:spPr>
        <p:txBody>
          <a:bodyPr rtlCol="0" anchor="ctr"/>
          <a:lstStyle/>
          <a:p>
            <a:pPr algn="ctr"/>
            <a:endParaRPr/>
          </a:p>
        </p:txBody>
      </p:sp>
      <p:sp>
        <p:nvSpPr>
          <p:cNvPr id="36" name="Text"/>
          <p:cNvSpPr txBox="1"/>
          <p:nvPr/>
        </p:nvSpPr>
        <p:spPr>
          <a:xfrm>
            <a:off x="8372475" y="2148120"/>
            <a:ext cx="2260911"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Guaranteed income, for life</a:t>
            </a:r>
          </a:p>
        </p:txBody>
      </p:sp>
      <p:sp>
        <p:nvSpPr>
          <p:cNvPr id="37" name="Text"/>
          <p:cNvSpPr txBox="1"/>
          <p:nvPr/>
        </p:nvSpPr>
        <p:spPr>
          <a:xfrm>
            <a:off x="8372475" y="2390055"/>
            <a:ext cx="735708"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116%</a:t>
            </a:r>
          </a:p>
        </p:txBody>
      </p:sp>
      <p:sp>
        <p:nvSpPr>
          <p:cNvPr id="38" name="Text"/>
          <p:cNvSpPr txBox="1"/>
          <p:nvPr/>
        </p:nvSpPr>
        <p:spPr>
          <a:xfrm>
            <a:off x="8372475" y="2664089"/>
            <a:ext cx="26431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of their essential bills, covered in 2039</a:t>
            </a:r>
          </a:p>
        </p:txBody>
      </p:sp>
      <p:sp>
        <p:nvSpPr>
          <p:cNvPr id="39" name="div"/>
          <p:cNvSpPr/>
          <p:nvPr/>
        </p:nvSpPr>
        <p:spPr>
          <a:xfrm>
            <a:off x="8172450" y="31950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0" name="Rule"/>
          <p:cNvSpPr/>
          <p:nvPr/>
        </p:nvSpPr>
        <p:spPr>
          <a:xfrm>
            <a:off x="8172450" y="3195042"/>
            <a:ext cx="28575" cy="457200"/>
          </a:xfrm>
          <a:prstGeom prst="rect">
            <a:avLst/>
          </a:prstGeom>
          <a:solidFill>
            <a:srgbClr val="971320"/>
          </a:solidFill>
          <a:ln>
            <a:noFill/>
          </a:ln>
        </p:spPr>
        <p:txBody>
          <a:bodyPr rtlCol="0" anchor="ctr"/>
          <a:lstStyle/>
          <a:p>
            <a:pPr algn="ctr"/>
            <a:endParaRPr/>
          </a:p>
        </p:txBody>
      </p:sp>
      <p:sp>
        <p:nvSpPr>
          <p:cNvPr id="41" name="Text"/>
          <p:cNvSpPr txBox="1"/>
          <p:nvPr/>
        </p:nvSpPr>
        <p:spPr>
          <a:xfrm>
            <a:off x="8372475" y="3280196"/>
            <a:ext cx="1296853"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HK$3.0M</a:t>
            </a:r>
          </a:p>
        </p:txBody>
      </p:sp>
      <p:sp>
        <p:nvSpPr>
          <p:cNvPr id="42" name="Text"/>
          <p:cNvSpPr txBox="1"/>
          <p:nvPr/>
        </p:nvSpPr>
        <p:spPr>
          <a:xfrm>
            <a:off x="9621441" y="3241453"/>
            <a:ext cx="9176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into savings</a:t>
            </a:r>
          </a:p>
        </p:txBody>
      </p:sp>
      <p:sp>
        <p:nvSpPr>
          <p:cNvPr id="43" name="Text"/>
          <p:cNvSpPr txBox="1"/>
          <p:nvPr/>
        </p:nvSpPr>
        <p:spPr>
          <a:xfrm>
            <a:off x="9621441" y="3414689"/>
            <a:ext cx="180861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counted low, of HK$5.0M</a:t>
            </a:r>
          </a:p>
        </p:txBody>
      </p:sp>
      <p:sp>
        <p:nvSpPr>
          <p:cNvPr id="44" name="div"/>
          <p:cNvSpPr/>
          <p:nvPr/>
        </p:nvSpPr>
        <p:spPr>
          <a:xfrm>
            <a:off x="8172450" y="38046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5" name="Rule"/>
          <p:cNvSpPr/>
          <p:nvPr/>
        </p:nvSpPr>
        <p:spPr>
          <a:xfrm>
            <a:off x="8172450" y="3804642"/>
            <a:ext cx="28575" cy="457200"/>
          </a:xfrm>
          <a:prstGeom prst="rect">
            <a:avLst/>
          </a:prstGeom>
          <a:solidFill>
            <a:srgbClr val="971320"/>
          </a:solidFill>
          <a:ln>
            <a:noFill/>
          </a:ln>
        </p:spPr>
        <p:txBody>
          <a:bodyPr rtlCol="0" anchor="ctr"/>
          <a:lstStyle/>
          <a:p>
            <a:pPr algn="ctr"/>
            <a:endParaRPr/>
          </a:p>
        </p:txBody>
      </p:sp>
      <p:sp>
        <p:nvSpPr>
          <p:cNvPr id="46" name="Text"/>
          <p:cNvSpPr txBox="1"/>
          <p:nvPr/>
        </p:nvSpPr>
        <p:spPr>
          <a:xfrm>
            <a:off x="8372475" y="3889796"/>
            <a:ext cx="706365"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70%</a:t>
            </a:r>
          </a:p>
        </p:txBody>
      </p:sp>
      <p:sp>
        <p:nvSpPr>
          <p:cNvPr id="47" name="Text"/>
          <p:cNvSpPr txBox="1"/>
          <p:nvPr/>
        </p:nvSpPr>
        <p:spPr>
          <a:xfrm>
            <a:off x="9064377" y="3851053"/>
            <a:ext cx="1337712"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of today's budget</a:t>
            </a:r>
          </a:p>
        </p:txBody>
      </p:sp>
      <p:sp>
        <p:nvSpPr>
          <p:cNvPr id="48" name="Text"/>
          <p:cNvSpPr txBox="1"/>
          <p:nvPr/>
        </p:nvSpPr>
        <p:spPr>
          <a:xfrm>
            <a:off x="9064377" y="4024289"/>
            <a:ext cx="170844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for the one who survives</a:t>
            </a:r>
          </a:p>
        </p:txBody>
      </p:sp>
      <p:sp>
        <p:nvSpPr>
          <p:cNvPr id="49" name="Rule"/>
          <p:cNvSpPr/>
          <p:nvPr/>
        </p:nvSpPr>
        <p:spPr>
          <a:xfrm>
            <a:off x="457200" y="4318695"/>
            <a:ext cx="11277600" cy="9525"/>
          </a:xfrm>
          <a:prstGeom prst="rect">
            <a:avLst/>
          </a:prstGeom>
          <a:solidFill>
            <a:srgbClr val="1B1716"/>
          </a:solidFill>
          <a:ln>
            <a:noFill/>
          </a:ln>
        </p:spPr>
        <p:txBody>
          <a:bodyPr rtlCol="0" anchor="ctr"/>
          <a:lstStyle/>
          <a:p>
            <a:pPr algn="ctr"/>
            <a:endParaRPr/>
          </a:p>
        </p:txBody>
      </p:sp>
      <p:sp>
        <p:nvSpPr>
          <p:cNvPr id="50" name="Text"/>
          <p:cNvSpPr txBox="1"/>
          <p:nvPr/>
        </p:nvSpPr>
        <p:spPr>
          <a:xfrm>
            <a:off x="457200" y="4847773"/>
            <a:ext cx="1693140" cy="39621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Chance the money</a:t>
            </a:r>
          </a:p>
          <a:p>
            <a:pPr algn="l">
              <a:lnSpc>
                <a:spcPts val="1560"/>
              </a:lnSpc>
              <a:spcBef>
                <a:spcPts val="0"/>
              </a:spcBef>
              <a:spcAft>
                <a:spcPts val="0"/>
              </a:spcAft>
            </a:pPr>
            <a:r>
              <a:rPr sz="1200" b="1" i="0" kern="100">
                <a:solidFill>
                  <a:srgbClr val="1B1716"/>
                </a:solidFill>
                <a:latin typeface="Plus Jakarta Sans"/>
              </a:rPr>
              <a:t>lasts to Carmen's 89</a:t>
            </a:r>
          </a:p>
        </p:txBody>
      </p:sp>
      <p:sp>
        <p:nvSpPr>
          <p:cNvPr id="51" name="i"/>
          <p:cNvSpPr/>
          <p:nvPr/>
        </p:nvSpPr>
        <p:spPr>
          <a:xfrm>
            <a:off x="2405062" y="5037832"/>
            <a:ext cx="9044880" cy="219075"/>
          </a:xfrm>
          <a:prstGeom prst="rect">
            <a:avLst/>
          </a:prstGeom>
          <a:solidFill>
            <a:srgbClr val="FFFFFF"/>
          </a:solidFill>
          <a:ln w="9525">
            <a:solidFill>
              <a:srgbClr val="B5979D"/>
            </a:solidFill>
            <a:prstDash val="dash"/>
          </a:ln>
        </p:spPr>
        <p:txBody>
          <a:bodyPr rtlCol="0" anchor="ctr"/>
          <a:lstStyle/>
          <a:p>
            <a:pPr algn="ctr"/>
            <a:endParaRPr/>
          </a:p>
        </p:txBody>
      </p:sp>
      <p:sp>
        <p:nvSpPr>
          <p:cNvPr id="52" name="i"/>
          <p:cNvSpPr/>
          <p:nvPr/>
        </p:nvSpPr>
        <p:spPr>
          <a:xfrm>
            <a:off x="2400300" y="5033070"/>
            <a:ext cx="7747546" cy="2286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53" name="i"/>
          <p:cNvSpPr/>
          <p:nvPr/>
        </p:nvSpPr>
        <p:spPr>
          <a:xfrm>
            <a:off x="2400300" y="5033070"/>
            <a:ext cx="5787330" cy="228600"/>
          </a:xfrm>
          <a:prstGeom prst="rect">
            <a:avLst/>
          </a:prstGeom>
          <a:solidFill>
            <a:srgbClr val="E6CDD1"/>
          </a:solidFill>
          <a:ln>
            <a:noFill/>
          </a:ln>
        </p:spPr>
        <p:txBody>
          <a:bodyPr rtlCol="0" anchor="ctr"/>
          <a:lstStyle/>
          <a:p>
            <a:pPr algn="ctr"/>
            <a:endParaRPr/>
          </a:p>
        </p:txBody>
      </p:sp>
      <p:sp>
        <p:nvSpPr>
          <p:cNvPr id="54" name="Text"/>
          <p:cNvSpPr txBox="1"/>
          <p:nvPr/>
        </p:nvSpPr>
        <p:spPr>
          <a:xfrm>
            <a:off x="6913215" y="4775323"/>
            <a:ext cx="2100786"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four decisions, taken now</a:t>
            </a:r>
          </a:p>
        </p:txBody>
      </p:sp>
      <p:sp>
        <p:nvSpPr>
          <p:cNvPr id="55" name="Text"/>
          <p:cNvSpPr txBox="1"/>
          <p:nvPr/>
        </p:nvSpPr>
        <p:spPr>
          <a:xfrm>
            <a:off x="8882509" y="4384417"/>
            <a:ext cx="1455557"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12">
                <a:solidFill>
                  <a:srgbClr val="C80E1E"/>
                </a:solidFill>
                <a:latin typeface="Plus Jakarta Sans"/>
              </a:rPr>
              <a:t>83%</a:t>
            </a:r>
          </a:p>
        </p:txBody>
      </p:sp>
      <p:sp>
        <p:nvSpPr>
          <p:cNvPr id="56" name="Text"/>
          <p:cNvSpPr txBox="1"/>
          <p:nvPr/>
        </p:nvSpPr>
        <p:spPr>
          <a:xfrm>
            <a:off x="7014270" y="5310819"/>
            <a:ext cx="135806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their own way </a:t>
            </a:r>
            <a:r>
              <a:rPr sz="1050" b="1" i="0" kern="100">
                <a:solidFill>
                  <a:srgbClr val="1B1716"/>
                </a:solidFill>
                <a:latin typeface="Plus Jakarta Sans"/>
              </a:rPr>
              <a:t>62%</a:t>
            </a:r>
          </a:p>
        </p:txBody>
      </p:sp>
      <p:sp>
        <p:nvSpPr>
          <p:cNvPr id="57" name="Text"/>
          <p:cNvSpPr txBox="1"/>
          <p:nvPr/>
        </p:nvSpPr>
        <p:spPr>
          <a:xfrm>
            <a:off x="10173444" y="5310819"/>
            <a:ext cx="147243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with Call 3, next </a:t>
            </a:r>
            <a:r>
              <a:rPr sz="1050" b="1" i="0" kern="100">
                <a:solidFill>
                  <a:srgbClr val="1B1716"/>
                </a:solidFill>
                <a:latin typeface="Plus Jakarta Sans"/>
              </a:rPr>
              <a:t>97%</a:t>
            </a:r>
          </a:p>
        </p:txBody>
      </p:sp>
      <p:sp>
        <p:nvSpPr>
          <p:cNvPr id="58" name="Text"/>
          <p:cNvSpPr txBox="1"/>
          <p:nvPr/>
        </p:nvSpPr>
        <p:spPr>
          <a:xfrm>
            <a:off x="457200" y="5550849"/>
            <a:ext cx="8548506"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staying in the home leaves HK$4.1M less to Ryan and Chloe than downsizing would, and the annuities can't be undone.</a:t>
            </a:r>
          </a:p>
        </p:txBody>
      </p:sp>
      <p:sp>
        <p:nvSpPr>
          <p:cNvPr id="59"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0" name="Text"/>
          <p:cNvSpPr txBox="1"/>
          <p:nvPr/>
        </p:nvSpPr>
        <p:spPr>
          <a:xfrm>
            <a:off x="1639305" y="5984558"/>
            <a:ext cx="8913242"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Decided now, four decisions close most of the gap; what's left is a cost the budget ignores.</a:t>
            </a:r>
          </a:p>
        </p:txBody>
      </p:sp>
      <p:sp>
        <p:nvSpPr>
          <p:cNvPr id="61" name="Text"/>
          <p:cNvSpPr txBox="1"/>
          <p:nvPr/>
        </p:nvSpPr>
        <p:spPr>
          <a:xfrm>
            <a:off x="457200" y="6452104"/>
            <a:ext cx="634952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10,000 simulated markets (measured); both ways pay Flexi premiums</a:t>
            </a:r>
          </a:p>
          <a:p>
            <a:pPr algn="l">
              <a:lnSpc>
                <a:spcPts val="1170"/>
              </a:lnSpc>
              <a:spcBef>
                <a:spcPts val="0"/>
              </a:spcBef>
              <a:spcAft>
                <a:spcPts val="0"/>
              </a:spcAft>
            </a:pPr>
            <a:r>
              <a:rPr sz="900" b="0" i="0" kern="100">
                <a:solidFill>
                  <a:srgbClr val="80606A"/>
                </a:solidFill>
                <a:latin typeface="Plus Jakarta Sans"/>
              </a:rPr>
              <a:t>for life. Assets: case; the business counted at HK$3.0M, as in the written case.</a:t>
            </a:r>
          </a:p>
        </p:txBody>
      </p:sp>
      <p:sp>
        <p:nvSpPr>
          <p:cNvPr id="62" name="Text"/>
          <p:cNvSpPr txBox="1"/>
          <p:nvPr/>
        </p:nvSpPr>
        <p:spPr>
          <a:xfrm>
            <a:off x="667568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3" name="Text"/>
          <p:cNvSpPr txBox="1"/>
          <p:nvPr/>
        </p:nvSpPr>
        <p:spPr>
          <a:xfrm>
            <a:off x="7621935"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4" name="Text"/>
          <p:cNvSpPr txBox="1"/>
          <p:nvPr/>
        </p:nvSpPr>
        <p:spPr>
          <a:xfrm>
            <a:off x="8482161"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5" name="Text"/>
          <p:cNvSpPr txBox="1"/>
          <p:nvPr/>
        </p:nvSpPr>
        <p:spPr>
          <a:xfrm>
            <a:off x="943778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6" name="Text"/>
          <p:cNvSpPr txBox="1"/>
          <p:nvPr/>
        </p:nvSpPr>
        <p:spPr>
          <a:xfrm>
            <a:off x="1023580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7" name="Text"/>
          <p:cNvSpPr txBox="1"/>
          <p:nvPr/>
        </p:nvSpPr>
        <p:spPr>
          <a:xfrm>
            <a:off x="110311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8" name="Text"/>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6 / 15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Fix the cost the budget ignores: in that same future, the money now lasts to 89 and the home stays theirs">
    <p:spTree>
      <p:nvGrpSpPr>
        <p:cNvPr id="1" name=""/>
        <p:cNvGrpSpPr/>
        <p:nvPr/>
      </p:nvGrpSpPr>
      <p:grpSpPr>
        <a:xfrm>
          <a:off x="0" y="0"/>
          <a:ext cx="0" cy="0"/>
          <a:chOff x="0" y="0"/>
          <a:chExt cx="0" cy="0"/>
        </a:xfrm>
      </p:grpSpPr>
      <p:sp>
        <p:nvSpPr>
          <p:cNvPr id="2" name="Rule"/>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ext"/>
          <p:cNvSpPr txBox="1"/>
          <p:nvPr/>
        </p:nvSpPr>
        <p:spPr>
          <a:xfrm>
            <a:off x="638175" y="324421"/>
            <a:ext cx="131988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3: Retirement</a:t>
            </a:r>
          </a:p>
        </p:txBody>
      </p:sp>
      <p:sp>
        <p:nvSpPr>
          <p:cNvPr id="5" name="Text"/>
          <p:cNvSpPr txBox="1"/>
          <p:nvPr/>
        </p:nvSpPr>
        <p:spPr>
          <a:xfrm>
            <a:off x="638175" y="529852"/>
            <a:ext cx="719352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Fix the cost the budget ignores: in that same future,</a:t>
            </a:r>
          </a:p>
          <a:p>
            <a:pPr algn="l">
              <a:lnSpc>
                <a:spcPts val="2523"/>
              </a:lnSpc>
              <a:spcBef>
                <a:spcPts val="0"/>
              </a:spcBef>
              <a:spcAft>
                <a:spcPts val="0"/>
              </a:spcAft>
            </a:pPr>
            <a:r>
              <a:rPr sz="2175" b="1" i="0" kern="100" spc="-38">
                <a:solidFill>
                  <a:srgbClr val="1B1716"/>
                </a:solidFill>
                <a:latin typeface="Plus Jakarta Sans"/>
              </a:rPr>
              <a:t>the money now lasts to 89 and the home stays theirs</a:t>
            </a:r>
          </a:p>
        </p:txBody>
      </p:sp>
      <p:sp>
        <p:nvSpPr>
          <p:cNvPr id="6" name="Rule"/>
          <p:cNvSpPr/>
          <p:nvPr/>
        </p:nvSpPr>
        <p:spPr>
          <a:xfrm>
            <a:off x="457200" y="1740098"/>
            <a:ext cx="4565600" cy="9525"/>
          </a:xfrm>
          <a:prstGeom prst="rect">
            <a:avLst/>
          </a:prstGeom>
          <a:solidFill>
            <a:srgbClr val="1B1716"/>
          </a:solidFill>
          <a:ln>
            <a:noFill/>
          </a:ln>
        </p:spPr>
        <p:txBody>
          <a:bodyPr rtlCol="0" anchor="ctr"/>
          <a:lstStyle/>
          <a:p>
            <a:pPr algn="ctr"/>
            <a:endParaRPr/>
          </a:p>
        </p:txBody>
      </p:sp>
      <p:sp>
        <p:nvSpPr>
          <p:cNvPr id="7" name="Text"/>
          <p:cNvSpPr txBox="1"/>
          <p:nvPr/>
        </p:nvSpPr>
        <p:spPr>
          <a:xfrm>
            <a:off x="457200" y="1445824"/>
            <a:ext cx="35029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Two fixes for what the budget leaves out…</a:t>
            </a:r>
          </a:p>
        </p:txBody>
      </p:sp>
      <p:sp>
        <p:nvSpPr>
          <p:cNvPr id="8" name="i"/>
          <p:cNvSpPr/>
          <p:nvPr/>
        </p:nvSpPr>
        <p:spPr>
          <a:xfrm>
            <a:off x="457200" y="1902023"/>
            <a:ext cx="247650" cy="247650"/>
          </a:xfrm>
          <a:prstGeom prst="ellipse">
            <a:avLst/>
          </a:prstGeom>
          <a:solidFill>
            <a:srgbClr val="F8EFF0"/>
          </a:solidFill>
          <a:ln>
            <a:noFill/>
          </a:ln>
        </p:spPr>
        <p:txBody>
          <a:bodyPr rtlCol="0" anchor="ctr"/>
          <a:lstStyle/>
          <a:p>
            <a:pPr algn="ctr"/>
            <a:endParaRPr/>
          </a:p>
        </p:txBody>
      </p:sp>
      <p:sp>
        <p:nvSpPr>
          <p:cNvPr id="9" name="Text"/>
          <p:cNvSpPr txBox="1"/>
          <p:nvPr/>
        </p:nvSpPr>
        <p:spPr>
          <a:xfrm>
            <a:off x="554087" y="1951172"/>
            <a:ext cx="171408"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1</a:t>
            </a:r>
          </a:p>
        </p:txBody>
      </p:sp>
      <p:sp>
        <p:nvSpPr>
          <p:cNvPr id="10" name="Text"/>
          <p:cNvSpPr txBox="1"/>
          <p:nvPr/>
        </p:nvSpPr>
        <p:spPr>
          <a:xfrm>
            <a:off x="800100" y="1902184"/>
            <a:ext cx="3449616"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Review the medical plan at Adrian's 75</a:t>
            </a:r>
          </a:p>
        </p:txBody>
      </p:sp>
      <p:sp>
        <p:nvSpPr>
          <p:cNvPr id="11" name="Text"/>
          <p:cNvSpPr txBox="1"/>
          <p:nvPr/>
        </p:nvSpPr>
        <p:spPr>
          <a:xfrm>
            <a:off x="800100" y="2194536"/>
            <a:ext cx="422972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Medical premiums a year, above the HK$65K the budget holds</a:t>
            </a:r>
          </a:p>
        </p:txBody>
      </p:sp>
      <p:pic>
        <p:nvPicPr>
          <p:cNvPr id="12" name="Drawing"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100" y="2482007"/>
            <a:ext cx="3346400" cy="933450"/>
          </a:xfrm>
          <a:prstGeom prst="rect">
            <a:avLst/>
          </a:prstGeom>
        </p:spPr>
      </p:pic>
      <p:sp>
        <p:nvSpPr>
          <p:cNvPr id="13" name="Rule"/>
          <p:cNvSpPr/>
          <p:nvPr/>
        </p:nvSpPr>
        <p:spPr>
          <a:xfrm>
            <a:off x="1953816" y="2424857"/>
            <a:ext cx="9525" cy="990600"/>
          </a:xfrm>
          <a:prstGeom prst="rect">
            <a:avLst/>
          </a:prstGeom>
          <a:solidFill>
            <a:srgbClr val="80606A"/>
          </a:solidFill>
          <a:ln>
            <a:noFill/>
          </a:ln>
        </p:spPr>
        <p:txBody>
          <a:bodyPr rtlCol="0" anchor="ctr"/>
          <a:lstStyle/>
          <a:p>
            <a:pPr algn="ctr"/>
            <a:endParaRPr/>
          </a:p>
        </p:txBody>
      </p:sp>
      <p:sp>
        <p:nvSpPr>
          <p:cNvPr id="14" name="Text"/>
          <p:cNvSpPr txBox="1"/>
          <p:nvPr/>
        </p:nvSpPr>
        <p:spPr>
          <a:xfrm>
            <a:off x="2020491" y="2378756"/>
            <a:ext cx="9570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Review at 75</a:t>
            </a:r>
          </a:p>
        </p:txBody>
      </p:sp>
      <p:cxnSp>
        <p:nvCxnSpPr>
          <p:cNvPr id="15" name="Rule"/>
          <p:cNvCxnSpPr/>
          <p:nvPr/>
        </p:nvCxnSpPr>
        <p:spPr>
          <a:xfrm>
            <a:off x="3112740" y="2724596"/>
            <a:ext cx="0" cy="690861"/>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6" name="Text"/>
          <p:cNvSpPr txBox="1"/>
          <p:nvPr/>
        </p:nvSpPr>
        <p:spPr>
          <a:xfrm>
            <a:off x="3087886" y="2439722"/>
            <a:ext cx="930854" cy="171450"/>
          </a:xfrm>
          <a:prstGeom prst="rect">
            <a:avLst/>
          </a:prstGeom>
          <a:noFill/>
        </p:spPr>
        <p:txBody>
          <a:bodyPr wrap="none" lIns="0" tIns="0" rIns="0" bIns="0" anchor="t">
            <a:noAutofit/>
          </a:bodyPr>
          <a:lstStyle/>
          <a:p>
            <a:pPr algn="l">
              <a:lnSpc>
                <a:spcPts val="1350"/>
              </a:lnSpc>
              <a:spcBef>
                <a:spcPts val="0"/>
              </a:spcBef>
              <a:spcAft>
                <a:spcPts val="0"/>
              </a:spcAft>
            </a:pPr>
            <a:r>
              <a:rPr sz="1350" b="1" i="0" kern="100">
                <a:solidFill>
                  <a:srgbClr val="1B1716"/>
                </a:solidFill>
                <a:latin typeface="Plus Jakarta Sans"/>
              </a:rPr>
              <a:t>HK$375K</a:t>
            </a:r>
          </a:p>
        </p:txBody>
      </p:sp>
      <p:sp>
        <p:nvSpPr>
          <p:cNvPr id="17" name="Text"/>
          <p:cNvSpPr txBox="1"/>
          <p:nvPr/>
        </p:nvSpPr>
        <p:spPr>
          <a:xfrm>
            <a:off x="2005274" y="2897928"/>
            <a:ext cx="935903" cy="320010"/>
          </a:xfrm>
          <a:prstGeom prst="rect">
            <a:avLst/>
          </a:prstGeom>
          <a:noFill/>
        </p:spPr>
        <p:txBody>
          <a:bodyPr wrap="none" lIns="0" tIns="0" rIns="0" bIns="0" anchor="t">
            <a:noAutofit/>
          </a:bodyPr>
          <a:lstStyle/>
          <a:p>
            <a:pPr algn="ctr">
              <a:lnSpc>
                <a:spcPts val="1260"/>
              </a:lnSpc>
              <a:spcBef>
                <a:spcPts val="0"/>
              </a:spcBef>
              <a:spcAft>
                <a:spcPts val="0"/>
              </a:spcAft>
            </a:pPr>
            <a:r>
              <a:rPr sz="1050" b="0" i="0" kern="100">
                <a:solidFill>
                  <a:srgbClr val="971320"/>
                </a:solidFill>
                <a:latin typeface="Plus Jakarta Sans SemiBold"/>
              </a:rPr>
              <a:t>saves about</a:t>
            </a:r>
          </a:p>
          <a:p>
            <a:pPr algn="ctr">
              <a:lnSpc>
                <a:spcPts val="1260"/>
              </a:lnSpc>
              <a:spcBef>
                <a:spcPts val="0"/>
              </a:spcBef>
              <a:spcAft>
                <a:spcPts val="0"/>
              </a:spcAft>
            </a:pPr>
            <a:r>
              <a:rPr sz="1050" b="0" i="0" kern="100">
                <a:solidFill>
                  <a:srgbClr val="971320"/>
                </a:solidFill>
                <a:latin typeface="Plus Jakarta Sans SemiBold"/>
              </a:rPr>
              <a:t>two-thirds</a:t>
            </a:r>
          </a:p>
        </p:txBody>
      </p:sp>
      <p:sp>
        <p:nvSpPr>
          <p:cNvPr id="18" name="Text"/>
          <p:cNvSpPr txBox="1"/>
          <p:nvPr/>
        </p:nvSpPr>
        <p:spPr>
          <a:xfrm>
            <a:off x="4241750" y="2494961"/>
            <a:ext cx="546556"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A9707A"/>
                </a:solidFill>
                <a:latin typeface="Plus Jakarta Sans SemiBold"/>
              </a:rPr>
              <a:t>Flexi</a:t>
            </a:r>
          </a:p>
          <a:p>
            <a:pPr algn="l">
              <a:lnSpc>
                <a:spcPts val="1207"/>
              </a:lnSpc>
              <a:spcBef>
                <a:spcPts val="0"/>
              </a:spcBef>
              <a:spcAft>
                <a:spcPts val="0"/>
              </a:spcAft>
            </a:pPr>
            <a:r>
              <a:rPr sz="1050" b="0" i="0" kern="100">
                <a:solidFill>
                  <a:srgbClr val="A9707A"/>
                </a:solidFill>
                <a:latin typeface="Plus Jakarta Sans SemiBold"/>
              </a:rPr>
              <a:t>for life</a:t>
            </a:r>
          </a:p>
        </p:txBody>
      </p:sp>
      <p:sp>
        <p:nvSpPr>
          <p:cNvPr id="19" name="Text"/>
          <p:cNvSpPr txBox="1"/>
          <p:nvPr/>
        </p:nvSpPr>
        <p:spPr>
          <a:xfrm>
            <a:off x="4241750" y="3134773"/>
            <a:ext cx="929750"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971320"/>
                </a:solidFill>
                <a:latin typeface="Plus Jakarta Sans SemiBold"/>
              </a:rPr>
              <a:t>Standard,</a:t>
            </a:r>
          </a:p>
          <a:p>
            <a:pPr algn="l">
              <a:lnSpc>
                <a:spcPts val="1207"/>
              </a:lnSpc>
              <a:spcBef>
                <a:spcPts val="0"/>
              </a:spcBef>
              <a:spcAft>
                <a:spcPts val="0"/>
              </a:spcAft>
            </a:pPr>
            <a:r>
              <a:rPr sz="1050" b="0" i="0" kern="100">
                <a:solidFill>
                  <a:srgbClr val="971320"/>
                </a:solidFill>
                <a:latin typeface="Plus Jakarta Sans SemiBold"/>
              </a:rPr>
              <a:t>after review</a:t>
            </a:r>
          </a:p>
        </p:txBody>
      </p:sp>
      <p:sp>
        <p:nvSpPr>
          <p:cNvPr id="20" name="Rule"/>
          <p:cNvSpPr/>
          <p:nvPr/>
        </p:nvSpPr>
        <p:spPr>
          <a:xfrm>
            <a:off x="800100" y="3415457"/>
            <a:ext cx="3346400" cy="9525"/>
          </a:xfrm>
          <a:prstGeom prst="rect">
            <a:avLst/>
          </a:prstGeom>
          <a:solidFill>
            <a:srgbClr val="1B1716"/>
          </a:solidFill>
          <a:ln>
            <a:noFill/>
          </a:ln>
        </p:spPr>
        <p:txBody>
          <a:bodyPr rtlCol="0" anchor="ctr"/>
          <a:lstStyle/>
          <a:p>
            <a:pPr algn="ctr"/>
            <a:endParaRPr/>
          </a:p>
        </p:txBody>
      </p:sp>
      <p:sp>
        <p:nvSpPr>
          <p:cNvPr id="21" name="Text"/>
          <p:cNvSpPr txBox="1"/>
          <p:nvPr/>
        </p:nvSpPr>
        <p:spPr>
          <a:xfrm>
            <a:off x="800100" y="3464606"/>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2037</a:t>
            </a:r>
          </a:p>
        </p:txBody>
      </p:sp>
      <p:sp>
        <p:nvSpPr>
          <p:cNvPr id="22" name="Text"/>
          <p:cNvSpPr txBox="1"/>
          <p:nvPr/>
        </p:nvSpPr>
        <p:spPr>
          <a:xfrm>
            <a:off x="1786756" y="3464606"/>
            <a:ext cx="46846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2047</a:t>
            </a:r>
          </a:p>
        </p:txBody>
      </p:sp>
      <p:sp>
        <p:nvSpPr>
          <p:cNvPr id="23" name="Text"/>
          <p:cNvSpPr txBox="1"/>
          <p:nvPr/>
        </p:nvSpPr>
        <p:spPr>
          <a:xfrm>
            <a:off x="2761134" y="3464606"/>
            <a:ext cx="84960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Adrian dies</a:t>
            </a:r>
          </a:p>
        </p:txBody>
      </p:sp>
      <p:sp>
        <p:nvSpPr>
          <p:cNvPr id="24" name="Text"/>
          <p:cNvSpPr txBox="1"/>
          <p:nvPr/>
        </p:nvSpPr>
        <p:spPr>
          <a:xfrm>
            <a:off x="3809554" y="3464606"/>
            <a:ext cx="47146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2066</a:t>
            </a:r>
          </a:p>
        </p:txBody>
      </p:sp>
      <p:sp>
        <p:nvSpPr>
          <p:cNvPr id="25" name="Text"/>
          <p:cNvSpPr txBox="1"/>
          <p:nvPr/>
        </p:nvSpPr>
        <p:spPr>
          <a:xfrm>
            <a:off x="800100" y="3685586"/>
            <a:ext cx="3939138"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lower limits and fewer private-hospital choices.</a:t>
            </a:r>
          </a:p>
        </p:txBody>
      </p:sp>
      <p:sp>
        <p:nvSpPr>
          <p:cNvPr id="26" name="Rule"/>
          <p:cNvSpPr/>
          <p:nvPr/>
        </p:nvSpPr>
        <p:spPr>
          <a:xfrm>
            <a:off x="457200" y="4002137"/>
            <a:ext cx="4565600" cy="9525"/>
          </a:xfrm>
          <a:prstGeom prst="rect">
            <a:avLst/>
          </a:prstGeom>
          <a:solidFill>
            <a:srgbClr val="ECDADD"/>
          </a:solidFill>
          <a:ln>
            <a:noFill/>
          </a:ln>
        </p:spPr>
        <p:txBody>
          <a:bodyPr rtlCol="0" anchor="ctr"/>
          <a:lstStyle/>
          <a:p>
            <a:pPr algn="ctr"/>
            <a:endParaRPr/>
          </a:p>
        </p:txBody>
      </p:sp>
      <p:sp>
        <p:nvSpPr>
          <p:cNvPr id="27" name="i"/>
          <p:cNvSpPr/>
          <p:nvPr/>
        </p:nvSpPr>
        <p:spPr>
          <a:xfrm>
            <a:off x="457200" y="4125962"/>
            <a:ext cx="247650" cy="247650"/>
          </a:xfrm>
          <a:prstGeom prst="ellipse">
            <a:avLst/>
          </a:prstGeom>
          <a:solidFill>
            <a:srgbClr val="F8EFF0"/>
          </a:solidFill>
          <a:ln>
            <a:noFill/>
          </a:ln>
        </p:spPr>
        <p:txBody>
          <a:bodyPr rtlCol="0" anchor="ctr"/>
          <a:lstStyle/>
          <a:p>
            <a:pPr algn="ctr"/>
            <a:endParaRPr/>
          </a:p>
        </p:txBody>
      </p:sp>
      <p:sp>
        <p:nvSpPr>
          <p:cNvPr id="28" name="Text"/>
          <p:cNvSpPr txBox="1"/>
          <p:nvPr/>
        </p:nvSpPr>
        <p:spPr>
          <a:xfrm>
            <a:off x="541139" y="4175111"/>
            <a:ext cx="19870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2</a:t>
            </a:r>
          </a:p>
        </p:txBody>
      </p:sp>
      <p:sp>
        <p:nvSpPr>
          <p:cNvPr id="29" name="Text"/>
          <p:cNvSpPr txBox="1"/>
          <p:nvPr/>
        </p:nvSpPr>
        <p:spPr>
          <a:xfrm>
            <a:off x="800100" y="4126123"/>
            <a:ext cx="3950812"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From 2039, spending rules for the bad years</a:t>
            </a:r>
          </a:p>
        </p:txBody>
      </p:sp>
      <p:sp>
        <p:nvSpPr>
          <p:cNvPr id="30" name="span"/>
          <p:cNvSpPr/>
          <p:nvPr/>
        </p:nvSpPr>
        <p:spPr>
          <a:xfrm>
            <a:off x="800100" y="4468862"/>
            <a:ext cx="381000" cy="381000"/>
          </a:xfrm>
          <a:prstGeom prst="ellipse">
            <a:avLst/>
          </a:prstGeom>
          <a:solidFill>
            <a:srgbClr val="F8EFF0"/>
          </a:solidFill>
          <a:ln>
            <a:noFill/>
          </a:ln>
        </p:spPr>
        <p:txBody>
          <a:bodyPr rtlCol="0" anchor="ctr"/>
          <a:lstStyle/>
          <a:p>
            <a:pPr algn="ctr"/>
            <a:endParaRPr/>
          </a:p>
        </p:txBody>
      </p:sp>
      <p:pic>
        <p:nvPicPr>
          <p:cNvPr id="31" name="Drawing"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5350" y="4564112"/>
            <a:ext cx="190500" cy="190500"/>
          </a:xfrm>
          <a:prstGeom prst="rect">
            <a:avLst/>
          </a:prstGeom>
        </p:spPr>
      </p:pic>
      <p:sp>
        <p:nvSpPr>
          <p:cNvPr id="32" name="Text"/>
          <p:cNvSpPr txBox="1"/>
          <p:nvPr/>
        </p:nvSpPr>
        <p:spPr>
          <a:xfrm>
            <a:off x="800100" y="4898059"/>
            <a:ext cx="1118428"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No raise after a</a:t>
            </a:r>
          </a:p>
          <a:p>
            <a:pPr algn="l">
              <a:lnSpc>
                <a:spcPts val="1364"/>
              </a:lnSpc>
              <a:spcBef>
                <a:spcPts val="0"/>
              </a:spcBef>
              <a:spcAft>
                <a:spcPts val="0"/>
              </a:spcAft>
            </a:pPr>
            <a:r>
              <a:rPr sz="1050" b="0" i="0" kern="100">
                <a:solidFill>
                  <a:srgbClr val="1B1716"/>
                </a:solidFill>
                <a:latin typeface="Plus Jakarta Sans Medium"/>
              </a:rPr>
              <a:t>market fall</a:t>
            </a:r>
          </a:p>
        </p:txBody>
      </p:sp>
      <p:sp>
        <p:nvSpPr>
          <p:cNvPr id="33" name="span"/>
          <p:cNvSpPr/>
          <p:nvPr/>
        </p:nvSpPr>
        <p:spPr>
          <a:xfrm>
            <a:off x="2258467" y="4468862"/>
            <a:ext cx="381000" cy="381000"/>
          </a:xfrm>
          <a:prstGeom prst="ellipse">
            <a:avLst/>
          </a:prstGeom>
          <a:solidFill>
            <a:srgbClr val="F8EFF0"/>
          </a:solidFill>
          <a:ln>
            <a:noFill/>
          </a:ln>
        </p:spPr>
        <p:txBody>
          <a:bodyPr rtlCol="0" anchor="ctr"/>
          <a:lstStyle/>
          <a:p>
            <a:pPr algn="ctr"/>
            <a:endParaRPr/>
          </a:p>
        </p:txBody>
      </p:sp>
      <p:pic>
        <p:nvPicPr>
          <p:cNvPr id="34" name="Drawing"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353717" y="4564112"/>
            <a:ext cx="190500" cy="190500"/>
          </a:xfrm>
          <a:prstGeom prst="rect">
            <a:avLst/>
          </a:prstGeom>
        </p:spPr>
      </p:pic>
      <p:sp>
        <p:nvSpPr>
          <p:cNvPr id="35" name="Text"/>
          <p:cNvSpPr txBox="1"/>
          <p:nvPr/>
        </p:nvSpPr>
        <p:spPr>
          <a:xfrm>
            <a:off x="2258467" y="4898059"/>
            <a:ext cx="1215292"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A 10% trim if</a:t>
            </a:r>
          </a:p>
          <a:p>
            <a:pPr algn="l">
              <a:lnSpc>
                <a:spcPts val="1364"/>
              </a:lnSpc>
              <a:spcBef>
                <a:spcPts val="0"/>
              </a:spcBef>
              <a:spcAft>
                <a:spcPts val="0"/>
              </a:spcAft>
            </a:pPr>
            <a:r>
              <a:rPr sz="1050" b="0" i="0" kern="100">
                <a:solidFill>
                  <a:srgbClr val="1B1716"/>
                </a:solidFill>
                <a:latin typeface="Plus Jakarta Sans Medium"/>
              </a:rPr>
              <a:t>drawing too fast</a:t>
            </a:r>
          </a:p>
        </p:txBody>
      </p:sp>
      <p:sp>
        <p:nvSpPr>
          <p:cNvPr id="36" name="span"/>
          <p:cNvSpPr/>
          <p:nvPr/>
        </p:nvSpPr>
        <p:spPr>
          <a:xfrm>
            <a:off x="3716834" y="4468862"/>
            <a:ext cx="381000" cy="381000"/>
          </a:xfrm>
          <a:prstGeom prst="ellipse">
            <a:avLst/>
          </a:prstGeom>
          <a:solidFill>
            <a:srgbClr val="F8EFF0"/>
          </a:solidFill>
          <a:ln>
            <a:noFill/>
          </a:ln>
        </p:spPr>
        <p:txBody>
          <a:bodyPr rtlCol="0" anchor="ctr"/>
          <a:lstStyle/>
          <a:p>
            <a:pPr algn="ctr"/>
            <a:endParaRPr/>
          </a:p>
        </p:txBody>
      </p:sp>
      <p:pic>
        <p:nvPicPr>
          <p:cNvPr id="37" name="Drawing"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812084" y="4564112"/>
            <a:ext cx="190500" cy="190500"/>
          </a:xfrm>
          <a:prstGeom prst="rect">
            <a:avLst/>
          </a:prstGeom>
        </p:spPr>
      </p:pic>
      <p:sp>
        <p:nvSpPr>
          <p:cNvPr id="38" name="Text"/>
          <p:cNvSpPr txBox="1"/>
          <p:nvPr/>
        </p:nvSpPr>
        <p:spPr>
          <a:xfrm>
            <a:off x="3716834" y="4898059"/>
            <a:ext cx="1031819"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Essentials are</a:t>
            </a:r>
          </a:p>
          <a:p>
            <a:pPr algn="l">
              <a:lnSpc>
                <a:spcPts val="1364"/>
              </a:lnSpc>
              <a:spcBef>
                <a:spcPts val="0"/>
              </a:spcBef>
              <a:spcAft>
                <a:spcPts val="0"/>
              </a:spcAft>
            </a:pPr>
            <a:r>
              <a:rPr sz="1050" b="0" i="0" kern="100">
                <a:solidFill>
                  <a:srgbClr val="1B1716"/>
                </a:solidFill>
                <a:latin typeface="Plus Jakarta Sans Medium"/>
              </a:rPr>
              <a:t>never cut</a:t>
            </a:r>
          </a:p>
        </p:txBody>
      </p:sp>
      <p:sp>
        <p:nvSpPr>
          <p:cNvPr id="39" name="Text"/>
          <p:cNvSpPr txBox="1"/>
          <p:nvPr/>
        </p:nvSpPr>
        <p:spPr>
          <a:xfrm>
            <a:off x="800100" y="5314063"/>
            <a:ext cx="3740679"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typical spending about HK$41K a year lower.</a:t>
            </a:r>
          </a:p>
        </p:txBody>
      </p:sp>
      <p:sp>
        <p:nvSpPr>
          <p:cNvPr id="40" name="Rule"/>
          <p:cNvSpPr/>
          <p:nvPr/>
        </p:nvSpPr>
        <p:spPr>
          <a:xfrm>
            <a:off x="5251400" y="1740098"/>
            <a:ext cx="6483251" cy="9525"/>
          </a:xfrm>
          <a:prstGeom prst="rect">
            <a:avLst/>
          </a:prstGeom>
          <a:solidFill>
            <a:srgbClr val="1B1716"/>
          </a:solidFill>
          <a:ln>
            <a:noFill/>
          </a:ln>
        </p:spPr>
        <p:txBody>
          <a:bodyPr rtlCol="0" anchor="ctr"/>
          <a:lstStyle/>
          <a:p>
            <a:pPr algn="ctr"/>
            <a:endParaRPr/>
          </a:p>
        </p:txBody>
      </p:sp>
      <p:sp>
        <p:nvSpPr>
          <p:cNvPr id="41" name="Text"/>
          <p:cNvSpPr txBox="1"/>
          <p:nvPr/>
        </p:nvSpPr>
        <p:spPr>
          <a:xfrm>
            <a:off x="5251400" y="1445824"/>
            <a:ext cx="39689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the future that ran out at 86 now reaches 89</a:t>
            </a:r>
          </a:p>
        </p:txBody>
      </p:sp>
      <p:pic>
        <p:nvPicPr>
          <p:cNvPr id="42" name="Drawing"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784800" y="2111573"/>
            <a:ext cx="4368701" cy="2724150"/>
          </a:xfrm>
          <a:prstGeom prst="rect">
            <a:avLst/>
          </a:prstGeom>
        </p:spPr>
      </p:pic>
      <p:sp>
        <p:nvSpPr>
          <p:cNvPr id="43" name="Text"/>
          <p:cNvSpPr txBox="1"/>
          <p:nvPr/>
        </p:nvSpPr>
        <p:spPr>
          <a:xfrm>
            <a:off x="10248751" y="3765938"/>
            <a:ext cx="1607004"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spc="-75">
                <a:solidFill>
                  <a:srgbClr val="C80E1E"/>
                </a:solidFill>
                <a:latin typeface="Plus Jakarta Sans"/>
              </a:rPr>
              <a:t>HK$8.9M</a:t>
            </a:r>
          </a:p>
        </p:txBody>
      </p:sp>
      <p:sp>
        <p:nvSpPr>
          <p:cNvPr id="44" name="Text"/>
          <p:cNvSpPr txBox="1"/>
          <p:nvPr/>
        </p:nvSpPr>
        <p:spPr>
          <a:xfrm>
            <a:off x="10248751" y="4102170"/>
            <a:ext cx="71378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C80E1E"/>
                </a:solidFill>
                <a:latin typeface="Plus Jakarta Sans SemiBold"/>
              </a:rPr>
              <a:t>left at 89</a:t>
            </a:r>
          </a:p>
        </p:txBody>
      </p:sp>
      <p:sp>
        <p:nvSpPr>
          <p:cNvPr id="45" name="Rule"/>
          <p:cNvSpPr/>
          <p:nvPr/>
        </p:nvSpPr>
        <p:spPr>
          <a:xfrm>
            <a:off x="5784800" y="4835723"/>
            <a:ext cx="4368701" cy="9525"/>
          </a:xfrm>
          <a:prstGeom prst="rect">
            <a:avLst/>
          </a:prstGeom>
          <a:solidFill>
            <a:srgbClr val="1B1716"/>
          </a:solidFill>
          <a:ln>
            <a:noFill/>
          </a:ln>
        </p:spPr>
        <p:txBody>
          <a:bodyPr rtlCol="0" anchor="ctr"/>
          <a:lstStyle/>
          <a:p>
            <a:pPr algn="ctr"/>
            <a:endParaRPr/>
          </a:p>
        </p:txBody>
      </p:sp>
      <p:sp>
        <p:nvSpPr>
          <p:cNvPr id="46" name="Text"/>
          <p:cNvSpPr txBox="1"/>
          <p:nvPr/>
        </p:nvSpPr>
        <p:spPr>
          <a:xfrm>
            <a:off x="5784800" y="5063466"/>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47" name="Text"/>
          <p:cNvSpPr txBox="1"/>
          <p:nvPr/>
        </p:nvSpPr>
        <p:spPr>
          <a:xfrm>
            <a:off x="5784800" y="4896779"/>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48" name="Text"/>
          <p:cNvSpPr txBox="1"/>
          <p:nvPr/>
        </p:nvSpPr>
        <p:spPr>
          <a:xfrm>
            <a:off x="6476620" y="5063466"/>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49" name="Text"/>
          <p:cNvSpPr txBox="1"/>
          <p:nvPr/>
        </p:nvSpPr>
        <p:spPr>
          <a:xfrm>
            <a:off x="6753332" y="4896779"/>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50" name="Text"/>
          <p:cNvSpPr txBox="1"/>
          <p:nvPr/>
        </p:nvSpPr>
        <p:spPr>
          <a:xfrm>
            <a:off x="7545372" y="5063466"/>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51" name="Text"/>
          <p:cNvSpPr txBox="1"/>
          <p:nvPr/>
        </p:nvSpPr>
        <p:spPr>
          <a:xfrm>
            <a:off x="7731057" y="4896779"/>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52" name="Text"/>
          <p:cNvSpPr txBox="1"/>
          <p:nvPr/>
        </p:nvSpPr>
        <p:spPr>
          <a:xfrm>
            <a:off x="8627534" y="5063466"/>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53" name="Text"/>
          <p:cNvSpPr txBox="1"/>
          <p:nvPr/>
        </p:nvSpPr>
        <p:spPr>
          <a:xfrm>
            <a:off x="8824104" y="4896779"/>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54" name="Text"/>
          <p:cNvSpPr txBox="1"/>
          <p:nvPr/>
        </p:nvSpPr>
        <p:spPr>
          <a:xfrm>
            <a:off x="9299633" y="5063466"/>
            <a:ext cx="853869"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1B1716"/>
                </a:solidFill>
                <a:latin typeface="Plus Jakarta Sans SemiBold"/>
              </a:rPr>
              <a:t>Carmen 89</a:t>
            </a:r>
          </a:p>
        </p:txBody>
      </p:sp>
      <p:sp>
        <p:nvSpPr>
          <p:cNvPr id="55" name="Text"/>
          <p:cNvSpPr txBox="1"/>
          <p:nvPr/>
        </p:nvSpPr>
        <p:spPr>
          <a:xfrm>
            <a:off x="9682037" y="4896779"/>
            <a:ext cx="471464"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80606A"/>
                </a:solidFill>
                <a:latin typeface="Plus Jakarta Sans"/>
              </a:rPr>
              <a:t>2066</a:t>
            </a:r>
          </a:p>
        </p:txBody>
      </p:sp>
      <p:sp>
        <p:nvSpPr>
          <p:cNvPr id="56" name="Rule"/>
          <p:cNvSpPr/>
          <p:nvPr/>
        </p:nvSpPr>
        <p:spPr>
          <a:xfrm>
            <a:off x="5251400" y="5404545"/>
            <a:ext cx="6483251" cy="9525"/>
          </a:xfrm>
          <a:prstGeom prst="rect">
            <a:avLst/>
          </a:prstGeom>
          <a:solidFill>
            <a:srgbClr val="ECDADD"/>
          </a:solidFill>
          <a:ln>
            <a:noFill/>
          </a:ln>
        </p:spPr>
        <p:txBody>
          <a:bodyPr rtlCol="0" anchor="ctr"/>
          <a:lstStyle/>
          <a:p>
            <a:pPr algn="ctr"/>
            <a:endParaRPr/>
          </a:p>
        </p:txBody>
      </p:sp>
      <p:sp>
        <p:nvSpPr>
          <p:cNvPr id="57" name="Text"/>
          <p:cNvSpPr txBox="1"/>
          <p:nvPr/>
        </p:nvSpPr>
        <p:spPr>
          <a:xfrm>
            <a:off x="5251400" y="5497318"/>
            <a:ext cx="6132918"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a:rPr>
              <a:t>In 10,000 futures: </a:t>
            </a:r>
            <a:r>
              <a:rPr sz="1200" b="1" i="0" kern="100">
                <a:solidFill>
                  <a:srgbClr val="1B1716"/>
                </a:solidFill>
                <a:latin typeface="Plus Jakarta Sans"/>
              </a:rPr>
              <a:t>83% → 97%</a:t>
            </a:r>
            <a:r>
              <a:rPr sz="1200" b="0" i="0" kern="100">
                <a:solidFill>
                  <a:srgbClr val="1B1716"/>
                </a:solidFill>
                <a:latin typeface="Plus Jakarta Sans"/>
              </a:rPr>
              <a:t> last to 89 with the review; </a:t>
            </a:r>
            <a:r>
              <a:rPr sz="1200" b="1" i="0" kern="100">
                <a:solidFill>
                  <a:srgbClr val="1B1716"/>
                </a:solidFill>
                <a:latin typeface="Plus Jakarta Sans"/>
              </a:rPr>
              <a:t>almost all</a:t>
            </a:r>
            <a:r>
              <a:rPr sz="1200" b="0" i="0" kern="100">
                <a:solidFill>
                  <a:srgbClr val="1B1716"/>
                </a:solidFill>
                <a:latin typeface="Plus Jakarta Sans"/>
              </a:rPr>
              <a:t> with the rules</a:t>
            </a:r>
          </a:p>
        </p:txBody>
      </p:sp>
      <p:sp>
        <p:nvSpPr>
          <p:cNvPr id="58"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9" name="Text"/>
          <p:cNvSpPr txBox="1"/>
          <p:nvPr/>
        </p:nvSpPr>
        <p:spPr>
          <a:xfrm>
            <a:off x="1405981" y="5984558"/>
            <a:ext cx="937989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Will it last? In almost every future: they retire on time, keep the way they live, and keep the home.</a:t>
            </a:r>
          </a:p>
        </p:txBody>
      </p:sp>
      <p:sp>
        <p:nvSpPr>
          <p:cNvPr id="60" name="Text"/>
          <p:cNvSpPr txBox="1"/>
          <p:nvPr/>
        </p:nvSpPr>
        <p:spPr>
          <a:xfrm>
            <a:off x="457200" y="6452104"/>
            <a:ext cx="635867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Slide 3's future, same markets, today's money: an illustration, not a forecast. Premiums: individual cover by age</a:t>
            </a:r>
          </a:p>
          <a:p>
            <a:pPr algn="l">
              <a:lnSpc>
                <a:spcPts val="1170"/>
              </a:lnSpc>
              <a:spcBef>
                <a:spcPts val="0"/>
              </a:spcBef>
              <a:spcAft>
                <a:spcPts val="0"/>
              </a:spcAft>
            </a:pPr>
            <a:r>
              <a:rPr sz="900" b="0" i="0" kern="100">
                <a:solidFill>
                  <a:srgbClr val="80606A"/>
                </a:solidFill>
                <a:latin typeface="Plus Jakarta Sans"/>
              </a:rPr>
              <a:t>and medical inflation; one policy from 2057 (Adrian's life expectancy, 84).</a:t>
            </a:r>
          </a:p>
        </p:txBody>
      </p:sp>
      <p:sp>
        <p:nvSpPr>
          <p:cNvPr id="61" name="Text"/>
          <p:cNvSpPr txBox="1"/>
          <p:nvPr/>
        </p:nvSpPr>
        <p:spPr>
          <a:xfrm>
            <a:off x="668193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2" name="Text"/>
          <p:cNvSpPr txBox="1"/>
          <p:nvPr/>
        </p:nvSpPr>
        <p:spPr>
          <a:xfrm>
            <a:off x="762818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3" name="Text"/>
          <p:cNvSpPr txBox="1"/>
          <p:nvPr/>
        </p:nvSpPr>
        <p:spPr>
          <a:xfrm>
            <a:off x="8488412"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4" name="Text"/>
          <p:cNvSpPr txBox="1"/>
          <p:nvPr/>
        </p:nvSpPr>
        <p:spPr>
          <a:xfrm>
            <a:off x="9444038"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5" name="Text"/>
          <p:cNvSpPr txBox="1"/>
          <p:nvPr/>
        </p:nvSpPr>
        <p:spPr>
          <a:xfrm>
            <a:off x="1024205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6" name="Text"/>
          <p:cNvSpPr txBox="1"/>
          <p:nvPr/>
        </p:nvSpPr>
        <p:spPr>
          <a:xfrm>
            <a:off x="1103739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7" name="Text"/>
          <p:cNvSpPr txBox="1"/>
          <p:nvPr/>
        </p:nvSpPr>
        <p:spPr>
          <a:xfrm>
            <a:off x="11415712" y="6535674"/>
            <a:ext cx="45253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7 / 15</a:t>
            </a:r>
          </a:p>
        </p:txBody>
      </p:sp>
      <p:sp>
        <p:nvSpPr>
          <p:cNvPr id="68" name="Text"/>
          <p:cNvSpPr txBox="1"/>
          <p:nvPr/>
        </p:nvSpPr>
        <p:spPr>
          <a:xfrm>
            <a:off x="5918150" y="3312593"/>
            <a:ext cx="21548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with the four decisions</a:t>
            </a:r>
          </a:p>
        </p:txBody>
      </p:sp>
      <p:sp>
        <p:nvSpPr>
          <p:cNvPr id="69" name="Text"/>
          <p:cNvSpPr txBox="1"/>
          <p:nvPr/>
        </p:nvSpPr>
        <p:spPr>
          <a:xfrm>
            <a:off x="8187482" y="2471565"/>
            <a:ext cx="105106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their own way</a:t>
            </a:r>
          </a:p>
        </p:txBody>
      </p:sp>
      <p:sp>
        <p:nvSpPr>
          <p:cNvPr id="70" name="Text"/>
          <p:cNvSpPr txBox="1"/>
          <p:nvPr/>
        </p:nvSpPr>
        <p:spPr>
          <a:xfrm>
            <a:off x="5918150" y="4539234"/>
            <a:ext cx="358102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alpha val="90000"/>
                  </a:srgbClr>
                </a:solidFill>
                <a:latin typeface="Plus Jakarta Sans"/>
              </a:rPr>
              <a:t>a reverse mortgage pays HK$230K a year from 2037</a:t>
            </a:r>
          </a:p>
        </p:txBody>
      </p:sp>
      <p:sp>
        <p:nvSpPr>
          <p:cNvPr id="71" name="Text"/>
          <p:cNvSpPr txBox="1"/>
          <p:nvPr/>
        </p:nvSpPr>
        <p:spPr>
          <a:xfrm>
            <a:off x="5918150" y="4365998"/>
            <a:ext cx="1492472"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 home: still theirs</a:t>
            </a:r>
          </a:p>
        </p:txBody>
      </p:sp>
      <p:sp>
        <p:nvSpPr>
          <p:cNvPr id="72" name="Rule"/>
          <p:cNvSpPr/>
          <p:nvPr/>
        </p:nvSpPr>
        <p:spPr>
          <a:xfrm>
            <a:off x="5784800" y="2111573"/>
            <a:ext cx="9525" cy="2724150"/>
          </a:xfrm>
          <a:prstGeom prst="rect">
            <a:avLst/>
          </a:prstGeom>
          <a:solidFill>
            <a:srgbClr val="1B1716"/>
          </a:solidFill>
          <a:ln>
            <a:noFill/>
          </a:ln>
        </p:spPr>
        <p:txBody>
          <a:bodyPr rtlCol="0" anchor="ctr"/>
          <a:lstStyle/>
          <a:p>
            <a:pPr algn="ctr"/>
            <a:endParaRPr/>
          </a:p>
        </p:txBody>
      </p:sp>
      <p:sp>
        <p:nvSpPr>
          <p:cNvPr id="73" name="Rule"/>
          <p:cNvSpPr/>
          <p:nvPr/>
        </p:nvSpPr>
        <p:spPr>
          <a:xfrm>
            <a:off x="5727650" y="3928467"/>
            <a:ext cx="57150" cy="9525"/>
          </a:xfrm>
          <a:prstGeom prst="rect">
            <a:avLst/>
          </a:prstGeom>
          <a:solidFill>
            <a:srgbClr val="1B1716"/>
          </a:solidFill>
          <a:ln>
            <a:noFill/>
          </a:ln>
        </p:spPr>
        <p:txBody>
          <a:bodyPr rtlCol="0" anchor="ctr"/>
          <a:lstStyle/>
          <a:p>
            <a:pPr algn="ctr"/>
            <a:endParaRPr/>
          </a:p>
        </p:txBody>
      </p:sp>
      <p:sp>
        <p:nvSpPr>
          <p:cNvPr id="74" name="Text"/>
          <p:cNvSpPr txBox="1"/>
          <p:nvPr/>
        </p:nvSpPr>
        <p:spPr>
          <a:xfrm>
            <a:off x="5179814" y="3844266"/>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75" name="Rule"/>
          <p:cNvSpPr/>
          <p:nvPr/>
        </p:nvSpPr>
        <p:spPr>
          <a:xfrm>
            <a:off x="5727650" y="3018681"/>
            <a:ext cx="57150" cy="9525"/>
          </a:xfrm>
          <a:prstGeom prst="rect">
            <a:avLst/>
          </a:prstGeom>
          <a:solidFill>
            <a:srgbClr val="1B1716"/>
          </a:solidFill>
          <a:ln>
            <a:noFill/>
          </a:ln>
        </p:spPr>
        <p:txBody>
          <a:bodyPr rtlCol="0" anchor="ctr"/>
          <a:lstStyle/>
          <a:p>
            <a:pPr algn="ctr"/>
            <a:endParaRPr/>
          </a:p>
        </p:txBody>
      </p:sp>
      <p:sp>
        <p:nvSpPr>
          <p:cNvPr id="76" name="Text"/>
          <p:cNvSpPr txBox="1"/>
          <p:nvPr/>
        </p:nvSpPr>
        <p:spPr>
          <a:xfrm>
            <a:off x="5149304" y="2934480"/>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77" name="Rule"/>
          <p:cNvSpPr/>
          <p:nvPr/>
        </p:nvSpPr>
        <p:spPr>
          <a:xfrm>
            <a:off x="5727650" y="2111573"/>
            <a:ext cx="57150" cy="9525"/>
          </a:xfrm>
          <a:prstGeom prst="rect">
            <a:avLst/>
          </a:prstGeom>
          <a:solidFill>
            <a:srgbClr val="1B1716"/>
          </a:solidFill>
          <a:ln>
            <a:noFill/>
          </a:ln>
        </p:spPr>
        <p:txBody>
          <a:bodyPr rtlCol="0" anchor="ctr"/>
          <a:lstStyle/>
          <a:p>
            <a:pPr algn="ctr"/>
            <a:endParaRPr/>
          </a:p>
        </p:txBody>
      </p:sp>
      <p:sp>
        <p:nvSpPr>
          <p:cNvPr id="78" name="Text"/>
          <p:cNvSpPr txBox="1"/>
          <p:nvPr/>
        </p:nvSpPr>
        <p:spPr>
          <a:xfrm>
            <a:off x="5148114" y="2027372"/>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79" name="Rule"/>
          <p:cNvSpPr/>
          <p:nvPr/>
        </p:nvSpPr>
        <p:spPr>
          <a:xfrm>
            <a:off x="9825782" y="2928789"/>
            <a:ext cx="9525" cy="1171277"/>
          </a:xfrm>
          <a:prstGeom prst="rect">
            <a:avLst/>
          </a:prstGeom>
          <a:solidFill>
            <a:srgbClr val="1B1716"/>
          </a:solidFill>
          <a:ln>
            <a:noFill/>
          </a:ln>
        </p:spPr>
        <p:txBody>
          <a:bodyPr rtlCol="0" anchor="ctr"/>
          <a:lstStyle/>
          <a:p>
            <a:pPr algn="ctr"/>
            <a:endParaRPr/>
          </a:p>
        </p:txBody>
      </p:sp>
      <p:sp>
        <p:nvSpPr>
          <p:cNvPr id="80" name="Text"/>
          <p:cNvSpPr txBox="1"/>
          <p:nvPr/>
        </p:nvSpPr>
        <p:spPr>
          <a:xfrm>
            <a:off x="8575997" y="2919835"/>
            <a:ext cx="1183109" cy="173355"/>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Added by Call 3</a:t>
            </a:r>
          </a:p>
        </p:txBody>
      </p:sp>
      <p:sp>
        <p:nvSpPr>
          <p:cNvPr id="81" name="ps-el"/>
          <p:cNvSpPr/>
          <p:nvPr/>
        </p:nvSpPr>
        <p:spPr>
          <a:xfrm>
            <a:off x="9778157" y="4081016"/>
            <a:ext cx="66675" cy="66675"/>
          </a:xfrm>
          <a:prstGeom prst="ellipse">
            <a:avLst/>
          </a:prstGeom>
          <a:solidFill>
            <a:srgbClr val="971320"/>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One family policy, a plan for each person: every dollar gets a job">
    <p:spTree>
      <p:nvGrpSpPr>
        <p:cNvPr id="1" name=""/>
        <p:cNvGrpSpPr/>
        <p:nvPr/>
      </p:nvGrpSpPr>
      <p:grpSpPr>
        <a:xfrm>
          <a:off x="0" y="0"/>
          <a:ext cx="0" cy="0"/>
          <a:chOff x="0" y="0"/>
          <a:chExt cx="0" cy="0"/>
        </a:xfrm>
      </p:grpSpPr>
      <p:sp>
        <p:nvSpPr>
          <p:cNvPr id="2" name="Rul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ext"/>
          <p:cNvSpPr txBox="1"/>
          <p:nvPr/>
        </p:nvSpPr>
        <p:spPr>
          <a:xfrm>
            <a:off x="638175" y="324421"/>
            <a:ext cx="14034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4: Each person</a:t>
            </a:r>
          </a:p>
        </p:txBody>
      </p:sp>
      <p:sp>
        <p:nvSpPr>
          <p:cNvPr id="5" name="Text"/>
          <p:cNvSpPr txBox="1"/>
          <p:nvPr/>
        </p:nvSpPr>
        <p:spPr>
          <a:xfrm>
            <a:off x="638175" y="529852"/>
            <a:ext cx="8767158"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One family policy, a plan for each person: every dollar gets a job</a:t>
            </a:r>
          </a:p>
        </p:txBody>
      </p:sp>
      <p:sp>
        <p:nvSpPr>
          <p:cNvPr id="6" name="Text"/>
          <p:cNvSpPr txBox="1"/>
          <p:nvPr/>
        </p:nvSpPr>
        <p:spPr>
          <a:xfrm>
            <a:off x="457200" y="1513648"/>
            <a:ext cx="1166387"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one pot that fits</a:t>
            </a:r>
          </a:p>
          <a:p>
            <a:pPr algn="l">
              <a:lnSpc>
                <a:spcPts val="1417"/>
              </a:lnSpc>
              <a:spcBef>
                <a:spcPts val="0"/>
              </a:spcBef>
              <a:spcAft>
                <a:spcPts val="0"/>
              </a:spcAft>
            </a:pPr>
            <a:r>
              <a:rPr sz="1050" b="0" i="0" kern="100">
                <a:solidFill>
                  <a:srgbClr val="80606A"/>
                </a:solidFill>
                <a:latin typeface="Plus Jakarta Sans"/>
              </a:rPr>
              <a:t>nobody</a:t>
            </a:r>
          </a:p>
        </p:txBody>
      </p:sp>
      <p:sp>
        <p:nvSpPr>
          <p:cNvPr id="7" name="Text"/>
          <p:cNvSpPr txBox="1"/>
          <p:nvPr/>
        </p:nvSpPr>
        <p:spPr>
          <a:xfrm>
            <a:off x="457200" y="1221986"/>
            <a:ext cx="765682"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Today</a:t>
            </a:r>
          </a:p>
        </p:txBody>
      </p:sp>
      <p:sp>
        <p:nvSpPr>
          <p:cNvPr id="8" name="div"/>
          <p:cNvSpPr/>
          <p:nvPr/>
        </p:nvSpPr>
        <p:spPr>
          <a:xfrm>
            <a:off x="2076450" y="1141214"/>
            <a:ext cx="3111252" cy="1219200"/>
          </a:xfrm>
          <a:prstGeom prst="rect">
            <a:avLst/>
          </a:prstGeom>
          <a:solidFill>
            <a:srgbClr val="F8EFF0"/>
          </a:solidFill>
          <a:ln>
            <a:noFill/>
          </a:ln>
        </p:spPr>
        <p:txBody>
          <a:bodyPr rtlCol="0" anchor="ctr"/>
          <a:lstStyle/>
          <a:p>
            <a:pPr algn="ctr"/>
            <a:endParaRPr/>
          </a:p>
        </p:txBody>
      </p:sp>
      <p:sp>
        <p:nvSpPr>
          <p:cNvPr id="9" name="Text"/>
          <p:cNvSpPr txBox="1"/>
          <p:nvPr/>
        </p:nvSpPr>
        <p:spPr>
          <a:xfrm>
            <a:off x="2209800" y="1238369"/>
            <a:ext cx="1470071"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HK$2.5M</a:t>
            </a:r>
          </a:p>
        </p:txBody>
      </p:sp>
      <p:sp>
        <p:nvSpPr>
          <p:cNvPr id="10" name="Text"/>
          <p:cNvSpPr txBox="1"/>
          <p:nvPr/>
        </p:nvSpPr>
        <p:spPr>
          <a:xfrm>
            <a:off x="2209800" y="1869490"/>
            <a:ext cx="146328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Cash and deposits</a:t>
            </a:r>
          </a:p>
        </p:txBody>
      </p:sp>
      <p:sp>
        <p:nvSpPr>
          <p:cNvPr id="11" name="Text"/>
          <p:cNvSpPr txBox="1"/>
          <p:nvPr/>
        </p:nvSpPr>
        <p:spPr>
          <a:xfrm>
            <a:off x="2209800" y="2053894"/>
            <a:ext cx="197458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30 months of spending, idle</a:t>
            </a:r>
          </a:p>
        </p:txBody>
      </p:sp>
      <p:sp>
        <p:nvSpPr>
          <p:cNvPr id="12" name="div"/>
          <p:cNvSpPr/>
          <p:nvPr/>
        </p:nvSpPr>
        <p:spPr>
          <a:xfrm>
            <a:off x="5225802" y="1141214"/>
            <a:ext cx="1679674" cy="1219200"/>
          </a:xfrm>
          <a:prstGeom prst="rect">
            <a:avLst/>
          </a:prstGeom>
          <a:solidFill>
            <a:srgbClr val="F8EFF0"/>
          </a:solidFill>
          <a:ln>
            <a:noFill/>
          </a:ln>
        </p:spPr>
        <p:txBody>
          <a:bodyPr rtlCol="0" anchor="ctr"/>
          <a:lstStyle/>
          <a:p>
            <a:pPr algn="ctr"/>
            <a:endParaRPr/>
          </a:p>
        </p:txBody>
      </p:sp>
      <p:sp>
        <p:nvSpPr>
          <p:cNvPr id="13" name="Text"/>
          <p:cNvSpPr txBox="1"/>
          <p:nvPr/>
        </p:nvSpPr>
        <p:spPr>
          <a:xfrm>
            <a:off x="5359152" y="1238369"/>
            <a:ext cx="1592806"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HK$1.35M</a:t>
            </a:r>
          </a:p>
        </p:txBody>
      </p:sp>
      <p:sp>
        <p:nvSpPr>
          <p:cNvPr id="14" name="Text"/>
          <p:cNvSpPr txBox="1"/>
          <p:nvPr/>
        </p:nvSpPr>
        <p:spPr>
          <a:xfrm>
            <a:off x="5359152" y="2049423"/>
            <a:ext cx="95215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Bond funds</a:t>
            </a:r>
          </a:p>
        </p:txBody>
      </p:sp>
      <p:sp>
        <p:nvSpPr>
          <p:cNvPr id="15" name="div"/>
          <p:cNvSpPr/>
          <p:nvPr/>
        </p:nvSpPr>
        <p:spPr>
          <a:xfrm>
            <a:off x="6943576" y="1141214"/>
            <a:ext cx="4791075" cy="1219200"/>
          </a:xfrm>
          <a:prstGeom prst="rect">
            <a:avLst/>
          </a:prstGeom>
          <a:solidFill>
            <a:srgbClr val="F8EFF0"/>
          </a:solidFill>
          <a:ln>
            <a:noFill/>
          </a:ln>
        </p:spPr>
        <p:txBody>
          <a:bodyPr rtlCol="0" anchor="ctr"/>
          <a:lstStyle/>
          <a:p>
            <a:pPr algn="ctr"/>
            <a:endParaRPr/>
          </a:p>
        </p:txBody>
      </p:sp>
      <p:sp>
        <p:nvSpPr>
          <p:cNvPr id="16" name="Text"/>
          <p:cNvSpPr txBox="1"/>
          <p:nvPr/>
        </p:nvSpPr>
        <p:spPr>
          <a:xfrm>
            <a:off x="7076926" y="1238369"/>
            <a:ext cx="1665217"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HK$3.85M</a:t>
            </a:r>
          </a:p>
        </p:txBody>
      </p:sp>
      <p:sp>
        <p:nvSpPr>
          <p:cNvPr id="17" name="Text"/>
          <p:cNvSpPr txBox="1"/>
          <p:nvPr/>
        </p:nvSpPr>
        <p:spPr>
          <a:xfrm>
            <a:off x="7076926" y="1869490"/>
            <a:ext cx="102408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Equity funds</a:t>
            </a:r>
          </a:p>
        </p:txBody>
      </p:sp>
      <p:sp>
        <p:nvSpPr>
          <p:cNvPr id="18" name="Text"/>
          <p:cNvSpPr txBox="1"/>
          <p:nvPr/>
        </p:nvSpPr>
        <p:spPr>
          <a:xfrm>
            <a:off x="7076926" y="2053894"/>
            <a:ext cx="37473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about 1.5% a year in fees; more risk than Adrian's profile</a:t>
            </a:r>
          </a:p>
        </p:txBody>
      </p:sp>
      <p:sp>
        <p:nvSpPr>
          <p:cNvPr id="19" name="ps-el"/>
          <p:cNvSpPr/>
          <p:nvPr/>
        </p:nvSpPr>
        <p:spPr>
          <a:xfrm>
            <a:off x="2076450" y="2578150"/>
            <a:ext cx="19050" cy="209550"/>
          </a:xfrm>
          <a:prstGeom prst="rect">
            <a:avLst/>
          </a:prstGeom>
          <a:solidFill>
            <a:srgbClr val="C80E1E"/>
          </a:solidFill>
          <a:ln>
            <a:noFill/>
          </a:ln>
        </p:spPr>
        <p:txBody>
          <a:bodyPr rtlCol="0" anchor="ctr"/>
          <a:lstStyle/>
          <a:p>
            <a:pPr algn="ctr"/>
            <a:endParaRPr/>
          </a:p>
        </p:txBody>
      </p:sp>
      <p:sp>
        <p:nvSpPr>
          <p:cNvPr id="20" name="Text"/>
          <p:cNvSpPr txBox="1"/>
          <p:nvPr/>
        </p:nvSpPr>
        <p:spPr>
          <a:xfrm>
            <a:off x="2171700" y="2602915"/>
            <a:ext cx="3209035"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90816"/>
                </a:solidFill>
                <a:latin typeface="Plus Jakarta Sans SemiBold"/>
              </a:rPr>
              <a:t>The same HK$7.7M, with a job for each part</a:t>
            </a:r>
          </a:p>
        </p:txBody>
      </p:sp>
      <p:sp>
        <p:nvSpPr>
          <p:cNvPr id="21" name="Text"/>
          <p:cNvSpPr txBox="1"/>
          <p:nvPr/>
        </p:nvSpPr>
        <p:spPr>
          <a:xfrm>
            <a:off x="457200" y="3378017"/>
            <a:ext cx="1348124"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 job and an owner</a:t>
            </a:r>
          </a:p>
          <a:p>
            <a:pPr algn="l">
              <a:lnSpc>
                <a:spcPts val="1417"/>
              </a:lnSpc>
              <a:spcBef>
                <a:spcPts val="0"/>
              </a:spcBef>
              <a:spcAft>
                <a:spcPts val="0"/>
              </a:spcAft>
            </a:pPr>
            <a:r>
              <a:rPr sz="1050" b="0" i="0" kern="100">
                <a:solidFill>
                  <a:srgbClr val="80606A"/>
                </a:solidFill>
                <a:latin typeface="Plus Jakarta Sans"/>
              </a:rPr>
              <a:t>for each</a:t>
            </a:r>
          </a:p>
        </p:txBody>
      </p:sp>
      <p:sp>
        <p:nvSpPr>
          <p:cNvPr id="22" name="Text"/>
          <p:cNvSpPr txBox="1"/>
          <p:nvPr/>
        </p:nvSpPr>
        <p:spPr>
          <a:xfrm>
            <a:off x="457200" y="3086356"/>
            <a:ext cx="1508721"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With the plan</a:t>
            </a:r>
          </a:p>
        </p:txBody>
      </p:sp>
      <p:sp>
        <p:nvSpPr>
          <p:cNvPr id="23" name="div"/>
          <p:cNvSpPr/>
          <p:nvPr/>
        </p:nvSpPr>
        <p:spPr>
          <a:xfrm>
            <a:off x="2076450" y="3005584"/>
            <a:ext cx="1237804" cy="1600200"/>
          </a:xfrm>
          <a:prstGeom prst="rect">
            <a:avLst/>
          </a:prstGeom>
          <a:solidFill>
            <a:srgbClr val="D3A6AD"/>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4" name="Text"/>
          <p:cNvSpPr txBox="1"/>
          <p:nvPr/>
        </p:nvSpPr>
        <p:spPr>
          <a:xfrm>
            <a:off x="2209800" y="3106168"/>
            <a:ext cx="1173486" cy="228600"/>
          </a:xfrm>
          <a:prstGeom prst="rect">
            <a:avLst/>
          </a:prstGeom>
          <a:noFill/>
        </p:spPr>
        <p:txBody>
          <a:bodyPr wrap="none" lIns="0" tIns="0" rIns="0" bIns="0" anchor="t">
            <a:noAutofit/>
          </a:bodyPr>
          <a:lstStyle/>
          <a:p>
            <a:pPr algn="l">
              <a:lnSpc>
                <a:spcPts val="1800"/>
              </a:lnSpc>
              <a:spcBef>
                <a:spcPts val="0"/>
              </a:spcBef>
              <a:spcAft>
                <a:spcPts val="0"/>
              </a:spcAft>
            </a:pPr>
            <a:r>
              <a:rPr sz="1800" b="0" i="0" kern="100">
                <a:solidFill>
                  <a:srgbClr val="1B1716"/>
                </a:solidFill>
                <a:latin typeface="Plus Jakarta Sans SemiBold"/>
              </a:rPr>
              <a:t>HK$1.0M</a:t>
            </a:r>
          </a:p>
        </p:txBody>
      </p:sp>
      <p:sp>
        <p:nvSpPr>
          <p:cNvPr id="25" name="Text"/>
          <p:cNvSpPr txBox="1"/>
          <p:nvPr/>
        </p:nvSpPr>
        <p:spPr>
          <a:xfrm>
            <a:off x="2209800" y="4114860"/>
            <a:ext cx="701475"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Reserve</a:t>
            </a:r>
          </a:p>
        </p:txBody>
      </p:sp>
      <p:sp>
        <p:nvSpPr>
          <p:cNvPr id="26" name="Text"/>
          <p:cNvSpPr txBox="1"/>
          <p:nvPr/>
        </p:nvSpPr>
        <p:spPr>
          <a:xfrm>
            <a:off x="2209800" y="4299264"/>
            <a:ext cx="78540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alpha val="92000"/>
                  </a:srgbClr>
                </a:solidFill>
                <a:latin typeface="Plus Jakarta Sans"/>
              </a:rPr>
              <a:t>12 months</a:t>
            </a:r>
          </a:p>
        </p:txBody>
      </p:sp>
      <p:sp>
        <p:nvSpPr>
          <p:cNvPr id="27" name="div"/>
          <p:cNvSpPr/>
          <p:nvPr/>
        </p:nvSpPr>
        <p:spPr>
          <a:xfrm>
            <a:off x="3352354" y="3005584"/>
            <a:ext cx="3180904" cy="1600200"/>
          </a:xfrm>
          <a:prstGeom prst="rect">
            <a:avLst/>
          </a:prstGeom>
          <a:gradFill rotWithShape="0">
            <a:gsLst>
              <a:gs pos="0">
                <a:srgbClr val="D40F1F"/>
              </a:gs>
              <a:gs pos="100000">
                <a:srgbClr val="971320"/>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8" name="span"/>
          <p:cNvSpPr/>
          <p:nvPr/>
        </p:nvSpPr>
        <p:spPr>
          <a:xfrm>
            <a:off x="5933182"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29" name="Picture" descr="image.jpg"/>
          <p:cNvPicPr>
            <a:picLocks noChangeAspect="1"/>
          </p:cNvPicPr>
          <p:nvPr/>
        </p:nvPicPr>
        <p:blipFill>
          <a:blip r:embed="rId4">
            <a:alphaModFix amt="92000"/>
          </a:blip>
          <a:stretch>
            <a:fillRect/>
          </a:stretch>
        </p:blipFill>
        <p:spPr>
          <a:xfrm>
            <a:off x="5942707" y="3138934"/>
            <a:ext cx="457200" cy="457200"/>
          </a:xfrm>
          <a:prstGeom prst="ellipse">
            <a:avLst/>
          </a:prstGeom>
        </p:spPr>
      </p:pic>
      <p:sp>
        <p:nvSpPr>
          <p:cNvPr id="30" name="Text"/>
          <p:cNvSpPr txBox="1"/>
          <p:nvPr/>
        </p:nvSpPr>
        <p:spPr>
          <a:xfrm>
            <a:off x="3485704" y="3102739"/>
            <a:ext cx="1637925"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HK$2.57M</a:t>
            </a:r>
          </a:p>
        </p:txBody>
      </p:sp>
      <p:sp>
        <p:nvSpPr>
          <p:cNvPr id="31" name="Text"/>
          <p:cNvSpPr txBox="1"/>
          <p:nvPr/>
        </p:nvSpPr>
        <p:spPr>
          <a:xfrm>
            <a:off x="3485704" y="4114860"/>
            <a:ext cx="123138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Chloe's degree</a:t>
            </a:r>
          </a:p>
        </p:txBody>
      </p:sp>
      <p:sp>
        <p:nvSpPr>
          <p:cNvPr id="32" name="Text"/>
          <p:cNvSpPr txBox="1"/>
          <p:nvPr/>
        </p:nvSpPr>
        <p:spPr>
          <a:xfrm>
            <a:off x="3485704" y="4299264"/>
            <a:ext cx="2336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funded today, wherever she goes</a:t>
            </a:r>
          </a:p>
        </p:txBody>
      </p:sp>
      <p:sp>
        <p:nvSpPr>
          <p:cNvPr id="33" name="div"/>
          <p:cNvSpPr/>
          <p:nvPr/>
        </p:nvSpPr>
        <p:spPr>
          <a:xfrm>
            <a:off x="6571357" y="3005584"/>
            <a:ext cx="2562523" cy="1600200"/>
          </a:xfrm>
          <a:prstGeom prst="rect">
            <a:avLst/>
          </a:prstGeom>
          <a:gradFill rotWithShape="0">
            <a:gsLst>
              <a:gs pos="0">
                <a:srgbClr val="C41627"/>
              </a:gs>
              <a:gs pos="100000">
                <a:srgbClr val="700E19"/>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4" name="span"/>
          <p:cNvSpPr/>
          <p:nvPr/>
        </p:nvSpPr>
        <p:spPr>
          <a:xfrm>
            <a:off x="8533805"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35" name="Picture" descr="image.jpg"/>
          <p:cNvPicPr>
            <a:picLocks noChangeAspect="1"/>
          </p:cNvPicPr>
          <p:nvPr/>
        </p:nvPicPr>
        <p:blipFill>
          <a:blip r:embed="rId5">
            <a:alphaModFix amt="92000"/>
          </a:blip>
          <a:stretch>
            <a:fillRect/>
          </a:stretch>
        </p:blipFill>
        <p:spPr>
          <a:xfrm>
            <a:off x="8543330" y="3138934"/>
            <a:ext cx="457200" cy="457200"/>
          </a:xfrm>
          <a:prstGeom prst="ellipse">
            <a:avLst/>
          </a:prstGeom>
        </p:spPr>
      </p:pic>
      <p:sp>
        <p:nvSpPr>
          <p:cNvPr id="36" name="Text"/>
          <p:cNvSpPr txBox="1"/>
          <p:nvPr/>
        </p:nvSpPr>
        <p:spPr>
          <a:xfrm>
            <a:off x="6704707"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37" name="Text"/>
          <p:cNvSpPr txBox="1"/>
          <p:nvPr/>
        </p:nvSpPr>
        <p:spPr>
          <a:xfrm>
            <a:off x="6704707" y="3934926"/>
            <a:ext cx="138156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Adrian's portfolio</a:t>
            </a:r>
          </a:p>
        </p:txBody>
      </p:sp>
      <p:sp>
        <p:nvSpPr>
          <p:cNvPr id="38" name="Text"/>
          <p:cNvSpPr txBox="1"/>
          <p:nvPr/>
        </p:nvSpPr>
        <p:spPr>
          <a:xfrm>
            <a:off x="6704707" y="4119330"/>
            <a:ext cx="247845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40% shares, 55% bonds; Treasuries</a:t>
            </a:r>
          </a:p>
          <a:p>
            <a:pPr algn="l">
              <a:lnSpc>
                <a:spcPts val="1417"/>
              </a:lnSpc>
              <a:spcBef>
                <a:spcPts val="0"/>
              </a:spcBef>
              <a:spcAft>
                <a:spcPts val="0"/>
              </a:spcAft>
            </a:pPr>
            <a:r>
              <a:rPr sz="1050" b="0" i="0" kern="100">
                <a:solidFill>
                  <a:srgbClr val="FFFFFF">
                    <a:alpha val="92000"/>
                  </a:srgbClr>
                </a:solidFill>
                <a:latin typeface="Plus Jakarta Sans"/>
              </a:rPr>
              <a:t>from 2037</a:t>
            </a:r>
          </a:p>
        </p:txBody>
      </p:sp>
      <p:sp>
        <p:nvSpPr>
          <p:cNvPr id="39" name="div"/>
          <p:cNvSpPr/>
          <p:nvPr/>
        </p:nvSpPr>
        <p:spPr>
          <a:xfrm>
            <a:off x="9171980" y="3005584"/>
            <a:ext cx="2562523" cy="1600200"/>
          </a:xfrm>
          <a:prstGeom prst="rect">
            <a:avLst/>
          </a:prstGeom>
          <a:gradFill rotWithShape="0">
            <a:gsLst>
              <a:gs pos="0">
                <a:srgbClr val="971320"/>
              </a:gs>
              <a:gs pos="100000">
                <a:srgbClr val="500911"/>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0" name="span"/>
          <p:cNvSpPr/>
          <p:nvPr/>
        </p:nvSpPr>
        <p:spPr>
          <a:xfrm>
            <a:off x="11134427"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41" name="Picture" descr="image.jpg"/>
          <p:cNvPicPr>
            <a:picLocks noChangeAspect="1"/>
          </p:cNvPicPr>
          <p:nvPr/>
        </p:nvPicPr>
        <p:blipFill>
          <a:blip r:embed="rId6">
            <a:alphaModFix amt="92000"/>
          </a:blip>
          <a:stretch>
            <a:fillRect/>
          </a:stretch>
        </p:blipFill>
        <p:spPr>
          <a:xfrm>
            <a:off x="11143952" y="3138934"/>
            <a:ext cx="457200" cy="457200"/>
          </a:xfrm>
          <a:prstGeom prst="ellipse">
            <a:avLst/>
          </a:prstGeom>
        </p:spPr>
      </p:pic>
      <p:sp>
        <p:nvSpPr>
          <p:cNvPr id="42" name="Text"/>
          <p:cNvSpPr txBox="1"/>
          <p:nvPr/>
        </p:nvSpPr>
        <p:spPr>
          <a:xfrm>
            <a:off x="9305330"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43" name="Text"/>
          <p:cNvSpPr txBox="1"/>
          <p:nvPr/>
        </p:nvSpPr>
        <p:spPr>
          <a:xfrm>
            <a:off x="9305330" y="3934926"/>
            <a:ext cx="148931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Carmen's portfolio</a:t>
            </a:r>
          </a:p>
        </p:txBody>
      </p:sp>
      <p:sp>
        <p:nvSpPr>
          <p:cNvPr id="44" name="Text"/>
          <p:cNvSpPr txBox="1"/>
          <p:nvPr/>
        </p:nvSpPr>
        <p:spPr>
          <a:xfrm>
            <a:off x="9305330" y="4119330"/>
            <a:ext cx="2209008"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60% shares, 35% bonds; led by</a:t>
            </a:r>
          </a:p>
          <a:p>
            <a:pPr algn="l">
              <a:lnSpc>
                <a:spcPts val="1417"/>
              </a:lnSpc>
              <a:spcBef>
                <a:spcPts val="0"/>
              </a:spcBef>
              <a:spcAft>
                <a:spcPts val="0"/>
              </a:spcAft>
            </a:pPr>
            <a:r>
              <a:rPr sz="1050" b="0" i="0" kern="100">
                <a:solidFill>
                  <a:srgbClr val="FFFFFF">
                    <a:alpha val="92000"/>
                  </a:srgbClr>
                </a:solidFill>
                <a:latin typeface="Plus Jakarta Sans"/>
              </a:rPr>
              <a:t>ESG funds</a:t>
            </a:r>
          </a:p>
        </p:txBody>
      </p:sp>
      <p:sp>
        <p:nvSpPr>
          <p:cNvPr id="45" name="div"/>
          <p:cNvSpPr/>
          <p:nvPr/>
        </p:nvSpPr>
        <p:spPr>
          <a:xfrm>
            <a:off x="2081212" y="4828282"/>
            <a:ext cx="4705350" cy="619125"/>
          </a:xfrm>
          <a:prstGeom prst="rect">
            <a:avLst/>
          </a:prstGeom>
          <a:noFill/>
          <a:ln w="9525">
            <a:solidFill>
              <a:srgbClr val="EFD9DC"/>
            </a:solidFill>
            <a:prstDash val="dash"/>
          </a:ln>
        </p:spPr>
        <p:txBody>
          <a:bodyPr rtlCol="0" anchor="ctr"/>
          <a:lstStyle/>
          <a:p>
            <a:pPr algn="ctr"/>
            <a:endParaRPr/>
          </a:p>
        </p:txBody>
      </p:sp>
      <p:sp>
        <p:nvSpPr>
          <p:cNvPr id="46" name="span"/>
          <p:cNvSpPr/>
          <p:nvPr/>
        </p:nvSpPr>
        <p:spPr>
          <a:xfrm>
            <a:off x="2219325" y="4928295"/>
            <a:ext cx="419100" cy="4191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7" name="Picture" descr="image.jpg"/>
          <p:cNvPicPr>
            <a:picLocks noChangeAspect="1"/>
          </p:cNvPicPr>
          <p:nvPr/>
        </p:nvPicPr>
        <p:blipFill>
          <a:blip r:embed="rId7"/>
          <a:stretch>
            <a:fillRect/>
          </a:stretch>
        </p:blipFill>
        <p:spPr>
          <a:xfrm>
            <a:off x="2219325" y="4928295"/>
            <a:ext cx="419100" cy="419100"/>
          </a:xfrm>
          <a:prstGeom prst="ellipse">
            <a:avLst/>
          </a:prstGeom>
        </p:spPr>
      </p:pic>
      <p:sp>
        <p:nvSpPr>
          <p:cNvPr id="48" name="Text"/>
          <p:cNvSpPr txBox="1"/>
          <p:nvPr/>
        </p:nvSpPr>
        <p:spPr>
          <a:xfrm>
            <a:off x="2771775" y="4930438"/>
            <a:ext cx="385678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Ryan's own plan:</a:t>
            </a:r>
            <a:r>
              <a:rPr sz="1125" b="0" i="0" kern="100">
                <a:solidFill>
                  <a:srgbClr val="80606A"/>
                </a:solidFill>
                <a:latin typeface="Plus Jakarta Sans"/>
              </a:rPr>
              <a:t> he saves 30% of his pay, in a plan of</a:t>
            </a:r>
          </a:p>
          <a:p>
            <a:pPr algn="l">
              <a:lnSpc>
                <a:spcPts val="1518"/>
              </a:lnSpc>
              <a:spcBef>
                <a:spcPts val="0"/>
              </a:spcBef>
              <a:spcAft>
                <a:spcPts val="0"/>
              </a:spcAft>
            </a:pPr>
            <a:r>
              <a:rPr sz="1125" b="0" i="0" kern="100">
                <a:solidFill>
                  <a:srgbClr val="80606A"/>
                </a:solidFill>
                <a:latin typeface="Plus Jakarta Sans"/>
              </a:rPr>
              <a:t>his own</a:t>
            </a:r>
          </a:p>
        </p:txBody>
      </p:sp>
      <p:sp>
        <p:nvSpPr>
          <p:cNvPr id="49" name="div"/>
          <p:cNvSpPr/>
          <p:nvPr/>
        </p:nvSpPr>
        <p:spPr>
          <a:xfrm>
            <a:off x="7024688" y="4828282"/>
            <a:ext cx="4705350" cy="619125"/>
          </a:xfrm>
          <a:prstGeom prst="rect">
            <a:avLst/>
          </a:prstGeom>
          <a:noFill/>
          <a:ln w="9525">
            <a:solidFill>
              <a:srgbClr val="EFD9DC"/>
            </a:solidFill>
            <a:prstDash val="dash"/>
          </a:ln>
        </p:spPr>
        <p:txBody>
          <a:bodyPr rtlCol="0" anchor="ctr"/>
          <a:lstStyle/>
          <a:p>
            <a:pPr algn="ctr"/>
            <a:endParaRPr/>
          </a:p>
        </p:txBody>
      </p:sp>
      <p:sp>
        <p:nvSpPr>
          <p:cNvPr id="50" name="Text"/>
          <p:cNvSpPr txBox="1"/>
          <p:nvPr/>
        </p:nvSpPr>
        <p:spPr>
          <a:xfrm>
            <a:off x="7162800" y="4977825"/>
            <a:ext cx="131815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HK$45K</a:t>
            </a:r>
          </a:p>
        </p:txBody>
      </p:sp>
      <p:sp>
        <p:nvSpPr>
          <p:cNvPr id="51" name="Text"/>
          <p:cNvSpPr txBox="1"/>
          <p:nvPr/>
        </p:nvSpPr>
        <p:spPr>
          <a:xfrm>
            <a:off x="8431857" y="4930438"/>
            <a:ext cx="328617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a year less in fees:</a:t>
            </a:r>
            <a:r>
              <a:rPr sz="1125" b="0" i="0" kern="100">
                <a:solidFill>
                  <a:srgbClr val="80606A"/>
                </a:solidFill>
                <a:latin typeface="Plus Jakarta Sans"/>
              </a:rPr>
              <a:t> broad index funds instead</a:t>
            </a:r>
          </a:p>
          <a:p>
            <a:pPr algn="l">
              <a:lnSpc>
                <a:spcPts val="1518"/>
              </a:lnSpc>
              <a:spcBef>
                <a:spcPts val="0"/>
              </a:spcBef>
              <a:spcAft>
                <a:spcPts val="0"/>
              </a:spcAft>
            </a:pPr>
            <a:r>
              <a:rPr sz="1125" b="0" i="0" kern="100">
                <a:solidFill>
                  <a:srgbClr val="80606A"/>
                </a:solidFill>
                <a:latin typeface="Plus Jakarta Sans"/>
              </a:rPr>
              <a:t>of costly funds</a:t>
            </a:r>
          </a:p>
        </p:txBody>
      </p:sp>
      <p:sp>
        <p:nvSpPr>
          <p:cNvPr id="52" name="Text"/>
          <p:cNvSpPr txBox="1"/>
          <p:nvPr/>
        </p:nvSpPr>
        <p:spPr>
          <a:xfrm>
            <a:off x="457200" y="5550849"/>
            <a:ext cx="7597542"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Chloe's HK$2.57M stays in deposits and short bonds: safe for 2028, but it earns less than shares would.</a:t>
            </a:r>
          </a:p>
        </p:txBody>
      </p:sp>
      <p:sp>
        <p:nvSpPr>
          <p:cNvPr id="53"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4" name="Text"/>
          <p:cNvSpPr txBox="1"/>
          <p:nvPr/>
        </p:nvSpPr>
        <p:spPr>
          <a:xfrm>
            <a:off x="2387865" y="5984558"/>
            <a:ext cx="741612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Chloe's degree is funded today, and each parent's money fits their own risk.</a:t>
            </a:r>
          </a:p>
        </p:txBody>
      </p:sp>
      <p:sp>
        <p:nvSpPr>
          <p:cNvPr id="55" name="Text"/>
          <p:cNvSpPr txBox="1"/>
          <p:nvPr/>
        </p:nvSpPr>
        <p:spPr>
          <a:xfrm>
            <a:off x="457200" y="6452104"/>
            <a:ext cx="641751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Today: the case's statement. The plan: written case §4 and §5 (Adrian 40/55/5, Carmen 60/35/5, Figure 14); fees</a:t>
            </a:r>
          </a:p>
          <a:p>
            <a:pPr algn="l">
              <a:lnSpc>
                <a:spcPts val="1170"/>
              </a:lnSpc>
              <a:spcBef>
                <a:spcPts val="0"/>
              </a:spcBef>
              <a:spcAft>
                <a:spcPts val="0"/>
              </a:spcAft>
            </a:pPr>
            <a:r>
              <a:rPr sz="900" b="0" i="0" kern="100">
                <a:solidFill>
                  <a:srgbClr val="80606A"/>
                </a:solidFill>
                <a:latin typeface="Plus Jakarta Sans"/>
              </a:rPr>
              <a:t>about 1.5% today against about 0.5% in index funds.</a:t>
            </a:r>
          </a:p>
        </p:txBody>
      </p:sp>
      <p:sp>
        <p:nvSpPr>
          <p:cNvPr id="56" name="Text"/>
          <p:cNvSpPr txBox="1"/>
          <p:nvPr/>
        </p:nvSpPr>
        <p:spPr>
          <a:xfrm>
            <a:off x="6671667"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57" name="Text"/>
          <p:cNvSpPr txBox="1"/>
          <p:nvPr/>
        </p:nvSpPr>
        <p:spPr>
          <a:xfrm>
            <a:off x="761791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58" name="Text"/>
          <p:cNvSpPr txBox="1"/>
          <p:nvPr/>
        </p:nvSpPr>
        <p:spPr>
          <a:xfrm>
            <a:off x="8478143"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9" name="Text"/>
          <p:cNvSpPr txBox="1"/>
          <p:nvPr/>
        </p:nvSpPr>
        <p:spPr>
          <a:xfrm>
            <a:off x="9433768"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0" name="Text"/>
          <p:cNvSpPr txBox="1"/>
          <p:nvPr/>
        </p:nvSpPr>
        <p:spPr>
          <a:xfrm>
            <a:off x="1023178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1" name="Text"/>
          <p:cNvSpPr txBox="1"/>
          <p:nvPr/>
        </p:nvSpPr>
        <p:spPr>
          <a:xfrm>
            <a:off x="11027122"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2" name="Text"/>
          <p:cNvSpPr txBox="1"/>
          <p:nvPr/>
        </p:nvSpPr>
        <p:spPr>
          <a:xfrm>
            <a:off x="11405443" y="6535674"/>
            <a:ext cx="46341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8 / 15</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Values and innovation, with guardrails: ESG at 25%, crypto sized for each person">
    <p:spTree>
      <p:nvGrpSpPr>
        <p:cNvPr id="1" name=""/>
        <p:cNvGrpSpPr/>
        <p:nvPr/>
      </p:nvGrpSpPr>
      <p:grpSpPr>
        <a:xfrm>
          <a:off x="0" y="0"/>
          <a:ext cx="0" cy="0"/>
          <a:chOff x="0" y="0"/>
          <a:chExt cx="0" cy="0"/>
        </a:xfrm>
      </p:grpSpPr>
      <p:sp>
        <p:nvSpPr>
          <p:cNvPr id="2" name="Rule"/>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ext"/>
          <p:cNvSpPr txBox="1"/>
          <p:nvPr/>
        </p:nvSpPr>
        <p:spPr>
          <a:xfrm>
            <a:off x="638175" y="324421"/>
            <a:ext cx="203026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5: Values and innovation</a:t>
            </a:r>
          </a:p>
        </p:txBody>
      </p:sp>
      <p:sp>
        <p:nvSpPr>
          <p:cNvPr id="5" name="Text"/>
          <p:cNvSpPr txBox="1"/>
          <p:nvPr/>
        </p:nvSpPr>
        <p:spPr>
          <a:xfrm>
            <a:off x="638175" y="529852"/>
            <a:ext cx="5750829"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Values and innovation, with guardrails:</a:t>
            </a:r>
          </a:p>
          <a:p>
            <a:pPr algn="l">
              <a:lnSpc>
                <a:spcPts val="2523"/>
              </a:lnSpc>
              <a:spcBef>
                <a:spcPts val="0"/>
              </a:spcBef>
              <a:spcAft>
                <a:spcPts val="0"/>
              </a:spcAft>
            </a:pPr>
            <a:r>
              <a:rPr sz="2175" b="1" i="0" kern="100" spc="-38">
                <a:solidFill>
                  <a:srgbClr val="1B1716"/>
                </a:solidFill>
                <a:latin typeface="Plus Jakarta Sans"/>
              </a:rPr>
              <a:t>ESG at 25%, crypto sized for each person</a:t>
            </a:r>
          </a:p>
        </p:txBody>
      </p:sp>
      <p:sp>
        <p:nvSpPr>
          <p:cNvPr id="6" name="Rule"/>
          <p:cNvSpPr/>
          <p:nvPr/>
        </p:nvSpPr>
        <p:spPr>
          <a:xfrm>
            <a:off x="457200" y="1740098"/>
            <a:ext cx="5372100" cy="9525"/>
          </a:xfrm>
          <a:prstGeom prst="rect">
            <a:avLst/>
          </a:prstGeom>
          <a:solidFill>
            <a:srgbClr val="1B1716"/>
          </a:solidFill>
          <a:ln>
            <a:noFill/>
          </a:ln>
        </p:spPr>
        <p:txBody>
          <a:bodyPr rtlCol="0" anchor="ctr"/>
          <a:lstStyle/>
          <a:p>
            <a:pPr algn="ctr"/>
            <a:endParaRPr/>
          </a:p>
        </p:txBody>
      </p:sp>
      <p:sp>
        <p:nvSpPr>
          <p:cNvPr id="7" name="Text"/>
          <p:cNvSpPr txBox="1"/>
          <p:nvPr/>
        </p:nvSpPr>
        <p:spPr>
          <a:xfrm>
            <a:off x="457200" y="1445824"/>
            <a:ext cx="339219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Carmen's values: ESG from 11% to 25%…</a:t>
            </a:r>
          </a:p>
        </p:txBody>
      </p:sp>
      <p:sp>
        <p:nvSpPr>
          <p:cNvPr id="8" name="div"/>
          <p:cNvSpPr/>
          <p:nvPr/>
        </p:nvSpPr>
        <p:spPr>
          <a:xfrm>
            <a:off x="3984129" y="2149673"/>
            <a:ext cx="614958" cy="1257300"/>
          </a:xfrm>
          <a:prstGeom prst="rect">
            <a:avLst/>
          </a:prstGeom>
          <a:solidFill>
            <a:srgbClr val="F8EFF0"/>
          </a:solidFill>
          <a:ln>
            <a:noFill/>
          </a:ln>
        </p:spPr>
        <p:txBody>
          <a:bodyPr rtlCol="0" anchor="ctr"/>
          <a:lstStyle/>
          <a:p>
            <a:pPr algn="ctr"/>
            <a:endParaRPr/>
          </a:p>
        </p:txBody>
      </p:sp>
      <p:cxnSp>
        <p:nvCxnSpPr>
          <p:cNvPr id="9" name="Rule"/>
          <p:cNvCxnSpPr/>
          <p:nvPr/>
        </p:nvCxnSpPr>
        <p:spPr>
          <a:xfrm>
            <a:off x="4594324"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cxnSp>
        <p:nvCxnSpPr>
          <p:cNvPr id="10" name="Rule"/>
          <p:cNvCxnSpPr/>
          <p:nvPr/>
        </p:nvCxnSpPr>
        <p:spPr>
          <a:xfrm>
            <a:off x="3988891"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1" name="Text"/>
          <p:cNvSpPr txBox="1"/>
          <p:nvPr/>
        </p:nvSpPr>
        <p:spPr>
          <a:xfrm>
            <a:off x="3502372" y="1941647"/>
            <a:ext cx="178747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SemiBold"/>
              </a:rPr>
              <a:t>their goal, 20–25% </a:t>
            </a:r>
            <a:r>
              <a:rPr sz="900" b="0" i="1" kern="100">
                <a:solidFill>
                  <a:srgbClr val="80606A"/>
                </a:solidFill>
                <a:latin typeface="Plus Jakarta Sans"/>
              </a:rPr>
              <a:t>(case)</a:t>
            </a:r>
          </a:p>
        </p:txBody>
      </p:sp>
      <p:sp>
        <p:nvSpPr>
          <p:cNvPr id="12" name="i"/>
          <p:cNvSpPr/>
          <p:nvPr/>
        </p:nvSpPr>
        <p:spPr>
          <a:xfrm>
            <a:off x="457200" y="3549848"/>
            <a:ext cx="133350" cy="133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3" name="Text"/>
          <p:cNvSpPr txBox="1"/>
          <p:nvPr/>
        </p:nvSpPr>
        <p:spPr>
          <a:xfrm>
            <a:off x="666750" y="3503557"/>
            <a:ext cx="13990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World ESG index</a:t>
            </a:r>
          </a:p>
        </p:txBody>
      </p:sp>
      <p:sp>
        <p:nvSpPr>
          <p:cNvPr id="14" name="Text"/>
          <p:cNvSpPr txBox="1"/>
          <p:nvPr/>
        </p:nvSpPr>
        <p:spPr>
          <a:xfrm>
            <a:off x="2057400" y="3509272"/>
            <a:ext cx="918707"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HK$1.49M</a:t>
            </a:r>
          </a:p>
        </p:txBody>
      </p:sp>
      <p:sp>
        <p:nvSpPr>
          <p:cNvPr id="15" name="Text"/>
          <p:cNvSpPr txBox="1"/>
          <p:nvPr/>
        </p:nvSpPr>
        <p:spPr>
          <a:xfrm>
            <a:off x="2971800" y="3508986"/>
            <a:ext cx="15877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the global shares core</a:t>
            </a:r>
          </a:p>
        </p:txBody>
      </p:sp>
      <p:sp>
        <p:nvSpPr>
          <p:cNvPr id="16" name="i"/>
          <p:cNvSpPr/>
          <p:nvPr/>
        </p:nvSpPr>
        <p:spPr>
          <a:xfrm>
            <a:off x="457200" y="3822204"/>
            <a:ext cx="133350" cy="133350"/>
          </a:xfrm>
          <a:prstGeom prst="rect">
            <a:avLst/>
          </a:prstGeom>
          <a:solidFill>
            <a:srgbClr val="B4535D"/>
          </a:solidFill>
          <a:ln>
            <a:noFill/>
          </a:ln>
        </p:spPr>
        <p:txBody>
          <a:bodyPr rtlCol="0" anchor="ctr"/>
          <a:lstStyle/>
          <a:p>
            <a:pPr algn="ctr"/>
            <a:endParaRPr/>
          </a:p>
        </p:txBody>
      </p:sp>
      <p:sp>
        <p:nvSpPr>
          <p:cNvPr id="17" name="Text"/>
          <p:cNvSpPr txBox="1"/>
          <p:nvPr/>
        </p:nvSpPr>
        <p:spPr>
          <a:xfrm>
            <a:off x="666750" y="3775912"/>
            <a:ext cx="141280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MPF low-carbon</a:t>
            </a:r>
          </a:p>
        </p:txBody>
      </p:sp>
      <p:sp>
        <p:nvSpPr>
          <p:cNvPr id="18" name="Text"/>
          <p:cNvSpPr txBox="1"/>
          <p:nvPr/>
        </p:nvSpPr>
        <p:spPr>
          <a:xfrm>
            <a:off x="2057400" y="3781627"/>
            <a:ext cx="972818"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HK$0.84M</a:t>
            </a:r>
          </a:p>
        </p:txBody>
      </p:sp>
      <p:sp>
        <p:nvSpPr>
          <p:cNvPr id="19" name="Text"/>
          <p:cNvSpPr txBox="1"/>
          <p:nvPr/>
        </p:nvSpPr>
        <p:spPr>
          <a:xfrm>
            <a:off x="2971800" y="3781342"/>
            <a:ext cx="17811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half of each parent's MPF</a:t>
            </a:r>
          </a:p>
        </p:txBody>
      </p:sp>
      <p:sp>
        <p:nvSpPr>
          <p:cNvPr id="20" name="i"/>
          <p:cNvSpPr/>
          <p:nvPr/>
        </p:nvSpPr>
        <p:spPr>
          <a:xfrm>
            <a:off x="457200" y="4094559"/>
            <a:ext cx="133350" cy="133350"/>
          </a:xfrm>
          <a:prstGeom prst="rect">
            <a:avLst/>
          </a:prstGeom>
          <a:solidFill>
            <a:srgbClr val="D3A6AD"/>
          </a:solidFill>
          <a:ln>
            <a:noFill/>
          </a:ln>
        </p:spPr>
        <p:txBody>
          <a:bodyPr rtlCol="0" anchor="ctr"/>
          <a:lstStyle/>
          <a:p>
            <a:pPr algn="ctr"/>
            <a:endParaRPr/>
          </a:p>
        </p:txBody>
      </p:sp>
      <p:sp>
        <p:nvSpPr>
          <p:cNvPr id="21" name="Text"/>
          <p:cNvSpPr txBox="1"/>
          <p:nvPr/>
        </p:nvSpPr>
        <p:spPr>
          <a:xfrm>
            <a:off x="666750" y="4048268"/>
            <a:ext cx="11245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Green bonds</a:t>
            </a:r>
          </a:p>
        </p:txBody>
      </p:sp>
      <p:sp>
        <p:nvSpPr>
          <p:cNvPr id="22" name="Text"/>
          <p:cNvSpPr txBox="1"/>
          <p:nvPr/>
        </p:nvSpPr>
        <p:spPr>
          <a:xfrm>
            <a:off x="2057400" y="4053983"/>
            <a:ext cx="928961"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HK$0.31M</a:t>
            </a:r>
          </a:p>
        </p:txBody>
      </p:sp>
      <p:sp>
        <p:nvSpPr>
          <p:cNvPr id="23" name="Text"/>
          <p:cNvSpPr txBox="1"/>
          <p:nvPr/>
        </p:nvSpPr>
        <p:spPr>
          <a:xfrm>
            <a:off x="2971800" y="4053697"/>
            <a:ext cx="12664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part of the bonds</a:t>
            </a:r>
          </a:p>
        </p:txBody>
      </p:sp>
      <p:sp>
        <p:nvSpPr>
          <p:cNvPr id="24" name="Rule"/>
          <p:cNvSpPr/>
          <p:nvPr/>
        </p:nvSpPr>
        <p:spPr>
          <a:xfrm>
            <a:off x="457200" y="4424065"/>
            <a:ext cx="5372100" cy="9525"/>
          </a:xfrm>
          <a:prstGeom prst="rect">
            <a:avLst/>
          </a:prstGeom>
          <a:solidFill>
            <a:srgbClr val="ECDADD"/>
          </a:solidFill>
          <a:ln>
            <a:noFill/>
          </a:ln>
        </p:spPr>
        <p:txBody>
          <a:bodyPr rtlCol="0" anchor="ctr"/>
          <a:lstStyle/>
          <a:p>
            <a:pPr algn="ctr"/>
            <a:endParaRPr/>
          </a:p>
        </p:txBody>
      </p:sp>
      <p:sp>
        <p:nvSpPr>
          <p:cNvPr id="25" name="Text"/>
          <p:cNvSpPr txBox="1"/>
          <p:nvPr/>
        </p:nvSpPr>
        <p:spPr>
          <a:xfrm>
            <a:off x="457200" y="4575893"/>
            <a:ext cx="5617524"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Like for like, not a new bet:</a:t>
            </a:r>
            <a:r>
              <a:rPr sz="1200" b="0" i="0" kern="100">
                <a:solidFill>
                  <a:srgbClr val="1B1716"/>
                </a:solidFill>
                <a:latin typeface="Plus Jakarta Sans"/>
              </a:rPr>
              <a:t> each fund replaces what it sits in, at the same</a:t>
            </a:r>
          </a:p>
          <a:p>
            <a:pPr algn="l">
              <a:lnSpc>
                <a:spcPts val="1739"/>
              </a:lnSpc>
              <a:spcBef>
                <a:spcPts val="0"/>
              </a:spcBef>
              <a:spcAft>
                <a:spcPts val="0"/>
              </a:spcAft>
            </a:pPr>
            <a:r>
              <a:rPr sz="1200" b="0" i="0" kern="100">
                <a:solidFill>
                  <a:srgbClr val="1B1716"/>
                </a:solidFill>
                <a:latin typeface="Plus Jakarta Sans"/>
              </a:rPr>
              <a:t>risk and expected return.</a:t>
            </a:r>
          </a:p>
        </p:txBody>
      </p:sp>
      <p:sp>
        <p:nvSpPr>
          <p:cNvPr id="26" name="Text"/>
          <p:cNvSpPr txBox="1"/>
          <p:nvPr/>
        </p:nvSpPr>
        <p:spPr>
          <a:xfrm>
            <a:off x="457200" y="5050191"/>
            <a:ext cx="3350544"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slightly higher fees, a narrower choice.</a:t>
            </a:r>
          </a:p>
        </p:txBody>
      </p:sp>
      <p:sp>
        <p:nvSpPr>
          <p:cNvPr id="27" name="Rule"/>
          <p:cNvSpPr/>
          <p:nvPr/>
        </p:nvSpPr>
        <p:spPr>
          <a:xfrm>
            <a:off x="457200" y="5385792"/>
            <a:ext cx="28575" cy="258961"/>
          </a:xfrm>
          <a:prstGeom prst="rect">
            <a:avLst/>
          </a:prstGeom>
          <a:solidFill>
            <a:srgbClr val="971320"/>
          </a:solidFill>
          <a:ln>
            <a:noFill/>
          </a:ln>
        </p:spPr>
        <p:txBody>
          <a:bodyPr rtlCol="0" anchor="ctr"/>
          <a:lstStyle/>
          <a:p>
            <a:pPr algn="ctr"/>
            <a:endParaRPr/>
          </a:p>
        </p:txBody>
      </p:sp>
      <p:sp>
        <p:nvSpPr>
          <p:cNvPr id="28" name="Text"/>
          <p:cNvSpPr txBox="1"/>
          <p:nvPr/>
        </p:nvSpPr>
        <p:spPr>
          <a:xfrm>
            <a:off x="619125" y="5394746"/>
            <a:ext cx="5368739" cy="220980"/>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Tested, not trusted:</a:t>
            </a:r>
            <a:r>
              <a:rPr sz="1200" b="0" i="0" kern="100">
                <a:solidFill>
                  <a:srgbClr val="1B1716"/>
                </a:solidFill>
                <a:latin typeface="Plus Jakarta Sans"/>
              </a:rPr>
              <a:t> two ESG ratings per equity fund, or it is replaced.</a:t>
            </a:r>
          </a:p>
        </p:txBody>
      </p:sp>
      <p:sp>
        <p:nvSpPr>
          <p:cNvPr id="29" name="Rule"/>
          <p:cNvSpPr/>
          <p:nvPr/>
        </p:nvSpPr>
        <p:spPr>
          <a:xfrm>
            <a:off x="6362700" y="1740098"/>
            <a:ext cx="5372100" cy="9525"/>
          </a:xfrm>
          <a:prstGeom prst="rect">
            <a:avLst/>
          </a:prstGeom>
          <a:solidFill>
            <a:srgbClr val="1B1716"/>
          </a:solidFill>
          <a:ln>
            <a:noFill/>
          </a:ln>
        </p:spPr>
        <p:txBody>
          <a:bodyPr rtlCol="0" anchor="ctr"/>
          <a:lstStyle/>
          <a:p>
            <a:pPr algn="ctr"/>
            <a:endParaRPr/>
          </a:p>
        </p:txBody>
      </p:sp>
      <p:sp>
        <p:nvSpPr>
          <p:cNvPr id="30" name="Text"/>
          <p:cNvSpPr txBox="1"/>
          <p:nvPr/>
        </p:nvSpPr>
        <p:spPr>
          <a:xfrm>
            <a:off x="6362700" y="1445824"/>
            <a:ext cx="477493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Ryan's conviction: kept, and sized down as he saves</a:t>
            </a:r>
          </a:p>
        </p:txBody>
      </p:sp>
      <p:sp>
        <p:nvSpPr>
          <p:cNvPr id="31" name="Rule"/>
          <p:cNvSpPr/>
          <p:nvPr/>
        </p:nvSpPr>
        <p:spPr>
          <a:xfrm>
            <a:off x="6362700" y="2322909"/>
            <a:ext cx="5372100" cy="9525"/>
          </a:xfrm>
          <a:prstGeom prst="rect">
            <a:avLst/>
          </a:prstGeom>
          <a:solidFill>
            <a:srgbClr val="ECDADD"/>
          </a:solidFill>
          <a:ln>
            <a:noFill/>
          </a:ln>
        </p:spPr>
        <p:txBody>
          <a:bodyPr rtlCol="0" anchor="ctr"/>
          <a:lstStyle/>
          <a:p>
            <a:pPr algn="ctr"/>
            <a:endParaRPr/>
          </a:p>
        </p:txBody>
      </p:sp>
      <p:sp>
        <p:nvSpPr>
          <p:cNvPr id="32" name="span"/>
          <p:cNvSpPr/>
          <p:nvPr/>
        </p:nvSpPr>
        <p:spPr>
          <a:xfrm>
            <a:off x="636270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3" name="Picture" descr="image.jpg"/>
          <p:cNvPicPr>
            <a:picLocks noChangeAspect="1"/>
          </p:cNvPicPr>
          <p:nvPr/>
        </p:nvPicPr>
        <p:blipFill>
          <a:blip r:embed="rId4"/>
          <a:stretch>
            <a:fillRect/>
          </a:stretch>
        </p:blipFill>
        <p:spPr>
          <a:xfrm>
            <a:off x="6362700" y="1863923"/>
            <a:ext cx="361950" cy="361950"/>
          </a:xfrm>
          <a:prstGeom prst="ellipse">
            <a:avLst/>
          </a:prstGeom>
        </p:spPr>
      </p:pic>
      <p:sp>
        <p:nvSpPr>
          <p:cNvPr id="34" name="Text"/>
          <p:cNvSpPr txBox="1"/>
          <p:nvPr/>
        </p:nvSpPr>
        <p:spPr>
          <a:xfrm>
            <a:off x="6819900" y="1850017"/>
            <a:ext cx="617232"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Adrian</a:t>
            </a:r>
          </a:p>
        </p:txBody>
      </p:sp>
      <p:sp>
        <p:nvSpPr>
          <p:cNvPr id="35" name="Text"/>
          <p:cNvSpPr txBox="1"/>
          <p:nvPr/>
        </p:nvSpPr>
        <p:spPr>
          <a:xfrm>
            <a:off x="681990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36" name="span"/>
          <p:cNvSpPr/>
          <p:nvPr/>
        </p:nvSpPr>
        <p:spPr>
          <a:xfrm>
            <a:off x="8197751"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descr="image.jpg"/>
          <p:cNvPicPr>
            <a:picLocks noChangeAspect="1"/>
          </p:cNvPicPr>
          <p:nvPr/>
        </p:nvPicPr>
        <p:blipFill>
          <a:blip r:embed="rId5"/>
          <a:stretch>
            <a:fillRect/>
          </a:stretch>
        </p:blipFill>
        <p:spPr>
          <a:xfrm>
            <a:off x="8197751" y="1863923"/>
            <a:ext cx="361950" cy="361950"/>
          </a:xfrm>
          <a:prstGeom prst="ellipse">
            <a:avLst/>
          </a:prstGeom>
        </p:spPr>
      </p:pic>
      <p:sp>
        <p:nvSpPr>
          <p:cNvPr id="38" name="Text"/>
          <p:cNvSpPr txBox="1"/>
          <p:nvPr/>
        </p:nvSpPr>
        <p:spPr>
          <a:xfrm>
            <a:off x="8654951" y="1850017"/>
            <a:ext cx="73223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Carmen</a:t>
            </a:r>
          </a:p>
        </p:txBody>
      </p:sp>
      <p:sp>
        <p:nvSpPr>
          <p:cNvPr id="39" name="Text"/>
          <p:cNvSpPr txBox="1"/>
          <p:nvPr/>
        </p:nvSpPr>
        <p:spPr>
          <a:xfrm>
            <a:off x="8654951" y="2045470"/>
            <a:ext cx="1053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up to 2% (ETF)</a:t>
            </a:r>
          </a:p>
        </p:txBody>
      </p:sp>
      <p:sp>
        <p:nvSpPr>
          <p:cNvPr id="40" name="span"/>
          <p:cNvSpPr/>
          <p:nvPr/>
        </p:nvSpPr>
        <p:spPr>
          <a:xfrm>
            <a:off x="1003295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1" name="Picture" descr="image.jpg"/>
          <p:cNvPicPr>
            <a:picLocks noChangeAspect="1"/>
          </p:cNvPicPr>
          <p:nvPr/>
        </p:nvPicPr>
        <p:blipFill>
          <a:blip r:embed="rId6"/>
          <a:stretch>
            <a:fillRect/>
          </a:stretch>
        </p:blipFill>
        <p:spPr>
          <a:xfrm>
            <a:off x="10032950" y="1863923"/>
            <a:ext cx="361950" cy="361950"/>
          </a:xfrm>
          <a:prstGeom prst="ellipse">
            <a:avLst/>
          </a:prstGeom>
        </p:spPr>
      </p:pic>
      <p:sp>
        <p:nvSpPr>
          <p:cNvPr id="42" name="Text"/>
          <p:cNvSpPr txBox="1"/>
          <p:nvPr/>
        </p:nvSpPr>
        <p:spPr>
          <a:xfrm>
            <a:off x="10490150" y="1850017"/>
            <a:ext cx="578581"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Chloe</a:t>
            </a:r>
          </a:p>
        </p:txBody>
      </p:sp>
      <p:sp>
        <p:nvSpPr>
          <p:cNvPr id="43" name="Text"/>
          <p:cNvSpPr txBox="1"/>
          <p:nvPr/>
        </p:nvSpPr>
        <p:spPr>
          <a:xfrm>
            <a:off x="1049015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44" name="span"/>
          <p:cNvSpPr/>
          <p:nvPr/>
        </p:nvSpPr>
        <p:spPr>
          <a:xfrm>
            <a:off x="6362700" y="2427684"/>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5" name="Picture" descr="image.jpg"/>
          <p:cNvPicPr>
            <a:picLocks noChangeAspect="1"/>
          </p:cNvPicPr>
          <p:nvPr/>
        </p:nvPicPr>
        <p:blipFill>
          <a:blip r:embed="rId7"/>
          <a:stretch>
            <a:fillRect/>
          </a:stretch>
        </p:blipFill>
        <p:spPr>
          <a:xfrm>
            <a:off x="6362700" y="2427684"/>
            <a:ext cx="361950" cy="361950"/>
          </a:xfrm>
          <a:prstGeom prst="ellipse">
            <a:avLst/>
          </a:prstGeom>
        </p:spPr>
      </p:pic>
      <p:sp>
        <p:nvSpPr>
          <p:cNvPr id="46" name="Text"/>
          <p:cNvSpPr txBox="1"/>
          <p:nvPr/>
        </p:nvSpPr>
        <p:spPr>
          <a:xfrm>
            <a:off x="6819900" y="2484995"/>
            <a:ext cx="4883161"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Ryan keeps his HK$500K: nothing sold, nothing added</a:t>
            </a:r>
          </a:p>
        </p:txBody>
      </p:sp>
      <p:sp>
        <p:nvSpPr>
          <p:cNvPr id="47" name="Text"/>
          <p:cNvSpPr txBox="1"/>
          <p:nvPr/>
        </p:nvSpPr>
        <p:spPr>
          <a:xfrm>
            <a:off x="6362700" y="3354907"/>
            <a:ext cx="2097316" cy="883563"/>
          </a:xfrm>
          <a:prstGeom prst="rect">
            <a:avLst/>
          </a:prstGeom>
          <a:noFill/>
        </p:spPr>
        <p:txBody>
          <a:bodyPr wrap="none" lIns="0" tIns="0" rIns="0" bIns="0" anchor="t">
            <a:noAutofit/>
          </a:bodyPr>
          <a:lstStyle/>
          <a:p>
            <a:pPr algn="l">
              <a:lnSpc>
                <a:spcPts val="1739"/>
              </a:lnSpc>
              <a:spcBef>
                <a:spcPts val="0"/>
              </a:spcBef>
              <a:spcAft>
                <a:spcPts val="0"/>
              </a:spcAft>
            </a:pPr>
            <a:r>
              <a:rPr sz="1200" b="0" i="0" kern="100">
                <a:solidFill>
                  <a:srgbClr val="1B1716"/>
                </a:solidFill>
                <a:latin typeface="Plus Jakarta Sans"/>
              </a:rPr>
              <a:t>His savings go into a world</a:t>
            </a:r>
          </a:p>
          <a:p>
            <a:pPr algn="l">
              <a:lnSpc>
                <a:spcPts val="1739"/>
              </a:lnSpc>
              <a:spcBef>
                <a:spcPts val="0"/>
              </a:spcBef>
              <a:spcAft>
                <a:spcPts val="0"/>
              </a:spcAft>
            </a:pPr>
            <a:r>
              <a:rPr sz="1200" b="0" i="0" kern="100">
                <a:solidFill>
                  <a:srgbClr val="1B1716"/>
                </a:solidFill>
                <a:latin typeface="Plus Jakarta Sans"/>
              </a:rPr>
              <a:t>index fund, so </a:t>
            </a:r>
            <a:r>
              <a:rPr sz="1200" b="1" i="0" kern="100">
                <a:solidFill>
                  <a:srgbClr val="1B1716"/>
                </a:solidFill>
                <a:latin typeface="Plus Jakarta Sans"/>
              </a:rPr>
              <a:t>the</a:t>
            </a:r>
          </a:p>
          <a:p>
            <a:pPr algn="l">
              <a:lnSpc>
                <a:spcPts val="1739"/>
              </a:lnSpc>
              <a:spcBef>
                <a:spcPts val="0"/>
              </a:spcBef>
              <a:spcAft>
                <a:spcPts val="0"/>
              </a:spcAft>
            </a:pPr>
            <a:r>
              <a:rPr sz="1200" b="1" i="0" kern="100">
                <a:solidFill>
                  <a:srgbClr val="1B1716"/>
                </a:solidFill>
                <a:latin typeface="Plus Jakarta Sans"/>
              </a:rPr>
              <a:t>crypto's share falls</a:t>
            </a:r>
            <a:r>
              <a:rPr sz="1200" b="0" i="0" kern="100">
                <a:solidFill>
                  <a:srgbClr val="1B1716"/>
                </a:solidFill>
                <a:latin typeface="Plus Jakarta Sans"/>
              </a:rPr>
              <a:t> as the</a:t>
            </a:r>
          </a:p>
          <a:p>
            <a:pPr algn="l">
              <a:lnSpc>
                <a:spcPts val="1739"/>
              </a:lnSpc>
              <a:spcBef>
                <a:spcPts val="0"/>
              </a:spcBef>
              <a:spcAft>
                <a:spcPts val="0"/>
              </a:spcAft>
            </a:pPr>
            <a:r>
              <a:rPr sz="1200" b="0" i="0" kern="100">
                <a:solidFill>
                  <a:srgbClr val="1B1716"/>
                </a:solidFill>
                <a:latin typeface="Plus Jakarta Sans"/>
              </a:rPr>
              <a:t>rest grows.</a:t>
            </a:r>
          </a:p>
        </p:txBody>
      </p:sp>
      <p:sp>
        <p:nvSpPr>
          <p:cNvPr id="48" name="Text"/>
          <p:cNvSpPr txBox="1"/>
          <p:nvPr/>
        </p:nvSpPr>
        <p:spPr>
          <a:xfrm>
            <a:off x="6362700" y="4328077"/>
            <a:ext cx="1899172" cy="37332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a 70% fall would</a:t>
            </a:r>
          </a:p>
          <a:p>
            <a:pPr algn="l">
              <a:lnSpc>
                <a:spcPts val="1470"/>
              </a:lnSpc>
              <a:spcBef>
                <a:spcPts val="0"/>
              </a:spcBef>
              <a:spcAft>
                <a:spcPts val="0"/>
              </a:spcAft>
            </a:pPr>
            <a:r>
              <a:rPr sz="1050" b="0" i="1" kern="100">
                <a:solidFill>
                  <a:srgbClr val="1B1716"/>
                </a:solidFill>
                <a:latin typeface="Plus Jakarta Sans"/>
              </a:rPr>
              <a:t>cost him HK$350K.</a:t>
            </a:r>
          </a:p>
        </p:txBody>
      </p:sp>
      <p:sp>
        <p:nvSpPr>
          <p:cNvPr id="49" name="Text"/>
          <p:cNvSpPr txBox="1"/>
          <p:nvPr/>
        </p:nvSpPr>
        <p:spPr>
          <a:xfrm>
            <a:off x="8814941" y="4207550"/>
            <a:ext cx="549396"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74%</a:t>
            </a:r>
          </a:p>
        </p:txBody>
      </p:sp>
      <p:sp>
        <p:nvSpPr>
          <p:cNvPr id="50" name="i"/>
          <p:cNvSpPr/>
          <p:nvPr/>
        </p:nvSpPr>
        <p:spPr>
          <a:xfrm>
            <a:off x="8582025" y="4471392"/>
            <a:ext cx="876300" cy="97036"/>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1" name="i"/>
          <p:cNvSpPr/>
          <p:nvPr/>
        </p:nvSpPr>
        <p:spPr>
          <a:xfrm>
            <a:off x="858202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Text"/>
          <p:cNvSpPr txBox="1"/>
          <p:nvPr/>
        </p:nvSpPr>
        <p:spPr>
          <a:xfrm>
            <a:off x="8702725" y="4632758"/>
            <a:ext cx="787137"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FFFFFF"/>
                </a:solidFill>
                <a:latin typeface="Plus Jakarta Sans"/>
              </a:rPr>
              <a:t>HK$500K</a:t>
            </a:r>
          </a:p>
        </p:txBody>
      </p:sp>
      <p:sp>
        <p:nvSpPr>
          <p:cNvPr id="53" name="Text"/>
          <p:cNvSpPr txBox="1"/>
          <p:nvPr/>
        </p:nvSpPr>
        <p:spPr>
          <a:xfrm>
            <a:off x="8725495" y="4891927"/>
            <a:ext cx="73886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today, 24</a:t>
            </a:r>
          </a:p>
        </p:txBody>
      </p:sp>
      <p:sp>
        <p:nvSpPr>
          <p:cNvPr id="54" name="Text"/>
          <p:cNvSpPr txBox="1"/>
          <p:nvPr/>
        </p:nvSpPr>
        <p:spPr>
          <a:xfrm>
            <a:off x="9895582" y="3713143"/>
            <a:ext cx="560439"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32%</a:t>
            </a:r>
          </a:p>
        </p:txBody>
      </p:sp>
      <p:sp>
        <p:nvSpPr>
          <p:cNvPr id="55" name="i"/>
          <p:cNvSpPr/>
          <p:nvPr/>
        </p:nvSpPr>
        <p:spPr>
          <a:xfrm>
            <a:off x="9667875" y="3976985"/>
            <a:ext cx="876300" cy="591443"/>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6" name="i"/>
          <p:cNvSpPr/>
          <p:nvPr/>
        </p:nvSpPr>
        <p:spPr>
          <a:xfrm>
            <a:off x="966787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7" name="Text"/>
          <p:cNvSpPr txBox="1"/>
          <p:nvPr/>
        </p:nvSpPr>
        <p:spPr>
          <a:xfrm>
            <a:off x="9941868" y="4891927"/>
            <a:ext cx="462314"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30</a:t>
            </a:r>
          </a:p>
        </p:txBody>
      </p:sp>
      <p:sp>
        <p:nvSpPr>
          <p:cNvPr id="58" name="Text"/>
          <p:cNvSpPr txBox="1"/>
          <p:nvPr/>
        </p:nvSpPr>
        <p:spPr>
          <a:xfrm>
            <a:off x="10758190" y="2990165"/>
            <a:ext cx="103355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20%</a:t>
            </a:r>
          </a:p>
        </p:txBody>
      </p:sp>
      <p:sp>
        <p:nvSpPr>
          <p:cNvPr id="59" name="i"/>
          <p:cNvSpPr/>
          <p:nvPr/>
        </p:nvSpPr>
        <p:spPr>
          <a:xfrm>
            <a:off x="10753725" y="3455938"/>
            <a:ext cx="876300" cy="111249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0" name="i"/>
          <p:cNvSpPr/>
          <p:nvPr/>
        </p:nvSpPr>
        <p:spPr>
          <a:xfrm>
            <a:off x="10753725" y="4568428"/>
            <a:ext cx="876300" cy="278011"/>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61" name="Text"/>
          <p:cNvSpPr txBox="1"/>
          <p:nvPr/>
        </p:nvSpPr>
        <p:spPr>
          <a:xfrm>
            <a:off x="11035457" y="4891927"/>
            <a:ext cx="44590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35</a:t>
            </a:r>
          </a:p>
        </p:txBody>
      </p:sp>
      <p:sp>
        <p:nvSpPr>
          <p:cNvPr id="62" name="Text"/>
          <p:cNvSpPr txBox="1"/>
          <p:nvPr/>
        </p:nvSpPr>
        <p:spPr>
          <a:xfrm>
            <a:off x="8477250" y="3008834"/>
            <a:ext cx="1152820" cy="693063"/>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The dark block:</a:t>
            </a:r>
          </a:p>
          <a:p>
            <a:pPr algn="l">
              <a:lnSpc>
                <a:spcPts val="1364"/>
              </a:lnSpc>
              <a:spcBef>
                <a:spcPts val="0"/>
              </a:spcBef>
              <a:spcAft>
                <a:spcPts val="0"/>
              </a:spcAft>
            </a:pPr>
            <a:r>
              <a:rPr sz="1050" b="0" i="1" kern="100">
                <a:solidFill>
                  <a:srgbClr val="1B1716"/>
                </a:solidFill>
                <a:latin typeface="Plus Jakarta Sans"/>
              </a:rPr>
              <a:t>his HK$500K,</a:t>
            </a:r>
          </a:p>
          <a:p>
            <a:pPr algn="l">
              <a:lnSpc>
                <a:spcPts val="1364"/>
              </a:lnSpc>
              <a:spcBef>
                <a:spcPts val="0"/>
              </a:spcBef>
              <a:spcAft>
                <a:spcPts val="0"/>
              </a:spcAft>
            </a:pPr>
            <a:r>
              <a:rPr sz="1050" b="0" i="1" kern="100">
                <a:solidFill>
                  <a:srgbClr val="1B1716"/>
                </a:solidFill>
                <a:latin typeface="Plus Jakarta Sans"/>
              </a:rPr>
              <a:t>the same at</a:t>
            </a:r>
          </a:p>
          <a:p>
            <a:pPr algn="l">
              <a:lnSpc>
                <a:spcPts val="1364"/>
              </a:lnSpc>
              <a:spcBef>
                <a:spcPts val="0"/>
              </a:spcBef>
              <a:spcAft>
                <a:spcPts val="0"/>
              </a:spcAft>
            </a:pPr>
            <a:r>
              <a:rPr sz="1050" b="0" i="1" kern="100">
                <a:solidFill>
                  <a:srgbClr val="1B1716"/>
                </a:solidFill>
                <a:latin typeface="Plus Jakarta Sans"/>
              </a:rPr>
              <a:t>every age</a:t>
            </a:r>
          </a:p>
        </p:txBody>
      </p:sp>
      <p:sp>
        <p:nvSpPr>
          <p:cNvPr id="63" name="Rule"/>
          <p:cNvSpPr/>
          <p:nvPr/>
        </p:nvSpPr>
        <p:spPr>
          <a:xfrm>
            <a:off x="6362700" y="5139928"/>
            <a:ext cx="28575" cy="479822"/>
          </a:xfrm>
          <a:prstGeom prst="rect">
            <a:avLst/>
          </a:prstGeom>
          <a:solidFill>
            <a:srgbClr val="971320"/>
          </a:solidFill>
          <a:ln>
            <a:noFill/>
          </a:ln>
        </p:spPr>
        <p:txBody>
          <a:bodyPr rtlCol="0" anchor="ctr"/>
          <a:lstStyle/>
          <a:p>
            <a:pPr algn="ctr"/>
            <a:endParaRPr/>
          </a:p>
        </p:txBody>
      </p:sp>
      <p:sp>
        <p:nvSpPr>
          <p:cNvPr id="64" name="Text"/>
          <p:cNvSpPr txBox="1"/>
          <p:nvPr/>
        </p:nvSpPr>
        <p:spPr>
          <a:xfrm>
            <a:off x="6524625" y="5148882"/>
            <a:ext cx="5245531"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Held where a regulator watches:</a:t>
            </a:r>
            <a:r>
              <a:rPr sz="1200" b="0" i="0" kern="100">
                <a:solidFill>
                  <a:srgbClr val="1B1716"/>
                </a:solidFill>
                <a:latin typeface="Plus Jakarta Sans"/>
              </a:rPr>
              <a:t> HKEX-listed ETFs or SFC-licensed</a:t>
            </a:r>
          </a:p>
          <a:p>
            <a:pPr algn="l">
              <a:lnSpc>
                <a:spcPts val="1739"/>
              </a:lnSpc>
              <a:spcBef>
                <a:spcPts val="0"/>
              </a:spcBef>
              <a:spcAft>
                <a:spcPts val="0"/>
              </a:spcAft>
            </a:pPr>
            <a:r>
              <a:rPr sz="1200" b="0" i="0" kern="100">
                <a:solidFill>
                  <a:srgbClr val="1B1716"/>
                </a:solidFill>
                <a:latin typeface="Plus Jakarta Sans"/>
              </a:rPr>
              <a:t>platforms only.</a:t>
            </a:r>
          </a:p>
        </p:txBody>
      </p:sp>
      <p:sp>
        <p:nvSpPr>
          <p:cNvPr id="65"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6" name="Text"/>
          <p:cNvSpPr txBox="1"/>
          <p:nvPr/>
        </p:nvSpPr>
        <p:spPr>
          <a:xfrm>
            <a:off x="2356314" y="5984558"/>
            <a:ext cx="747922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values and Ryan's conviction both fit, without risk the family can't carry.</a:t>
            </a:r>
          </a:p>
        </p:txBody>
      </p:sp>
      <p:sp>
        <p:nvSpPr>
          <p:cNvPr id="67" name="Text"/>
          <p:cNvSpPr txBox="1"/>
          <p:nvPr/>
        </p:nvSpPr>
        <p:spPr>
          <a:xfrm>
            <a:off x="457200" y="6452104"/>
            <a:ext cx="639385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ESG: written case §6, Figure 16; raters: Berg, Kölbel and Rigobon (2022). Crypto: §7, Figures 17–18: Ryan's wealth</a:t>
            </a:r>
          </a:p>
          <a:p>
            <a:pPr algn="l">
              <a:lnSpc>
                <a:spcPts val="1170"/>
              </a:lnSpc>
              <a:spcBef>
                <a:spcPts val="0"/>
              </a:spcBef>
              <a:spcAft>
                <a:spcPts val="0"/>
              </a:spcAft>
            </a:pPr>
            <a:r>
              <a:rPr sz="900" b="0" i="0" kern="100">
                <a:solidFill>
                  <a:srgbClr val="80606A"/>
                </a:solidFill>
                <a:latin typeface="Plus Jakarta Sans"/>
              </a:rPr>
              <a:t>sized from his crypto share, if all HK$500K is crypto, prices held flat, saving 30% of his pay.</a:t>
            </a:r>
          </a:p>
        </p:txBody>
      </p:sp>
      <p:sp>
        <p:nvSpPr>
          <p:cNvPr id="68" name="Text"/>
          <p:cNvSpPr txBox="1"/>
          <p:nvPr/>
        </p:nvSpPr>
        <p:spPr>
          <a:xfrm>
            <a:off x="667568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9" name="Text"/>
          <p:cNvSpPr txBox="1"/>
          <p:nvPr/>
        </p:nvSpPr>
        <p:spPr>
          <a:xfrm>
            <a:off x="7621935"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0" name="Text"/>
          <p:cNvSpPr txBox="1"/>
          <p:nvPr/>
        </p:nvSpPr>
        <p:spPr>
          <a:xfrm>
            <a:off x="8482161"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71" name="Text"/>
          <p:cNvSpPr txBox="1"/>
          <p:nvPr/>
        </p:nvSpPr>
        <p:spPr>
          <a:xfrm>
            <a:off x="943778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2" name="Text"/>
          <p:cNvSpPr txBox="1"/>
          <p:nvPr/>
        </p:nvSpPr>
        <p:spPr>
          <a:xfrm>
            <a:off x="1023580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73" name="Text"/>
          <p:cNvSpPr txBox="1"/>
          <p:nvPr/>
        </p:nvSpPr>
        <p:spPr>
          <a:xfrm>
            <a:off x="110311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4" name="Text"/>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9 / 15</a:t>
            </a:r>
          </a:p>
        </p:txBody>
      </p:sp>
      <p:sp>
        <p:nvSpPr>
          <p:cNvPr id="75" name="Text"/>
          <p:cNvSpPr txBox="1"/>
          <p:nvPr/>
        </p:nvSpPr>
        <p:spPr>
          <a:xfrm>
            <a:off x="457200" y="2364367"/>
            <a:ext cx="58804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Today</a:t>
            </a:r>
          </a:p>
        </p:txBody>
      </p:sp>
      <p:sp>
        <p:nvSpPr>
          <p:cNvPr id="76" name="i"/>
          <p:cNvSpPr/>
          <p:nvPr/>
        </p:nvSpPr>
        <p:spPr>
          <a:xfrm>
            <a:off x="1524000" y="2244923"/>
            <a:ext cx="1351806" cy="457200"/>
          </a:xfrm>
          <a:prstGeom prst="rect">
            <a:avLst/>
          </a:prstGeom>
          <a:solidFill>
            <a:srgbClr val="E6CDD1"/>
          </a:solidFill>
          <a:ln>
            <a:noFill/>
          </a:ln>
        </p:spPr>
        <p:txBody>
          <a:bodyPr rtlCol="0" anchor="ctr"/>
          <a:lstStyle/>
          <a:p>
            <a:pPr algn="ctr"/>
            <a:endParaRPr/>
          </a:p>
        </p:txBody>
      </p:sp>
      <p:sp>
        <p:nvSpPr>
          <p:cNvPr id="77" name="Text"/>
          <p:cNvSpPr txBox="1"/>
          <p:nvPr/>
        </p:nvSpPr>
        <p:spPr>
          <a:xfrm>
            <a:off x="2498229" y="2383417"/>
            <a:ext cx="413567"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11%</a:t>
            </a:r>
          </a:p>
        </p:txBody>
      </p:sp>
      <p:sp>
        <p:nvSpPr>
          <p:cNvPr id="78" name="Text"/>
          <p:cNvSpPr txBox="1"/>
          <p:nvPr/>
        </p:nvSpPr>
        <p:spPr>
          <a:xfrm>
            <a:off x="457200" y="3031117"/>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79" name="i"/>
          <p:cNvSpPr/>
          <p:nvPr/>
        </p:nvSpPr>
        <p:spPr>
          <a:xfrm>
            <a:off x="1524000" y="2911673"/>
            <a:ext cx="1750516" cy="45720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80" name="i"/>
          <p:cNvSpPr/>
          <p:nvPr/>
        </p:nvSpPr>
        <p:spPr>
          <a:xfrm>
            <a:off x="3274516" y="2911673"/>
            <a:ext cx="986730" cy="457200"/>
          </a:xfrm>
          <a:prstGeom prst="rect">
            <a:avLst/>
          </a:prstGeom>
          <a:solidFill>
            <a:srgbClr val="B4535D"/>
          </a:solidFill>
          <a:ln>
            <a:noFill/>
          </a:ln>
        </p:spPr>
        <p:txBody>
          <a:bodyPr rtlCol="0" anchor="ctr"/>
          <a:lstStyle/>
          <a:p>
            <a:pPr algn="ctr"/>
            <a:endParaRPr/>
          </a:p>
        </p:txBody>
      </p:sp>
      <p:sp>
        <p:nvSpPr>
          <p:cNvPr id="81" name="i"/>
          <p:cNvSpPr/>
          <p:nvPr/>
        </p:nvSpPr>
        <p:spPr>
          <a:xfrm>
            <a:off x="4261247" y="2911673"/>
            <a:ext cx="364182" cy="457200"/>
          </a:xfrm>
          <a:prstGeom prst="rect">
            <a:avLst/>
          </a:prstGeom>
          <a:solidFill>
            <a:srgbClr val="D3A6AD"/>
          </a:solidFill>
          <a:ln>
            <a:noFill/>
          </a:ln>
        </p:spPr>
        <p:txBody>
          <a:bodyPr rtlCol="0" anchor="ctr"/>
          <a:lstStyle/>
          <a:p>
            <a:pPr algn="ctr"/>
            <a:endParaRPr/>
          </a:p>
        </p:txBody>
      </p:sp>
      <p:sp>
        <p:nvSpPr>
          <p:cNvPr id="82" name="Text"/>
          <p:cNvSpPr txBox="1"/>
          <p:nvPr/>
        </p:nvSpPr>
        <p:spPr>
          <a:xfrm>
            <a:off x="4739729" y="2922151"/>
            <a:ext cx="99600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25%</a:t>
            </a:r>
          </a:p>
        </p:txBody>
      </p:sp>
      <p:cxnSp>
        <p:nvCxnSpPr>
          <p:cNvPr id="83" name="Rule"/>
          <p:cNvCxnSpPr/>
          <p:nvPr/>
        </p:nvCxnSpPr>
        <p:spPr>
          <a:xfrm>
            <a:off x="8477250" y="4590306"/>
            <a:ext cx="3257550" cy="0"/>
          </a:xfrm>
          <a:prstGeom prst="line">
            <a:avLst/>
          </a:prstGeom>
          <a:ln w="9525">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84" name="Rule"/>
          <p:cNvSpPr/>
          <p:nvPr/>
        </p:nvSpPr>
        <p:spPr>
          <a:xfrm>
            <a:off x="2952006" y="2473523"/>
            <a:ext cx="1654373" cy="19050"/>
          </a:xfrm>
          <a:prstGeom prst="rect">
            <a:avLst/>
          </a:prstGeom>
          <a:solidFill>
            <a:srgbClr val="971320"/>
          </a:solidFill>
          <a:ln>
            <a:noFill/>
          </a:ln>
        </p:spPr>
        <p:txBody>
          <a:bodyPr rtlCol="0" anchor="ctr"/>
          <a:lstStyle/>
          <a:p>
            <a:pPr algn="ctr"/>
            <a:endParaRPr/>
          </a:p>
        </p:txBody>
      </p:sp>
      <p:sp>
        <p:nvSpPr>
          <p:cNvPr id="85" name="Text"/>
          <p:cNvSpPr txBox="1"/>
          <p:nvPr/>
        </p:nvSpPr>
        <p:spPr>
          <a:xfrm>
            <a:off x="3450729" y="2294072"/>
            <a:ext cx="81064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971320"/>
                </a:solidFill>
                <a:latin typeface="Plus Jakarta Sans SemiBold"/>
              </a:rPr>
              <a:t>+14 points</a:t>
            </a:r>
          </a:p>
        </p:txBody>
      </p:sp>
      <p:sp>
        <p:nvSpPr>
          <p:cNvPr id="86" name="Arrowhead"/>
          <p:cNvSpPr/>
          <p:nvPr/>
        </p:nvSpPr>
        <p:spPr>
          <a:xfrm rot="5400000">
            <a:off x="4520654" y="2435423"/>
            <a:ext cx="114300" cy="95250"/>
          </a:xfrm>
          <a:prstGeom prst="triangle">
            <a:avLst/>
          </a:prstGeom>
          <a:solidFill>
            <a:srgbClr val="971320"/>
          </a:solidFill>
          <a:ln>
            <a:noFill/>
          </a:ln>
        </p:spPr>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Tested against the worst: even if Adrian loses his job at 60, the plan holds">
    <p:spTree>
      <p:nvGrpSpPr>
        <p:cNvPr id="1" name=""/>
        <p:cNvGrpSpPr/>
        <p:nvPr/>
      </p:nvGrpSpPr>
      <p:grpSpPr>
        <a:xfrm>
          <a:off x="0" y="0"/>
          <a:ext cx="0" cy="0"/>
          <a:chOff x="0" y="0"/>
          <a:chExt cx="0" cy="0"/>
        </a:xfrm>
      </p:grpSpPr>
      <p:sp>
        <p:nvSpPr>
          <p:cNvPr id="2" name="Rul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ext"/>
          <p:cNvSpPr txBox="1"/>
          <p:nvPr/>
        </p:nvSpPr>
        <p:spPr>
          <a:xfrm>
            <a:off x="638175" y="324421"/>
            <a:ext cx="88494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hold?</a:t>
            </a:r>
          </a:p>
        </p:txBody>
      </p:sp>
      <p:sp>
        <p:nvSpPr>
          <p:cNvPr id="4" name="Text"/>
          <p:cNvSpPr txBox="1"/>
          <p:nvPr/>
        </p:nvSpPr>
        <p:spPr>
          <a:xfrm>
            <a:off x="638175" y="529852"/>
            <a:ext cx="9949080"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Tested against the worst: even if Adrian loses his job at 60, the plan holds</a:t>
            </a:r>
          </a:p>
        </p:txBody>
      </p:sp>
      <p:sp>
        <p:nvSpPr>
          <p:cNvPr id="5" name="i"/>
          <p:cNvSpPr/>
          <p:nvPr/>
        </p:nvSpPr>
        <p:spPr>
          <a:xfrm>
            <a:off x="3848844" y="1195983"/>
            <a:ext cx="209550" cy="95250"/>
          </a:xfrm>
          <a:prstGeom prst="roundRect">
            <a:avLst>
              <a:gd name="adj" fmla="val 50000"/>
            </a:avLst>
          </a:prstGeom>
          <a:solidFill>
            <a:srgbClr val="E3C3C9"/>
          </a:solidFill>
          <a:ln>
            <a:noFill/>
          </a:ln>
        </p:spPr>
        <p:txBody>
          <a:bodyPr rtlCol="0" anchor="ctr"/>
          <a:lstStyle/>
          <a:p>
            <a:pPr algn="ctr"/>
            <a:endParaRPr/>
          </a:p>
        </p:txBody>
      </p:sp>
      <p:sp>
        <p:nvSpPr>
          <p:cNvPr id="6" name="i"/>
          <p:cNvSpPr/>
          <p:nvPr/>
        </p:nvSpPr>
        <p:spPr>
          <a:xfrm>
            <a:off x="6011614" y="1195983"/>
            <a:ext cx="209550" cy="95250"/>
          </a:xfrm>
          <a:prstGeom prst="roundRect">
            <a:avLst>
              <a:gd name="adj" fmla="val 5000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7" name="Text"/>
          <p:cNvSpPr txBox="1"/>
          <p:nvPr/>
        </p:nvSpPr>
        <p:spPr>
          <a:xfrm>
            <a:off x="457200" y="1125593"/>
            <a:ext cx="9567621"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80606A"/>
                </a:solidFill>
                <a:latin typeface="Plus Jakarta Sans"/>
              </a:rPr>
              <a:t>Four hard tests in the same 10,000 markets. Each bar:             the four decisions alone, then </a:t>
            </a:r>
            <a:r>
              <a:rPr sz="1050" b="0" i="0" kern="100">
                <a:solidFill>
                  <a:srgbClr val="1B1716"/>
                </a:solidFill>
                <a:latin typeface="Plus Jakarta Sans SemiBold"/>
              </a:rPr>
              <a:t>            what the review at 75 and the spending rules add</a:t>
            </a:r>
          </a:p>
        </p:txBody>
      </p:sp>
      <p:sp>
        <p:nvSpPr>
          <p:cNvPr id="8" name="Rule"/>
          <p:cNvSpPr/>
          <p:nvPr/>
        </p:nvSpPr>
        <p:spPr>
          <a:xfrm>
            <a:off x="457200" y="1697385"/>
            <a:ext cx="11277600" cy="9525"/>
          </a:xfrm>
          <a:prstGeom prst="rect">
            <a:avLst/>
          </a:prstGeom>
          <a:solidFill>
            <a:srgbClr val="1B1716"/>
          </a:solidFill>
          <a:ln>
            <a:noFill/>
          </a:ln>
        </p:spPr>
        <p:txBody>
          <a:bodyPr rtlCol="0" anchor="ctr"/>
          <a:lstStyle/>
          <a:p>
            <a:pPr algn="ctr"/>
            <a:endParaRPr/>
          </a:p>
        </p:txBody>
      </p:sp>
      <p:sp>
        <p:nvSpPr>
          <p:cNvPr id="9" name="Text"/>
          <p:cNvSpPr txBox="1"/>
          <p:nvPr/>
        </p:nvSpPr>
        <p:spPr>
          <a:xfrm>
            <a:off x="457200" y="1468434"/>
            <a:ext cx="65588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The test</a:t>
            </a:r>
          </a:p>
        </p:txBody>
      </p:sp>
      <p:sp>
        <p:nvSpPr>
          <p:cNvPr id="10" name="Text"/>
          <p:cNvSpPr txBox="1"/>
          <p:nvPr/>
        </p:nvSpPr>
        <p:spPr>
          <a:xfrm>
            <a:off x="3390900" y="1468434"/>
            <a:ext cx="278561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Chance the money lasts to Carmen's 89</a:t>
            </a:r>
          </a:p>
        </p:txBody>
      </p:sp>
      <p:sp>
        <p:nvSpPr>
          <p:cNvPr id="11" name="Text"/>
          <p:cNvSpPr txBox="1"/>
          <p:nvPr/>
        </p:nvSpPr>
        <p:spPr>
          <a:xfrm>
            <a:off x="9182100" y="1468434"/>
            <a:ext cx="99537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What holds it</a:t>
            </a:r>
          </a:p>
        </p:txBody>
      </p:sp>
      <p:sp>
        <p:nvSpPr>
          <p:cNvPr id="12" name="Rule"/>
          <p:cNvSpPr/>
          <p:nvPr/>
        </p:nvSpPr>
        <p:spPr>
          <a:xfrm>
            <a:off x="457200" y="2475309"/>
            <a:ext cx="11277600" cy="9525"/>
          </a:xfrm>
          <a:prstGeom prst="rect">
            <a:avLst/>
          </a:prstGeom>
          <a:solidFill>
            <a:srgbClr val="ECDADD"/>
          </a:solidFill>
          <a:ln>
            <a:noFill/>
          </a:ln>
        </p:spPr>
        <p:txBody>
          <a:bodyPr rtlCol="0" anchor="ctr"/>
          <a:lstStyle/>
          <a:p>
            <a:pPr algn="ctr"/>
            <a:endParaRPr/>
          </a:p>
        </p:txBody>
      </p:sp>
      <p:sp>
        <p:nvSpPr>
          <p:cNvPr id="13" name="Text"/>
          <p:cNvSpPr txBox="1"/>
          <p:nvPr/>
        </p:nvSpPr>
        <p:spPr>
          <a:xfrm>
            <a:off x="457200" y="1925104"/>
            <a:ext cx="2086746"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Adrian's job ends at 60</a:t>
            </a:r>
          </a:p>
        </p:txBody>
      </p:sp>
      <p:sp>
        <p:nvSpPr>
          <p:cNvPr id="14" name="Text"/>
          <p:cNvSpPr txBox="1"/>
          <p:nvPr/>
        </p:nvSpPr>
        <p:spPr>
          <a:xfrm>
            <a:off x="457200" y="2147804"/>
            <a:ext cx="23637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no pay or MPF to 65, no severance</a:t>
            </a:r>
          </a:p>
        </p:txBody>
      </p:sp>
      <p:sp>
        <p:nvSpPr>
          <p:cNvPr id="15" name="ps-el"/>
          <p:cNvSpPr/>
          <p:nvPr/>
        </p:nvSpPr>
        <p:spPr>
          <a:xfrm>
            <a:off x="3390900" y="2176760"/>
            <a:ext cx="5257800" cy="133350"/>
          </a:xfrm>
          <a:prstGeom prst="roundRect">
            <a:avLst>
              <a:gd name="adj" fmla="val 50000"/>
            </a:avLst>
          </a:prstGeom>
          <a:solidFill>
            <a:srgbClr val="F8EFF0"/>
          </a:solidFill>
          <a:ln>
            <a:noFill/>
          </a:ln>
        </p:spPr>
        <p:txBody>
          <a:bodyPr rtlCol="0" anchor="ctr"/>
          <a:lstStyle/>
          <a:p>
            <a:pPr algn="ctr"/>
            <a:endParaRPr/>
          </a:p>
        </p:txBody>
      </p:sp>
      <p:sp>
        <p:nvSpPr>
          <p:cNvPr id="16" name="span"/>
          <p:cNvSpPr/>
          <p:nvPr/>
        </p:nvSpPr>
        <p:spPr>
          <a:xfrm rot="16200000">
            <a:off x="4112865" y="1454795"/>
            <a:ext cx="133350" cy="1577280"/>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17" name="span"/>
          <p:cNvSpPr/>
          <p:nvPr/>
        </p:nvSpPr>
        <p:spPr>
          <a:xfrm rot="5400000">
            <a:off x="6294760" y="850181"/>
            <a:ext cx="133350" cy="2786509"/>
          </a:xfrm>
          <a:prstGeom prst="round2SameRect">
            <a:avLst>
              <a:gd name="adj1" fmla="val 50000"/>
              <a:gd name="adj2" fmla="val 0"/>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18" name="Rule"/>
          <p:cNvSpPr/>
          <p:nvPr/>
        </p:nvSpPr>
        <p:spPr>
          <a:xfrm>
            <a:off x="4968180" y="2176760"/>
            <a:ext cx="19050" cy="133350"/>
          </a:xfrm>
          <a:prstGeom prst="rect">
            <a:avLst/>
          </a:prstGeom>
          <a:solidFill>
            <a:srgbClr val="FFFFFF"/>
          </a:solidFill>
          <a:ln>
            <a:noFill/>
          </a:ln>
        </p:spPr>
        <p:txBody>
          <a:bodyPr rtlCol="0" anchor="ctr"/>
          <a:lstStyle/>
          <a:p>
            <a:pPr algn="ctr"/>
            <a:endParaRPr/>
          </a:p>
        </p:txBody>
      </p:sp>
      <p:sp>
        <p:nvSpPr>
          <p:cNvPr id="19" name="Text"/>
          <p:cNvSpPr txBox="1"/>
          <p:nvPr/>
        </p:nvSpPr>
        <p:spPr>
          <a:xfrm>
            <a:off x="4812655" y="1968734"/>
            <a:ext cx="4440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30%</a:t>
            </a:r>
          </a:p>
        </p:txBody>
      </p:sp>
      <p:sp>
        <p:nvSpPr>
          <p:cNvPr id="20" name="Text"/>
          <p:cNvSpPr txBox="1"/>
          <p:nvPr/>
        </p:nvSpPr>
        <p:spPr>
          <a:xfrm>
            <a:off x="7333059" y="1701463"/>
            <a:ext cx="1008471"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83%</a:t>
            </a:r>
          </a:p>
        </p:txBody>
      </p:sp>
      <p:sp>
        <p:nvSpPr>
          <p:cNvPr id="21" name="Text"/>
          <p:cNvSpPr txBox="1"/>
          <p:nvPr/>
        </p:nvSpPr>
        <p:spPr>
          <a:xfrm>
            <a:off x="9182100" y="1827973"/>
            <a:ext cx="188339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Reserve</a:t>
            </a:r>
            <a:r>
              <a:rPr sz="1050" b="0" i="0" kern="100">
                <a:solidFill>
                  <a:srgbClr val="1B1716"/>
                </a:solidFill>
                <a:latin typeface="Plus Jakarta Sans"/>
              </a:rPr>
              <a:t> pays a year of bills</a:t>
            </a:r>
          </a:p>
        </p:txBody>
      </p:sp>
      <p:sp>
        <p:nvSpPr>
          <p:cNvPr id="22" name="Text"/>
          <p:cNvSpPr txBox="1"/>
          <p:nvPr/>
        </p:nvSpPr>
        <p:spPr>
          <a:xfrm>
            <a:off x="9182100" y="2036481"/>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23" name="Text"/>
          <p:cNvSpPr txBox="1"/>
          <p:nvPr/>
        </p:nvSpPr>
        <p:spPr>
          <a:xfrm>
            <a:off x="9182100" y="2244989"/>
            <a:ext cx="183244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Full review</a:t>
            </a:r>
            <a:r>
              <a:rPr sz="1050" b="0" i="0" kern="100">
                <a:solidFill>
                  <a:srgbClr val="1B1716"/>
                </a:solidFill>
                <a:latin typeface="Plus Jakarta Sans"/>
              </a:rPr>
              <a:t> resets the plan</a:t>
            </a:r>
          </a:p>
        </p:txBody>
      </p:sp>
      <p:sp>
        <p:nvSpPr>
          <p:cNvPr id="24" name="Rule"/>
          <p:cNvSpPr/>
          <p:nvPr/>
        </p:nvSpPr>
        <p:spPr>
          <a:xfrm>
            <a:off x="457200" y="3132534"/>
            <a:ext cx="11277600" cy="9525"/>
          </a:xfrm>
          <a:prstGeom prst="rect">
            <a:avLst/>
          </a:prstGeom>
          <a:solidFill>
            <a:srgbClr val="ECDADD"/>
          </a:solidFill>
          <a:ln>
            <a:noFill/>
          </a:ln>
        </p:spPr>
        <p:txBody>
          <a:bodyPr rtlCol="0" anchor="ctr"/>
          <a:lstStyle/>
          <a:p>
            <a:pPr algn="ctr"/>
            <a:endParaRPr/>
          </a:p>
        </p:txBody>
      </p:sp>
      <p:sp>
        <p:nvSpPr>
          <p:cNvPr id="25" name="Text"/>
          <p:cNvSpPr txBox="1"/>
          <p:nvPr/>
        </p:nvSpPr>
        <p:spPr>
          <a:xfrm>
            <a:off x="457200" y="2601956"/>
            <a:ext cx="19091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Low returns, every year</a:t>
            </a:r>
          </a:p>
        </p:txBody>
      </p:sp>
      <p:sp>
        <p:nvSpPr>
          <p:cNvPr id="26" name="Text"/>
          <p:cNvSpPr txBox="1"/>
          <p:nvPr/>
        </p:nvSpPr>
        <p:spPr>
          <a:xfrm>
            <a:off x="457200" y="2805476"/>
            <a:ext cx="22637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shares 4%, bonds 2.5%, to 2066</a:t>
            </a:r>
          </a:p>
        </p:txBody>
      </p:sp>
      <p:sp>
        <p:nvSpPr>
          <p:cNvPr id="27" name="ps-el"/>
          <p:cNvSpPr/>
          <p:nvPr/>
        </p:nvSpPr>
        <p:spPr>
          <a:xfrm>
            <a:off x="3390900" y="2846784"/>
            <a:ext cx="5257800" cy="133350"/>
          </a:xfrm>
          <a:prstGeom prst="roundRect">
            <a:avLst>
              <a:gd name="adj" fmla="val 50000"/>
            </a:avLst>
          </a:prstGeom>
          <a:solidFill>
            <a:srgbClr val="F8EFF0"/>
          </a:solidFill>
          <a:ln>
            <a:noFill/>
          </a:ln>
        </p:spPr>
        <p:txBody>
          <a:bodyPr rtlCol="0" anchor="ctr"/>
          <a:lstStyle/>
          <a:p>
            <a:pPr algn="ctr"/>
            <a:endParaRPr/>
          </a:p>
        </p:txBody>
      </p:sp>
      <p:sp>
        <p:nvSpPr>
          <p:cNvPr id="28" name="span"/>
          <p:cNvSpPr/>
          <p:nvPr/>
        </p:nvSpPr>
        <p:spPr>
          <a:xfrm rot="16200000">
            <a:off x="4165402" y="2072283"/>
            <a:ext cx="133350" cy="1682353"/>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29" name="span"/>
          <p:cNvSpPr/>
          <p:nvPr/>
        </p:nvSpPr>
        <p:spPr>
          <a:xfrm rot="5400000">
            <a:off x="6662738" y="1257300"/>
            <a:ext cx="133350" cy="331231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30" name="Rule"/>
          <p:cNvSpPr/>
          <p:nvPr/>
        </p:nvSpPr>
        <p:spPr>
          <a:xfrm>
            <a:off x="5073253" y="2846784"/>
            <a:ext cx="19050" cy="133350"/>
          </a:xfrm>
          <a:prstGeom prst="rect">
            <a:avLst/>
          </a:prstGeom>
          <a:solidFill>
            <a:srgbClr val="FFFFFF"/>
          </a:solidFill>
          <a:ln>
            <a:noFill/>
          </a:ln>
        </p:spPr>
        <p:txBody>
          <a:bodyPr rtlCol="0" anchor="ctr"/>
          <a:lstStyle/>
          <a:p>
            <a:pPr algn="ctr"/>
            <a:endParaRPr/>
          </a:p>
        </p:txBody>
      </p:sp>
      <p:sp>
        <p:nvSpPr>
          <p:cNvPr id="31" name="Text"/>
          <p:cNvSpPr txBox="1"/>
          <p:nvPr/>
        </p:nvSpPr>
        <p:spPr>
          <a:xfrm>
            <a:off x="4926062" y="2638758"/>
            <a:ext cx="42634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32%</a:t>
            </a:r>
          </a:p>
        </p:txBody>
      </p:sp>
      <p:sp>
        <p:nvSpPr>
          <p:cNvPr id="32" name="Text"/>
          <p:cNvSpPr txBox="1"/>
          <p:nvPr/>
        </p:nvSpPr>
        <p:spPr>
          <a:xfrm>
            <a:off x="8174385" y="2573417"/>
            <a:ext cx="562332"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95%</a:t>
            </a:r>
          </a:p>
        </p:txBody>
      </p:sp>
      <p:sp>
        <p:nvSpPr>
          <p:cNvPr id="33" name="Text"/>
          <p:cNvSpPr txBox="1"/>
          <p:nvPr/>
        </p:nvSpPr>
        <p:spPr>
          <a:xfrm>
            <a:off x="9182100" y="2602176"/>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34" name="Text"/>
          <p:cNvSpPr txBox="1"/>
          <p:nvPr/>
        </p:nvSpPr>
        <p:spPr>
          <a:xfrm>
            <a:off x="9182100" y="2810685"/>
            <a:ext cx="214322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Treasuries</a:t>
            </a:r>
            <a:r>
              <a:rPr sz="1050" b="0" i="0" kern="100">
                <a:solidFill>
                  <a:srgbClr val="1B1716"/>
                </a:solidFill>
                <a:latin typeface="Plus Jakarta Sans"/>
              </a:rPr>
              <a:t> mature on schedule</a:t>
            </a:r>
          </a:p>
        </p:txBody>
      </p:sp>
      <p:sp>
        <p:nvSpPr>
          <p:cNvPr id="35" name="Rule"/>
          <p:cNvSpPr/>
          <p:nvPr/>
        </p:nvSpPr>
        <p:spPr>
          <a:xfrm>
            <a:off x="457200" y="3789759"/>
            <a:ext cx="11277600" cy="9525"/>
          </a:xfrm>
          <a:prstGeom prst="rect">
            <a:avLst/>
          </a:prstGeom>
          <a:solidFill>
            <a:srgbClr val="ECDADD"/>
          </a:solidFill>
          <a:ln>
            <a:noFill/>
          </a:ln>
        </p:spPr>
        <p:txBody>
          <a:bodyPr rtlCol="0" anchor="ctr"/>
          <a:lstStyle/>
          <a:p>
            <a:pPr algn="ctr"/>
            <a:endParaRPr/>
          </a:p>
        </p:txBody>
      </p:sp>
      <p:sp>
        <p:nvSpPr>
          <p:cNvPr id="36" name="Text"/>
          <p:cNvSpPr txBox="1"/>
          <p:nvPr/>
        </p:nvSpPr>
        <p:spPr>
          <a:xfrm>
            <a:off x="457200" y="3259181"/>
            <a:ext cx="2194968"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Inflation and medical costs</a:t>
            </a:r>
          </a:p>
        </p:txBody>
      </p:sp>
      <p:sp>
        <p:nvSpPr>
          <p:cNvPr id="37" name="Text"/>
          <p:cNvSpPr txBox="1"/>
          <p:nvPr/>
        </p:nvSpPr>
        <p:spPr>
          <a:xfrm>
            <a:off x="457200" y="3462701"/>
            <a:ext cx="242734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inflation 3.5%, medical 8.5% a year</a:t>
            </a:r>
          </a:p>
        </p:txBody>
      </p:sp>
      <p:sp>
        <p:nvSpPr>
          <p:cNvPr id="38" name="ps-el"/>
          <p:cNvSpPr/>
          <p:nvPr/>
        </p:nvSpPr>
        <p:spPr>
          <a:xfrm>
            <a:off x="3390900" y="3504009"/>
            <a:ext cx="5257800" cy="133350"/>
          </a:xfrm>
          <a:prstGeom prst="roundRect">
            <a:avLst>
              <a:gd name="adj" fmla="val 50000"/>
            </a:avLst>
          </a:prstGeom>
          <a:solidFill>
            <a:srgbClr val="F8EFF0"/>
          </a:solidFill>
          <a:ln>
            <a:noFill/>
          </a:ln>
        </p:spPr>
        <p:txBody>
          <a:bodyPr rtlCol="0" anchor="ctr"/>
          <a:lstStyle/>
          <a:p>
            <a:pPr algn="ctr"/>
            <a:endParaRPr/>
          </a:p>
        </p:txBody>
      </p:sp>
      <p:sp>
        <p:nvSpPr>
          <p:cNvPr id="39" name="span"/>
          <p:cNvSpPr/>
          <p:nvPr/>
        </p:nvSpPr>
        <p:spPr>
          <a:xfrm rot="16200000">
            <a:off x="4060254" y="2834655"/>
            <a:ext cx="133350" cy="1472059"/>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40" name="span"/>
          <p:cNvSpPr/>
          <p:nvPr/>
        </p:nvSpPr>
        <p:spPr>
          <a:xfrm rot="5400000">
            <a:off x="6478712" y="1888257"/>
            <a:ext cx="133350" cy="3364855"/>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1" name="Rule"/>
          <p:cNvSpPr/>
          <p:nvPr/>
        </p:nvSpPr>
        <p:spPr>
          <a:xfrm>
            <a:off x="4862959" y="3504009"/>
            <a:ext cx="19050" cy="133350"/>
          </a:xfrm>
          <a:prstGeom prst="rect">
            <a:avLst/>
          </a:prstGeom>
          <a:solidFill>
            <a:srgbClr val="FFFFFF"/>
          </a:solidFill>
          <a:ln>
            <a:noFill/>
          </a:ln>
        </p:spPr>
        <p:txBody>
          <a:bodyPr rtlCol="0" anchor="ctr"/>
          <a:lstStyle/>
          <a:p>
            <a:pPr algn="ctr"/>
            <a:endParaRPr/>
          </a:p>
        </p:txBody>
      </p:sp>
      <p:sp>
        <p:nvSpPr>
          <p:cNvPr id="42" name="Text"/>
          <p:cNvSpPr txBox="1"/>
          <p:nvPr/>
        </p:nvSpPr>
        <p:spPr>
          <a:xfrm>
            <a:off x="4714503" y="3295983"/>
            <a:ext cx="42902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28%</a:t>
            </a:r>
          </a:p>
        </p:txBody>
      </p:sp>
      <p:sp>
        <p:nvSpPr>
          <p:cNvPr id="43" name="Text"/>
          <p:cNvSpPr txBox="1"/>
          <p:nvPr/>
        </p:nvSpPr>
        <p:spPr>
          <a:xfrm>
            <a:off x="8018338" y="3230642"/>
            <a:ext cx="558704"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92%</a:t>
            </a:r>
          </a:p>
        </p:txBody>
      </p:sp>
      <p:sp>
        <p:nvSpPr>
          <p:cNvPr id="44" name="Text"/>
          <p:cNvSpPr txBox="1"/>
          <p:nvPr/>
        </p:nvSpPr>
        <p:spPr>
          <a:xfrm>
            <a:off x="9182100" y="3259401"/>
            <a:ext cx="2215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Review at 75</a:t>
            </a:r>
            <a:r>
              <a:rPr sz="1050" b="0" i="0" kern="100">
                <a:solidFill>
                  <a:srgbClr val="1B1716"/>
                </a:solidFill>
                <a:latin typeface="Plus Jakarta Sans"/>
              </a:rPr>
              <a:t> cuts the premiums</a:t>
            </a:r>
          </a:p>
        </p:txBody>
      </p:sp>
      <p:sp>
        <p:nvSpPr>
          <p:cNvPr id="45" name="Text"/>
          <p:cNvSpPr txBox="1"/>
          <p:nvPr/>
        </p:nvSpPr>
        <p:spPr>
          <a:xfrm>
            <a:off x="9182100" y="3467910"/>
            <a:ext cx="216530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absorb the rest</a:t>
            </a:r>
          </a:p>
        </p:txBody>
      </p:sp>
      <p:sp>
        <p:nvSpPr>
          <p:cNvPr id="46" name="Rule"/>
          <p:cNvSpPr/>
          <p:nvPr/>
        </p:nvSpPr>
        <p:spPr>
          <a:xfrm>
            <a:off x="457200" y="4446984"/>
            <a:ext cx="11277600" cy="9525"/>
          </a:xfrm>
          <a:prstGeom prst="rect">
            <a:avLst/>
          </a:prstGeom>
          <a:solidFill>
            <a:srgbClr val="ECDADD"/>
          </a:solidFill>
          <a:ln>
            <a:noFill/>
          </a:ln>
        </p:spPr>
        <p:txBody>
          <a:bodyPr rtlCol="0" anchor="ctr"/>
          <a:lstStyle/>
          <a:p>
            <a:pPr algn="ctr"/>
            <a:endParaRPr/>
          </a:p>
        </p:txBody>
      </p:sp>
      <p:sp>
        <p:nvSpPr>
          <p:cNvPr id="47" name="Text"/>
          <p:cNvSpPr txBox="1"/>
          <p:nvPr/>
        </p:nvSpPr>
        <p:spPr>
          <a:xfrm>
            <a:off x="457200" y="3916406"/>
            <a:ext cx="153096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 lives to 95</a:t>
            </a:r>
          </a:p>
        </p:txBody>
      </p:sp>
      <p:sp>
        <p:nvSpPr>
          <p:cNvPr id="48" name="Text"/>
          <p:cNvSpPr txBox="1"/>
          <p:nvPr/>
        </p:nvSpPr>
        <p:spPr>
          <a:xfrm>
            <a:off x="457200" y="4119926"/>
            <a:ext cx="186099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six years past the plan's 89</a:t>
            </a:r>
          </a:p>
        </p:txBody>
      </p:sp>
      <p:sp>
        <p:nvSpPr>
          <p:cNvPr id="49" name="ps-el"/>
          <p:cNvSpPr/>
          <p:nvPr/>
        </p:nvSpPr>
        <p:spPr>
          <a:xfrm>
            <a:off x="3390900" y="4161234"/>
            <a:ext cx="5257800" cy="133350"/>
          </a:xfrm>
          <a:prstGeom prst="roundRect">
            <a:avLst>
              <a:gd name="adj" fmla="val 50000"/>
            </a:avLst>
          </a:prstGeom>
          <a:solidFill>
            <a:srgbClr val="F8EFF0"/>
          </a:solidFill>
          <a:ln>
            <a:noFill/>
          </a:ln>
        </p:spPr>
        <p:txBody>
          <a:bodyPr rtlCol="0" anchor="ctr"/>
          <a:lstStyle/>
          <a:p>
            <a:pPr algn="ctr"/>
            <a:endParaRPr/>
          </a:p>
        </p:txBody>
      </p:sp>
      <p:sp>
        <p:nvSpPr>
          <p:cNvPr id="50" name="span"/>
          <p:cNvSpPr/>
          <p:nvPr/>
        </p:nvSpPr>
        <p:spPr>
          <a:xfrm rot="16200000">
            <a:off x="4927848" y="2624286"/>
            <a:ext cx="133350" cy="3207246"/>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51" name="span"/>
          <p:cNvSpPr/>
          <p:nvPr/>
        </p:nvSpPr>
        <p:spPr>
          <a:xfrm rot="5400000">
            <a:off x="7530405" y="3228975"/>
            <a:ext cx="133350" cy="199786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Rule"/>
          <p:cNvSpPr/>
          <p:nvPr/>
        </p:nvSpPr>
        <p:spPr>
          <a:xfrm>
            <a:off x="6598146" y="4161234"/>
            <a:ext cx="19050" cy="133350"/>
          </a:xfrm>
          <a:prstGeom prst="rect">
            <a:avLst/>
          </a:prstGeom>
          <a:solidFill>
            <a:srgbClr val="FFFFFF"/>
          </a:solidFill>
          <a:ln>
            <a:noFill/>
          </a:ln>
        </p:spPr>
        <p:txBody>
          <a:bodyPr rtlCol="0" anchor="ctr"/>
          <a:lstStyle/>
          <a:p>
            <a:pPr algn="ctr"/>
            <a:endParaRPr/>
          </a:p>
        </p:txBody>
      </p:sp>
      <p:sp>
        <p:nvSpPr>
          <p:cNvPr id="53" name="Text"/>
          <p:cNvSpPr txBox="1"/>
          <p:nvPr/>
        </p:nvSpPr>
        <p:spPr>
          <a:xfrm>
            <a:off x="6466136" y="3953208"/>
            <a:ext cx="39416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61%</a:t>
            </a:r>
          </a:p>
        </p:txBody>
      </p:sp>
      <p:sp>
        <p:nvSpPr>
          <p:cNvPr id="54" name="Text"/>
          <p:cNvSpPr txBox="1"/>
          <p:nvPr/>
        </p:nvSpPr>
        <p:spPr>
          <a:xfrm>
            <a:off x="8385944" y="3887867"/>
            <a:ext cx="559650"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99%</a:t>
            </a:r>
          </a:p>
        </p:txBody>
      </p:sp>
      <p:sp>
        <p:nvSpPr>
          <p:cNvPr id="55" name="Text"/>
          <p:cNvSpPr txBox="1"/>
          <p:nvPr/>
        </p:nvSpPr>
        <p:spPr>
          <a:xfrm>
            <a:off x="9182100" y="4020806"/>
            <a:ext cx="146391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Annuities</a:t>
            </a:r>
            <a:r>
              <a:rPr sz="1050" b="0" i="0" kern="100">
                <a:solidFill>
                  <a:srgbClr val="1B1716"/>
                </a:solidFill>
                <a:latin typeface="Plus Jakarta Sans"/>
              </a:rPr>
              <a:t> pay for life</a:t>
            </a:r>
          </a:p>
        </p:txBody>
      </p:sp>
      <p:sp>
        <p:nvSpPr>
          <p:cNvPr id="56" name="Text"/>
          <p:cNvSpPr txBox="1"/>
          <p:nvPr/>
        </p:nvSpPr>
        <p:spPr>
          <a:xfrm>
            <a:off x="3390900" y="4505658"/>
            <a:ext cx="35551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0%</a:t>
            </a:r>
          </a:p>
        </p:txBody>
      </p:sp>
      <p:sp>
        <p:nvSpPr>
          <p:cNvPr id="57" name="Text"/>
          <p:cNvSpPr txBox="1"/>
          <p:nvPr/>
        </p:nvSpPr>
        <p:spPr>
          <a:xfrm>
            <a:off x="5864944" y="4505658"/>
            <a:ext cx="44259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50%</a:t>
            </a:r>
          </a:p>
        </p:txBody>
      </p:sp>
      <p:sp>
        <p:nvSpPr>
          <p:cNvPr id="58" name="Text"/>
          <p:cNvSpPr txBox="1"/>
          <p:nvPr/>
        </p:nvSpPr>
        <p:spPr>
          <a:xfrm>
            <a:off x="8274100" y="4505658"/>
            <a:ext cx="51137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100%</a:t>
            </a:r>
          </a:p>
        </p:txBody>
      </p:sp>
      <p:sp>
        <p:nvSpPr>
          <p:cNvPr id="59" name="Text"/>
          <p:cNvSpPr txBox="1"/>
          <p:nvPr/>
        </p:nvSpPr>
        <p:spPr>
          <a:xfrm>
            <a:off x="457200" y="4745688"/>
            <a:ext cx="8587157"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 of holding:</a:t>
            </a:r>
            <a:r>
              <a:rPr sz="1050" b="0" i="0" kern="100">
                <a:solidFill>
                  <a:srgbClr val="1B1716"/>
                </a:solidFill>
                <a:latin typeface="Plus Jakarta Sans"/>
              </a:rPr>
              <a:t> in years of low returns, the rules trim typical spending to </a:t>
            </a:r>
            <a:r>
              <a:rPr sz="1050" b="1" i="0" kern="100">
                <a:solidFill>
                  <a:srgbClr val="1B1716"/>
                </a:solidFill>
                <a:latin typeface="Plus Jakarta Sans"/>
              </a:rPr>
              <a:t>about 86% of the budget</a:t>
            </a:r>
            <a:r>
              <a:rPr sz="1050" b="0" i="0" kern="100">
                <a:solidFill>
                  <a:srgbClr val="1B1716"/>
                </a:solidFill>
                <a:latin typeface="Plus Jakarta Sans"/>
              </a:rPr>
              <a:t>; essentials are never cut.</a:t>
            </a:r>
          </a:p>
        </p:txBody>
      </p:sp>
      <p:sp>
        <p:nvSpPr>
          <p:cNvPr id="60" name="Rule"/>
          <p:cNvSpPr/>
          <p:nvPr/>
        </p:nvSpPr>
        <p:spPr>
          <a:xfrm>
            <a:off x="457200" y="5021759"/>
            <a:ext cx="11277600" cy="9525"/>
          </a:xfrm>
          <a:prstGeom prst="rect">
            <a:avLst/>
          </a:prstGeom>
          <a:solidFill>
            <a:srgbClr val="ECDADD"/>
          </a:solidFill>
          <a:ln>
            <a:noFill/>
          </a:ln>
        </p:spPr>
        <p:txBody>
          <a:bodyPr rtlCol="0" anchor="ctr"/>
          <a:lstStyle/>
          <a:p>
            <a:pPr algn="ctr"/>
            <a:endParaRPr/>
          </a:p>
        </p:txBody>
      </p:sp>
      <p:sp>
        <p:nvSpPr>
          <p:cNvPr id="61" name="Text"/>
          <p:cNvSpPr txBox="1"/>
          <p:nvPr/>
        </p:nvSpPr>
        <p:spPr>
          <a:xfrm>
            <a:off x="457200" y="5532811"/>
            <a:ext cx="17642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written case, risk register</a:t>
            </a:r>
          </a:p>
        </p:txBody>
      </p:sp>
      <p:sp>
        <p:nvSpPr>
          <p:cNvPr id="62" name="Text"/>
          <p:cNvSpPr txBox="1"/>
          <p:nvPr/>
        </p:nvSpPr>
        <p:spPr>
          <a:xfrm>
            <a:off x="457200" y="5127867"/>
            <a:ext cx="1719170" cy="39621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Every other risk has a</a:t>
            </a:r>
          </a:p>
          <a:p>
            <a:pPr algn="l">
              <a:lnSpc>
                <a:spcPts val="1560"/>
              </a:lnSpc>
              <a:spcBef>
                <a:spcPts val="0"/>
              </a:spcBef>
              <a:spcAft>
                <a:spcPts val="0"/>
              </a:spcAft>
            </a:pPr>
            <a:r>
              <a:rPr sz="1200" b="0" i="0" kern="100">
                <a:solidFill>
                  <a:srgbClr val="1B1716"/>
                </a:solidFill>
                <a:latin typeface="Plus Jakarta Sans SemiBold"/>
              </a:rPr>
              <a:t>named defence</a:t>
            </a:r>
          </a:p>
        </p:txBody>
      </p:sp>
      <p:sp>
        <p:nvSpPr>
          <p:cNvPr id="63" name="span"/>
          <p:cNvSpPr/>
          <p:nvPr/>
        </p:nvSpPr>
        <p:spPr>
          <a:xfrm>
            <a:off x="2533650" y="5287417"/>
            <a:ext cx="285750" cy="285750"/>
          </a:xfrm>
          <a:prstGeom prst="ellipse">
            <a:avLst/>
          </a:prstGeom>
          <a:solidFill>
            <a:srgbClr val="F8EFF0"/>
          </a:solidFill>
          <a:ln>
            <a:noFill/>
          </a:ln>
        </p:spPr>
        <p:txBody>
          <a:bodyPr rtlCol="0" anchor="ctr"/>
          <a:lstStyle/>
          <a:p>
            <a:pPr algn="ctr"/>
            <a:endParaRPr/>
          </a:p>
        </p:txBody>
      </p:sp>
      <p:pic>
        <p:nvPicPr>
          <p:cNvPr id="64"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562" y="5349329"/>
            <a:ext cx="161925" cy="161925"/>
          </a:xfrm>
          <a:prstGeom prst="rect">
            <a:avLst/>
          </a:prstGeom>
        </p:spPr>
      </p:pic>
      <p:sp>
        <p:nvSpPr>
          <p:cNvPr id="65" name="Text"/>
          <p:cNvSpPr txBox="1"/>
          <p:nvPr/>
        </p:nvSpPr>
        <p:spPr>
          <a:xfrm>
            <a:off x="2895600" y="5331803"/>
            <a:ext cx="177359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The business doesn't sell</a:t>
            </a:r>
          </a:p>
        </p:txBody>
      </p:sp>
      <p:sp>
        <p:nvSpPr>
          <p:cNvPr id="66" name="span"/>
          <p:cNvSpPr/>
          <p:nvPr/>
        </p:nvSpPr>
        <p:spPr>
          <a:xfrm>
            <a:off x="4713833" y="5287417"/>
            <a:ext cx="285750" cy="285750"/>
          </a:xfrm>
          <a:prstGeom prst="ellipse">
            <a:avLst/>
          </a:prstGeom>
          <a:solidFill>
            <a:srgbClr val="F8EFF0"/>
          </a:solidFill>
          <a:ln>
            <a:noFill/>
          </a:ln>
        </p:spPr>
        <p:txBody>
          <a:bodyPr rtlCol="0" anchor="ctr"/>
          <a:lstStyle/>
          <a:p>
            <a:pPr algn="ctr"/>
            <a:endParaRPr/>
          </a:p>
        </p:txBody>
      </p:sp>
      <p:pic>
        <p:nvPicPr>
          <p:cNvPr id="67" name="Drawing"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75746" y="5349329"/>
            <a:ext cx="161925" cy="161925"/>
          </a:xfrm>
          <a:prstGeom prst="rect">
            <a:avLst/>
          </a:prstGeom>
        </p:spPr>
      </p:pic>
      <p:sp>
        <p:nvSpPr>
          <p:cNvPr id="68" name="Text"/>
          <p:cNvSpPr txBox="1"/>
          <p:nvPr/>
        </p:nvSpPr>
        <p:spPr>
          <a:xfrm>
            <a:off x="5075783" y="5331803"/>
            <a:ext cx="14356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Three risk appetites</a:t>
            </a:r>
          </a:p>
        </p:txBody>
      </p:sp>
      <p:sp>
        <p:nvSpPr>
          <p:cNvPr id="69" name="span"/>
          <p:cNvSpPr/>
          <p:nvPr/>
        </p:nvSpPr>
        <p:spPr>
          <a:xfrm>
            <a:off x="6575227" y="5287417"/>
            <a:ext cx="285750" cy="285750"/>
          </a:xfrm>
          <a:prstGeom prst="ellipse">
            <a:avLst/>
          </a:prstGeom>
          <a:solidFill>
            <a:srgbClr val="F8EFF0"/>
          </a:solidFill>
          <a:ln>
            <a:noFill/>
          </a:ln>
        </p:spPr>
        <p:txBody>
          <a:bodyPr rtlCol="0" anchor="ctr"/>
          <a:lstStyle/>
          <a:p>
            <a:pPr algn="ctr"/>
            <a:endParaRPr/>
          </a:p>
        </p:txBody>
      </p:sp>
      <p:pic>
        <p:nvPicPr>
          <p:cNvPr id="70" name="Drawing"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37139" y="5349329"/>
            <a:ext cx="161925" cy="161925"/>
          </a:xfrm>
          <a:prstGeom prst="rect">
            <a:avLst/>
          </a:prstGeom>
        </p:spPr>
      </p:pic>
      <p:sp>
        <p:nvSpPr>
          <p:cNvPr id="71" name="Text"/>
          <p:cNvSpPr txBox="1"/>
          <p:nvPr/>
        </p:nvSpPr>
        <p:spPr>
          <a:xfrm>
            <a:off x="6937177" y="5331803"/>
            <a:ext cx="223093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Crypto rules or licences change</a:t>
            </a:r>
          </a:p>
        </p:txBody>
      </p:sp>
      <p:sp>
        <p:nvSpPr>
          <p:cNvPr id="72" name="span"/>
          <p:cNvSpPr/>
          <p:nvPr/>
        </p:nvSpPr>
        <p:spPr>
          <a:xfrm>
            <a:off x="9186862" y="5287417"/>
            <a:ext cx="285750" cy="285750"/>
          </a:xfrm>
          <a:prstGeom prst="ellipse">
            <a:avLst/>
          </a:prstGeom>
          <a:solidFill>
            <a:srgbClr val="F8EFF0"/>
          </a:solidFill>
          <a:ln>
            <a:noFill/>
          </a:ln>
        </p:spPr>
        <p:txBody>
          <a:bodyPr rtlCol="0" anchor="ctr"/>
          <a:lstStyle/>
          <a:p>
            <a:pPr algn="ctr"/>
            <a:endParaRPr/>
          </a:p>
        </p:txBody>
      </p:sp>
      <p:pic>
        <p:nvPicPr>
          <p:cNvPr id="73" name="Drawing"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48775" y="5349329"/>
            <a:ext cx="161925" cy="161925"/>
          </a:xfrm>
          <a:prstGeom prst="rect">
            <a:avLst/>
          </a:prstGeom>
        </p:spPr>
      </p:pic>
      <p:sp>
        <p:nvSpPr>
          <p:cNvPr id="74" name="Text"/>
          <p:cNvSpPr txBox="1"/>
          <p:nvPr/>
        </p:nvSpPr>
        <p:spPr>
          <a:xfrm>
            <a:off x="9548812" y="5331803"/>
            <a:ext cx="10930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Greenwashing</a:t>
            </a:r>
          </a:p>
        </p:txBody>
      </p:sp>
      <p:sp>
        <p:nvSpPr>
          <p:cNvPr id="75" name="span"/>
          <p:cNvSpPr/>
          <p:nvPr/>
        </p:nvSpPr>
        <p:spPr>
          <a:xfrm>
            <a:off x="10725001" y="5287417"/>
            <a:ext cx="285750" cy="285750"/>
          </a:xfrm>
          <a:prstGeom prst="ellipse">
            <a:avLst/>
          </a:prstGeom>
          <a:solidFill>
            <a:srgbClr val="F8EFF0"/>
          </a:solidFill>
          <a:ln>
            <a:noFill/>
          </a:ln>
        </p:spPr>
        <p:txBody>
          <a:bodyPr rtlCol="0" anchor="ctr"/>
          <a:lstStyle/>
          <a:p>
            <a:pPr algn="ctr"/>
            <a:endParaRPr/>
          </a:p>
        </p:txBody>
      </p:sp>
      <p:pic>
        <p:nvPicPr>
          <p:cNvPr id="76" name="Drawing"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786914" y="5349329"/>
            <a:ext cx="161925" cy="161925"/>
          </a:xfrm>
          <a:prstGeom prst="rect">
            <a:avLst/>
          </a:prstGeom>
        </p:spPr>
      </p:pic>
      <p:sp>
        <p:nvSpPr>
          <p:cNvPr id="77" name="Text"/>
          <p:cNvSpPr txBox="1"/>
          <p:nvPr/>
        </p:nvSpPr>
        <p:spPr>
          <a:xfrm>
            <a:off x="11086951" y="5331803"/>
            <a:ext cx="801020"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Model risk</a:t>
            </a:r>
          </a:p>
        </p:txBody>
      </p:sp>
      <p:sp>
        <p:nvSpPr>
          <p:cNvPr id="78"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79" name="Text"/>
          <p:cNvSpPr txBox="1"/>
          <p:nvPr/>
        </p:nvSpPr>
        <p:spPr>
          <a:xfrm>
            <a:off x="2932599" y="5984558"/>
            <a:ext cx="632680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It holds when the hardest things happen, and it starts this month.</a:t>
            </a:r>
          </a:p>
        </p:txBody>
      </p:sp>
      <p:sp>
        <p:nvSpPr>
          <p:cNvPr id="80" name="Text"/>
          <p:cNvSpPr txBox="1"/>
          <p:nvPr/>
        </p:nvSpPr>
        <p:spPr>
          <a:xfrm>
            <a:off x="457200" y="6452104"/>
            <a:ext cx="6252025"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(95 in the last test), 10,000 simulated markets (measured): decisions</a:t>
            </a:r>
          </a:p>
          <a:p>
            <a:pPr algn="l">
              <a:lnSpc>
                <a:spcPts val="1170"/>
              </a:lnSpc>
              <a:spcBef>
                <a:spcPts val="0"/>
              </a:spcBef>
              <a:spcAft>
                <a:spcPts val="0"/>
              </a:spcAft>
            </a:pPr>
            <a:r>
              <a:rPr sz="900" b="0" i="0" kern="100">
                <a:solidFill>
                  <a:srgbClr val="80606A"/>
                </a:solidFill>
                <a:latin typeface="Plus Jakarta Sans"/>
              </a:rPr>
              <a:t>compared in the same markets, not forecasts. Written case §11, Figure 26, A1.</a:t>
            </a:r>
          </a:p>
        </p:txBody>
      </p:sp>
      <p:sp>
        <p:nvSpPr>
          <p:cNvPr id="81" name="Text"/>
          <p:cNvSpPr txBox="1"/>
          <p:nvPr/>
        </p:nvSpPr>
        <p:spPr>
          <a:xfrm>
            <a:off x="6608862"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82" name="Text"/>
          <p:cNvSpPr txBox="1"/>
          <p:nvPr/>
        </p:nvSpPr>
        <p:spPr>
          <a:xfrm>
            <a:off x="7555111"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3" name="Text"/>
          <p:cNvSpPr txBox="1"/>
          <p:nvPr/>
        </p:nvSpPr>
        <p:spPr>
          <a:xfrm>
            <a:off x="8415338"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84" name="Text"/>
          <p:cNvSpPr txBox="1"/>
          <p:nvPr/>
        </p:nvSpPr>
        <p:spPr>
          <a:xfrm>
            <a:off x="9352211" y="6536246"/>
            <a:ext cx="757163"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Will it hold</a:t>
            </a:r>
          </a:p>
        </p:txBody>
      </p:sp>
      <p:sp>
        <p:nvSpPr>
          <p:cNvPr id="85" name="Text"/>
          <p:cNvSpPr txBox="1"/>
          <p:nvPr/>
        </p:nvSpPr>
        <p:spPr>
          <a:xfrm>
            <a:off x="1016823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86" name="Text"/>
          <p:cNvSpPr txBox="1"/>
          <p:nvPr/>
        </p:nvSpPr>
        <p:spPr>
          <a:xfrm>
            <a:off x="1096357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87" name="Text"/>
          <p:cNvSpPr txBox="1"/>
          <p:nvPr/>
        </p:nvSpPr>
        <p:spPr>
          <a:xfrm>
            <a:off x="11341894" y="6535674"/>
            <a:ext cx="53078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10 / 15</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It starts this month and closes every gap within a year; after that, dates trigger each step">
    <p:spTree>
      <p:nvGrpSpPr>
        <p:cNvPr id="1" name=""/>
        <p:cNvGrpSpPr/>
        <p:nvPr/>
      </p:nvGrpSpPr>
      <p:grpSpPr>
        <a:xfrm>
          <a:off x="0" y="0"/>
          <a:ext cx="0" cy="0"/>
          <a:chOff x="0" y="0"/>
          <a:chExt cx="0" cy="0"/>
        </a:xfrm>
      </p:grpSpPr>
      <p:sp>
        <p:nvSpPr>
          <p:cNvPr id="2" name="Rule"/>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ext"/>
          <p:cNvSpPr txBox="1"/>
          <p:nvPr/>
        </p:nvSpPr>
        <p:spPr>
          <a:xfrm>
            <a:off x="638175" y="324421"/>
            <a:ext cx="149562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happens when</a:t>
            </a:r>
          </a:p>
        </p:txBody>
      </p:sp>
      <p:sp>
        <p:nvSpPr>
          <p:cNvPr id="4" name="Text"/>
          <p:cNvSpPr txBox="1"/>
          <p:nvPr/>
        </p:nvSpPr>
        <p:spPr>
          <a:xfrm>
            <a:off x="638175" y="529852"/>
            <a:ext cx="6460266"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It starts this month and closes every gap within</a:t>
            </a:r>
          </a:p>
          <a:p>
            <a:pPr algn="l">
              <a:lnSpc>
                <a:spcPts val="2523"/>
              </a:lnSpc>
              <a:spcBef>
                <a:spcPts val="0"/>
              </a:spcBef>
              <a:spcAft>
                <a:spcPts val="0"/>
              </a:spcAft>
            </a:pPr>
            <a:r>
              <a:rPr sz="2175" b="1" i="0" kern="100" spc="-38">
                <a:solidFill>
                  <a:srgbClr val="1B1716"/>
                </a:solidFill>
                <a:latin typeface="Plus Jakarta Sans"/>
              </a:rPr>
              <a:t>a year; after that, dates trigger each step</a:t>
            </a:r>
          </a:p>
        </p:txBody>
      </p:sp>
      <p:sp>
        <p:nvSpPr>
          <p:cNvPr id="5" name="Rule"/>
          <p:cNvSpPr/>
          <p:nvPr/>
        </p:nvSpPr>
        <p:spPr>
          <a:xfrm>
            <a:off x="457200" y="1740098"/>
            <a:ext cx="6311801" cy="9525"/>
          </a:xfrm>
          <a:prstGeom prst="rect">
            <a:avLst/>
          </a:prstGeom>
          <a:solidFill>
            <a:srgbClr val="1B1716"/>
          </a:solidFill>
          <a:ln>
            <a:noFill/>
          </a:ln>
        </p:spPr>
        <p:txBody>
          <a:bodyPr rtlCol="0" anchor="ctr"/>
          <a:lstStyle/>
          <a:p>
            <a:pPr algn="ctr"/>
            <a:endParaRPr/>
          </a:p>
        </p:txBody>
      </p:sp>
      <p:sp>
        <p:nvSpPr>
          <p:cNvPr id="6" name="Text"/>
          <p:cNvSpPr txBox="1"/>
          <p:nvPr/>
        </p:nvSpPr>
        <p:spPr>
          <a:xfrm>
            <a:off x="457200" y="1445824"/>
            <a:ext cx="23448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This year: close every gap…</a:t>
            </a:r>
          </a:p>
        </p:txBody>
      </p:sp>
      <p:sp>
        <p:nvSpPr>
          <p:cNvPr id="7" name="Rule"/>
          <p:cNvSpPr/>
          <p:nvPr/>
        </p:nvSpPr>
        <p:spPr>
          <a:xfrm>
            <a:off x="457200" y="2978348"/>
            <a:ext cx="6311652" cy="19050"/>
          </a:xfrm>
          <a:prstGeom prst="rect">
            <a:avLst/>
          </a:prstGeom>
          <a:solidFill>
            <a:srgbClr val="971320"/>
          </a:solidFill>
          <a:ln>
            <a:noFill/>
          </a:ln>
        </p:spPr>
        <p:txBody>
          <a:bodyPr rtlCol="0" anchor="ctr"/>
          <a:lstStyle/>
          <a:p>
            <a:pPr algn="ctr"/>
            <a:endParaRPr/>
          </a:p>
        </p:txBody>
      </p:sp>
      <p:sp>
        <p:nvSpPr>
          <p:cNvPr id="8" name="Text"/>
          <p:cNvSpPr txBox="1"/>
          <p:nvPr/>
        </p:nvSpPr>
        <p:spPr>
          <a:xfrm>
            <a:off x="457200" y="2105001"/>
            <a:ext cx="1169700"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C80E1E"/>
                </a:solidFill>
                <a:latin typeface="Plus Jakarta Sans"/>
              </a:rPr>
              <a:t>Month 1</a:t>
            </a:r>
          </a:p>
        </p:txBody>
      </p:sp>
      <p:sp>
        <p:nvSpPr>
          <p:cNvPr id="9" name="Text"/>
          <p:cNvSpPr txBox="1"/>
          <p:nvPr/>
        </p:nvSpPr>
        <p:spPr>
          <a:xfrm>
            <a:off x="457200" y="3431840"/>
            <a:ext cx="1445776"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Wills and a joint</a:t>
            </a:r>
          </a:p>
          <a:p>
            <a:pPr algn="l">
              <a:lnSpc>
                <a:spcPts val="1754"/>
              </a:lnSpc>
              <a:spcBef>
                <a:spcPts val="0"/>
              </a:spcBef>
              <a:spcAft>
                <a:spcPts val="0"/>
              </a:spcAft>
            </a:pPr>
            <a:r>
              <a:rPr sz="1350" b="0" i="0" kern="100">
                <a:solidFill>
                  <a:srgbClr val="1B1716"/>
                </a:solidFill>
                <a:latin typeface="Plus Jakarta Sans SemiBold"/>
              </a:rPr>
              <a:t>account</a:t>
            </a:r>
          </a:p>
        </p:txBody>
      </p:sp>
      <p:sp>
        <p:nvSpPr>
          <p:cNvPr id="10" name="Text"/>
          <p:cNvSpPr txBox="1"/>
          <p:nvPr/>
        </p:nvSpPr>
        <p:spPr>
          <a:xfrm>
            <a:off x="457200" y="3931152"/>
            <a:ext cx="1551000"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guardian; powers of</a:t>
            </a:r>
          </a:p>
          <a:p>
            <a:pPr algn="l">
              <a:lnSpc>
                <a:spcPts val="1470"/>
              </a:lnSpc>
              <a:spcBef>
                <a:spcPts val="0"/>
              </a:spcBef>
              <a:spcAft>
                <a:spcPts val="0"/>
              </a:spcAft>
            </a:pPr>
            <a:r>
              <a:rPr sz="1050" b="0" i="0" kern="100">
                <a:solidFill>
                  <a:srgbClr val="1B1716"/>
                </a:solidFill>
                <a:latin typeface="Plus Jakarta Sans"/>
              </a:rPr>
              <a:t>attorney</a:t>
            </a:r>
          </a:p>
        </p:txBody>
      </p:sp>
      <p:pic>
        <p:nvPicPr>
          <p:cNvPr id="11" name="Picture" descr="image.jpg"/>
          <p:cNvPicPr>
            <a:picLocks noChangeAspect="1"/>
          </p:cNvPicPr>
          <p:nvPr/>
        </p:nvPicPr>
        <p:blipFill>
          <a:blip r:embed="rId3"/>
          <a:stretch>
            <a:fillRect/>
          </a:stretch>
        </p:blipFill>
        <p:spPr>
          <a:xfrm>
            <a:off x="45720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2" name="Picture" descr="image.jpg"/>
          <p:cNvPicPr>
            <a:picLocks noChangeAspect="1"/>
          </p:cNvPicPr>
          <p:nvPr/>
        </p:nvPicPr>
        <p:blipFill>
          <a:blip r:embed="rId4"/>
          <a:stretch>
            <a:fillRect/>
          </a:stretch>
        </p:blipFill>
        <p:spPr>
          <a:xfrm>
            <a:off x="70485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3" name="Text"/>
          <p:cNvSpPr txBox="1"/>
          <p:nvPr/>
        </p:nvSpPr>
        <p:spPr>
          <a:xfrm>
            <a:off x="2077938" y="2105001"/>
            <a:ext cx="1650546"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3</a:t>
            </a:r>
          </a:p>
        </p:txBody>
      </p:sp>
      <p:sp>
        <p:nvSpPr>
          <p:cNvPr id="14" name="Text"/>
          <p:cNvSpPr txBox="1"/>
          <p:nvPr/>
        </p:nvSpPr>
        <p:spPr>
          <a:xfrm>
            <a:off x="2077938" y="3431840"/>
            <a:ext cx="1145878"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The cover in</a:t>
            </a:r>
          </a:p>
          <a:p>
            <a:pPr algn="l">
              <a:lnSpc>
                <a:spcPts val="1754"/>
              </a:lnSpc>
              <a:spcBef>
                <a:spcPts val="0"/>
              </a:spcBef>
              <a:spcAft>
                <a:spcPts val="0"/>
              </a:spcAft>
            </a:pPr>
            <a:r>
              <a:rPr sz="1350" b="0" i="0" kern="100">
                <a:solidFill>
                  <a:srgbClr val="1B1716"/>
                </a:solidFill>
                <a:latin typeface="Plus Jakarta Sans SemiBold"/>
              </a:rPr>
              <a:t>place</a:t>
            </a:r>
          </a:p>
        </p:txBody>
      </p:sp>
      <p:sp>
        <p:nvSpPr>
          <p:cNvPr id="15" name="Text"/>
          <p:cNvSpPr txBox="1"/>
          <p:nvPr/>
        </p:nvSpPr>
        <p:spPr>
          <a:xfrm>
            <a:off x="2077938" y="3931152"/>
            <a:ext cx="1180112"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about HK$100K</a:t>
            </a:r>
          </a:p>
          <a:p>
            <a:pPr algn="l">
              <a:lnSpc>
                <a:spcPts val="1470"/>
              </a:lnSpc>
              <a:spcBef>
                <a:spcPts val="0"/>
              </a:spcBef>
              <a:spcAft>
                <a:spcPts val="0"/>
              </a:spcAft>
            </a:pPr>
            <a:r>
              <a:rPr sz="1050" b="0" i="0" kern="100">
                <a:solidFill>
                  <a:srgbClr val="1B1716"/>
                </a:solidFill>
                <a:latin typeface="Plus Jakarta Sans"/>
              </a:rPr>
              <a:t>a year</a:t>
            </a:r>
          </a:p>
        </p:txBody>
      </p:sp>
      <p:pic>
        <p:nvPicPr>
          <p:cNvPr id="16" name="Picture" descr="image.jpg"/>
          <p:cNvPicPr>
            <a:picLocks noChangeAspect="1"/>
          </p:cNvPicPr>
          <p:nvPr/>
        </p:nvPicPr>
        <p:blipFill>
          <a:blip r:embed="rId3"/>
          <a:stretch>
            <a:fillRect/>
          </a:stretch>
        </p:blipFill>
        <p:spPr>
          <a:xfrm>
            <a:off x="20779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7" name="Picture" descr="image.jpg"/>
          <p:cNvPicPr>
            <a:picLocks noChangeAspect="1"/>
          </p:cNvPicPr>
          <p:nvPr/>
        </p:nvPicPr>
        <p:blipFill>
          <a:blip r:embed="rId4"/>
          <a:stretch>
            <a:fillRect/>
          </a:stretch>
        </p:blipFill>
        <p:spPr>
          <a:xfrm>
            <a:off x="232558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8" name="Picture" descr="image.jpg"/>
          <p:cNvPicPr>
            <a:picLocks noChangeAspect="1"/>
          </p:cNvPicPr>
          <p:nvPr/>
        </p:nvPicPr>
        <p:blipFill>
          <a:blip r:embed="rId5"/>
          <a:stretch>
            <a:fillRect/>
          </a:stretch>
        </p:blipFill>
        <p:spPr>
          <a:xfrm>
            <a:off x="25732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9" name="Text"/>
          <p:cNvSpPr txBox="1"/>
          <p:nvPr/>
        </p:nvSpPr>
        <p:spPr>
          <a:xfrm>
            <a:off x="3698825" y="2105001"/>
            <a:ext cx="1647864"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6</a:t>
            </a:r>
          </a:p>
        </p:txBody>
      </p:sp>
      <p:sp>
        <p:nvSpPr>
          <p:cNvPr id="20" name="Text"/>
          <p:cNvSpPr txBox="1"/>
          <p:nvPr/>
        </p:nvSpPr>
        <p:spPr>
          <a:xfrm>
            <a:off x="3698825" y="3431840"/>
            <a:ext cx="1513454"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 portfolio each</a:t>
            </a:r>
          </a:p>
        </p:txBody>
      </p:sp>
      <p:sp>
        <p:nvSpPr>
          <p:cNvPr id="21" name="Text"/>
          <p:cNvSpPr txBox="1"/>
          <p:nvPr/>
        </p:nvSpPr>
        <p:spPr>
          <a:xfrm>
            <a:off x="3698825" y="3708356"/>
            <a:ext cx="1373996"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HK$45K a year less</a:t>
            </a:r>
          </a:p>
          <a:p>
            <a:pPr algn="l">
              <a:lnSpc>
                <a:spcPts val="1470"/>
              </a:lnSpc>
              <a:spcBef>
                <a:spcPts val="0"/>
              </a:spcBef>
              <a:spcAft>
                <a:spcPts val="0"/>
              </a:spcAft>
            </a:pPr>
            <a:r>
              <a:rPr sz="1050" b="0" i="0" kern="100">
                <a:solidFill>
                  <a:srgbClr val="1B1716"/>
                </a:solidFill>
                <a:latin typeface="Plus Jakarta Sans"/>
              </a:rPr>
              <a:t>in fees</a:t>
            </a:r>
          </a:p>
        </p:txBody>
      </p:sp>
      <p:pic>
        <p:nvPicPr>
          <p:cNvPr id="22" name="Picture" descr="image.jpg"/>
          <p:cNvPicPr>
            <a:picLocks noChangeAspect="1"/>
          </p:cNvPicPr>
          <p:nvPr/>
        </p:nvPicPr>
        <p:blipFill>
          <a:blip r:embed="rId3"/>
          <a:stretch>
            <a:fillRect/>
          </a:stretch>
        </p:blipFill>
        <p:spPr>
          <a:xfrm>
            <a:off x="36988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3" name="Picture" descr="image.jpg"/>
          <p:cNvPicPr>
            <a:picLocks noChangeAspect="1"/>
          </p:cNvPicPr>
          <p:nvPr/>
        </p:nvPicPr>
        <p:blipFill>
          <a:blip r:embed="rId4"/>
          <a:stretch>
            <a:fillRect/>
          </a:stretch>
        </p:blipFill>
        <p:spPr>
          <a:xfrm>
            <a:off x="394647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4" name="Picture" descr="image.jpg"/>
          <p:cNvPicPr>
            <a:picLocks noChangeAspect="1"/>
          </p:cNvPicPr>
          <p:nvPr/>
        </p:nvPicPr>
        <p:blipFill>
          <a:blip r:embed="rId5"/>
          <a:stretch>
            <a:fillRect/>
          </a:stretch>
        </p:blipFill>
        <p:spPr>
          <a:xfrm>
            <a:off x="41941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25" name="Text"/>
          <p:cNvSpPr txBox="1"/>
          <p:nvPr/>
        </p:nvSpPr>
        <p:spPr>
          <a:xfrm>
            <a:off x="5319564" y="2105001"/>
            <a:ext cx="1339447"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Month 12</a:t>
            </a:r>
          </a:p>
        </p:txBody>
      </p:sp>
      <p:sp>
        <p:nvSpPr>
          <p:cNvPr id="26" name="Text"/>
          <p:cNvSpPr txBox="1"/>
          <p:nvPr/>
        </p:nvSpPr>
        <p:spPr>
          <a:xfrm>
            <a:off x="5319564" y="3431840"/>
            <a:ext cx="1064160"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First family</a:t>
            </a:r>
          </a:p>
          <a:p>
            <a:pPr algn="l">
              <a:lnSpc>
                <a:spcPts val="1754"/>
              </a:lnSpc>
              <a:spcBef>
                <a:spcPts val="0"/>
              </a:spcBef>
              <a:spcAft>
                <a:spcPts val="0"/>
              </a:spcAft>
            </a:pPr>
            <a:r>
              <a:rPr sz="1350" b="0" i="0" kern="100">
                <a:solidFill>
                  <a:srgbClr val="1B1716"/>
                </a:solidFill>
                <a:latin typeface="Plus Jakarta Sans SemiBold"/>
              </a:rPr>
              <a:t>meeting</a:t>
            </a:r>
          </a:p>
        </p:txBody>
      </p:sp>
      <p:sp>
        <p:nvSpPr>
          <p:cNvPr id="27" name="Text"/>
          <p:cNvSpPr txBox="1"/>
          <p:nvPr/>
        </p:nvSpPr>
        <p:spPr>
          <a:xfrm>
            <a:off x="5319564" y="3931152"/>
            <a:ext cx="1198254"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charter; Ryan's</a:t>
            </a:r>
          </a:p>
          <a:p>
            <a:pPr algn="l">
              <a:lnSpc>
                <a:spcPts val="1470"/>
              </a:lnSpc>
              <a:spcBef>
                <a:spcPts val="0"/>
              </a:spcBef>
              <a:spcAft>
                <a:spcPts val="0"/>
              </a:spcAft>
            </a:pPr>
            <a:r>
              <a:rPr sz="1050" b="0" i="0" kern="100">
                <a:solidFill>
                  <a:srgbClr val="1B1716"/>
                </a:solidFill>
                <a:latin typeface="Plus Jakarta Sans"/>
              </a:rPr>
              <a:t>own plan</a:t>
            </a:r>
          </a:p>
        </p:txBody>
      </p:sp>
      <p:pic>
        <p:nvPicPr>
          <p:cNvPr id="28" name="Picture" descr="image.jpg"/>
          <p:cNvPicPr>
            <a:picLocks noChangeAspect="1"/>
          </p:cNvPicPr>
          <p:nvPr/>
        </p:nvPicPr>
        <p:blipFill>
          <a:blip r:embed="rId3"/>
          <a:stretch>
            <a:fillRect/>
          </a:stretch>
        </p:blipFill>
        <p:spPr>
          <a:xfrm>
            <a:off x="53195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9" name="Picture" descr="image.jpg"/>
          <p:cNvPicPr>
            <a:picLocks noChangeAspect="1"/>
          </p:cNvPicPr>
          <p:nvPr/>
        </p:nvPicPr>
        <p:blipFill>
          <a:blip r:embed="rId4"/>
          <a:stretch>
            <a:fillRect/>
          </a:stretch>
        </p:blipFill>
        <p:spPr>
          <a:xfrm>
            <a:off x="55672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0" name="Picture" descr="image.jpg"/>
          <p:cNvPicPr>
            <a:picLocks noChangeAspect="1"/>
          </p:cNvPicPr>
          <p:nvPr/>
        </p:nvPicPr>
        <p:blipFill>
          <a:blip r:embed="rId5"/>
          <a:stretch>
            <a:fillRect/>
          </a:stretch>
        </p:blipFill>
        <p:spPr>
          <a:xfrm>
            <a:off x="58148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1" name="Picture" descr="image.jpg"/>
          <p:cNvPicPr>
            <a:picLocks noChangeAspect="1"/>
          </p:cNvPicPr>
          <p:nvPr/>
        </p:nvPicPr>
        <p:blipFill>
          <a:blip r:embed="rId6"/>
          <a:stretch>
            <a:fillRect/>
          </a:stretch>
        </p:blipFill>
        <p:spPr>
          <a:xfrm>
            <a:off x="60625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32" name="Rule"/>
          <p:cNvSpPr/>
          <p:nvPr/>
        </p:nvSpPr>
        <p:spPr>
          <a:xfrm>
            <a:off x="7226201" y="1740098"/>
            <a:ext cx="4508450" cy="9525"/>
          </a:xfrm>
          <a:prstGeom prst="rect">
            <a:avLst/>
          </a:prstGeom>
          <a:solidFill>
            <a:srgbClr val="1B1716"/>
          </a:solidFill>
          <a:ln>
            <a:noFill/>
          </a:ln>
        </p:spPr>
        <p:txBody>
          <a:bodyPr rtlCol="0" anchor="ctr"/>
          <a:lstStyle/>
          <a:p>
            <a:pPr algn="ctr"/>
            <a:endParaRPr/>
          </a:p>
        </p:txBody>
      </p:sp>
      <p:sp>
        <p:nvSpPr>
          <p:cNvPr id="33" name="Text"/>
          <p:cNvSpPr txBox="1"/>
          <p:nvPr/>
        </p:nvSpPr>
        <p:spPr>
          <a:xfrm>
            <a:off x="7226201" y="1445824"/>
            <a:ext cx="25619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…then dates trigger each step</a:t>
            </a:r>
          </a:p>
        </p:txBody>
      </p:sp>
      <p:sp>
        <p:nvSpPr>
          <p:cNvPr id="34" name="Rule"/>
          <p:cNvSpPr/>
          <p:nvPr/>
        </p:nvSpPr>
        <p:spPr>
          <a:xfrm>
            <a:off x="7273826" y="2016323"/>
            <a:ext cx="19050" cy="3041303"/>
          </a:xfrm>
          <a:prstGeom prst="rect">
            <a:avLst/>
          </a:prstGeom>
          <a:solidFill>
            <a:srgbClr val="EFD9DC"/>
          </a:solidFill>
          <a:ln>
            <a:noFill/>
          </a:ln>
        </p:spPr>
        <p:txBody>
          <a:bodyPr rtlCol="0" anchor="ctr"/>
          <a:lstStyle/>
          <a:p>
            <a:pPr algn="ctr"/>
            <a:endParaRPr/>
          </a:p>
        </p:txBody>
      </p:sp>
      <p:sp>
        <p:nvSpPr>
          <p:cNvPr id="35" name="ps-el"/>
          <p:cNvSpPr/>
          <p:nvPr/>
        </p:nvSpPr>
        <p:spPr>
          <a:xfrm>
            <a:off x="7226201" y="2033885"/>
            <a:ext cx="114300" cy="114300"/>
          </a:xfrm>
          <a:prstGeom prst="ellipse">
            <a:avLst/>
          </a:prstGeom>
          <a:solidFill>
            <a:srgbClr val="971320"/>
          </a:solidFill>
          <a:ln>
            <a:noFill/>
          </a:ln>
        </p:spPr>
        <p:txBody>
          <a:bodyPr rtlCol="0" anchor="ctr"/>
          <a:lstStyle/>
          <a:p>
            <a:pPr algn="ctr"/>
            <a:endParaRPr/>
          </a:p>
        </p:txBody>
      </p:sp>
      <p:sp>
        <p:nvSpPr>
          <p:cNvPr id="36" name="Text"/>
          <p:cNvSpPr txBox="1"/>
          <p:nvPr/>
        </p:nvSpPr>
        <p:spPr>
          <a:xfrm>
            <a:off x="7435751" y="1974199"/>
            <a:ext cx="52368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2028</a:t>
            </a:r>
          </a:p>
        </p:txBody>
      </p:sp>
      <p:sp>
        <p:nvSpPr>
          <p:cNvPr id="37" name="Text"/>
          <p:cNvSpPr txBox="1"/>
          <p:nvPr/>
        </p:nvSpPr>
        <p:spPr>
          <a:xfrm>
            <a:off x="8464451" y="1884307"/>
            <a:ext cx="187992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accepts an offer</a:t>
            </a:r>
          </a:p>
        </p:txBody>
      </p:sp>
      <p:sp>
        <p:nvSpPr>
          <p:cNvPr id="38" name="Text"/>
          <p:cNvSpPr txBox="1"/>
          <p:nvPr/>
        </p:nvSpPr>
        <p:spPr>
          <a:xfrm>
            <a:off x="8464451" y="2087826"/>
            <a:ext cx="22375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fees converted: no currency risk</a:t>
            </a:r>
          </a:p>
        </p:txBody>
      </p:sp>
      <p:pic>
        <p:nvPicPr>
          <p:cNvPr id="39" name="Picture" descr="image.jpg"/>
          <p:cNvPicPr>
            <a:picLocks noChangeAspect="1"/>
          </p:cNvPicPr>
          <p:nvPr/>
        </p:nvPicPr>
        <p:blipFill>
          <a:blip r:embed="rId6"/>
          <a:stretch>
            <a:fillRect/>
          </a:stretch>
        </p:blipFill>
        <p:spPr>
          <a:xfrm>
            <a:off x="111250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0" name="Picture" descr="image.jpg"/>
          <p:cNvPicPr>
            <a:picLocks noChangeAspect="1"/>
          </p:cNvPicPr>
          <p:nvPr/>
        </p:nvPicPr>
        <p:blipFill>
          <a:blip r:embed="rId3"/>
          <a:stretch>
            <a:fillRect/>
          </a:stretch>
        </p:blipFill>
        <p:spPr>
          <a:xfrm>
            <a:off x="1129650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1" name="Picture" descr="image.jpg"/>
          <p:cNvPicPr>
            <a:picLocks noChangeAspect="1"/>
          </p:cNvPicPr>
          <p:nvPr/>
        </p:nvPicPr>
        <p:blipFill>
          <a:blip r:embed="rId4"/>
          <a:stretch>
            <a:fillRect/>
          </a:stretch>
        </p:blipFill>
        <p:spPr>
          <a:xfrm>
            <a:off x="114679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2" name="ps-el"/>
          <p:cNvSpPr/>
          <p:nvPr/>
        </p:nvSpPr>
        <p:spPr>
          <a:xfrm>
            <a:off x="7226201" y="2780705"/>
            <a:ext cx="114300" cy="114300"/>
          </a:xfrm>
          <a:prstGeom prst="ellipse">
            <a:avLst/>
          </a:prstGeom>
          <a:solidFill>
            <a:srgbClr val="971320"/>
          </a:solidFill>
          <a:ln>
            <a:noFill/>
          </a:ln>
        </p:spPr>
        <p:txBody>
          <a:bodyPr rtlCol="0" anchor="ctr"/>
          <a:lstStyle/>
          <a:p>
            <a:pPr algn="ctr"/>
            <a:endParaRPr/>
          </a:p>
        </p:txBody>
      </p:sp>
      <p:sp>
        <p:nvSpPr>
          <p:cNvPr id="43" name="Text"/>
          <p:cNvSpPr txBox="1"/>
          <p:nvPr/>
        </p:nvSpPr>
        <p:spPr>
          <a:xfrm>
            <a:off x="7435751" y="2721019"/>
            <a:ext cx="52036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2032</a:t>
            </a:r>
          </a:p>
        </p:txBody>
      </p:sp>
      <p:sp>
        <p:nvSpPr>
          <p:cNvPr id="44" name="Text"/>
          <p:cNvSpPr txBox="1"/>
          <p:nvPr/>
        </p:nvSpPr>
        <p:spPr>
          <a:xfrm>
            <a:off x="8464451" y="2631126"/>
            <a:ext cx="1476223"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starts work</a:t>
            </a:r>
          </a:p>
        </p:txBody>
      </p:sp>
      <p:sp>
        <p:nvSpPr>
          <p:cNvPr id="45" name="Text"/>
          <p:cNvSpPr txBox="1"/>
          <p:nvPr/>
        </p:nvSpPr>
        <p:spPr>
          <a:xfrm>
            <a:off x="8464451" y="2834646"/>
            <a:ext cx="15306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with a plan of her own</a:t>
            </a:r>
          </a:p>
        </p:txBody>
      </p:sp>
      <p:pic>
        <p:nvPicPr>
          <p:cNvPr id="46" name="Picture" descr="image.jpg"/>
          <p:cNvPicPr>
            <a:picLocks noChangeAspect="1"/>
          </p:cNvPicPr>
          <p:nvPr/>
        </p:nvPicPr>
        <p:blipFill>
          <a:blip r:embed="rId6"/>
          <a:stretch>
            <a:fillRect/>
          </a:stretch>
        </p:blipFill>
        <p:spPr>
          <a:xfrm>
            <a:off x="11467951" y="270450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7" name="ps-el"/>
          <p:cNvSpPr/>
          <p:nvPr/>
        </p:nvSpPr>
        <p:spPr>
          <a:xfrm>
            <a:off x="7226201" y="3527524"/>
            <a:ext cx="114300" cy="114300"/>
          </a:xfrm>
          <a:prstGeom prst="ellipse">
            <a:avLst/>
          </a:prstGeom>
          <a:solidFill>
            <a:srgbClr val="971320"/>
          </a:solidFill>
          <a:ln>
            <a:noFill/>
          </a:ln>
        </p:spPr>
        <p:txBody>
          <a:bodyPr rtlCol="0" anchor="ctr"/>
          <a:lstStyle/>
          <a:p>
            <a:pPr algn="ctr"/>
            <a:endParaRPr/>
          </a:p>
        </p:txBody>
      </p:sp>
      <p:sp>
        <p:nvSpPr>
          <p:cNvPr id="48" name="Text"/>
          <p:cNvSpPr txBox="1"/>
          <p:nvPr/>
        </p:nvSpPr>
        <p:spPr>
          <a:xfrm>
            <a:off x="7435751" y="3467838"/>
            <a:ext cx="82499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2035–39</a:t>
            </a:r>
          </a:p>
        </p:txBody>
      </p:sp>
      <p:sp>
        <p:nvSpPr>
          <p:cNvPr id="49" name="Text"/>
          <p:cNvSpPr txBox="1"/>
          <p:nvPr/>
        </p:nvSpPr>
        <p:spPr>
          <a:xfrm>
            <a:off x="8464451" y="3377946"/>
            <a:ext cx="15741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Carmen's business</a:t>
            </a:r>
          </a:p>
        </p:txBody>
      </p:sp>
      <p:sp>
        <p:nvSpPr>
          <p:cNvPr id="50" name="Text"/>
          <p:cNvSpPr txBox="1"/>
          <p:nvPr/>
        </p:nvSpPr>
        <p:spPr>
          <a:xfrm>
            <a:off x="8464451" y="3581465"/>
            <a:ext cx="180483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sold in stages to her team</a:t>
            </a:r>
          </a:p>
        </p:txBody>
      </p:sp>
      <p:pic>
        <p:nvPicPr>
          <p:cNvPr id="51" name="Picture" descr="image.jpg"/>
          <p:cNvPicPr>
            <a:picLocks noChangeAspect="1"/>
          </p:cNvPicPr>
          <p:nvPr/>
        </p:nvPicPr>
        <p:blipFill>
          <a:blip r:embed="rId4"/>
          <a:stretch>
            <a:fillRect/>
          </a:stretch>
        </p:blipFill>
        <p:spPr>
          <a:xfrm>
            <a:off x="11467951" y="345132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2" name="ps-el"/>
          <p:cNvSpPr/>
          <p:nvPr/>
        </p:nvSpPr>
        <p:spPr>
          <a:xfrm>
            <a:off x="7226201" y="4274344"/>
            <a:ext cx="114300" cy="114300"/>
          </a:xfrm>
          <a:prstGeom prst="ellipse">
            <a:avLst/>
          </a:prstGeom>
          <a:solidFill>
            <a:srgbClr val="971320"/>
          </a:solidFill>
          <a:ln>
            <a:noFill/>
          </a:ln>
        </p:spPr>
        <p:txBody>
          <a:bodyPr rtlCol="0" anchor="ctr"/>
          <a:lstStyle/>
          <a:p>
            <a:pPr algn="ctr"/>
            <a:endParaRPr/>
          </a:p>
        </p:txBody>
      </p:sp>
      <p:sp>
        <p:nvSpPr>
          <p:cNvPr id="53" name="Text"/>
          <p:cNvSpPr txBox="1"/>
          <p:nvPr/>
        </p:nvSpPr>
        <p:spPr>
          <a:xfrm>
            <a:off x="7435751" y="4214658"/>
            <a:ext cx="81600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2037–39</a:t>
            </a:r>
          </a:p>
        </p:txBody>
      </p:sp>
      <p:sp>
        <p:nvSpPr>
          <p:cNvPr id="54" name="Text"/>
          <p:cNvSpPr txBox="1"/>
          <p:nvPr/>
        </p:nvSpPr>
        <p:spPr>
          <a:xfrm>
            <a:off x="8464451" y="4124766"/>
            <a:ext cx="93416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They retire</a:t>
            </a:r>
          </a:p>
        </p:txBody>
      </p:sp>
      <p:sp>
        <p:nvSpPr>
          <p:cNvPr id="55" name="Text"/>
          <p:cNvSpPr txBox="1"/>
          <p:nvPr/>
        </p:nvSpPr>
        <p:spPr>
          <a:xfrm>
            <a:off x="8464451" y="4328285"/>
            <a:ext cx="245684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the home released; an annuity each</a:t>
            </a:r>
          </a:p>
        </p:txBody>
      </p:sp>
      <p:pic>
        <p:nvPicPr>
          <p:cNvPr id="56" name="Picture" descr="image.jpg"/>
          <p:cNvPicPr>
            <a:picLocks noChangeAspect="1"/>
          </p:cNvPicPr>
          <p:nvPr/>
        </p:nvPicPr>
        <p:blipFill>
          <a:blip r:embed="rId3"/>
          <a:stretch>
            <a:fillRect/>
          </a:stretch>
        </p:blipFill>
        <p:spPr>
          <a:xfrm>
            <a:off x="1129650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57" name="Picture" descr="image.jpg"/>
          <p:cNvPicPr>
            <a:picLocks noChangeAspect="1"/>
          </p:cNvPicPr>
          <p:nvPr/>
        </p:nvPicPr>
        <p:blipFill>
          <a:blip r:embed="rId4"/>
          <a:stretch>
            <a:fillRect/>
          </a:stretch>
        </p:blipFill>
        <p:spPr>
          <a:xfrm>
            <a:off x="1146795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8" name="ps-el"/>
          <p:cNvSpPr/>
          <p:nvPr/>
        </p:nvSpPr>
        <p:spPr>
          <a:xfrm>
            <a:off x="7226201" y="5021163"/>
            <a:ext cx="114300" cy="114300"/>
          </a:xfrm>
          <a:prstGeom prst="ellipse">
            <a:avLst/>
          </a:prstGeom>
          <a:solidFill>
            <a:srgbClr val="971320"/>
          </a:solidFill>
          <a:ln>
            <a:noFill/>
          </a:ln>
        </p:spPr>
        <p:txBody>
          <a:bodyPr rtlCol="0" anchor="ctr"/>
          <a:lstStyle/>
          <a:p>
            <a:pPr algn="ctr"/>
            <a:endParaRPr/>
          </a:p>
        </p:txBody>
      </p:sp>
      <p:sp>
        <p:nvSpPr>
          <p:cNvPr id="59" name="Text"/>
          <p:cNvSpPr txBox="1"/>
          <p:nvPr/>
        </p:nvSpPr>
        <p:spPr>
          <a:xfrm>
            <a:off x="7435751" y="4961477"/>
            <a:ext cx="52115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2047</a:t>
            </a:r>
          </a:p>
        </p:txBody>
      </p:sp>
      <p:sp>
        <p:nvSpPr>
          <p:cNvPr id="60" name="Text"/>
          <p:cNvSpPr txBox="1"/>
          <p:nvPr/>
        </p:nvSpPr>
        <p:spPr>
          <a:xfrm>
            <a:off x="8464451" y="4871585"/>
            <a:ext cx="15973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medical review</a:t>
            </a:r>
          </a:p>
        </p:txBody>
      </p:sp>
      <p:sp>
        <p:nvSpPr>
          <p:cNvPr id="61" name="Text"/>
          <p:cNvSpPr txBox="1"/>
          <p:nvPr/>
        </p:nvSpPr>
        <p:spPr>
          <a:xfrm>
            <a:off x="8464451" y="5075105"/>
            <a:ext cx="989856"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at Adrian's 75</a:t>
            </a:r>
          </a:p>
        </p:txBody>
      </p:sp>
      <p:pic>
        <p:nvPicPr>
          <p:cNvPr id="62" name="Picture" descr="image.jpg"/>
          <p:cNvPicPr>
            <a:picLocks noChangeAspect="1"/>
          </p:cNvPicPr>
          <p:nvPr/>
        </p:nvPicPr>
        <p:blipFill>
          <a:blip r:embed="rId3"/>
          <a:stretch>
            <a:fillRect/>
          </a:stretch>
        </p:blipFill>
        <p:spPr>
          <a:xfrm>
            <a:off x="1129650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63" name="Picture" descr="image.jpg"/>
          <p:cNvPicPr>
            <a:picLocks noChangeAspect="1"/>
          </p:cNvPicPr>
          <p:nvPr/>
        </p:nvPicPr>
        <p:blipFill>
          <a:blip r:embed="rId4"/>
          <a:stretch>
            <a:fillRect/>
          </a:stretch>
        </p:blipFill>
        <p:spPr>
          <a:xfrm>
            <a:off x="1146795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64" name="Rule"/>
          <p:cNvSpPr/>
          <p:nvPr/>
        </p:nvSpPr>
        <p:spPr>
          <a:xfrm>
            <a:off x="457200" y="5400675"/>
            <a:ext cx="11277600" cy="9525"/>
          </a:xfrm>
          <a:prstGeom prst="rect">
            <a:avLst/>
          </a:prstGeom>
          <a:solidFill>
            <a:srgbClr val="ECDADD"/>
          </a:solidFill>
          <a:ln>
            <a:noFill/>
          </a:ln>
        </p:spPr>
        <p:txBody>
          <a:bodyPr rtlCol="0" anchor="ctr"/>
          <a:lstStyle/>
          <a:p>
            <a:pPr algn="ctr"/>
            <a:endParaRPr/>
          </a:p>
        </p:txBody>
      </p:sp>
      <p:pic>
        <p:nvPicPr>
          <p:cNvPr id="65" name="Drawing"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200" y="5524500"/>
            <a:ext cx="190500" cy="190500"/>
          </a:xfrm>
          <a:prstGeom prst="rect">
            <a:avLst/>
          </a:prstGeom>
        </p:spPr>
      </p:pic>
      <p:sp>
        <p:nvSpPr>
          <p:cNvPr id="66" name="Text"/>
          <p:cNvSpPr txBox="1"/>
          <p:nvPr/>
        </p:nvSpPr>
        <p:spPr>
          <a:xfrm>
            <a:off x="762000" y="5510814"/>
            <a:ext cx="11592601"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Reviewed as life changes:</a:t>
            </a:r>
            <a:r>
              <a:rPr sz="1050" b="0" i="0" kern="100">
                <a:solidFill>
                  <a:srgbClr val="1B1716"/>
                </a:solidFill>
                <a:latin typeface="Plus Jakarta Sans"/>
              </a:rPr>
              <a:t> the portfolio every quarter; a family meeting every year; at once after a death, a disability, a business sale, a 20% market fall or a 1.5-point rate move</a:t>
            </a:r>
          </a:p>
        </p:txBody>
      </p:sp>
      <p:sp>
        <p:nvSpPr>
          <p:cNvPr id="67"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8" name="Text"/>
          <p:cNvSpPr txBox="1"/>
          <p:nvPr/>
        </p:nvSpPr>
        <p:spPr>
          <a:xfrm>
            <a:off x="2557766" y="5984558"/>
            <a:ext cx="7076468"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For the Wongs, it starts this month; for Ryan and Chloe, it lasts beyond it.</a:t>
            </a:r>
          </a:p>
        </p:txBody>
      </p:sp>
      <p:sp>
        <p:nvSpPr>
          <p:cNvPr id="69" name="Text"/>
          <p:cNvSpPr txBox="1"/>
          <p:nvPr/>
        </p:nvSpPr>
        <p:spPr>
          <a:xfrm>
            <a:off x="457200" y="6452104"/>
            <a:ext cx="522281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 roadmap: written case §10, Figure 23; the faces are who acts on each step (its owners).</a:t>
            </a:r>
          </a:p>
          <a:p>
            <a:pPr algn="l">
              <a:lnSpc>
                <a:spcPts val="1170"/>
              </a:lnSpc>
              <a:spcBef>
                <a:spcPts val="0"/>
              </a:spcBef>
              <a:spcAft>
                <a:spcPts val="0"/>
              </a:spcAft>
            </a:pPr>
            <a:r>
              <a:rPr sz="900" b="0" i="0" kern="100">
                <a:solidFill>
                  <a:srgbClr val="80606A"/>
                </a:solidFill>
                <a:latin typeface="Plus Jakarta Sans"/>
              </a:rPr>
              <a:t>Illustrations, fictional.</a:t>
            </a:r>
          </a:p>
        </p:txBody>
      </p:sp>
      <p:sp>
        <p:nvSpPr>
          <p:cNvPr id="70" name="Text"/>
          <p:cNvSpPr txBox="1"/>
          <p:nvPr/>
        </p:nvSpPr>
        <p:spPr>
          <a:xfrm>
            <a:off x="6652617"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1" name="Text"/>
          <p:cNvSpPr txBox="1"/>
          <p:nvPr/>
        </p:nvSpPr>
        <p:spPr>
          <a:xfrm>
            <a:off x="759886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2" name="Text"/>
          <p:cNvSpPr txBox="1"/>
          <p:nvPr/>
        </p:nvSpPr>
        <p:spPr>
          <a:xfrm>
            <a:off x="8459093"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3" name="Text"/>
          <p:cNvSpPr txBox="1"/>
          <p:nvPr/>
        </p:nvSpPr>
        <p:spPr>
          <a:xfrm>
            <a:off x="9395966"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4" name="Text"/>
          <p:cNvSpPr txBox="1"/>
          <p:nvPr/>
        </p:nvSpPr>
        <p:spPr>
          <a:xfrm>
            <a:off x="10193982" y="6536246"/>
            <a:ext cx="75369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next</a:t>
            </a:r>
          </a:p>
        </p:txBody>
      </p:sp>
      <p:sp>
        <p:nvSpPr>
          <p:cNvPr id="75" name="Text"/>
          <p:cNvSpPr txBox="1"/>
          <p:nvPr/>
        </p:nvSpPr>
        <p:spPr>
          <a:xfrm>
            <a:off x="1100673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6" name="Text"/>
          <p:cNvSpPr txBox="1"/>
          <p:nvPr/>
        </p:nvSpPr>
        <p:spPr>
          <a:xfrm>
            <a:off x="11385054" y="6535674"/>
            <a:ext cx="48503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11 / 15</a:t>
            </a:r>
          </a:p>
        </p:txBody>
      </p:sp>
      <p:sp>
        <p:nvSpPr>
          <p:cNvPr id="77" name="Ring"/>
          <p:cNvSpPr/>
          <p:nvPr/>
        </p:nvSpPr>
        <p:spPr>
          <a:xfrm>
            <a:off x="409575" y="2691557"/>
            <a:ext cx="590550" cy="590550"/>
          </a:xfrm>
          <a:prstGeom prst="ellipse">
            <a:avLst/>
          </a:prstGeom>
          <a:solidFill>
            <a:srgbClr val="FFFFFF"/>
          </a:solidFill>
          <a:ln>
            <a:noFill/>
          </a:ln>
        </p:spPr>
        <p:txBody>
          <a:bodyPr rtlCol="0" anchor="ctr"/>
          <a:lstStyle/>
          <a:p>
            <a:pPr algn="ctr"/>
            <a:endParaRPr/>
          </a:p>
        </p:txBody>
      </p:sp>
      <p:sp>
        <p:nvSpPr>
          <p:cNvPr id="78" name="span"/>
          <p:cNvSpPr/>
          <p:nvPr/>
        </p:nvSpPr>
        <p:spPr>
          <a:xfrm>
            <a:off x="457200" y="2739182"/>
            <a:ext cx="495300" cy="495300"/>
          </a:xfrm>
          <a:prstGeom prst="ellipse">
            <a:avLst/>
          </a:prstGeom>
          <a:gradFill rotWithShape="0">
            <a:gsLst>
              <a:gs pos="0">
                <a:srgbClr val="D40F1F"/>
              </a:gs>
              <a:gs pos="100000">
                <a:srgbClr val="971320"/>
              </a:gs>
            </a:gsLst>
            <a:lin ang="5400000" scaled="0"/>
          </a:gradFill>
          <a:ln>
            <a:noFill/>
          </a:ln>
        </p:spPr>
        <p:txBody>
          <a:bodyPr rtlCol="0" anchor="ctr"/>
          <a:lstStyle/>
          <a:p>
            <a:pPr algn="ctr"/>
            <a:endParaRPr/>
          </a:p>
        </p:txBody>
      </p:sp>
      <p:pic>
        <p:nvPicPr>
          <p:cNvPr id="79" name="Drawing"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90550" y="2872532"/>
            <a:ext cx="228600" cy="228600"/>
          </a:xfrm>
          <a:prstGeom prst="rect">
            <a:avLst/>
          </a:prstGeom>
        </p:spPr>
      </p:pic>
      <p:sp>
        <p:nvSpPr>
          <p:cNvPr id="80" name="Ring"/>
          <p:cNvSpPr/>
          <p:nvPr/>
        </p:nvSpPr>
        <p:spPr>
          <a:xfrm>
            <a:off x="2030313" y="2691557"/>
            <a:ext cx="590550" cy="590550"/>
          </a:xfrm>
          <a:prstGeom prst="ellipse">
            <a:avLst/>
          </a:prstGeom>
          <a:solidFill>
            <a:srgbClr val="FFFFFF"/>
          </a:solidFill>
          <a:ln>
            <a:noFill/>
          </a:ln>
        </p:spPr>
        <p:txBody>
          <a:bodyPr rtlCol="0" anchor="ctr"/>
          <a:lstStyle/>
          <a:p>
            <a:pPr algn="ctr"/>
            <a:endParaRPr/>
          </a:p>
        </p:txBody>
      </p:sp>
      <p:sp>
        <p:nvSpPr>
          <p:cNvPr id="81" name="span"/>
          <p:cNvSpPr/>
          <p:nvPr/>
        </p:nvSpPr>
        <p:spPr>
          <a:xfrm>
            <a:off x="2077938" y="2739182"/>
            <a:ext cx="495300" cy="495300"/>
          </a:xfrm>
          <a:prstGeom prst="ellipse">
            <a:avLst/>
          </a:prstGeom>
          <a:solidFill>
            <a:srgbClr val="F8EFF0"/>
          </a:solidFill>
          <a:ln>
            <a:noFill/>
          </a:ln>
        </p:spPr>
        <p:txBody>
          <a:bodyPr rtlCol="0" anchor="ctr"/>
          <a:lstStyle/>
          <a:p>
            <a:pPr algn="ctr"/>
            <a:endParaRPr/>
          </a:p>
        </p:txBody>
      </p:sp>
      <p:pic>
        <p:nvPicPr>
          <p:cNvPr id="82" name="Drawing"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211288" y="2872532"/>
            <a:ext cx="228600" cy="228600"/>
          </a:xfrm>
          <a:prstGeom prst="rect">
            <a:avLst/>
          </a:prstGeom>
        </p:spPr>
      </p:pic>
      <p:sp>
        <p:nvSpPr>
          <p:cNvPr id="83" name="Ring"/>
          <p:cNvSpPr/>
          <p:nvPr/>
        </p:nvSpPr>
        <p:spPr>
          <a:xfrm>
            <a:off x="3651200" y="2691557"/>
            <a:ext cx="590550" cy="590550"/>
          </a:xfrm>
          <a:prstGeom prst="ellipse">
            <a:avLst/>
          </a:prstGeom>
          <a:solidFill>
            <a:srgbClr val="FFFFFF"/>
          </a:solidFill>
          <a:ln>
            <a:noFill/>
          </a:ln>
        </p:spPr>
        <p:txBody>
          <a:bodyPr rtlCol="0" anchor="ctr"/>
          <a:lstStyle/>
          <a:p>
            <a:pPr algn="ctr"/>
            <a:endParaRPr/>
          </a:p>
        </p:txBody>
      </p:sp>
      <p:sp>
        <p:nvSpPr>
          <p:cNvPr id="84" name="span"/>
          <p:cNvSpPr/>
          <p:nvPr/>
        </p:nvSpPr>
        <p:spPr>
          <a:xfrm>
            <a:off x="3698825" y="2739182"/>
            <a:ext cx="495300" cy="495300"/>
          </a:xfrm>
          <a:prstGeom prst="ellipse">
            <a:avLst/>
          </a:prstGeom>
          <a:solidFill>
            <a:srgbClr val="F8EFF0"/>
          </a:solidFill>
          <a:ln>
            <a:noFill/>
          </a:ln>
        </p:spPr>
        <p:txBody>
          <a:bodyPr rtlCol="0" anchor="ctr"/>
          <a:lstStyle/>
          <a:p>
            <a:pPr algn="ctr"/>
            <a:endParaRPr/>
          </a:p>
        </p:txBody>
      </p:sp>
      <p:pic>
        <p:nvPicPr>
          <p:cNvPr id="85" name="Drawing" descr="image.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832175" y="2872532"/>
            <a:ext cx="228600" cy="228600"/>
          </a:xfrm>
          <a:prstGeom prst="rect">
            <a:avLst/>
          </a:prstGeom>
        </p:spPr>
      </p:pic>
      <p:sp>
        <p:nvSpPr>
          <p:cNvPr id="86" name="Ring"/>
          <p:cNvSpPr/>
          <p:nvPr/>
        </p:nvSpPr>
        <p:spPr>
          <a:xfrm>
            <a:off x="5271939" y="2691557"/>
            <a:ext cx="590550" cy="590550"/>
          </a:xfrm>
          <a:prstGeom prst="ellipse">
            <a:avLst/>
          </a:prstGeom>
          <a:solidFill>
            <a:srgbClr val="FFFFFF"/>
          </a:solidFill>
          <a:ln>
            <a:noFill/>
          </a:ln>
        </p:spPr>
        <p:txBody>
          <a:bodyPr rtlCol="0" anchor="ctr"/>
          <a:lstStyle/>
          <a:p>
            <a:pPr algn="ctr"/>
            <a:endParaRPr/>
          </a:p>
        </p:txBody>
      </p:sp>
      <p:sp>
        <p:nvSpPr>
          <p:cNvPr id="87" name="span"/>
          <p:cNvSpPr/>
          <p:nvPr/>
        </p:nvSpPr>
        <p:spPr>
          <a:xfrm>
            <a:off x="5319564" y="2739182"/>
            <a:ext cx="495300" cy="495300"/>
          </a:xfrm>
          <a:prstGeom prst="ellipse">
            <a:avLst/>
          </a:prstGeom>
          <a:solidFill>
            <a:srgbClr val="F8EFF0"/>
          </a:solidFill>
          <a:ln>
            <a:noFill/>
          </a:ln>
        </p:spPr>
        <p:txBody>
          <a:bodyPr rtlCol="0" anchor="ctr"/>
          <a:lstStyle/>
          <a:p>
            <a:pPr algn="ctr"/>
            <a:endParaRPr/>
          </a:p>
        </p:txBody>
      </p:sp>
      <p:pic>
        <p:nvPicPr>
          <p:cNvPr id="88" name="Drawing" descr="image.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52914" y="2872532"/>
            <a:ext cx="228600" cy="2286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In the very futures where their own way sells the home, the plan leaves Ryan and Chloe HK$7.7M, not HK$2.3M">
    <p:spTree>
      <p:nvGrpSpPr>
        <p:cNvPr id="1" name=""/>
        <p:cNvGrpSpPr/>
        <p:nvPr/>
      </p:nvGrpSpPr>
      <p:grpSpPr>
        <a:xfrm>
          <a:off x="0" y="0"/>
          <a:ext cx="0" cy="0"/>
          <a:chOff x="0" y="0"/>
          <a:chExt cx="0" cy="0"/>
        </a:xfrm>
      </p:grpSpPr>
      <p:sp>
        <p:nvSpPr>
          <p:cNvPr id="2" name="Rule"/>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ext"/>
          <p:cNvSpPr txBox="1"/>
          <p:nvPr/>
        </p:nvSpPr>
        <p:spPr>
          <a:xfrm>
            <a:off x="638175" y="324421"/>
            <a:ext cx="118200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passes on</a:t>
            </a:r>
          </a:p>
        </p:txBody>
      </p:sp>
      <p:sp>
        <p:nvSpPr>
          <p:cNvPr id="5" name="Text"/>
          <p:cNvSpPr txBox="1"/>
          <p:nvPr/>
        </p:nvSpPr>
        <p:spPr>
          <a:xfrm>
            <a:off x="638175" y="529852"/>
            <a:ext cx="755163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 the very futures where their own way sells the home,</a:t>
            </a:r>
          </a:p>
          <a:p>
            <a:pPr algn="l">
              <a:lnSpc>
                <a:spcPts val="2523"/>
              </a:lnSpc>
              <a:spcBef>
                <a:spcPts val="0"/>
              </a:spcBef>
              <a:spcAft>
                <a:spcPts val="0"/>
              </a:spcAft>
            </a:pPr>
            <a:r>
              <a:rPr sz="2175" b="1" i="0" kern="100" spc="-38">
                <a:solidFill>
                  <a:srgbClr val="1B1716"/>
                </a:solidFill>
                <a:latin typeface="Plus Jakarta Sans"/>
              </a:rPr>
              <a:t>the plan leaves Ryan and Chloe HK$7.7M, not HK$2.3M</a:t>
            </a:r>
          </a:p>
        </p:txBody>
      </p:sp>
      <p:sp>
        <p:nvSpPr>
          <p:cNvPr id="6" name="Rule"/>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7" name="Text"/>
          <p:cNvSpPr txBox="1"/>
          <p:nvPr/>
        </p:nvSpPr>
        <p:spPr>
          <a:xfrm>
            <a:off x="457200" y="1445824"/>
            <a:ext cx="341711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What their wealth does, and what is left…</a:t>
            </a:r>
          </a:p>
        </p:txBody>
      </p:sp>
      <p:sp>
        <p:nvSpPr>
          <p:cNvPr id="8" name="Text"/>
          <p:cNvSpPr txBox="1"/>
          <p:nvPr/>
        </p:nvSpPr>
        <p:spPr>
          <a:xfrm>
            <a:off x="457200" y="1866781"/>
            <a:ext cx="1151242"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spc="-15">
                <a:solidFill>
                  <a:srgbClr val="1B1716"/>
                </a:solidFill>
                <a:latin typeface="Plus Jakarta Sans"/>
              </a:rPr>
              <a:t>HK$24.4M</a:t>
            </a:r>
          </a:p>
        </p:txBody>
      </p:sp>
      <p:sp>
        <p:nvSpPr>
          <p:cNvPr id="9" name="Text"/>
          <p:cNvSpPr txBox="1"/>
          <p:nvPr/>
        </p:nvSpPr>
        <p:spPr>
          <a:xfrm>
            <a:off x="1530697" y="1903357"/>
            <a:ext cx="17978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Today, their net worth</a:t>
            </a:r>
          </a:p>
        </p:txBody>
      </p:sp>
      <p:sp>
        <p:nvSpPr>
          <p:cNvPr id="10" name="Text"/>
          <p:cNvSpPr txBox="1"/>
          <p:nvPr/>
        </p:nvSpPr>
        <p:spPr>
          <a:xfrm>
            <a:off x="1530697" y="2103543"/>
            <a:ext cx="2005974"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with their pay until they retire</a:t>
            </a:r>
          </a:p>
        </p:txBody>
      </p:sp>
      <p:sp>
        <p:nvSpPr>
          <p:cNvPr id="11" name="Rule"/>
          <p:cNvSpPr/>
          <p:nvPr/>
        </p:nvSpPr>
        <p:spPr>
          <a:xfrm>
            <a:off x="590550" y="2420094"/>
            <a:ext cx="19050" cy="430411"/>
          </a:xfrm>
          <a:prstGeom prst="rect">
            <a:avLst/>
          </a:prstGeom>
          <a:solidFill>
            <a:srgbClr val="EFD9DC"/>
          </a:solidFill>
          <a:ln>
            <a:noFill/>
          </a:ln>
        </p:spPr>
        <p:txBody>
          <a:bodyPr rtlCol="0" anchor="ctr"/>
          <a:lstStyle/>
          <a:p>
            <a:pPr algn="ctr"/>
            <a:endParaRPr/>
          </a:p>
        </p:txBody>
      </p:sp>
      <p:sp>
        <p:nvSpPr>
          <p:cNvPr id="12" name="Arrowhead"/>
          <p:cNvSpPr/>
          <p:nvPr/>
        </p:nvSpPr>
        <p:spPr>
          <a:xfrm rot="10800000">
            <a:off x="542925" y="2831455"/>
            <a:ext cx="114300" cy="76200"/>
          </a:xfrm>
          <a:prstGeom prst="triangle">
            <a:avLst/>
          </a:prstGeom>
          <a:solidFill>
            <a:srgbClr val="EFD9DC"/>
          </a:solidFill>
          <a:ln>
            <a:noFill/>
          </a:ln>
        </p:spPr>
        <p:txBody>
          <a:bodyPr rtlCol="0" anchor="ctr"/>
          <a:lstStyle/>
          <a:p>
            <a:pPr algn="ctr"/>
            <a:endParaRPr/>
          </a:p>
        </p:txBody>
      </p:sp>
      <p:sp>
        <p:nvSpPr>
          <p:cNvPr id="13" name="Text"/>
          <p:cNvSpPr txBox="1"/>
          <p:nvPr/>
        </p:nvSpPr>
        <p:spPr>
          <a:xfrm>
            <a:off x="742950" y="2423523"/>
            <a:ext cx="6035108"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SemiBold"/>
              </a:rPr>
              <a:t>First, it pays for 40 years of the life they chose:</a:t>
            </a:r>
            <a:r>
              <a:rPr sz="1050" b="0" i="0" kern="100">
                <a:solidFill>
                  <a:srgbClr val="1B1716"/>
                </a:solidFill>
                <a:latin typeface="Plus Jakarta Sans"/>
              </a:rPr>
              <a:t> their HK$780K a year, Chloe's degree, the</a:t>
            </a:r>
          </a:p>
          <a:p>
            <a:pPr algn="l">
              <a:lnSpc>
                <a:spcPts val="1470"/>
              </a:lnSpc>
              <a:spcBef>
                <a:spcPts val="0"/>
              </a:spcBef>
              <a:spcAft>
                <a:spcPts val="0"/>
              </a:spcAft>
            </a:pPr>
            <a:r>
              <a:rPr sz="1050" b="0" i="0" kern="100">
                <a:solidFill>
                  <a:srgbClr val="1B1716"/>
                </a:solidFill>
                <a:latin typeface="Plus Jakarta Sans"/>
              </a:rPr>
              <a:t>medical cover</a:t>
            </a:r>
          </a:p>
        </p:txBody>
      </p:sp>
      <p:sp>
        <p:nvSpPr>
          <p:cNvPr id="14" name="Rule"/>
          <p:cNvSpPr/>
          <p:nvPr/>
        </p:nvSpPr>
        <p:spPr>
          <a:xfrm>
            <a:off x="457200" y="3031034"/>
            <a:ext cx="6483251" cy="9525"/>
          </a:xfrm>
          <a:prstGeom prst="rect">
            <a:avLst/>
          </a:prstGeom>
          <a:solidFill>
            <a:srgbClr val="ECDADD"/>
          </a:solidFill>
          <a:ln>
            <a:noFill/>
          </a:ln>
        </p:spPr>
        <p:txBody>
          <a:bodyPr rtlCol="0" anchor="ctr"/>
          <a:lstStyle/>
          <a:p>
            <a:pPr algn="ctr"/>
            <a:endParaRPr/>
          </a:p>
        </p:txBody>
      </p:sp>
      <p:sp>
        <p:nvSpPr>
          <p:cNvPr id="15" name="Text"/>
          <p:cNvSpPr txBox="1"/>
          <p:nvPr/>
        </p:nvSpPr>
        <p:spPr>
          <a:xfrm>
            <a:off x="457200" y="3180957"/>
            <a:ext cx="6883845" cy="41142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Left to Ryan and Chloe at Carmen's 89, in the futures where their own way sells the home</a:t>
            </a:r>
          </a:p>
          <a:p>
            <a:pPr algn="l">
              <a:lnSpc>
                <a:spcPts val="1620"/>
              </a:lnSpc>
              <a:spcBef>
                <a:spcPts val="0"/>
              </a:spcBef>
              <a:spcAft>
                <a:spcPts val="0"/>
              </a:spcAft>
            </a:pPr>
            <a:r>
              <a:rPr sz="1200" b="0" i="0" kern="100">
                <a:solidFill>
                  <a:srgbClr val="1B1716"/>
                </a:solidFill>
                <a:latin typeface="Plus Jakarta Sans SemiBold"/>
              </a:rPr>
              <a:t>(today's money)</a:t>
            </a:r>
          </a:p>
        </p:txBody>
      </p:sp>
      <p:sp>
        <p:nvSpPr>
          <p:cNvPr id="16" name="Text"/>
          <p:cNvSpPr txBox="1"/>
          <p:nvPr/>
        </p:nvSpPr>
        <p:spPr>
          <a:xfrm>
            <a:off x="457200" y="3990463"/>
            <a:ext cx="116559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80606A"/>
                </a:solidFill>
                <a:latin typeface="Plus Jakarta Sans"/>
              </a:rPr>
              <a:t>Their own way</a:t>
            </a:r>
          </a:p>
        </p:txBody>
      </p:sp>
      <p:sp>
        <p:nvSpPr>
          <p:cNvPr id="17" name="i"/>
          <p:cNvSpPr/>
          <p:nvPr/>
        </p:nvSpPr>
        <p:spPr>
          <a:xfrm>
            <a:off x="1733550" y="3890070"/>
            <a:ext cx="622697" cy="419100"/>
          </a:xfrm>
          <a:prstGeom prst="rect">
            <a:avLst/>
          </a:prstGeom>
          <a:solidFill>
            <a:srgbClr val="D3A6AD"/>
          </a:solidFill>
          <a:ln>
            <a:noFill/>
          </a:ln>
        </p:spPr>
        <p:txBody>
          <a:bodyPr rtlCol="0" anchor="ctr"/>
          <a:lstStyle/>
          <a:p>
            <a:pPr algn="ctr"/>
            <a:endParaRPr/>
          </a:p>
        </p:txBody>
      </p:sp>
      <p:sp>
        <p:nvSpPr>
          <p:cNvPr id="18" name="Text"/>
          <p:cNvSpPr txBox="1"/>
          <p:nvPr/>
        </p:nvSpPr>
        <p:spPr>
          <a:xfrm>
            <a:off x="2508647" y="3881497"/>
            <a:ext cx="1849794" cy="381000"/>
          </a:xfrm>
          <a:prstGeom prst="rect">
            <a:avLst/>
          </a:prstGeom>
          <a:noFill/>
        </p:spPr>
        <p:txBody>
          <a:bodyPr wrap="none" lIns="0" tIns="0" rIns="0" bIns="0" anchor="t">
            <a:noAutofit/>
          </a:bodyPr>
          <a:lstStyle/>
          <a:p>
            <a:pPr algn="l">
              <a:lnSpc>
                <a:spcPts val="3000"/>
              </a:lnSpc>
              <a:spcBef>
                <a:spcPts val="0"/>
              </a:spcBef>
              <a:spcAft>
                <a:spcPts val="0"/>
              </a:spcAft>
            </a:pPr>
            <a:r>
              <a:rPr sz="3000" b="0" i="0" kern="100" spc="-75">
                <a:solidFill>
                  <a:srgbClr val="80606A"/>
                </a:solidFill>
                <a:latin typeface="Plus Jakarta Sans SemiBold"/>
              </a:rPr>
              <a:t>HK$2.3M</a:t>
            </a:r>
          </a:p>
        </p:txBody>
      </p:sp>
      <p:sp>
        <p:nvSpPr>
          <p:cNvPr id="19" name="Text"/>
          <p:cNvSpPr txBox="1"/>
          <p:nvPr/>
        </p:nvSpPr>
        <p:spPr>
          <a:xfrm>
            <a:off x="457200" y="4828663"/>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20" name="i"/>
          <p:cNvSpPr/>
          <p:nvPr/>
        </p:nvSpPr>
        <p:spPr>
          <a:xfrm>
            <a:off x="1733550" y="4728270"/>
            <a:ext cx="2082701" cy="4191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21" name="Text"/>
          <p:cNvSpPr txBox="1"/>
          <p:nvPr/>
        </p:nvSpPr>
        <p:spPr>
          <a:xfrm>
            <a:off x="3968651" y="4549009"/>
            <a:ext cx="3154135" cy="685800"/>
          </a:xfrm>
          <a:prstGeom prst="rect">
            <a:avLst/>
          </a:prstGeom>
          <a:noFill/>
        </p:spPr>
        <p:txBody>
          <a:bodyPr wrap="none" lIns="0" tIns="0" rIns="0" bIns="0" anchor="t">
            <a:noAutofit/>
          </a:bodyPr>
          <a:lstStyle/>
          <a:p>
            <a:pPr algn="l">
              <a:lnSpc>
                <a:spcPts val="5400"/>
              </a:lnSpc>
              <a:spcBef>
                <a:spcPts val="0"/>
              </a:spcBef>
              <a:spcAft>
                <a:spcPts val="0"/>
              </a:spcAft>
            </a:pPr>
            <a:r>
              <a:rPr sz="5400" b="1" i="0" kern="100" spc="-150">
                <a:solidFill>
                  <a:srgbClr val="C80E1E"/>
                </a:solidFill>
                <a:latin typeface="Plus Jakarta Sans"/>
              </a:rPr>
              <a:t>HK$7.7M</a:t>
            </a:r>
          </a:p>
        </p:txBody>
      </p:sp>
      <p:sp>
        <p:nvSpPr>
          <p:cNvPr id="22" name="Text"/>
          <p:cNvSpPr txBox="1"/>
          <p:nvPr/>
        </p:nvSpPr>
        <p:spPr>
          <a:xfrm>
            <a:off x="457200" y="5459218"/>
            <a:ext cx="5091401"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More than three times as much, and more in 97% of those futures</a:t>
            </a:r>
          </a:p>
        </p:txBody>
      </p:sp>
      <p:sp>
        <p:nvSpPr>
          <p:cNvPr id="23" name="Rule"/>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4" name="Text"/>
          <p:cNvSpPr txBox="1"/>
          <p:nvPr/>
        </p:nvSpPr>
        <p:spPr>
          <a:xfrm>
            <a:off x="7169051" y="1445824"/>
            <a:ext cx="405777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if a parent dies early, it still passes on safely</a:t>
            </a:r>
          </a:p>
        </p:txBody>
      </p:sp>
      <p:sp>
        <p:nvSpPr>
          <p:cNvPr id="25" name="Text"/>
          <p:cNvSpPr txBox="1"/>
          <p:nvPr/>
        </p:nvSpPr>
        <p:spPr>
          <a:xfrm>
            <a:off x="7169051" y="1817251"/>
            <a:ext cx="4791030"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Wills, a guardian and trusts, signed in month one for under HK$25K</a:t>
            </a:r>
          </a:p>
        </p:txBody>
      </p:sp>
      <p:sp>
        <p:nvSpPr>
          <p:cNvPr id="26" name="span"/>
          <p:cNvSpPr/>
          <p:nvPr/>
        </p:nvSpPr>
        <p:spPr>
          <a:xfrm>
            <a:off x="9023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7" name="Picture" descr="image.jpg"/>
          <p:cNvPicPr>
            <a:picLocks noChangeAspect="1"/>
          </p:cNvPicPr>
          <p:nvPr/>
        </p:nvPicPr>
        <p:blipFill>
          <a:blip r:embed="rId4"/>
          <a:stretch>
            <a:fillRect/>
          </a:stretch>
        </p:blipFill>
        <p:spPr>
          <a:xfrm>
            <a:off x="9032677" y="2140148"/>
            <a:ext cx="457200" cy="457200"/>
          </a:xfrm>
          <a:prstGeom prst="ellipse">
            <a:avLst/>
          </a:prstGeom>
        </p:spPr>
      </p:pic>
      <p:sp>
        <p:nvSpPr>
          <p:cNvPr id="28" name="span"/>
          <p:cNvSpPr/>
          <p:nvPr/>
        </p:nvSpPr>
        <p:spPr>
          <a:xfrm>
            <a:off x="9404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9" name="Picture" descr="image.jpg"/>
          <p:cNvPicPr>
            <a:picLocks noChangeAspect="1"/>
          </p:cNvPicPr>
          <p:nvPr/>
        </p:nvPicPr>
        <p:blipFill>
          <a:blip r:embed="rId5"/>
          <a:stretch>
            <a:fillRect/>
          </a:stretch>
        </p:blipFill>
        <p:spPr>
          <a:xfrm>
            <a:off x="9413677" y="2140148"/>
            <a:ext cx="457200" cy="457200"/>
          </a:xfrm>
          <a:prstGeom prst="ellipse">
            <a:avLst/>
          </a:prstGeom>
        </p:spPr>
      </p:pic>
      <p:sp>
        <p:nvSpPr>
          <p:cNvPr id="30" name="Text"/>
          <p:cNvSpPr txBox="1"/>
          <p:nvPr/>
        </p:nvSpPr>
        <p:spPr>
          <a:xfrm>
            <a:off x="7770510" y="2655832"/>
            <a:ext cx="3362533"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Adrian and Carmen: each to the other first</a:t>
            </a:r>
          </a:p>
        </p:txBody>
      </p:sp>
      <p:sp>
        <p:nvSpPr>
          <p:cNvPr id="31" name="Text"/>
          <p:cNvSpPr txBox="1"/>
          <p:nvPr/>
        </p:nvSpPr>
        <p:spPr>
          <a:xfrm>
            <a:off x="8630610" y="2859351"/>
            <a:ext cx="1642184"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then to Ryan and Chloe</a:t>
            </a:r>
          </a:p>
        </p:txBody>
      </p:sp>
      <p:sp>
        <p:nvSpPr>
          <p:cNvPr id="32" name="Rule"/>
          <p:cNvSpPr/>
          <p:nvPr/>
        </p:nvSpPr>
        <p:spPr>
          <a:xfrm>
            <a:off x="9451628" y="3127772"/>
            <a:ext cx="19050" cy="133350"/>
          </a:xfrm>
          <a:prstGeom prst="rect">
            <a:avLst/>
          </a:prstGeom>
          <a:solidFill>
            <a:srgbClr val="D3A6AD"/>
          </a:solidFill>
          <a:ln>
            <a:noFill/>
          </a:ln>
        </p:spPr>
        <p:txBody>
          <a:bodyPr rtlCol="0" anchor="ctr"/>
          <a:lstStyle/>
          <a:p>
            <a:pPr algn="ctr"/>
            <a:endParaRPr/>
          </a:p>
        </p:txBody>
      </p:sp>
      <p:sp>
        <p:nvSpPr>
          <p:cNvPr id="33" name="Rule"/>
          <p:cNvSpPr/>
          <p:nvPr/>
        </p:nvSpPr>
        <p:spPr>
          <a:xfrm>
            <a:off x="8310414" y="3261122"/>
            <a:ext cx="2282577" cy="19050"/>
          </a:xfrm>
          <a:prstGeom prst="rect">
            <a:avLst/>
          </a:prstGeom>
          <a:solidFill>
            <a:srgbClr val="D3A6AD"/>
          </a:solidFill>
          <a:ln>
            <a:noFill/>
          </a:ln>
        </p:spPr>
        <p:txBody>
          <a:bodyPr rtlCol="0" anchor="ctr"/>
          <a:lstStyle/>
          <a:p>
            <a:pPr algn="ctr"/>
            <a:endParaRPr/>
          </a:p>
        </p:txBody>
      </p:sp>
      <p:sp>
        <p:nvSpPr>
          <p:cNvPr id="34" name="Rule"/>
          <p:cNvSpPr/>
          <p:nvPr/>
        </p:nvSpPr>
        <p:spPr>
          <a:xfrm>
            <a:off x="10573941" y="3261122"/>
            <a:ext cx="19050" cy="152400"/>
          </a:xfrm>
          <a:prstGeom prst="rect">
            <a:avLst/>
          </a:prstGeom>
          <a:solidFill>
            <a:srgbClr val="D3A6AD"/>
          </a:solidFill>
          <a:ln>
            <a:noFill/>
          </a:ln>
        </p:spPr>
        <p:txBody>
          <a:bodyPr rtlCol="0" anchor="ctr"/>
          <a:lstStyle/>
          <a:p>
            <a:pPr algn="ctr"/>
            <a:endParaRPr/>
          </a:p>
        </p:txBody>
      </p:sp>
      <p:sp>
        <p:nvSpPr>
          <p:cNvPr id="35" name="Rule"/>
          <p:cNvSpPr/>
          <p:nvPr/>
        </p:nvSpPr>
        <p:spPr>
          <a:xfrm>
            <a:off x="8310414" y="3261122"/>
            <a:ext cx="19050" cy="152400"/>
          </a:xfrm>
          <a:prstGeom prst="rect">
            <a:avLst/>
          </a:prstGeom>
          <a:solidFill>
            <a:srgbClr val="D3A6AD"/>
          </a:solidFill>
          <a:ln>
            <a:noFill/>
          </a:ln>
        </p:spPr>
        <p:txBody>
          <a:bodyPr rtlCol="0" anchor="ctr"/>
          <a:lstStyle/>
          <a:p>
            <a:pPr algn="ctr"/>
            <a:endParaRPr/>
          </a:p>
        </p:txBody>
      </p:sp>
      <p:sp>
        <p:nvSpPr>
          <p:cNvPr id="36" name="span"/>
          <p:cNvSpPr/>
          <p:nvPr/>
        </p:nvSpPr>
        <p:spPr>
          <a:xfrm>
            <a:off x="8072289"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descr="image.jpg"/>
          <p:cNvPicPr>
            <a:picLocks noChangeAspect="1"/>
          </p:cNvPicPr>
          <p:nvPr/>
        </p:nvPicPr>
        <p:blipFill>
          <a:blip r:embed="rId6"/>
          <a:stretch>
            <a:fillRect/>
          </a:stretch>
        </p:blipFill>
        <p:spPr>
          <a:xfrm>
            <a:off x="8081814" y="3432572"/>
            <a:ext cx="457200" cy="457200"/>
          </a:xfrm>
          <a:prstGeom prst="ellipse">
            <a:avLst/>
          </a:prstGeom>
        </p:spPr>
      </p:pic>
      <p:sp>
        <p:nvSpPr>
          <p:cNvPr id="38" name="Text"/>
          <p:cNvSpPr txBox="1"/>
          <p:nvPr/>
        </p:nvSpPr>
        <p:spPr>
          <a:xfrm>
            <a:off x="7916766" y="3948255"/>
            <a:ext cx="787295"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Ryan, 24</a:t>
            </a:r>
          </a:p>
        </p:txBody>
      </p:sp>
      <p:sp>
        <p:nvSpPr>
          <p:cNvPr id="39" name="Text"/>
          <p:cNvSpPr txBox="1"/>
          <p:nvPr/>
        </p:nvSpPr>
        <p:spPr>
          <a:xfrm>
            <a:off x="7307979" y="4151775"/>
            <a:ext cx="2004870"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his share held in trust, paid at</a:t>
            </a:r>
          </a:p>
        </p:txBody>
      </p:sp>
      <p:sp>
        <p:nvSpPr>
          <p:cNvPr id="40" name="Rule"/>
          <p:cNvSpPr/>
          <p:nvPr/>
        </p:nvSpPr>
        <p:spPr>
          <a:xfrm>
            <a:off x="7695902" y="4467820"/>
            <a:ext cx="1228874" cy="19050"/>
          </a:xfrm>
          <a:prstGeom prst="rect">
            <a:avLst/>
          </a:prstGeom>
          <a:solidFill>
            <a:srgbClr val="EFD9DC"/>
          </a:solidFill>
          <a:ln>
            <a:noFill/>
          </a:ln>
        </p:spPr>
        <p:txBody>
          <a:bodyPr rtlCol="0" anchor="ctr"/>
          <a:lstStyle/>
          <a:p>
            <a:pPr algn="ctr"/>
            <a:endParaRPr/>
          </a:p>
        </p:txBody>
      </p:sp>
      <p:sp>
        <p:nvSpPr>
          <p:cNvPr id="41" name="ps-el"/>
          <p:cNvSpPr/>
          <p:nvPr/>
        </p:nvSpPr>
        <p:spPr>
          <a:xfrm>
            <a:off x="7727603" y="4420195"/>
            <a:ext cx="114300" cy="114300"/>
          </a:xfrm>
          <a:prstGeom prst="ellipse">
            <a:avLst/>
          </a:prstGeom>
          <a:solidFill>
            <a:srgbClr val="971320"/>
          </a:solidFill>
          <a:ln>
            <a:noFill/>
          </a:ln>
        </p:spPr>
        <p:txBody>
          <a:bodyPr rtlCol="0" anchor="ctr"/>
          <a:lstStyle/>
          <a:p>
            <a:pPr algn="ctr"/>
            <a:endParaRPr/>
          </a:p>
        </p:txBody>
      </p:sp>
      <p:sp>
        <p:nvSpPr>
          <p:cNvPr id="42" name="Text"/>
          <p:cNvSpPr txBox="1"/>
          <p:nvPr/>
        </p:nvSpPr>
        <p:spPr>
          <a:xfrm>
            <a:off x="7552649" y="4736044"/>
            <a:ext cx="46420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2027</a:t>
            </a:r>
          </a:p>
        </p:txBody>
      </p:sp>
      <p:sp>
        <p:nvSpPr>
          <p:cNvPr id="43" name="Text"/>
          <p:cNvSpPr txBox="1"/>
          <p:nvPr/>
        </p:nvSpPr>
        <p:spPr>
          <a:xfrm>
            <a:off x="7641940"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44" name="ps-el"/>
          <p:cNvSpPr/>
          <p:nvPr/>
        </p:nvSpPr>
        <p:spPr>
          <a:xfrm>
            <a:off x="8252520" y="4420195"/>
            <a:ext cx="114300" cy="114300"/>
          </a:xfrm>
          <a:prstGeom prst="ellipse">
            <a:avLst/>
          </a:prstGeom>
          <a:solidFill>
            <a:srgbClr val="971320"/>
          </a:solidFill>
          <a:ln>
            <a:noFill/>
          </a:ln>
        </p:spPr>
        <p:txBody>
          <a:bodyPr rtlCol="0" anchor="ctr"/>
          <a:lstStyle/>
          <a:p>
            <a:pPr algn="ctr"/>
            <a:endParaRPr/>
          </a:p>
        </p:txBody>
      </p:sp>
      <p:sp>
        <p:nvSpPr>
          <p:cNvPr id="45" name="Text"/>
          <p:cNvSpPr txBox="1"/>
          <p:nvPr/>
        </p:nvSpPr>
        <p:spPr>
          <a:xfrm>
            <a:off x="8072987" y="4736044"/>
            <a:ext cx="473515"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2032</a:t>
            </a:r>
          </a:p>
        </p:txBody>
      </p:sp>
      <p:sp>
        <p:nvSpPr>
          <p:cNvPr id="46" name="Text"/>
          <p:cNvSpPr txBox="1"/>
          <p:nvPr/>
        </p:nvSpPr>
        <p:spPr>
          <a:xfrm>
            <a:off x="815928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47" name="ps-el"/>
          <p:cNvSpPr/>
          <p:nvPr/>
        </p:nvSpPr>
        <p:spPr>
          <a:xfrm>
            <a:off x="8778180" y="4420195"/>
            <a:ext cx="114300" cy="114300"/>
          </a:xfrm>
          <a:prstGeom prst="ellipse">
            <a:avLst/>
          </a:prstGeom>
          <a:solidFill>
            <a:srgbClr val="971320"/>
          </a:solidFill>
          <a:ln>
            <a:noFill/>
          </a:ln>
        </p:spPr>
        <p:txBody>
          <a:bodyPr rtlCol="0" anchor="ctr"/>
          <a:lstStyle/>
          <a:p>
            <a:pPr algn="ctr"/>
            <a:endParaRPr/>
          </a:p>
        </p:txBody>
      </p:sp>
      <p:sp>
        <p:nvSpPr>
          <p:cNvPr id="48" name="Text"/>
          <p:cNvSpPr txBox="1"/>
          <p:nvPr/>
        </p:nvSpPr>
        <p:spPr>
          <a:xfrm>
            <a:off x="8602596" y="4736044"/>
            <a:ext cx="465469"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2037</a:t>
            </a:r>
          </a:p>
        </p:txBody>
      </p:sp>
      <p:sp>
        <p:nvSpPr>
          <p:cNvPr id="49" name="Text"/>
          <p:cNvSpPr txBox="1"/>
          <p:nvPr/>
        </p:nvSpPr>
        <p:spPr>
          <a:xfrm>
            <a:off x="8691418"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50" name="span"/>
          <p:cNvSpPr/>
          <p:nvPr/>
        </p:nvSpPr>
        <p:spPr>
          <a:xfrm>
            <a:off x="10355014"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51" name="Picture" descr="image.jpg"/>
          <p:cNvPicPr>
            <a:picLocks noChangeAspect="1"/>
          </p:cNvPicPr>
          <p:nvPr/>
        </p:nvPicPr>
        <p:blipFill>
          <a:blip r:embed="rId7"/>
          <a:stretch>
            <a:fillRect/>
          </a:stretch>
        </p:blipFill>
        <p:spPr>
          <a:xfrm>
            <a:off x="10364539" y="3432572"/>
            <a:ext cx="457200" cy="457200"/>
          </a:xfrm>
          <a:prstGeom prst="ellipse">
            <a:avLst/>
          </a:prstGeom>
        </p:spPr>
      </p:pic>
      <p:sp>
        <p:nvSpPr>
          <p:cNvPr id="52" name="Text"/>
          <p:cNvSpPr txBox="1"/>
          <p:nvPr/>
        </p:nvSpPr>
        <p:spPr>
          <a:xfrm>
            <a:off x="10179610" y="3948255"/>
            <a:ext cx="827208"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Chloe, 16</a:t>
            </a:r>
          </a:p>
        </p:txBody>
      </p:sp>
      <p:sp>
        <p:nvSpPr>
          <p:cNvPr id="53" name="Text"/>
          <p:cNvSpPr txBox="1"/>
          <p:nvPr/>
        </p:nvSpPr>
        <p:spPr>
          <a:xfrm>
            <a:off x="9372521" y="4151775"/>
            <a:ext cx="2441385"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a guardian until 18; her share paid at</a:t>
            </a:r>
          </a:p>
        </p:txBody>
      </p:sp>
      <p:sp>
        <p:nvSpPr>
          <p:cNvPr id="54" name="Rule"/>
          <p:cNvSpPr/>
          <p:nvPr/>
        </p:nvSpPr>
        <p:spPr>
          <a:xfrm>
            <a:off x="9956750" y="4467820"/>
            <a:ext cx="1272778" cy="19050"/>
          </a:xfrm>
          <a:prstGeom prst="rect">
            <a:avLst/>
          </a:prstGeom>
          <a:solidFill>
            <a:srgbClr val="EFD9DC"/>
          </a:solidFill>
          <a:ln>
            <a:noFill/>
          </a:ln>
        </p:spPr>
        <p:txBody>
          <a:bodyPr rtlCol="0" anchor="ctr"/>
          <a:lstStyle/>
          <a:p>
            <a:pPr algn="ctr"/>
            <a:endParaRPr/>
          </a:p>
        </p:txBody>
      </p:sp>
      <p:sp>
        <p:nvSpPr>
          <p:cNvPr id="55" name="ps-el"/>
          <p:cNvSpPr/>
          <p:nvPr/>
        </p:nvSpPr>
        <p:spPr>
          <a:xfrm>
            <a:off x="9993957" y="4420195"/>
            <a:ext cx="114300" cy="114300"/>
          </a:xfrm>
          <a:prstGeom prst="ellipse">
            <a:avLst/>
          </a:prstGeom>
          <a:solidFill>
            <a:srgbClr val="971320"/>
          </a:solidFill>
          <a:ln>
            <a:noFill/>
          </a:ln>
        </p:spPr>
        <p:txBody>
          <a:bodyPr rtlCol="0" anchor="ctr"/>
          <a:lstStyle/>
          <a:p>
            <a:pPr algn="ctr"/>
            <a:endParaRPr/>
          </a:p>
        </p:txBody>
      </p:sp>
      <p:sp>
        <p:nvSpPr>
          <p:cNvPr id="56" name="Text"/>
          <p:cNvSpPr txBox="1"/>
          <p:nvPr/>
        </p:nvSpPr>
        <p:spPr>
          <a:xfrm>
            <a:off x="9813167" y="4736044"/>
            <a:ext cx="47588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2035</a:t>
            </a:r>
          </a:p>
        </p:txBody>
      </p:sp>
      <p:sp>
        <p:nvSpPr>
          <p:cNvPr id="57" name="Text"/>
          <p:cNvSpPr txBox="1"/>
          <p:nvPr/>
        </p:nvSpPr>
        <p:spPr>
          <a:xfrm>
            <a:off x="9908295"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58" name="ps-el"/>
          <p:cNvSpPr/>
          <p:nvPr/>
        </p:nvSpPr>
        <p:spPr>
          <a:xfrm>
            <a:off x="10534650" y="4420195"/>
            <a:ext cx="114300" cy="114300"/>
          </a:xfrm>
          <a:prstGeom prst="ellipse">
            <a:avLst/>
          </a:prstGeom>
          <a:solidFill>
            <a:srgbClr val="971320"/>
          </a:solidFill>
          <a:ln>
            <a:noFill/>
          </a:ln>
        </p:spPr>
        <p:txBody>
          <a:bodyPr rtlCol="0" anchor="ctr"/>
          <a:lstStyle/>
          <a:p>
            <a:pPr algn="ctr"/>
            <a:endParaRPr/>
          </a:p>
        </p:txBody>
      </p:sp>
      <p:sp>
        <p:nvSpPr>
          <p:cNvPr id="59" name="Text"/>
          <p:cNvSpPr txBox="1"/>
          <p:nvPr/>
        </p:nvSpPr>
        <p:spPr>
          <a:xfrm>
            <a:off x="10344236" y="4736044"/>
            <a:ext cx="49512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2040</a:t>
            </a:r>
          </a:p>
        </p:txBody>
      </p:sp>
      <p:sp>
        <p:nvSpPr>
          <p:cNvPr id="60" name="Text"/>
          <p:cNvSpPr txBox="1"/>
          <p:nvPr/>
        </p:nvSpPr>
        <p:spPr>
          <a:xfrm>
            <a:off x="1044141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61" name="ps-el"/>
          <p:cNvSpPr/>
          <p:nvPr/>
        </p:nvSpPr>
        <p:spPr>
          <a:xfrm>
            <a:off x="11076682" y="4420195"/>
            <a:ext cx="114300" cy="114300"/>
          </a:xfrm>
          <a:prstGeom prst="ellipse">
            <a:avLst/>
          </a:prstGeom>
          <a:solidFill>
            <a:srgbClr val="971320"/>
          </a:solidFill>
          <a:ln>
            <a:noFill/>
          </a:ln>
        </p:spPr>
        <p:txBody>
          <a:bodyPr rtlCol="0" anchor="ctr"/>
          <a:lstStyle/>
          <a:p>
            <a:pPr algn="ctr"/>
            <a:endParaRPr/>
          </a:p>
        </p:txBody>
      </p:sp>
      <p:sp>
        <p:nvSpPr>
          <p:cNvPr id="62" name="Text"/>
          <p:cNvSpPr txBox="1"/>
          <p:nvPr/>
        </p:nvSpPr>
        <p:spPr>
          <a:xfrm>
            <a:off x="10894472" y="4736044"/>
            <a:ext cx="47872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2045</a:t>
            </a:r>
          </a:p>
        </p:txBody>
      </p:sp>
      <p:sp>
        <p:nvSpPr>
          <p:cNvPr id="63" name="Text"/>
          <p:cNvSpPr txBox="1"/>
          <p:nvPr/>
        </p:nvSpPr>
        <p:spPr>
          <a:xfrm>
            <a:off x="10989920"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64" name="p"/>
          <p:cNvSpPr/>
          <p:nvPr/>
        </p:nvSpPr>
        <p:spPr>
          <a:xfrm>
            <a:off x="7169051" y="4926509"/>
            <a:ext cx="4565600" cy="750391"/>
          </a:xfrm>
          <a:prstGeom prst="rect">
            <a:avLst/>
          </a:prstGeom>
          <a:solidFill>
            <a:srgbClr val="F8EFF0"/>
          </a:solidFill>
          <a:ln>
            <a:noFill/>
          </a:ln>
        </p:spPr>
        <p:txBody>
          <a:bodyPr rtlCol="0" anchor="ctr"/>
          <a:lstStyle/>
          <a:p>
            <a:pPr algn="ctr"/>
            <a:endParaRPr/>
          </a:p>
        </p:txBody>
      </p:sp>
      <p:sp>
        <p:nvSpPr>
          <p:cNvPr id="65" name="span"/>
          <p:cNvSpPr/>
          <p:nvPr/>
        </p:nvSpPr>
        <p:spPr>
          <a:xfrm>
            <a:off x="7302401" y="5149304"/>
            <a:ext cx="304800" cy="304800"/>
          </a:xfrm>
          <a:prstGeom prst="ellipse">
            <a:avLst/>
          </a:prstGeom>
          <a:solidFill>
            <a:srgbClr val="FFFFFF"/>
          </a:solidFill>
          <a:ln>
            <a:noFill/>
          </a:ln>
        </p:spPr>
        <p:txBody>
          <a:bodyPr rtlCol="0" anchor="ctr"/>
          <a:lstStyle/>
          <a:p>
            <a:pPr algn="ctr"/>
            <a:endParaRPr/>
          </a:p>
        </p:txBody>
      </p:sp>
      <p:pic>
        <p:nvPicPr>
          <p:cNvPr id="66" name="Drawing"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364313" y="5211217"/>
            <a:ext cx="180975" cy="180975"/>
          </a:xfrm>
          <a:prstGeom prst="rect">
            <a:avLst/>
          </a:prstGeom>
        </p:spPr>
      </p:pic>
      <p:sp>
        <p:nvSpPr>
          <p:cNvPr id="67" name="Text"/>
          <p:cNvSpPr txBox="1"/>
          <p:nvPr/>
        </p:nvSpPr>
        <p:spPr>
          <a:xfrm>
            <a:off x="7721501" y="5006138"/>
            <a:ext cx="4195652" cy="559951"/>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A legacy with purpose:</a:t>
            </a:r>
            <a:r>
              <a:rPr sz="1050" b="0" i="0" kern="100">
                <a:solidFill>
                  <a:srgbClr val="1B1716"/>
                </a:solidFill>
                <a:latin typeface="Plus Jakarta Sans"/>
              </a:rPr>
              <a:t> about HK$30K a year to a scholarship</a:t>
            </a:r>
          </a:p>
          <a:p>
            <a:pPr algn="l">
              <a:lnSpc>
                <a:spcPts val="1470"/>
              </a:lnSpc>
              <a:spcBef>
                <a:spcPts val="0"/>
              </a:spcBef>
              <a:spcAft>
                <a:spcPts val="0"/>
              </a:spcAft>
            </a:pPr>
            <a:r>
              <a:rPr sz="1050" b="0" i="0" kern="100">
                <a:solidFill>
                  <a:srgbClr val="1B1716"/>
                </a:solidFill>
                <a:latin typeface="Plus Jakarta Sans"/>
              </a:rPr>
              <a:t>in sustainable design, the education and environmental</a:t>
            </a:r>
          </a:p>
          <a:p>
            <a:pPr algn="l">
              <a:lnSpc>
                <a:spcPts val="1470"/>
              </a:lnSpc>
              <a:spcBef>
                <a:spcPts val="0"/>
              </a:spcBef>
              <a:spcAft>
                <a:spcPts val="0"/>
              </a:spcAft>
            </a:pPr>
            <a:r>
              <a:rPr sz="1050" b="0" i="0" kern="100">
                <a:solidFill>
                  <a:srgbClr val="1B1716"/>
                </a:solidFill>
                <a:latin typeface="Plus Jakarta Sans"/>
              </a:rPr>
              <a:t>causes the family asked to support</a:t>
            </a:r>
          </a:p>
        </p:txBody>
      </p:sp>
      <p:sp>
        <p:nvSpPr>
          <p:cNvPr id="68"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9" name="Text"/>
          <p:cNvSpPr txBox="1"/>
          <p:nvPr/>
        </p:nvSpPr>
        <p:spPr>
          <a:xfrm>
            <a:off x="4104897" y="5984558"/>
            <a:ext cx="398220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Built to last: for their lifetimes, and after.</a:t>
            </a:r>
          </a:p>
        </p:txBody>
      </p:sp>
      <p:sp>
        <p:nvSpPr>
          <p:cNvPr id="70" name="Text"/>
          <p:cNvSpPr txBox="1"/>
          <p:nvPr/>
        </p:nvSpPr>
        <p:spPr>
          <a:xfrm>
            <a:off x="457200" y="6452104"/>
            <a:ext cx="597800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Inheritance at Carmen's 89: savings and home equity, less unpaid bills, today's money; the same 10,000</a:t>
            </a:r>
          </a:p>
          <a:p>
            <a:pPr algn="l">
              <a:lnSpc>
                <a:spcPts val="1170"/>
              </a:lnSpc>
              <a:spcBef>
                <a:spcPts val="0"/>
              </a:spcBef>
              <a:spcAft>
                <a:spcPts val="0"/>
              </a:spcAft>
            </a:pPr>
            <a:r>
              <a:rPr sz="900" b="0" i="0" kern="100">
                <a:solidFill>
                  <a:srgbClr val="80606A"/>
                </a:solidFill>
                <a:latin typeface="Plus Jakarta Sans"/>
              </a:rPr>
              <a:t>markets (measured). Succession: written case §9, Figure 22.</a:t>
            </a:r>
          </a:p>
        </p:txBody>
      </p:sp>
      <p:sp>
        <p:nvSpPr>
          <p:cNvPr id="71" name="Text"/>
          <p:cNvSpPr txBox="1"/>
          <p:nvPr/>
        </p:nvSpPr>
        <p:spPr>
          <a:xfrm>
            <a:off x="6625233"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2" name="Text"/>
          <p:cNvSpPr txBox="1"/>
          <p:nvPr/>
        </p:nvSpPr>
        <p:spPr>
          <a:xfrm>
            <a:off x="7571482"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3" name="Text"/>
          <p:cNvSpPr txBox="1"/>
          <p:nvPr/>
        </p:nvSpPr>
        <p:spPr>
          <a:xfrm>
            <a:off x="8431709"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4" name="Text"/>
          <p:cNvSpPr txBox="1"/>
          <p:nvPr/>
        </p:nvSpPr>
        <p:spPr>
          <a:xfrm>
            <a:off x="9368582"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5" name="Text"/>
          <p:cNvSpPr txBox="1"/>
          <p:nvPr/>
        </p:nvSpPr>
        <p:spPr>
          <a:xfrm>
            <a:off x="10166598" y="6536246"/>
            <a:ext cx="75369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next</a:t>
            </a:r>
          </a:p>
        </p:txBody>
      </p:sp>
      <p:sp>
        <p:nvSpPr>
          <p:cNvPr id="76" name="Text"/>
          <p:cNvSpPr txBox="1"/>
          <p:nvPr/>
        </p:nvSpPr>
        <p:spPr>
          <a:xfrm>
            <a:off x="1097934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7" name="Text"/>
          <p:cNvSpPr txBox="1"/>
          <p:nvPr/>
        </p:nvSpPr>
        <p:spPr>
          <a:xfrm>
            <a:off x="11357670" y="6535674"/>
            <a:ext cx="51405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12 / 15</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The Connect is growing both ways: for the Wongs a tool for later, for us the market we want to serve">
    <p:spTree>
      <p:nvGrpSpPr>
        <p:cNvPr id="1" name=""/>
        <p:cNvGrpSpPr/>
        <p:nvPr/>
      </p:nvGrpSpPr>
      <p:grpSpPr>
        <a:xfrm>
          <a:off x="0" y="0"/>
          <a:ext cx="0" cy="0"/>
          <a:chOff x="0" y="0"/>
          <a:chExt cx="0" cy="0"/>
        </a:xfrm>
      </p:grpSpPr>
      <p:sp>
        <p:nvSpPr>
          <p:cNvPr id="2" name="Rule"/>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ext"/>
          <p:cNvSpPr txBox="1"/>
          <p:nvPr/>
        </p:nvSpPr>
        <p:spPr>
          <a:xfrm>
            <a:off x="638175" y="324421"/>
            <a:ext cx="2145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Wealth Management Connect</a:t>
            </a:r>
          </a:p>
        </p:txBody>
      </p:sp>
      <p:sp>
        <p:nvSpPr>
          <p:cNvPr id="4" name="Text"/>
          <p:cNvSpPr txBox="1"/>
          <p:nvPr/>
        </p:nvSpPr>
        <p:spPr>
          <a:xfrm>
            <a:off x="638175" y="529852"/>
            <a:ext cx="6873591"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 Connect is growing both ways: for the Wongs</a:t>
            </a:r>
          </a:p>
          <a:p>
            <a:pPr algn="l">
              <a:lnSpc>
                <a:spcPts val="2523"/>
              </a:lnSpc>
              <a:spcBef>
                <a:spcPts val="0"/>
              </a:spcBef>
              <a:spcAft>
                <a:spcPts val="0"/>
              </a:spcAft>
            </a:pPr>
            <a:r>
              <a:rPr sz="2175" b="1" i="0" kern="100" spc="-38">
                <a:solidFill>
                  <a:srgbClr val="1B1716"/>
                </a:solidFill>
                <a:latin typeface="Plus Jakarta Sans"/>
              </a:rPr>
              <a:t>a tool for later, for us the market we want to serve</a:t>
            </a:r>
          </a:p>
        </p:txBody>
      </p:sp>
      <p:sp>
        <p:nvSpPr>
          <p:cNvPr id="5" name="Rule"/>
          <p:cNvSpPr/>
          <p:nvPr/>
        </p:nvSpPr>
        <p:spPr>
          <a:xfrm>
            <a:off x="457200" y="1961555"/>
            <a:ext cx="3581400" cy="9525"/>
          </a:xfrm>
          <a:prstGeom prst="rect">
            <a:avLst/>
          </a:prstGeom>
          <a:solidFill>
            <a:srgbClr val="ECDADD"/>
          </a:solidFill>
          <a:ln>
            <a:noFill/>
          </a:ln>
        </p:spPr>
        <p:txBody>
          <a:bodyPr rtlCol="0" anchor="ctr"/>
          <a:lstStyle/>
          <a:p>
            <a:pPr algn="ctr"/>
            <a:endParaRPr/>
          </a:p>
        </p:txBody>
      </p:sp>
      <p:sp>
        <p:nvSpPr>
          <p:cNvPr id="6" name="Text"/>
          <p:cNvSpPr txBox="1"/>
          <p:nvPr/>
        </p:nvSpPr>
        <p:spPr>
          <a:xfrm>
            <a:off x="457200" y="1436251"/>
            <a:ext cx="1004843"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2021</a:t>
            </a:r>
          </a:p>
        </p:txBody>
      </p:sp>
      <p:sp>
        <p:nvSpPr>
          <p:cNvPr id="7" name="Text"/>
          <p:cNvSpPr txBox="1"/>
          <p:nvPr/>
        </p:nvSpPr>
        <p:spPr>
          <a:xfrm>
            <a:off x="1430685" y="1446967"/>
            <a:ext cx="267534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launched across Hong Kong, Macao</a:t>
            </a:r>
          </a:p>
          <a:p>
            <a:pPr algn="l">
              <a:lnSpc>
                <a:spcPts val="1518"/>
              </a:lnSpc>
              <a:spcBef>
                <a:spcPts val="0"/>
              </a:spcBef>
              <a:spcAft>
                <a:spcPts val="0"/>
              </a:spcAft>
            </a:pPr>
            <a:r>
              <a:rPr sz="1125" b="0" i="0" kern="100">
                <a:solidFill>
                  <a:srgbClr val="1B1716"/>
                </a:solidFill>
                <a:latin typeface="Plus Jakarta Sans"/>
              </a:rPr>
              <a:t>and nine mainland cities</a:t>
            </a:r>
          </a:p>
        </p:txBody>
      </p:sp>
      <p:sp>
        <p:nvSpPr>
          <p:cNvPr id="8" name="Rule"/>
          <p:cNvSpPr/>
          <p:nvPr/>
        </p:nvSpPr>
        <p:spPr>
          <a:xfrm>
            <a:off x="4305300" y="1961555"/>
            <a:ext cx="3581400" cy="9525"/>
          </a:xfrm>
          <a:prstGeom prst="rect">
            <a:avLst/>
          </a:prstGeom>
          <a:solidFill>
            <a:srgbClr val="ECDADD"/>
          </a:solidFill>
          <a:ln>
            <a:noFill/>
          </a:ln>
        </p:spPr>
        <p:txBody>
          <a:bodyPr rtlCol="0" anchor="ctr"/>
          <a:lstStyle/>
          <a:p>
            <a:pPr algn="ctr"/>
            <a:endParaRPr/>
          </a:p>
        </p:txBody>
      </p:sp>
      <p:sp>
        <p:nvSpPr>
          <p:cNvPr id="9" name="Text"/>
          <p:cNvSpPr txBox="1"/>
          <p:nvPr/>
        </p:nvSpPr>
        <p:spPr>
          <a:xfrm>
            <a:off x="4305300" y="1436251"/>
            <a:ext cx="163981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RMB 3M</a:t>
            </a:r>
          </a:p>
        </p:txBody>
      </p:sp>
      <p:sp>
        <p:nvSpPr>
          <p:cNvPr id="10" name="Text"/>
          <p:cNvSpPr txBox="1"/>
          <p:nvPr/>
        </p:nvSpPr>
        <p:spPr>
          <a:xfrm>
            <a:off x="5877818" y="1446967"/>
            <a:ext cx="191763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each investor's limit since</a:t>
            </a:r>
          </a:p>
          <a:p>
            <a:pPr algn="l">
              <a:lnSpc>
                <a:spcPts val="1518"/>
              </a:lnSpc>
              <a:spcBef>
                <a:spcPts val="0"/>
              </a:spcBef>
              <a:spcAft>
                <a:spcPts val="0"/>
              </a:spcAft>
            </a:pPr>
            <a:r>
              <a:rPr sz="1125" b="0" i="0" kern="100">
                <a:solidFill>
                  <a:srgbClr val="1B1716"/>
                </a:solidFill>
                <a:latin typeface="Plus Jakarta Sans"/>
              </a:rPr>
              <a:t>2024, up from RMB 1M</a:t>
            </a:r>
          </a:p>
        </p:txBody>
      </p:sp>
      <p:sp>
        <p:nvSpPr>
          <p:cNvPr id="11" name="Rule"/>
          <p:cNvSpPr/>
          <p:nvPr/>
        </p:nvSpPr>
        <p:spPr>
          <a:xfrm>
            <a:off x="8153400" y="1961555"/>
            <a:ext cx="3581400" cy="9525"/>
          </a:xfrm>
          <a:prstGeom prst="rect">
            <a:avLst/>
          </a:prstGeom>
          <a:solidFill>
            <a:srgbClr val="ECDADD"/>
          </a:solidFill>
          <a:ln>
            <a:noFill/>
          </a:ln>
        </p:spPr>
        <p:txBody>
          <a:bodyPr rtlCol="0" anchor="ctr"/>
          <a:lstStyle/>
          <a:p>
            <a:pPr algn="ctr"/>
            <a:endParaRPr/>
          </a:p>
        </p:txBody>
      </p:sp>
      <p:sp>
        <p:nvSpPr>
          <p:cNvPr id="12" name="Text"/>
          <p:cNvSpPr txBox="1"/>
          <p:nvPr/>
        </p:nvSpPr>
        <p:spPr>
          <a:xfrm>
            <a:off x="8153400" y="1436251"/>
            <a:ext cx="1102179"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2024</a:t>
            </a:r>
          </a:p>
        </p:txBody>
      </p:sp>
      <p:sp>
        <p:nvSpPr>
          <p:cNvPr id="13" name="Text"/>
          <p:cNvSpPr txBox="1"/>
          <p:nvPr/>
        </p:nvSpPr>
        <p:spPr>
          <a:xfrm>
            <a:off x="9218712" y="1446967"/>
            <a:ext cx="267597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securities firms admitted beside the</a:t>
            </a:r>
          </a:p>
          <a:p>
            <a:pPr algn="l">
              <a:lnSpc>
                <a:spcPts val="1518"/>
              </a:lnSpc>
              <a:spcBef>
                <a:spcPts val="0"/>
              </a:spcBef>
              <a:spcAft>
                <a:spcPts val="0"/>
              </a:spcAft>
            </a:pPr>
            <a:r>
              <a:rPr sz="1125" b="0" i="0" kern="100">
                <a:solidFill>
                  <a:srgbClr val="1B1716"/>
                </a:solidFill>
                <a:latin typeface="Plus Jakarta Sans"/>
              </a:rPr>
              <a:t>banks; more funds on offer</a:t>
            </a:r>
          </a:p>
        </p:txBody>
      </p:sp>
      <p:pic>
        <p:nvPicPr>
          <p:cNvPr id="14"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19400" y="2028230"/>
            <a:ext cx="6553200" cy="3788569"/>
          </a:xfrm>
          <a:prstGeom prst="rect">
            <a:avLst/>
          </a:prstGeom>
        </p:spPr>
      </p:pic>
      <p:sp>
        <p:nvSpPr>
          <p:cNvPr id="15" name="p"/>
          <p:cNvSpPr/>
          <p:nvPr/>
        </p:nvSpPr>
        <p:spPr>
          <a:xfrm>
            <a:off x="4097015" y="2995464"/>
            <a:ext cx="1769715" cy="414338"/>
          </a:xfrm>
          <a:prstGeom prst="roundRect">
            <a:avLst>
              <a:gd name="adj" fmla="val 11494"/>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6" name="Text"/>
          <p:cNvSpPr txBox="1"/>
          <p:nvPr/>
        </p:nvSpPr>
        <p:spPr>
          <a:xfrm>
            <a:off x="4067546" y="3007132"/>
            <a:ext cx="1828654" cy="357188"/>
          </a:xfrm>
          <a:prstGeom prst="rect">
            <a:avLst/>
          </a:prstGeom>
          <a:noFill/>
        </p:spPr>
        <p:txBody>
          <a:bodyPr wrap="none" lIns="0" tIns="0" rIns="0" bIns="0" anchor="t">
            <a:noAutofit/>
          </a:bodyPr>
          <a:lstStyle/>
          <a:p>
            <a:pPr algn="ctr">
              <a:lnSpc>
                <a:spcPts val="1406"/>
              </a:lnSpc>
              <a:spcBef>
                <a:spcPts val="0"/>
              </a:spcBef>
              <a:spcAft>
                <a:spcPts val="0"/>
              </a:spcAft>
            </a:pPr>
            <a:r>
              <a:rPr sz="1125" b="0" i="0" kern="100">
                <a:solidFill>
                  <a:srgbClr val="1B1716"/>
                </a:solidFill>
                <a:latin typeface="Plus Jakarta Sans SemiBold"/>
              </a:rPr>
              <a:t>The nine mainland cities</a:t>
            </a:r>
          </a:p>
          <a:p>
            <a:pPr algn="ctr">
              <a:lnSpc>
                <a:spcPts val="1406"/>
              </a:lnSpc>
              <a:spcBef>
                <a:spcPts val="0"/>
              </a:spcBef>
              <a:spcAft>
                <a:spcPts val="0"/>
              </a:spcAft>
            </a:pPr>
            <a:r>
              <a:rPr sz="1125" b="0" i="0" kern="100">
                <a:solidFill>
                  <a:srgbClr val="1B1716"/>
                </a:solidFill>
                <a:latin typeface="Plus Jakarta Sans SemiBold"/>
              </a:rPr>
              <a:t>of the Greater Bay Area</a:t>
            </a:r>
          </a:p>
        </p:txBody>
      </p:sp>
      <p:sp>
        <p:nvSpPr>
          <p:cNvPr id="17" name="p"/>
          <p:cNvSpPr/>
          <p:nvPr/>
        </p:nvSpPr>
        <p:spPr>
          <a:xfrm>
            <a:off x="7537698" y="4410670"/>
            <a:ext cx="91886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8" name="Text"/>
          <p:cNvSpPr txBox="1"/>
          <p:nvPr/>
        </p:nvSpPr>
        <p:spPr>
          <a:xfrm>
            <a:off x="7613898" y="4422338"/>
            <a:ext cx="926753"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971320"/>
                </a:solidFill>
                <a:latin typeface="Plus Jakarta Sans"/>
              </a:rPr>
              <a:t>Hong Kong</a:t>
            </a:r>
          </a:p>
        </p:txBody>
      </p:sp>
      <p:sp>
        <p:nvSpPr>
          <p:cNvPr id="19" name="p"/>
          <p:cNvSpPr/>
          <p:nvPr/>
        </p:nvSpPr>
        <p:spPr>
          <a:xfrm>
            <a:off x="5572571" y="4675882"/>
            <a:ext cx="62165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20" name="Text"/>
          <p:cNvSpPr txBox="1"/>
          <p:nvPr/>
        </p:nvSpPr>
        <p:spPr>
          <a:xfrm>
            <a:off x="5506316" y="4687550"/>
            <a:ext cx="611710" cy="178594"/>
          </a:xfrm>
          <a:prstGeom prst="rect">
            <a:avLst/>
          </a:prstGeom>
          <a:noFill/>
        </p:spPr>
        <p:txBody>
          <a:bodyPr wrap="none" lIns="0" tIns="0" rIns="0" bIns="0" anchor="t">
            <a:noAutofit/>
          </a:bodyPr>
          <a:lstStyle/>
          <a:p>
            <a:pPr algn="r">
              <a:lnSpc>
                <a:spcPts val="1406"/>
              </a:lnSpc>
              <a:spcBef>
                <a:spcPts val="0"/>
              </a:spcBef>
              <a:spcAft>
                <a:spcPts val="0"/>
              </a:spcAft>
            </a:pPr>
            <a:r>
              <a:rPr sz="1125" b="0" i="0" kern="100">
                <a:solidFill>
                  <a:srgbClr val="1B1716"/>
                </a:solidFill>
                <a:latin typeface="Plus Jakarta Sans SemiBold"/>
              </a:rPr>
              <a:t>Macao</a:t>
            </a:r>
          </a:p>
        </p:txBody>
      </p:sp>
      <p:sp>
        <p:nvSpPr>
          <p:cNvPr id="21"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22" name="Text"/>
          <p:cNvSpPr txBox="1"/>
          <p:nvPr/>
        </p:nvSpPr>
        <p:spPr>
          <a:xfrm>
            <a:off x="1959237" y="5984558"/>
            <a:ext cx="827337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Under the Connect, an adviser's value is a clear, suitable answer when the client asks.</a:t>
            </a:r>
          </a:p>
        </p:txBody>
      </p:sp>
      <p:sp>
        <p:nvSpPr>
          <p:cNvPr id="23" name="Text"/>
          <p:cNvSpPr txBox="1"/>
          <p:nvPr/>
        </p:nvSpPr>
        <p:spPr>
          <a:xfrm>
            <a:off x="457200" y="6452104"/>
            <a:ext cx="637886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HKMA, Wealth Management Connect, Southbound Scheme (page revised 11 May 2026, checked 24 Oct 2026):</a:t>
            </a:r>
          </a:p>
          <a:p>
            <a:pPr algn="l">
              <a:lnSpc>
                <a:spcPts val="1170"/>
              </a:lnSpc>
              <a:spcBef>
                <a:spcPts val="0"/>
              </a:spcBef>
              <a:spcAft>
                <a:spcPts val="0"/>
              </a:spcAft>
            </a:pPr>
            <a:r>
              <a:rPr sz="900" b="0" i="0" kern="100">
                <a:solidFill>
                  <a:srgbClr val="80606A"/>
                </a:solidFill>
                <a:latin typeface="Plus Jakarta Sans"/>
              </a:rPr>
              <a:t>the quota, the eligible funds, the solicitation rule (sourced). Map: geoBoundaries, OCHA/HDX (CC BY 3.0 IGO).</a:t>
            </a:r>
          </a:p>
        </p:txBody>
      </p:sp>
      <p:sp>
        <p:nvSpPr>
          <p:cNvPr id="24" name="Text"/>
          <p:cNvSpPr txBox="1"/>
          <p:nvPr/>
        </p:nvSpPr>
        <p:spPr>
          <a:xfrm>
            <a:off x="6638925"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25" name="Text"/>
          <p:cNvSpPr txBox="1"/>
          <p:nvPr/>
        </p:nvSpPr>
        <p:spPr>
          <a:xfrm>
            <a:off x="7585174"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26" name="Text"/>
          <p:cNvSpPr txBox="1"/>
          <p:nvPr/>
        </p:nvSpPr>
        <p:spPr>
          <a:xfrm>
            <a:off x="844540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27" name="Text"/>
          <p:cNvSpPr txBox="1"/>
          <p:nvPr/>
        </p:nvSpPr>
        <p:spPr>
          <a:xfrm>
            <a:off x="9382274"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28" name="Text"/>
          <p:cNvSpPr txBox="1"/>
          <p:nvPr/>
        </p:nvSpPr>
        <p:spPr>
          <a:xfrm>
            <a:off x="1018029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29" name="Text"/>
          <p:cNvSpPr txBox="1"/>
          <p:nvPr/>
        </p:nvSpPr>
        <p:spPr>
          <a:xfrm>
            <a:off x="10975628"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30" name="Text"/>
          <p:cNvSpPr txBox="1"/>
          <p:nvPr/>
        </p:nvSpPr>
        <p:spPr>
          <a:xfrm>
            <a:off x="11355884" y="6535674"/>
            <a:ext cx="51595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13 / 15</a:t>
            </a:r>
          </a:p>
        </p:txBody>
      </p:sp>
      <p:sp>
        <p:nvSpPr>
          <p:cNvPr id="31" name="Rule"/>
          <p:cNvSpPr/>
          <p:nvPr/>
        </p:nvSpPr>
        <p:spPr>
          <a:xfrm>
            <a:off x="1651992" y="2555677"/>
            <a:ext cx="1472208" cy="9525"/>
          </a:xfrm>
          <a:prstGeom prst="rect">
            <a:avLst/>
          </a:prstGeom>
          <a:solidFill>
            <a:srgbClr val="971320"/>
          </a:solidFill>
          <a:ln>
            <a:noFill/>
          </a:ln>
        </p:spPr>
        <p:txBody>
          <a:bodyPr rtlCol="0" anchor="ctr"/>
          <a:lstStyle/>
          <a:p>
            <a:pPr algn="ctr"/>
            <a:endParaRPr/>
          </a:p>
        </p:txBody>
      </p:sp>
      <p:sp>
        <p:nvSpPr>
          <p:cNvPr id="32" name="Text"/>
          <p:cNvSpPr txBox="1"/>
          <p:nvPr/>
        </p:nvSpPr>
        <p:spPr>
          <a:xfrm>
            <a:off x="457200" y="2428137"/>
            <a:ext cx="1259622"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971320"/>
                </a:solidFill>
                <a:latin typeface="Plus Jakarta Sans"/>
              </a:rPr>
              <a:t>Northbound</a:t>
            </a:r>
          </a:p>
        </p:txBody>
      </p:sp>
      <p:sp>
        <p:nvSpPr>
          <p:cNvPr id="33" name="Text"/>
          <p:cNvSpPr txBox="1"/>
          <p:nvPr/>
        </p:nvSpPr>
        <p:spPr>
          <a:xfrm>
            <a:off x="457200" y="2718554"/>
            <a:ext cx="2727716"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Hong Kong and Macao residents buy</a:t>
            </a:r>
          </a:p>
          <a:p>
            <a:pPr algn="l">
              <a:lnSpc>
                <a:spcPts val="1631"/>
              </a:lnSpc>
              <a:spcBef>
                <a:spcPts val="0"/>
              </a:spcBef>
              <a:spcAft>
                <a:spcPts val="0"/>
              </a:spcAft>
            </a:pPr>
            <a:r>
              <a:rPr sz="1125" b="1" i="0" kern="100">
                <a:solidFill>
                  <a:srgbClr val="1B1716"/>
                </a:solidFill>
                <a:latin typeface="Plus Jakarta Sans"/>
              </a:rPr>
              <a:t>mainland wealth products</a:t>
            </a:r>
            <a:r>
              <a:rPr sz="1125" b="0" i="0" kern="100">
                <a:solidFill>
                  <a:srgbClr val="1B1716"/>
                </a:solidFill>
                <a:latin typeface="Plus Jakarta Sans"/>
              </a:rPr>
              <a:t>, through</a:t>
            </a:r>
          </a:p>
          <a:p>
            <a:pPr algn="l">
              <a:lnSpc>
                <a:spcPts val="1631"/>
              </a:lnSpc>
              <a:spcBef>
                <a:spcPts val="0"/>
              </a:spcBef>
              <a:spcAft>
                <a:spcPts val="0"/>
              </a:spcAft>
            </a:pPr>
            <a:r>
              <a:rPr sz="1125" b="0" i="0" kern="100">
                <a:solidFill>
                  <a:srgbClr val="1B1716"/>
                </a:solidFill>
                <a:latin typeface="Plus Jakarta Sans"/>
              </a:rPr>
              <a:t>banks in the nine cities</a:t>
            </a:r>
          </a:p>
        </p:txBody>
      </p:sp>
      <p:sp>
        <p:nvSpPr>
          <p:cNvPr id="34" name="Rule"/>
          <p:cNvSpPr/>
          <p:nvPr/>
        </p:nvSpPr>
        <p:spPr>
          <a:xfrm>
            <a:off x="457200" y="3504605"/>
            <a:ext cx="2667000" cy="9525"/>
          </a:xfrm>
          <a:prstGeom prst="rect">
            <a:avLst/>
          </a:prstGeom>
          <a:solidFill>
            <a:srgbClr val="ECDADD"/>
          </a:solidFill>
          <a:ln>
            <a:noFill/>
          </a:ln>
        </p:spPr>
        <p:txBody>
          <a:bodyPr rtlCol="0" anchor="ctr"/>
          <a:lstStyle/>
          <a:p>
            <a:pPr algn="ctr"/>
            <a:endParaRPr/>
          </a:p>
        </p:txBody>
      </p:sp>
      <p:sp>
        <p:nvSpPr>
          <p:cNvPr id="35" name="Text"/>
          <p:cNvSpPr txBox="1"/>
          <p:nvPr/>
        </p:nvSpPr>
        <p:spPr>
          <a:xfrm>
            <a:off x="457200" y="3610713"/>
            <a:ext cx="2414724"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971320"/>
                </a:solidFill>
                <a:latin typeface="Plus Jakarta Sans"/>
              </a:rPr>
              <a:t>For the Wongs: a tool for later</a:t>
            </a:r>
          </a:p>
        </p:txBody>
      </p:sp>
      <p:sp>
        <p:nvSpPr>
          <p:cNvPr id="36" name="Text"/>
          <p:cNvSpPr txBox="1"/>
          <p:nvPr/>
        </p:nvSpPr>
        <p:spPr>
          <a:xfrm>
            <a:off x="457200" y="3871526"/>
            <a:ext cx="2939269" cy="828675"/>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Kept out today</a:t>
            </a:r>
            <a:r>
              <a:rPr sz="1125" b="0" i="0" kern="100">
                <a:solidFill>
                  <a:srgbClr val="1B1716"/>
                </a:solidFill>
                <a:latin typeface="Plus Jakarta Sans"/>
              </a:rPr>
              <a:t>: their home, income</a:t>
            </a:r>
          </a:p>
          <a:p>
            <a:pPr algn="l">
              <a:lnSpc>
                <a:spcPts val="1631"/>
              </a:lnSpc>
              <a:spcBef>
                <a:spcPts val="0"/>
              </a:spcBef>
              <a:spcAft>
                <a:spcPts val="0"/>
              </a:spcAft>
            </a:pPr>
            <a:r>
              <a:rPr sz="1125" b="0" i="0" kern="100">
                <a:solidFill>
                  <a:srgbClr val="1B1716"/>
                </a:solidFill>
                <a:latin typeface="Plus Jakarta Sans"/>
              </a:rPr>
              <a:t>and business are all in Hong Kong. It</a:t>
            </a:r>
          </a:p>
          <a:p>
            <a:pPr algn="l">
              <a:lnSpc>
                <a:spcPts val="1631"/>
              </a:lnSpc>
              <a:spcBef>
                <a:spcPts val="0"/>
              </a:spcBef>
              <a:spcAft>
                <a:spcPts val="0"/>
              </a:spcAft>
            </a:pPr>
            <a:r>
              <a:rPr sz="1125" b="0" i="0" kern="100">
                <a:solidFill>
                  <a:srgbClr val="1B1716"/>
                </a:solidFill>
                <a:latin typeface="Plus Jakarta Sans"/>
              </a:rPr>
              <a:t>comes in at the annual review </a:t>
            </a:r>
            <a:r>
              <a:rPr sz="1125" b="1" i="0" kern="100">
                <a:solidFill>
                  <a:srgbClr val="1B1716"/>
                </a:solidFill>
                <a:latin typeface="Plus Jakarta Sans"/>
              </a:rPr>
              <a:t>if Adrian's</a:t>
            </a:r>
          </a:p>
          <a:p>
            <a:pPr algn="l">
              <a:lnSpc>
                <a:spcPts val="1631"/>
              </a:lnSpc>
              <a:spcBef>
                <a:spcPts val="0"/>
              </a:spcBef>
              <a:spcAft>
                <a:spcPts val="0"/>
              </a:spcAft>
            </a:pPr>
            <a:r>
              <a:rPr sz="1125" b="1" i="0" kern="100">
                <a:solidFill>
                  <a:srgbClr val="1B1716"/>
                </a:solidFill>
                <a:latin typeface="Plus Jakarta Sans"/>
              </a:rPr>
              <a:t>work moves across the boundary</a:t>
            </a:r>
            <a:r>
              <a:rPr sz="1125" b="0" i="0" kern="100">
                <a:solidFill>
                  <a:srgbClr val="1B1716"/>
                </a:solidFill>
                <a:latin typeface="Plus Jakarta Sans"/>
              </a:rPr>
              <a:t>.</a:t>
            </a:r>
          </a:p>
        </p:txBody>
      </p:sp>
      <p:sp>
        <p:nvSpPr>
          <p:cNvPr id="37" name="Text"/>
          <p:cNvSpPr txBox="1"/>
          <p:nvPr/>
        </p:nvSpPr>
        <p:spPr>
          <a:xfrm>
            <a:off x="9067800" y="2428137"/>
            <a:ext cx="1280761"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C80E1E"/>
                </a:solidFill>
                <a:latin typeface="Plus Jakarta Sans"/>
              </a:rPr>
              <a:t>Southbound</a:t>
            </a:r>
          </a:p>
        </p:txBody>
      </p:sp>
      <p:sp>
        <p:nvSpPr>
          <p:cNvPr id="38" name="Text"/>
          <p:cNvSpPr txBox="1"/>
          <p:nvPr/>
        </p:nvSpPr>
        <p:spPr>
          <a:xfrm>
            <a:off x="9067800" y="2718554"/>
            <a:ext cx="286354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Mainland residents buy </a:t>
            </a:r>
            <a:r>
              <a:rPr sz="1125" b="1" i="0" kern="100">
                <a:solidFill>
                  <a:srgbClr val="1B1716"/>
                </a:solidFill>
                <a:latin typeface="Plus Jakarta Sans"/>
              </a:rPr>
              <a:t>Hong Kong</a:t>
            </a:r>
          </a:p>
          <a:p>
            <a:pPr algn="l">
              <a:lnSpc>
                <a:spcPts val="1631"/>
              </a:lnSpc>
              <a:spcBef>
                <a:spcPts val="0"/>
              </a:spcBef>
              <a:spcAft>
                <a:spcPts val="0"/>
              </a:spcAft>
            </a:pPr>
            <a:r>
              <a:rPr sz="1125" b="1" i="0" kern="100">
                <a:solidFill>
                  <a:srgbClr val="1B1716"/>
                </a:solidFill>
                <a:latin typeface="Plus Jakarta Sans"/>
              </a:rPr>
              <a:t>funds, bonds and deposits</a:t>
            </a:r>
            <a:r>
              <a:rPr sz="1125" b="0" i="0" kern="100">
                <a:solidFill>
                  <a:srgbClr val="1B1716"/>
                </a:solidFill>
                <a:latin typeface="Plus Jakarta Sans"/>
              </a:rPr>
              <a:t>: funds of</a:t>
            </a:r>
          </a:p>
          <a:p>
            <a:pPr algn="l">
              <a:lnSpc>
                <a:spcPts val="1631"/>
              </a:lnSpc>
              <a:spcBef>
                <a:spcPts val="0"/>
              </a:spcBef>
              <a:spcAft>
                <a:spcPts val="0"/>
              </a:spcAft>
            </a:pPr>
            <a:r>
              <a:rPr sz="1125" b="0" i="0" kern="100">
                <a:solidFill>
                  <a:srgbClr val="1B1716"/>
                </a:solidFill>
                <a:latin typeface="Plus Jakarta Sans"/>
              </a:rPr>
              <a:t>low to medium-high risk, non-complex</a:t>
            </a:r>
          </a:p>
        </p:txBody>
      </p:sp>
      <p:sp>
        <p:nvSpPr>
          <p:cNvPr id="39" name="Rule"/>
          <p:cNvSpPr/>
          <p:nvPr/>
        </p:nvSpPr>
        <p:spPr>
          <a:xfrm>
            <a:off x="9067800" y="3504605"/>
            <a:ext cx="2667000" cy="9525"/>
          </a:xfrm>
          <a:prstGeom prst="rect">
            <a:avLst/>
          </a:prstGeom>
          <a:solidFill>
            <a:srgbClr val="ECDADD"/>
          </a:solidFill>
          <a:ln>
            <a:noFill/>
          </a:ln>
        </p:spPr>
        <p:txBody>
          <a:bodyPr rtlCol="0" anchor="ctr"/>
          <a:lstStyle/>
          <a:p>
            <a:pPr algn="ctr"/>
            <a:endParaRPr/>
          </a:p>
        </p:txBody>
      </p:sp>
      <p:sp>
        <p:nvSpPr>
          <p:cNvPr id="40" name="Text"/>
          <p:cNvSpPr txBox="1"/>
          <p:nvPr/>
        </p:nvSpPr>
        <p:spPr>
          <a:xfrm>
            <a:off x="9067800" y="3610713"/>
            <a:ext cx="287364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C80E1E"/>
                </a:solidFill>
                <a:latin typeface="Plus Jakarta Sans"/>
              </a:rPr>
              <a:t>For us: the market we want to serve</a:t>
            </a:r>
          </a:p>
        </p:txBody>
      </p:sp>
      <p:sp>
        <p:nvSpPr>
          <p:cNvPr id="41" name="Text"/>
          <p:cNvSpPr txBox="1"/>
          <p:nvPr/>
        </p:nvSpPr>
        <p:spPr>
          <a:xfrm>
            <a:off x="9067800" y="3871526"/>
            <a:ext cx="2794447" cy="828675"/>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 Hong Kong bank </a:t>
            </a:r>
            <a:r>
              <a:rPr sz="1125" b="1" i="0" kern="100">
                <a:solidFill>
                  <a:srgbClr val="1B1716"/>
                </a:solidFill>
                <a:latin typeface="Plus Jakarta Sans"/>
              </a:rPr>
              <a:t>won't solicit or</a:t>
            </a:r>
          </a:p>
          <a:p>
            <a:pPr algn="l">
              <a:lnSpc>
                <a:spcPts val="1631"/>
              </a:lnSpc>
              <a:spcBef>
                <a:spcPts val="0"/>
              </a:spcBef>
              <a:spcAft>
                <a:spcPts val="0"/>
              </a:spcAft>
            </a:pPr>
            <a:r>
              <a:rPr sz="1125" b="1" i="0" kern="100">
                <a:solidFill>
                  <a:srgbClr val="1B1716"/>
                </a:solidFill>
                <a:latin typeface="Plus Jakarta Sans"/>
              </a:rPr>
              <a:t>recommend</a:t>
            </a:r>
            <a:r>
              <a:rPr sz="1125" b="0" i="0" kern="100">
                <a:solidFill>
                  <a:srgbClr val="1B1716"/>
                </a:solidFill>
                <a:latin typeface="Plus Jakarta Sans"/>
              </a:rPr>
              <a:t> across the boundary</a:t>
            </a:r>
          </a:p>
          <a:p>
            <a:pPr algn="l">
              <a:lnSpc>
                <a:spcPts val="1631"/>
              </a:lnSpc>
              <a:spcBef>
                <a:spcPts val="0"/>
              </a:spcBef>
              <a:spcAft>
                <a:spcPts val="0"/>
              </a:spcAft>
            </a:pPr>
            <a:r>
              <a:rPr sz="1125" b="1" i="0" kern="100">
                <a:solidFill>
                  <a:srgbClr val="1B1716"/>
                </a:solidFill>
                <a:latin typeface="Plus Jakarta Sans"/>
              </a:rPr>
              <a:t>unless the investor asks or agrees</a:t>
            </a:r>
            <a:r>
              <a:rPr sz="1125" b="0" i="0" kern="100">
                <a:solidFill>
                  <a:srgbClr val="1B1716"/>
                </a:solidFill>
                <a:latin typeface="Plus Jakarta Sans"/>
              </a:rPr>
              <a:t>, so</a:t>
            </a:r>
          </a:p>
          <a:p>
            <a:pPr algn="l">
              <a:lnSpc>
                <a:spcPts val="1631"/>
              </a:lnSpc>
              <a:spcBef>
                <a:spcPts val="0"/>
              </a:spcBef>
              <a:spcAft>
                <a:spcPts val="0"/>
              </a:spcAft>
            </a:pPr>
            <a:r>
              <a:rPr sz="1125" b="0" i="0" kern="100">
                <a:solidFill>
                  <a:srgbClr val="1B1716"/>
                </a:solidFill>
                <a:latin typeface="Plus Jakarta Sans"/>
              </a:rPr>
              <a:t>the client's question comes first.</a:t>
            </a:r>
          </a:p>
        </p:txBody>
      </p:sp>
      <p:pic>
        <p:nvPicPr>
          <p:cNvPr id="42" name="Drawing"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48000" y="2484239"/>
            <a:ext cx="3425577" cy="1665982"/>
          </a:xfrm>
          <a:prstGeom prst="rect">
            <a:avLst/>
          </a:prstGeom>
        </p:spPr>
      </p:pic>
      <p:pic>
        <p:nvPicPr>
          <p:cNvPr id="43" name="Drawing"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82768" y="2484239"/>
            <a:ext cx="1665982" cy="160526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Four planners, one aim: families like the Wongs, on both sides of the boundary">
    <p:spTree>
      <p:nvGrpSpPr>
        <p:cNvPr id="1" name=""/>
        <p:cNvGrpSpPr/>
        <p:nvPr/>
      </p:nvGrpSpPr>
      <p:grpSpPr>
        <a:xfrm>
          <a:off x="0" y="0"/>
          <a:ext cx="0" cy="0"/>
          <a:chOff x="0" y="0"/>
          <a:chExt cx="0" cy="0"/>
        </a:xfrm>
      </p:grpSpPr>
      <p:sp>
        <p:nvSpPr>
          <p:cNvPr id="2" name="Rul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ext"/>
          <p:cNvSpPr txBox="1"/>
          <p:nvPr/>
        </p:nvSpPr>
        <p:spPr>
          <a:xfrm>
            <a:off x="638175" y="324421"/>
            <a:ext cx="18008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Who we want to become</a:t>
            </a:r>
          </a:p>
        </p:txBody>
      </p:sp>
      <p:sp>
        <p:nvSpPr>
          <p:cNvPr id="4" name="Text"/>
          <p:cNvSpPr txBox="1"/>
          <p:nvPr/>
        </p:nvSpPr>
        <p:spPr>
          <a:xfrm>
            <a:off x="638175" y="529852"/>
            <a:ext cx="10671926"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Four planners, one aim: families like the Wongs, on both sides of the boundary</a:t>
            </a:r>
          </a:p>
        </p:txBody>
      </p:sp>
      <p:sp>
        <p:nvSpPr>
          <p:cNvPr id="5" name="Rule"/>
          <p:cNvSpPr/>
          <p:nvPr/>
        </p:nvSpPr>
        <p:spPr>
          <a:xfrm>
            <a:off x="457200" y="1141214"/>
            <a:ext cx="2647950" cy="28575"/>
          </a:xfrm>
          <a:prstGeom prst="rect">
            <a:avLst/>
          </a:prstGeom>
          <a:solidFill>
            <a:srgbClr val="971320"/>
          </a:solidFill>
          <a:ln>
            <a:noFill/>
          </a:ln>
        </p:spPr>
        <p:txBody>
          <a:bodyPr rtlCol="0" anchor="ctr"/>
          <a:lstStyle/>
          <a:p>
            <a:pPr algn="ctr"/>
            <a:endParaRPr/>
          </a:p>
        </p:txBody>
      </p:sp>
      <p:sp>
        <p:nvSpPr>
          <p:cNvPr id="6" name="span"/>
          <p:cNvSpPr/>
          <p:nvPr/>
        </p:nvSpPr>
        <p:spPr>
          <a:xfrm>
            <a:off x="4714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7" name="Picture" descr="image.jpg"/>
          <p:cNvPicPr>
            <a:picLocks noChangeAspect="1"/>
          </p:cNvPicPr>
          <p:nvPr/>
        </p:nvPicPr>
        <p:blipFill>
          <a:blip r:embed="rId3"/>
          <a:stretch>
            <a:fillRect/>
          </a:stretch>
        </p:blipFill>
        <p:spPr>
          <a:xfrm>
            <a:off x="485775" y="1350764"/>
            <a:ext cx="666750" cy="666750"/>
          </a:xfrm>
          <a:prstGeom prst="ellipse">
            <a:avLst/>
          </a:prstGeom>
        </p:spPr>
      </p:pic>
      <p:sp>
        <p:nvSpPr>
          <p:cNvPr id="8" name="Text"/>
          <p:cNvSpPr txBox="1"/>
          <p:nvPr/>
        </p:nvSpPr>
        <p:spPr>
          <a:xfrm>
            <a:off x="1314450" y="1445449"/>
            <a:ext cx="570693"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Pete</a:t>
            </a:r>
          </a:p>
        </p:txBody>
      </p:sp>
      <p:sp>
        <p:nvSpPr>
          <p:cNvPr id="9" name="Text"/>
          <p:cNvSpPr txBox="1"/>
          <p:nvPr/>
        </p:nvSpPr>
        <p:spPr>
          <a:xfrm>
            <a:off x="1314450" y="1688812"/>
            <a:ext cx="102188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Lead adviser</a:t>
            </a:r>
          </a:p>
        </p:txBody>
      </p:sp>
      <p:sp>
        <p:nvSpPr>
          <p:cNvPr id="10" name="Text"/>
          <p:cNvSpPr txBox="1"/>
          <p:nvPr/>
        </p:nvSpPr>
        <p:spPr>
          <a:xfrm>
            <a:off x="4572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11" name="Text"/>
          <p:cNvSpPr txBox="1"/>
          <p:nvPr/>
        </p:nvSpPr>
        <p:spPr>
          <a:xfrm>
            <a:off x="457200" y="2414683"/>
            <a:ext cx="2719986"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specialist in a</a:t>
            </a:r>
          </a:p>
          <a:p>
            <a:pPr algn="l">
              <a:lnSpc>
                <a:spcPts val="1852"/>
              </a:lnSpc>
              <a:spcBef>
                <a:spcPts val="0"/>
              </a:spcBef>
              <a:spcAft>
                <a:spcPts val="0"/>
              </a:spcAft>
            </a:pPr>
            <a:r>
              <a:rPr sz="1425" b="1" i="0" kern="100">
                <a:solidFill>
                  <a:srgbClr val="1B1716"/>
                </a:solidFill>
                <a:latin typeface="Plus Jakarta Sans"/>
              </a:rPr>
              <a:t>Hong Kong bank's wealth</a:t>
            </a:r>
          </a:p>
          <a:p>
            <a:pPr algn="l">
              <a:lnSpc>
                <a:spcPts val="1852"/>
              </a:lnSpc>
              <a:spcBef>
                <a:spcPts val="0"/>
              </a:spcBef>
              <a:spcAft>
                <a:spcPts val="0"/>
              </a:spcAft>
            </a:pPr>
            <a:r>
              <a:rPr sz="1425" b="1" i="0" kern="100">
                <a:solidFill>
                  <a:srgbClr val="1B1716"/>
                </a:solidFill>
                <a:latin typeface="Plus Jakarta Sans"/>
              </a:rPr>
              <a:t>team</a:t>
            </a:r>
          </a:p>
        </p:txBody>
      </p:sp>
      <p:sp>
        <p:nvSpPr>
          <p:cNvPr id="12" name="Text"/>
          <p:cNvSpPr txBox="1"/>
          <p:nvPr/>
        </p:nvSpPr>
        <p:spPr>
          <a:xfrm>
            <a:off x="457200" y="3198376"/>
            <a:ext cx="286181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matching each </a:t>
            </a:r>
            <a:r>
              <a:rPr sz="1125" b="1" i="0" kern="100">
                <a:solidFill>
                  <a:srgbClr val="1B1716"/>
                </a:solidFill>
                <a:latin typeface="Plus Jakarta Sans"/>
              </a:rPr>
              <a:t>Connect client's</a:t>
            </a:r>
          </a:p>
          <a:p>
            <a:pPr algn="l">
              <a:lnSpc>
                <a:spcPts val="1631"/>
              </a:lnSpc>
              <a:spcBef>
                <a:spcPts val="0"/>
              </a:spcBef>
              <a:spcAft>
                <a:spcPts val="0"/>
              </a:spcAft>
            </a:pPr>
            <a:r>
              <a:rPr sz="1125" b="1" i="0" kern="100">
                <a:solidFill>
                  <a:srgbClr val="1B1716"/>
                </a:solidFill>
                <a:latin typeface="Plus Jakarta Sans"/>
              </a:rPr>
              <a:t>portfolio</a:t>
            </a:r>
            <a:r>
              <a:rPr sz="1125" b="0" i="0" kern="100">
                <a:solidFill>
                  <a:srgbClr val="1B1716"/>
                </a:solidFill>
                <a:latin typeface="Plus Jakarta Sans"/>
              </a:rPr>
              <a:t> to their risk, with the currency</a:t>
            </a:r>
          </a:p>
          <a:p>
            <a:pPr algn="l">
              <a:lnSpc>
                <a:spcPts val="1631"/>
              </a:lnSpc>
              <a:spcBef>
                <a:spcPts val="0"/>
              </a:spcBef>
              <a:spcAft>
                <a:spcPts val="0"/>
              </a:spcAft>
            </a:pPr>
            <a:r>
              <a:rPr sz="1125" b="0" i="0" kern="100">
                <a:solidFill>
                  <a:srgbClr val="1B1716"/>
                </a:solidFill>
                <a:latin typeface="Plus Jakarta Sans"/>
              </a:rPr>
              <a:t>risk made clear</a:t>
            </a:r>
          </a:p>
        </p:txBody>
      </p:sp>
      <p:sp>
        <p:nvSpPr>
          <p:cNvPr id="13" name="div"/>
          <p:cNvSpPr/>
          <p:nvPr/>
        </p:nvSpPr>
        <p:spPr>
          <a:xfrm>
            <a:off x="457200" y="4286250"/>
            <a:ext cx="2647950" cy="1428750"/>
          </a:xfrm>
          <a:prstGeom prst="rect">
            <a:avLst/>
          </a:prstGeom>
          <a:solidFill>
            <a:srgbClr val="F8EFF0"/>
          </a:solidFill>
          <a:ln>
            <a:noFill/>
          </a:ln>
        </p:spPr>
        <p:txBody>
          <a:bodyPr rtlCol="0" anchor="ctr"/>
          <a:lstStyle/>
          <a:p>
            <a:pPr algn="ctr"/>
            <a:endParaRPr/>
          </a:p>
        </p:txBody>
      </p:sp>
      <p:sp>
        <p:nvSpPr>
          <p:cNvPr id="14" name="Text"/>
          <p:cNvSpPr txBox="1"/>
          <p:nvPr/>
        </p:nvSpPr>
        <p:spPr>
          <a:xfrm>
            <a:off x="62865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15" name="Text"/>
          <p:cNvSpPr txBox="1"/>
          <p:nvPr/>
        </p:nvSpPr>
        <p:spPr>
          <a:xfrm>
            <a:off x="628650" y="4638746"/>
            <a:ext cx="2363769"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“Fitting the Wongs' three</a:t>
            </a:r>
          </a:p>
          <a:p>
            <a:pPr algn="l">
              <a:lnSpc>
                <a:spcPts val="1889"/>
              </a:lnSpc>
              <a:spcBef>
                <a:spcPts val="0"/>
              </a:spcBef>
              <a:spcAft>
                <a:spcPts val="0"/>
              </a:spcAft>
            </a:pPr>
            <a:r>
              <a:rPr sz="1350" b="0" i="0" kern="100">
                <a:solidFill>
                  <a:srgbClr val="1B1716"/>
                </a:solidFill>
                <a:latin typeface="Plus Jakarta Sans SemiBold"/>
              </a:rPr>
              <a:t>risk profiles into one plan</a:t>
            </a:r>
          </a:p>
          <a:p>
            <a:pPr algn="l">
              <a:lnSpc>
                <a:spcPts val="1889"/>
              </a:lnSpc>
              <a:spcBef>
                <a:spcPts val="0"/>
              </a:spcBef>
              <a:spcAft>
                <a:spcPts val="0"/>
              </a:spcAft>
            </a:pPr>
            <a:r>
              <a:rPr sz="1350" b="0" i="0" kern="100">
                <a:solidFill>
                  <a:srgbClr val="1B1716"/>
                </a:solidFill>
                <a:latin typeface="Plus Jakarta Sans SemiBold"/>
              </a:rPr>
              <a:t>was that job in miniature.”</a:t>
            </a:r>
          </a:p>
        </p:txBody>
      </p:sp>
      <p:sp>
        <p:nvSpPr>
          <p:cNvPr id="16" name="Rule"/>
          <p:cNvSpPr/>
          <p:nvPr/>
        </p:nvSpPr>
        <p:spPr>
          <a:xfrm>
            <a:off x="3333750" y="1141214"/>
            <a:ext cx="2647950" cy="28575"/>
          </a:xfrm>
          <a:prstGeom prst="rect">
            <a:avLst/>
          </a:prstGeom>
          <a:solidFill>
            <a:srgbClr val="971320"/>
          </a:solidFill>
          <a:ln>
            <a:noFill/>
          </a:ln>
        </p:spPr>
        <p:txBody>
          <a:bodyPr rtlCol="0" anchor="ctr"/>
          <a:lstStyle/>
          <a:p>
            <a:pPr algn="ctr"/>
            <a:endParaRPr/>
          </a:p>
        </p:txBody>
      </p:sp>
      <p:sp>
        <p:nvSpPr>
          <p:cNvPr id="17" name="span"/>
          <p:cNvSpPr/>
          <p:nvPr/>
        </p:nvSpPr>
        <p:spPr>
          <a:xfrm>
            <a:off x="334803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18" name="Picture" descr="image.jpg"/>
          <p:cNvPicPr>
            <a:picLocks noChangeAspect="1"/>
          </p:cNvPicPr>
          <p:nvPr/>
        </p:nvPicPr>
        <p:blipFill>
          <a:blip r:embed="rId4"/>
          <a:stretch>
            <a:fillRect/>
          </a:stretch>
        </p:blipFill>
        <p:spPr>
          <a:xfrm>
            <a:off x="3362325" y="1350764"/>
            <a:ext cx="666750" cy="666750"/>
          </a:xfrm>
          <a:prstGeom prst="ellipse">
            <a:avLst/>
          </a:prstGeom>
        </p:spPr>
      </p:pic>
      <p:sp>
        <p:nvSpPr>
          <p:cNvPr id="19" name="Text"/>
          <p:cNvSpPr txBox="1"/>
          <p:nvPr/>
        </p:nvSpPr>
        <p:spPr>
          <a:xfrm>
            <a:off x="4191000" y="1445449"/>
            <a:ext cx="7161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Fahtai</a:t>
            </a:r>
          </a:p>
        </p:txBody>
      </p:sp>
      <p:sp>
        <p:nvSpPr>
          <p:cNvPr id="20" name="Text"/>
          <p:cNvSpPr txBox="1"/>
          <p:nvPr/>
        </p:nvSpPr>
        <p:spPr>
          <a:xfrm>
            <a:off x="4191000" y="1688812"/>
            <a:ext cx="91397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Retirement</a:t>
            </a:r>
          </a:p>
        </p:txBody>
      </p:sp>
      <p:sp>
        <p:nvSpPr>
          <p:cNvPr id="21" name="Text"/>
          <p:cNvSpPr txBox="1"/>
          <p:nvPr/>
        </p:nvSpPr>
        <p:spPr>
          <a:xfrm>
            <a:off x="33337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22" name="Text"/>
          <p:cNvSpPr txBox="1"/>
          <p:nvPr/>
        </p:nvSpPr>
        <p:spPr>
          <a:xfrm>
            <a:off x="3333750" y="2414683"/>
            <a:ext cx="2805648"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Building the data and risk</a:t>
            </a:r>
          </a:p>
          <a:p>
            <a:pPr algn="l">
              <a:lnSpc>
                <a:spcPts val="1852"/>
              </a:lnSpc>
              <a:spcBef>
                <a:spcPts val="0"/>
              </a:spcBef>
              <a:spcAft>
                <a:spcPts val="0"/>
              </a:spcAft>
            </a:pPr>
            <a:r>
              <a:rPr sz="1425" b="1" i="0" kern="100">
                <a:solidFill>
                  <a:srgbClr val="1B1716"/>
                </a:solidFill>
                <a:latin typeface="Plus Jakarta Sans"/>
              </a:rPr>
              <a:t>models wealth managers use</a:t>
            </a:r>
          </a:p>
          <a:p>
            <a:pPr algn="l">
              <a:lnSpc>
                <a:spcPts val="1852"/>
              </a:lnSpc>
              <a:spcBef>
                <a:spcPts val="0"/>
              </a:spcBef>
              <a:spcAft>
                <a:spcPts val="0"/>
              </a:spcAft>
            </a:pPr>
            <a:r>
              <a:rPr sz="1425" b="1" i="0" kern="100">
                <a:solidFill>
                  <a:srgbClr val="1B1716"/>
                </a:solidFill>
                <a:latin typeface="Plus Jakarta Sans"/>
              </a:rPr>
              <a:t>for families</a:t>
            </a:r>
          </a:p>
        </p:txBody>
      </p:sp>
      <p:sp>
        <p:nvSpPr>
          <p:cNvPr id="23" name="Text"/>
          <p:cNvSpPr txBox="1"/>
          <p:nvPr/>
        </p:nvSpPr>
        <p:spPr>
          <a:xfrm>
            <a:off x="3333750" y="3198376"/>
            <a:ext cx="275343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East and Southeast Asia; next,</a:t>
            </a:r>
          </a:p>
          <a:p>
            <a:pPr algn="l">
              <a:lnSpc>
                <a:spcPts val="1631"/>
              </a:lnSpc>
              <a:spcBef>
                <a:spcPts val="0"/>
              </a:spcBef>
              <a:spcAft>
                <a:spcPts val="0"/>
              </a:spcAft>
            </a:pPr>
            <a:r>
              <a:rPr sz="1125" b="0" i="0" kern="100">
                <a:solidFill>
                  <a:srgbClr val="1B1716"/>
                </a:solidFill>
                <a:latin typeface="Plus Jakarta Sans"/>
              </a:rPr>
              <a:t>the FRM, with </a:t>
            </a:r>
            <a:r>
              <a:rPr sz="1125" b="1" i="0" kern="100">
                <a:solidFill>
                  <a:srgbClr val="1B1716"/>
                </a:solidFill>
                <a:latin typeface="Plus Jakarta Sans"/>
              </a:rPr>
              <a:t>Connect funds as the</a:t>
            </a:r>
          </a:p>
          <a:p>
            <a:pPr algn="l">
              <a:lnSpc>
                <a:spcPts val="1631"/>
              </a:lnSpc>
              <a:spcBef>
                <a:spcPts val="0"/>
              </a:spcBef>
              <a:spcAft>
                <a:spcPts val="0"/>
              </a:spcAft>
            </a:pPr>
            <a:r>
              <a:rPr sz="1125" b="1" i="0" kern="100">
                <a:solidFill>
                  <a:srgbClr val="1B1716"/>
                </a:solidFill>
                <a:latin typeface="Plus Jakarta Sans"/>
              </a:rPr>
              <a:t>first case</a:t>
            </a:r>
          </a:p>
        </p:txBody>
      </p:sp>
      <p:sp>
        <p:nvSpPr>
          <p:cNvPr id="24" name="div"/>
          <p:cNvSpPr/>
          <p:nvPr/>
        </p:nvSpPr>
        <p:spPr>
          <a:xfrm>
            <a:off x="3333750" y="4286250"/>
            <a:ext cx="2647950" cy="1428750"/>
          </a:xfrm>
          <a:prstGeom prst="rect">
            <a:avLst/>
          </a:prstGeom>
          <a:solidFill>
            <a:srgbClr val="F8EFF0"/>
          </a:solidFill>
          <a:ln>
            <a:noFill/>
          </a:ln>
        </p:spPr>
        <p:txBody>
          <a:bodyPr rtlCol="0" anchor="ctr"/>
          <a:lstStyle/>
          <a:p>
            <a:pPr algn="ctr"/>
            <a:endParaRPr/>
          </a:p>
        </p:txBody>
      </p:sp>
      <p:sp>
        <p:nvSpPr>
          <p:cNvPr id="25" name="Text"/>
          <p:cNvSpPr txBox="1"/>
          <p:nvPr/>
        </p:nvSpPr>
        <p:spPr>
          <a:xfrm>
            <a:off x="35052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26" name="Text"/>
          <p:cNvSpPr txBox="1"/>
          <p:nvPr/>
        </p:nvSpPr>
        <p:spPr>
          <a:xfrm>
            <a:off x="3505200" y="4638746"/>
            <a:ext cx="1856735"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“A model's job is to</a:t>
            </a:r>
          </a:p>
          <a:p>
            <a:pPr algn="l">
              <a:lnSpc>
                <a:spcPts val="1889"/>
              </a:lnSpc>
              <a:spcBef>
                <a:spcPts val="0"/>
              </a:spcBef>
              <a:spcAft>
                <a:spcPts val="0"/>
              </a:spcAft>
            </a:pPr>
            <a:r>
              <a:rPr sz="1350" b="0" i="0" kern="100">
                <a:solidFill>
                  <a:srgbClr val="1B1716"/>
                </a:solidFill>
                <a:latin typeface="Plus Jakarta Sans SemiBold"/>
              </a:rPr>
              <a:t>price the trade-offs</a:t>
            </a:r>
          </a:p>
          <a:p>
            <a:pPr algn="l">
              <a:lnSpc>
                <a:spcPts val="1889"/>
              </a:lnSpc>
              <a:spcBef>
                <a:spcPts val="0"/>
              </a:spcBef>
              <a:spcAft>
                <a:spcPts val="0"/>
              </a:spcAft>
            </a:pPr>
            <a:r>
              <a:rPr sz="1350" b="0" i="0" kern="100">
                <a:solidFill>
                  <a:srgbClr val="1B1716"/>
                </a:solidFill>
                <a:latin typeface="Plus Jakarta Sans SemiBold"/>
              </a:rPr>
              <a:t>between people.”</a:t>
            </a:r>
          </a:p>
        </p:txBody>
      </p:sp>
      <p:sp>
        <p:nvSpPr>
          <p:cNvPr id="27" name="Rule"/>
          <p:cNvSpPr/>
          <p:nvPr/>
        </p:nvSpPr>
        <p:spPr>
          <a:xfrm>
            <a:off x="6210300" y="1141214"/>
            <a:ext cx="2647950" cy="28575"/>
          </a:xfrm>
          <a:prstGeom prst="rect">
            <a:avLst/>
          </a:prstGeom>
          <a:solidFill>
            <a:srgbClr val="971320"/>
          </a:solidFill>
          <a:ln>
            <a:noFill/>
          </a:ln>
        </p:spPr>
        <p:txBody>
          <a:bodyPr rtlCol="0" anchor="ctr"/>
          <a:lstStyle/>
          <a:p>
            <a:pPr algn="ctr"/>
            <a:endParaRPr/>
          </a:p>
        </p:txBody>
      </p:sp>
      <p:sp>
        <p:nvSpPr>
          <p:cNvPr id="28" name="span"/>
          <p:cNvSpPr/>
          <p:nvPr/>
        </p:nvSpPr>
        <p:spPr>
          <a:xfrm>
            <a:off x="62245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9" name="Picture" descr="image.jpg"/>
          <p:cNvPicPr>
            <a:picLocks noChangeAspect="1"/>
          </p:cNvPicPr>
          <p:nvPr/>
        </p:nvPicPr>
        <p:blipFill>
          <a:blip r:embed="rId5"/>
          <a:stretch>
            <a:fillRect/>
          </a:stretch>
        </p:blipFill>
        <p:spPr>
          <a:xfrm>
            <a:off x="6238875" y="1350764"/>
            <a:ext cx="666750" cy="666750"/>
          </a:xfrm>
          <a:prstGeom prst="ellipse">
            <a:avLst/>
          </a:prstGeom>
        </p:spPr>
      </p:pic>
      <p:sp>
        <p:nvSpPr>
          <p:cNvPr id="30" name="Text"/>
          <p:cNvSpPr txBox="1"/>
          <p:nvPr/>
        </p:nvSpPr>
        <p:spPr>
          <a:xfrm>
            <a:off x="7067550" y="1445449"/>
            <a:ext cx="49102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Win</a:t>
            </a:r>
          </a:p>
        </p:txBody>
      </p:sp>
      <p:sp>
        <p:nvSpPr>
          <p:cNvPr id="31" name="Text"/>
          <p:cNvSpPr txBox="1"/>
          <p:nvPr/>
        </p:nvSpPr>
        <p:spPr>
          <a:xfrm>
            <a:off x="7067550" y="1688812"/>
            <a:ext cx="92044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Investment</a:t>
            </a:r>
          </a:p>
        </p:txBody>
      </p:sp>
      <p:sp>
        <p:nvSpPr>
          <p:cNvPr id="32" name="Text"/>
          <p:cNvSpPr txBox="1"/>
          <p:nvPr/>
        </p:nvSpPr>
        <p:spPr>
          <a:xfrm>
            <a:off x="62103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33" name="Text"/>
          <p:cNvSpPr txBox="1"/>
          <p:nvPr/>
        </p:nvSpPr>
        <p:spPr>
          <a:xfrm>
            <a:off x="6210300" y="2414683"/>
            <a:ext cx="2694587" cy="470416"/>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strategist for</a:t>
            </a:r>
          </a:p>
          <a:p>
            <a:pPr algn="l">
              <a:lnSpc>
                <a:spcPts val="1852"/>
              </a:lnSpc>
              <a:spcBef>
                <a:spcPts val="0"/>
              </a:spcBef>
              <a:spcAft>
                <a:spcPts val="0"/>
              </a:spcAft>
            </a:pPr>
            <a:r>
              <a:rPr sz="1425" b="1" i="0" kern="100">
                <a:solidFill>
                  <a:srgbClr val="1B1716"/>
                </a:solidFill>
                <a:latin typeface="Plus Jakarta Sans"/>
              </a:rPr>
              <a:t>family clients</a:t>
            </a:r>
          </a:p>
        </p:txBody>
      </p:sp>
      <p:sp>
        <p:nvSpPr>
          <p:cNvPr id="34" name="Text"/>
          <p:cNvSpPr txBox="1"/>
          <p:nvPr/>
        </p:nvSpPr>
        <p:spPr>
          <a:xfrm>
            <a:off x="6210300" y="2963228"/>
            <a:ext cx="279602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Asia-Pacific, fitting each</a:t>
            </a:r>
          </a:p>
          <a:p>
            <a:pPr algn="l">
              <a:lnSpc>
                <a:spcPts val="1631"/>
              </a:lnSpc>
              <a:spcBef>
                <a:spcPts val="0"/>
              </a:spcBef>
              <a:spcAft>
                <a:spcPts val="0"/>
              </a:spcAft>
            </a:pPr>
            <a:r>
              <a:rPr sz="1125" b="0" i="0" kern="100">
                <a:solidFill>
                  <a:srgbClr val="1B1716"/>
                </a:solidFill>
                <a:latin typeface="Plus Jakarta Sans"/>
              </a:rPr>
              <a:t>portfolio to its owner </a:t>
            </a:r>
            <a:r>
              <a:rPr sz="1125" b="1" i="0" kern="100">
                <a:solidFill>
                  <a:srgbClr val="1B1716"/>
                </a:solidFill>
                <a:latin typeface="Plus Jakarta Sans"/>
              </a:rPr>
              <a:t>on either side of</a:t>
            </a:r>
          </a:p>
          <a:p>
            <a:pPr algn="l">
              <a:lnSpc>
                <a:spcPts val="1631"/>
              </a:lnSpc>
              <a:spcBef>
                <a:spcPts val="0"/>
              </a:spcBef>
              <a:spcAft>
                <a:spcPts val="0"/>
              </a:spcAft>
            </a:pPr>
            <a:r>
              <a:rPr sz="1125" b="1" i="0" kern="100">
                <a:solidFill>
                  <a:srgbClr val="1B1716"/>
                </a:solidFill>
                <a:latin typeface="Plus Jakarta Sans"/>
              </a:rPr>
              <a:t>the boundary</a:t>
            </a:r>
          </a:p>
        </p:txBody>
      </p:sp>
      <p:sp>
        <p:nvSpPr>
          <p:cNvPr id="35" name="div"/>
          <p:cNvSpPr/>
          <p:nvPr/>
        </p:nvSpPr>
        <p:spPr>
          <a:xfrm>
            <a:off x="6215062" y="4291012"/>
            <a:ext cx="2638425" cy="1419225"/>
          </a:xfrm>
          <a:prstGeom prst="rect">
            <a:avLst/>
          </a:prstGeom>
          <a:noFill/>
          <a:ln w="9525">
            <a:solidFill>
              <a:srgbClr val="B5979D"/>
            </a:solidFill>
            <a:prstDash val="dash"/>
          </a:ln>
        </p:spPr>
        <p:txBody>
          <a:bodyPr rtlCol="0" anchor="ctr"/>
          <a:lstStyle/>
          <a:p>
            <a:pPr algn="ctr"/>
            <a:endParaRPr/>
          </a:p>
        </p:txBody>
      </p:sp>
      <p:sp>
        <p:nvSpPr>
          <p:cNvPr id="36" name="Text"/>
          <p:cNvSpPr txBox="1"/>
          <p:nvPr/>
        </p:nvSpPr>
        <p:spPr>
          <a:xfrm>
            <a:off x="6391275" y="4439222"/>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37" name="Text"/>
          <p:cNvSpPr txBox="1"/>
          <p:nvPr/>
        </p:nvSpPr>
        <p:spPr>
          <a:xfrm>
            <a:off x="6391275" y="4648271"/>
            <a:ext cx="1867305" cy="240030"/>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80606A"/>
                </a:solidFill>
                <a:latin typeface="Plus Jakarta Sans"/>
              </a:rPr>
              <a:t>Win's line, to confirm</a:t>
            </a:r>
          </a:p>
        </p:txBody>
      </p:sp>
      <p:sp>
        <p:nvSpPr>
          <p:cNvPr id="38" name="Rule"/>
          <p:cNvSpPr/>
          <p:nvPr/>
        </p:nvSpPr>
        <p:spPr>
          <a:xfrm>
            <a:off x="9086850" y="1141214"/>
            <a:ext cx="2647950" cy="28575"/>
          </a:xfrm>
          <a:prstGeom prst="rect">
            <a:avLst/>
          </a:prstGeom>
          <a:solidFill>
            <a:srgbClr val="971320"/>
          </a:solidFill>
          <a:ln>
            <a:noFill/>
          </a:ln>
        </p:spPr>
        <p:txBody>
          <a:bodyPr rtlCol="0" anchor="ctr"/>
          <a:lstStyle/>
          <a:p>
            <a:pPr algn="ctr"/>
            <a:endParaRPr/>
          </a:p>
        </p:txBody>
      </p:sp>
      <p:sp>
        <p:nvSpPr>
          <p:cNvPr id="39" name="span"/>
          <p:cNvSpPr/>
          <p:nvPr/>
        </p:nvSpPr>
        <p:spPr>
          <a:xfrm>
            <a:off x="9101138" y="1336477"/>
            <a:ext cx="695325" cy="695325"/>
          </a:xfrm>
          <a:prstGeom prst="ellipse">
            <a:avLst/>
          </a:prstGeom>
          <a:gradFill rotWithShape="0">
            <a:gsLst>
              <a:gs pos="0">
                <a:srgbClr val="C41627"/>
              </a:gs>
              <a:gs pos="100000">
                <a:srgbClr val="700E19"/>
              </a:gs>
            </a:gsLst>
            <a:lin ang="5400000" scaled="0"/>
          </a:gra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40" name="Drawing"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96400" y="1531739"/>
            <a:ext cx="304800" cy="304800"/>
          </a:xfrm>
          <a:prstGeom prst="rect">
            <a:avLst/>
          </a:prstGeom>
        </p:spPr>
      </p:pic>
      <p:sp>
        <p:nvSpPr>
          <p:cNvPr id="41" name="Text"/>
          <p:cNvSpPr txBox="1"/>
          <p:nvPr/>
        </p:nvSpPr>
        <p:spPr>
          <a:xfrm>
            <a:off x="9944100" y="1445449"/>
            <a:ext cx="9764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Lookbua</a:t>
            </a:r>
          </a:p>
        </p:txBody>
      </p:sp>
      <p:sp>
        <p:nvSpPr>
          <p:cNvPr id="42" name="Text"/>
          <p:cNvSpPr txBox="1"/>
          <p:nvPr/>
        </p:nvSpPr>
        <p:spPr>
          <a:xfrm>
            <a:off x="9944100" y="1688812"/>
            <a:ext cx="145161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Protection and risk</a:t>
            </a:r>
          </a:p>
        </p:txBody>
      </p:sp>
      <p:sp>
        <p:nvSpPr>
          <p:cNvPr id="43" name="Text"/>
          <p:cNvSpPr txBox="1"/>
          <p:nvPr/>
        </p:nvSpPr>
        <p:spPr>
          <a:xfrm>
            <a:off x="90868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44" name="Text"/>
          <p:cNvSpPr txBox="1"/>
          <p:nvPr/>
        </p:nvSpPr>
        <p:spPr>
          <a:xfrm>
            <a:off x="9086850" y="2414683"/>
            <a:ext cx="2553867" cy="235268"/>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 specialist in systems risk</a:t>
            </a:r>
          </a:p>
        </p:txBody>
      </p:sp>
      <p:sp>
        <p:nvSpPr>
          <p:cNvPr id="45" name="Text"/>
          <p:cNvSpPr txBox="1"/>
          <p:nvPr/>
        </p:nvSpPr>
        <p:spPr>
          <a:xfrm>
            <a:off x="9086850" y="2728079"/>
            <a:ext cx="2673289" cy="621506"/>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the Connect links two markets</a:t>
            </a:r>
            <a:r>
              <a:rPr sz="1125" b="0" i="0" kern="100">
                <a:solidFill>
                  <a:srgbClr val="1B1716"/>
                </a:solidFill>
                <a:latin typeface="Plus Jakarta Sans"/>
              </a:rPr>
              <a:t> with</a:t>
            </a:r>
          </a:p>
          <a:p>
            <a:pPr algn="l">
              <a:lnSpc>
                <a:spcPts val="1631"/>
              </a:lnSpc>
              <a:spcBef>
                <a:spcPts val="0"/>
              </a:spcBef>
              <a:spcAft>
                <a:spcPts val="0"/>
              </a:spcAft>
            </a:pPr>
            <a:r>
              <a:rPr sz="1125" b="0" i="0" kern="100">
                <a:solidFill>
                  <a:srgbClr val="1B1716"/>
                </a:solidFill>
                <a:latin typeface="Plus Jakarta Sans"/>
              </a:rPr>
              <a:t>different rules, so a shock in one can</a:t>
            </a:r>
          </a:p>
          <a:p>
            <a:pPr algn="l">
              <a:lnSpc>
                <a:spcPts val="1631"/>
              </a:lnSpc>
              <a:spcBef>
                <a:spcPts val="0"/>
              </a:spcBef>
              <a:spcAft>
                <a:spcPts val="0"/>
              </a:spcAft>
            </a:pPr>
            <a:r>
              <a:rPr sz="1125" b="0" i="0" kern="100">
                <a:solidFill>
                  <a:srgbClr val="1B1716"/>
                </a:solidFill>
                <a:latin typeface="Plus Jakarta Sans"/>
              </a:rPr>
              <a:t>reach the other</a:t>
            </a:r>
          </a:p>
        </p:txBody>
      </p:sp>
      <p:sp>
        <p:nvSpPr>
          <p:cNvPr id="46" name="div"/>
          <p:cNvSpPr/>
          <p:nvPr/>
        </p:nvSpPr>
        <p:spPr>
          <a:xfrm>
            <a:off x="9086850" y="4286250"/>
            <a:ext cx="2647950" cy="1428750"/>
          </a:xfrm>
          <a:prstGeom prst="rect">
            <a:avLst/>
          </a:prstGeom>
          <a:solidFill>
            <a:srgbClr val="F8EFF0"/>
          </a:solidFill>
          <a:ln>
            <a:noFill/>
          </a:ln>
        </p:spPr>
        <p:txBody>
          <a:bodyPr rtlCol="0" anchor="ctr"/>
          <a:lstStyle/>
          <a:p>
            <a:pPr algn="ctr"/>
            <a:endParaRPr/>
          </a:p>
        </p:txBody>
      </p:sp>
      <p:sp>
        <p:nvSpPr>
          <p:cNvPr id="47" name="Text"/>
          <p:cNvSpPr txBox="1"/>
          <p:nvPr/>
        </p:nvSpPr>
        <p:spPr>
          <a:xfrm>
            <a:off x="92583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48" name="Text"/>
          <p:cNvSpPr txBox="1"/>
          <p:nvPr/>
        </p:nvSpPr>
        <p:spPr>
          <a:xfrm>
            <a:off x="9258300" y="4638746"/>
            <a:ext cx="2390114" cy="479941"/>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“Every risk needs a named</a:t>
            </a:r>
          </a:p>
          <a:p>
            <a:pPr algn="l">
              <a:lnSpc>
                <a:spcPts val="1889"/>
              </a:lnSpc>
              <a:spcBef>
                <a:spcPts val="0"/>
              </a:spcBef>
              <a:spcAft>
                <a:spcPts val="0"/>
              </a:spcAft>
            </a:pPr>
            <a:r>
              <a:rPr sz="1350" b="0" i="0" kern="100">
                <a:solidFill>
                  <a:srgbClr val="1B1716"/>
                </a:solidFill>
                <a:latin typeface="Plus Jakarta Sans SemiBold"/>
              </a:rPr>
              <a:t>defence.”</a:t>
            </a:r>
          </a:p>
        </p:txBody>
      </p:sp>
      <p:sp>
        <p:nvSpPr>
          <p:cNvPr id="49"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0" name="Text"/>
          <p:cNvSpPr txBox="1"/>
          <p:nvPr/>
        </p:nvSpPr>
        <p:spPr>
          <a:xfrm>
            <a:off x="1393833" y="5984558"/>
            <a:ext cx="9404184"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What the Wongs taught all four of us: a plan is a set of choices between people, each made clear.</a:t>
            </a:r>
          </a:p>
        </p:txBody>
      </p:sp>
      <p:sp>
        <p:nvSpPr>
          <p:cNvPr id="51" name="Text"/>
          <p:cNvSpPr txBox="1"/>
          <p:nvPr/>
        </p:nvSpPr>
        <p:spPr>
          <a:xfrm>
            <a:off x="457200" y="6452104"/>
            <a:ext cx="6082751"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Personal statements: written case p.14. Win's line is a draft for Win to confirm; Lookbua's edited line needs</a:t>
            </a:r>
          </a:p>
          <a:p>
            <a:pPr algn="l">
              <a:lnSpc>
                <a:spcPts val="1170"/>
              </a:lnSpc>
              <a:spcBef>
                <a:spcPts val="0"/>
              </a:spcBef>
              <a:spcAft>
                <a:spcPts val="0"/>
              </a:spcAft>
            </a:pPr>
            <a:r>
              <a:rPr sz="900" b="0" i="0" kern="100">
                <a:solidFill>
                  <a:srgbClr val="80606A"/>
                </a:solidFill>
                <a:latin typeface="Plus Jakarta Sans"/>
              </a:rPr>
              <a:t>his OK.</a:t>
            </a:r>
          </a:p>
        </p:txBody>
      </p:sp>
      <p:sp>
        <p:nvSpPr>
          <p:cNvPr id="52" name="Text"/>
          <p:cNvSpPr txBox="1"/>
          <p:nvPr/>
        </p:nvSpPr>
        <p:spPr>
          <a:xfrm>
            <a:off x="6634311"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53" name="Text"/>
          <p:cNvSpPr txBox="1"/>
          <p:nvPr/>
        </p:nvSpPr>
        <p:spPr>
          <a:xfrm>
            <a:off x="7580561"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54" name="Text"/>
          <p:cNvSpPr txBox="1"/>
          <p:nvPr/>
        </p:nvSpPr>
        <p:spPr>
          <a:xfrm>
            <a:off x="8440787"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55" name="Text"/>
          <p:cNvSpPr txBox="1"/>
          <p:nvPr/>
        </p:nvSpPr>
        <p:spPr>
          <a:xfrm>
            <a:off x="9377660"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56" name="Text"/>
          <p:cNvSpPr txBox="1"/>
          <p:nvPr/>
        </p:nvSpPr>
        <p:spPr>
          <a:xfrm>
            <a:off x="10175677"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57" name="Text"/>
          <p:cNvSpPr txBox="1"/>
          <p:nvPr/>
        </p:nvSpPr>
        <p:spPr>
          <a:xfrm>
            <a:off x="10971014"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58" name="Text"/>
          <p:cNvSpPr txBox="1"/>
          <p:nvPr/>
        </p:nvSpPr>
        <p:spPr>
          <a:xfrm>
            <a:off x="11351270" y="6535674"/>
            <a:ext cx="5208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14 / 15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ext"/>
          <p:cNvSpPr txBox="1"/>
          <p:nvPr/>
        </p:nvSpPr>
        <p:spPr>
          <a:xfrm>
            <a:off x="533400" y="964501"/>
            <a:ext cx="3793054" cy="1962829"/>
          </a:xfrm>
          <a:prstGeom prst="rect">
            <a:avLst/>
          </a:prstGeom>
          <a:noFill/>
        </p:spPr>
        <p:txBody>
          <a:bodyPr wrap="none" lIns="0" tIns="0" rIns="0" bIns="0" anchor="t">
            <a:noAutofit/>
          </a:bodyPr>
          <a:lstStyle/>
          <a:p>
            <a:pPr algn="l">
              <a:lnSpc>
                <a:spcPts val="7728"/>
              </a:lnSpc>
              <a:spcBef>
                <a:spcPts val="0"/>
              </a:spcBef>
              <a:spcAft>
                <a:spcPts val="0"/>
              </a:spcAft>
            </a:pPr>
            <a:r>
              <a:rPr sz="8400" b="0" i="0" kern="100" spc="-150">
                <a:solidFill>
                  <a:srgbClr val="1B1716"/>
                </a:solidFill>
                <a:latin typeface="Plus Jakarta Sans SemiBold"/>
              </a:rPr>
              <a:t>Built to</a:t>
            </a:r>
          </a:p>
          <a:p>
            <a:pPr algn="l">
              <a:lnSpc>
                <a:spcPts val="7728"/>
              </a:lnSpc>
              <a:spcBef>
                <a:spcPts val="0"/>
              </a:spcBef>
              <a:spcAft>
                <a:spcPts val="0"/>
              </a:spcAft>
            </a:pPr>
            <a:r>
              <a:rPr sz="8400" b="0" i="0" kern="100" spc="-150">
                <a:solidFill>
                  <a:srgbClr val="1B1716"/>
                </a:solidFill>
                <a:latin typeface="Plus Jakarta Sans SemiBold"/>
              </a:rPr>
              <a:t>Last</a:t>
            </a:r>
          </a:p>
        </p:txBody>
      </p:sp>
      <p:sp>
        <p:nvSpPr>
          <p:cNvPr id="4" name="Rule"/>
          <p:cNvSpPr/>
          <p:nvPr/>
        </p:nvSpPr>
        <p:spPr>
          <a:xfrm>
            <a:off x="533400" y="3315295"/>
            <a:ext cx="1765250" cy="19050"/>
          </a:xfrm>
          <a:prstGeom prst="rect">
            <a:avLst/>
          </a:prstGeom>
          <a:solidFill>
            <a:srgbClr val="C80E1E"/>
          </a:solidFill>
          <a:ln>
            <a:noFill/>
          </a:ln>
        </p:spPr>
        <p:txBody>
          <a:bodyPr rtlCol="0" anchor="ctr"/>
          <a:lstStyle/>
          <a:p>
            <a:pPr algn="ctr"/>
            <a:endParaRPr/>
          </a:p>
        </p:txBody>
      </p:sp>
      <p:sp>
        <p:nvSpPr>
          <p:cNvPr id="5" name="Text"/>
          <p:cNvSpPr txBox="1"/>
          <p:nvPr/>
        </p:nvSpPr>
        <p:spPr>
          <a:xfrm>
            <a:off x="533400" y="3401973"/>
            <a:ext cx="975342"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97%</a:t>
            </a:r>
          </a:p>
        </p:txBody>
      </p:sp>
      <p:sp>
        <p:nvSpPr>
          <p:cNvPr id="6" name="Text"/>
          <p:cNvSpPr txBox="1"/>
          <p:nvPr/>
        </p:nvSpPr>
        <p:spPr>
          <a:xfrm>
            <a:off x="533400" y="3855458"/>
            <a:ext cx="185389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chance the money lasts to</a:t>
            </a:r>
          </a:p>
          <a:p>
            <a:pPr algn="l">
              <a:lnSpc>
                <a:spcPts val="1417"/>
              </a:lnSpc>
              <a:spcBef>
                <a:spcPts val="0"/>
              </a:spcBef>
              <a:spcAft>
                <a:spcPts val="0"/>
              </a:spcAft>
            </a:pPr>
            <a:r>
              <a:rPr sz="1050" b="0" i="0" kern="100">
                <a:solidFill>
                  <a:srgbClr val="80606A"/>
                </a:solidFill>
                <a:latin typeface="Plus Jakarta Sans"/>
              </a:rPr>
              <a:t>Carmen's 89, from 62%</a:t>
            </a:r>
          </a:p>
          <a:p>
            <a:pPr algn="l">
              <a:lnSpc>
                <a:spcPts val="1417"/>
              </a:lnSpc>
              <a:spcBef>
                <a:spcPts val="0"/>
              </a:spcBef>
              <a:spcAft>
                <a:spcPts val="0"/>
              </a:spcAft>
            </a:pPr>
            <a:r>
              <a:rPr sz="1050" b="0" i="0" kern="100">
                <a:solidFill>
                  <a:srgbClr val="80606A"/>
                </a:solidFill>
                <a:latin typeface="Plus Jakarta Sans"/>
              </a:rPr>
              <a:t>their own way</a:t>
            </a:r>
          </a:p>
        </p:txBody>
      </p:sp>
      <p:sp>
        <p:nvSpPr>
          <p:cNvPr id="7" name="Rule"/>
          <p:cNvSpPr/>
          <p:nvPr/>
        </p:nvSpPr>
        <p:spPr>
          <a:xfrm>
            <a:off x="2546300" y="3315295"/>
            <a:ext cx="1765250" cy="19050"/>
          </a:xfrm>
          <a:prstGeom prst="rect">
            <a:avLst/>
          </a:prstGeom>
          <a:solidFill>
            <a:srgbClr val="C80E1E"/>
          </a:solidFill>
          <a:ln>
            <a:noFill/>
          </a:ln>
        </p:spPr>
        <p:txBody>
          <a:bodyPr rtlCol="0" anchor="ctr"/>
          <a:lstStyle/>
          <a:p>
            <a:pPr algn="ctr"/>
            <a:endParaRPr/>
          </a:p>
        </p:txBody>
      </p:sp>
      <p:sp>
        <p:nvSpPr>
          <p:cNvPr id="8" name="Text"/>
          <p:cNvSpPr txBox="1"/>
          <p:nvPr/>
        </p:nvSpPr>
        <p:spPr>
          <a:xfrm>
            <a:off x="2546300" y="3401973"/>
            <a:ext cx="181098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HK$7.7M</a:t>
            </a:r>
          </a:p>
        </p:txBody>
      </p:sp>
      <p:sp>
        <p:nvSpPr>
          <p:cNvPr id="9" name="Text"/>
          <p:cNvSpPr txBox="1"/>
          <p:nvPr/>
        </p:nvSpPr>
        <p:spPr>
          <a:xfrm>
            <a:off x="2546300" y="3855458"/>
            <a:ext cx="1569616"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left to Ryan and Chloe</a:t>
            </a:r>
          </a:p>
          <a:p>
            <a:pPr algn="l">
              <a:lnSpc>
                <a:spcPts val="1417"/>
              </a:lnSpc>
              <a:spcBef>
                <a:spcPts val="0"/>
              </a:spcBef>
              <a:spcAft>
                <a:spcPts val="0"/>
              </a:spcAft>
            </a:pPr>
            <a:r>
              <a:rPr sz="1050" b="0" i="0" kern="100">
                <a:solidFill>
                  <a:srgbClr val="80606A"/>
                </a:solidFill>
                <a:latin typeface="Plus Jakarta Sans"/>
              </a:rPr>
              <a:t>where their own way</a:t>
            </a:r>
          </a:p>
          <a:p>
            <a:pPr algn="l">
              <a:lnSpc>
                <a:spcPts val="1417"/>
              </a:lnSpc>
              <a:spcBef>
                <a:spcPts val="0"/>
              </a:spcBef>
              <a:spcAft>
                <a:spcPts val="0"/>
              </a:spcAft>
            </a:pPr>
            <a:r>
              <a:rPr sz="1050" b="0" i="0" kern="100">
                <a:solidFill>
                  <a:srgbClr val="80606A"/>
                </a:solidFill>
                <a:latin typeface="Plus Jakarta Sans"/>
              </a:rPr>
              <a:t>leaves HK$2.3M</a:t>
            </a:r>
          </a:p>
        </p:txBody>
      </p:sp>
      <p:sp>
        <p:nvSpPr>
          <p:cNvPr id="10" name="Rule"/>
          <p:cNvSpPr/>
          <p:nvPr/>
        </p:nvSpPr>
        <p:spPr>
          <a:xfrm>
            <a:off x="4559201" y="3315295"/>
            <a:ext cx="1765250" cy="19050"/>
          </a:xfrm>
          <a:prstGeom prst="rect">
            <a:avLst/>
          </a:prstGeom>
          <a:solidFill>
            <a:srgbClr val="C80E1E"/>
          </a:solidFill>
          <a:ln>
            <a:noFill/>
          </a:ln>
        </p:spPr>
        <p:txBody>
          <a:bodyPr rtlCol="0" anchor="ctr"/>
          <a:lstStyle/>
          <a:p>
            <a:pPr algn="ctr"/>
            <a:endParaRPr/>
          </a:p>
        </p:txBody>
      </p:sp>
      <p:sp>
        <p:nvSpPr>
          <p:cNvPr id="11" name="Text"/>
          <p:cNvSpPr txBox="1"/>
          <p:nvPr/>
        </p:nvSpPr>
        <p:spPr>
          <a:xfrm>
            <a:off x="4559201" y="3401973"/>
            <a:ext cx="1069524"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At 65</a:t>
            </a:r>
          </a:p>
        </p:txBody>
      </p:sp>
      <p:sp>
        <p:nvSpPr>
          <p:cNvPr id="12" name="Text"/>
          <p:cNvSpPr txBox="1"/>
          <p:nvPr/>
        </p:nvSpPr>
        <p:spPr>
          <a:xfrm>
            <a:off x="4559201" y="3855458"/>
            <a:ext cx="190248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 home their choice, to</a:t>
            </a:r>
          </a:p>
          <a:p>
            <a:pPr algn="l">
              <a:lnSpc>
                <a:spcPts val="1417"/>
              </a:lnSpc>
              <a:spcBef>
                <a:spcPts val="0"/>
              </a:spcBef>
              <a:spcAft>
                <a:spcPts val="0"/>
              </a:spcAft>
            </a:pPr>
            <a:r>
              <a:rPr sz="1050" b="0" i="0" kern="100">
                <a:solidFill>
                  <a:srgbClr val="80606A"/>
                </a:solidFill>
                <a:latin typeface="Plus Jakarta Sans"/>
              </a:rPr>
              <a:t>stay or to move, not forced</a:t>
            </a:r>
          </a:p>
          <a:p>
            <a:pPr algn="l">
              <a:lnSpc>
                <a:spcPts val="1417"/>
              </a:lnSpc>
              <a:spcBef>
                <a:spcPts val="0"/>
              </a:spcBef>
              <a:spcAft>
                <a:spcPts val="0"/>
              </a:spcAft>
            </a:pPr>
            <a:r>
              <a:rPr sz="1050" b="0" i="0" kern="100">
                <a:solidFill>
                  <a:srgbClr val="80606A"/>
                </a:solidFill>
                <a:latin typeface="Plus Jakarta Sans"/>
              </a:rPr>
              <a:t>at about 83</a:t>
            </a:r>
          </a:p>
        </p:txBody>
      </p:sp>
      <p:sp>
        <p:nvSpPr>
          <p:cNvPr id="13" name="Text"/>
          <p:cNvSpPr txBox="1"/>
          <p:nvPr/>
        </p:nvSpPr>
        <p:spPr>
          <a:xfrm>
            <a:off x="533400" y="5412706"/>
            <a:ext cx="1769653" cy="388620"/>
          </a:xfrm>
          <a:prstGeom prst="rect">
            <a:avLst/>
          </a:prstGeom>
          <a:noFill/>
        </p:spPr>
        <p:txBody>
          <a:bodyPr wrap="none" lIns="0" tIns="0" rIns="0" bIns="0" anchor="t">
            <a:noAutofit/>
          </a:bodyPr>
          <a:lstStyle/>
          <a:p>
            <a:pPr algn="l">
              <a:lnSpc>
                <a:spcPts val="3060"/>
              </a:lnSpc>
              <a:spcBef>
                <a:spcPts val="0"/>
              </a:spcBef>
              <a:spcAft>
                <a:spcPts val="0"/>
              </a:spcAft>
            </a:pPr>
            <a:r>
              <a:rPr sz="2550" b="0" i="0" kern="100">
                <a:solidFill>
                  <a:srgbClr val="890816"/>
                </a:solidFill>
                <a:latin typeface="Plus Jakarta Sans SemiBold"/>
              </a:rPr>
              <a:t>Thank you</a:t>
            </a:r>
          </a:p>
        </p:txBody>
      </p:sp>
      <p:sp>
        <p:nvSpPr>
          <p:cNvPr id="14" name="Text"/>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15" name="Text"/>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16" name="Text"/>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17" name="Text"/>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8" name="Text"/>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9" name="Tex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20" name="Text"/>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21" name="Tex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22" name="Text"/>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23" name="Text"/>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24" name="Text"/>
          <p:cNvSpPr txBox="1"/>
          <p:nvPr/>
        </p:nvSpPr>
        <p:spPr>
          <a:xfrm>
            <a:off x="533400" y="6547354"/>
            <a:ext cx="4638005" cy="14859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and inheritance: 10,000 simulated markets, today's money (measured).</a:t>
            </a:r>
          </a:p>
        </p:txBody>
      </p:sp>
      <p:sp>
        <p:nvSpPr>
          <p:cNvPr id="25" name="div"/>
          <p:cNvSpPr/>
          <p:nvPr/>
        </p:nvSpPr>
        <p:spPr>
          <a:xfrm>
            <a:off x="6858000" y="0"/>
            <a:ext cx="5334000" cy="6858000"/>
          </a:xfrm>
          <a:prstGeom prst="rect">
            <a:avLst/>
          </a:prstGeom>
          <a:solidFill>
            <a:srgbClr val="971320"/>
          </a:solidFill>
          <a:ln>
            <a:noFill/>
          </a:ln>
        </p:spPr>
        <p:txBody>
          <a:bodyPr rtlCol="0" anchor="ctr"/>
          <a:lstStyle/>
          <a:p>
            <a:pPr algn="ctr"/>
            <a:endParaRPr/>
          </a:p>
        </p:txBody>
      </p:sp>
      <p:pic>
        <p:nvPicPr>
          <p:cNvPr id="26"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6183" y="2081212"/>
            <a:ext cx="2893583" cy="2735509"/>
          </a:xfrm>
          <a:prstGeom prst="rect">
            <a:avLst/>
          </a:prstGeom>
        </p:spPr>
      </p:pic>
      <p:sp>
        <p:nvSpPr>
          <p:cNvPr id="27" name="Text"/>
          <p:cNvSpPr txBox="1"/>
          <p:nvPr/>
        </p:nvSpPr>
        <p:spPr>
          <a:xfrm>
            <a:off x="10115550" y="2373297"/>
            <a:ext cx="133455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What passes on</a:t>
            </a:r>
          </a:p>
        </p:txBody>
      </p:sp>
      <p:sp>
        <p:nvSpPr>
          <p:cNvPr id="28" name="Text"/>
          <p:cNvSpPr txBox="1"/>
          <p:nvPr/>
        </p:nvSpPr>
        <p:spPr>
          <a:xfrm>
            <a:off x="10115550" y="2568750"/>
            <a:ext cx="144435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the inheritance kept</a:t>
            </a:r>
          </a:p>
        </p:txBody>
      </p:sp>
      <p:sp>
        <p:nvSpPr>
          <p:cNvPr id="29" name="Text"/>
          <p:cNvSpPr txBox="1"/>
          <p:nvPr/>
        </p:nvSpPr>
        <p:spPr>
          <a:xfrm>
            <a:off x="10115550" y="2923217"/>
            <a:ext cx="186635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A place for every voice</a:t>
            </a:r>
          </a:p>
        </p:txBody>
      </p:sp>
      <p:sp>
        <p:nvSpPr>
          <p:cNvPr id="30" name="Text"/>
          <p:cNvSpPr txBox="1"/>
          <p:nvPr/>
        </p:nvSpPr>
        <p:spPr>
          <a:xfrm>
            <a:off x="10115550" y="3118670"/>
            <a:ext cx="945210"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4 and 5</a:t>
            </a:r>
          </a:p>
        </p:txBody>
      </p:sp>
      <p:sp>
        <p:nvSpPr>
          <p:cNvPr id="31" name="Text"/>
          <p:cNvSpPr txBox="1"/>
          <p:nvPr/>
        </p:nvSpPr>
        <p:spPr>
          <a:xfrm>
            <a:off x="10115550" y="3521506"/>
            <a:ext cx="1226019"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Income for life</a:t>
            </a:r>
          </a:p>
        </p:txBody>
      </p:sp>
      <p:sp>
        <p:nvSpPr>
          <p:cNvPr id="32" name="Text"/>
          <p:cNvSpPr txBox="1"/>
          <p:nvPr/>
        </p:nvSpPr>
        <p:spPr>
          <a:xfrm>
            <a:off x="10115550" y="3716959"/>
            <a:ext cx="94000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2 and 3</a:t>
            </a:r>
          </a:p>
        </p:txBody>
      </p:sp>
      <p:sp>
        <p:nvSpPr>
          <p:cNvPr id="33" name="Text"/>
          <p:cNvSpPr txBox="1"/>
          <p:nvPr/>
        </p:nvSpPr>
        <p:spPr>
          <a:xfrm>
            <a:off x="10115550" y="3974390"/>
            <a:ext cx="1246370"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Protected first</a:t>
            </a:r>
          </a:p>
        </p:txBody>
      </p:sp>
      <p:sp>
        <p:nvSpPr>
          <p:cNvPr id="34" name="Text"/>
          <p:cNvSpPr txBox="1"/>
          <p:nvPr/>
        </p:nvSpPr>
        <p:spPr>
          <a:xfrm>
            <a:off x="10115550" y="4169843"/>
            <a:ext cx="4454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15</Slides>
  <Notes>15</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Built to Last</dc:title>
  <dc:subject>UFP Award 2026, Round Two: a financial proposal for the Wong family</dc:subject>
  <dc:creator>Team Axis</dc:creator>
  <cp:lastModifiedBy>Team Axis</cp:lastModifiedBy>
  <cp:revision>1</cp:revision>
  <dcterms:created xsi:type="dcterms:W3CDTF">2026-10-25T10:57:56Z</dcterms:created>
  <dcterms:modified xsi:type="dcterms:W3CDTF">2026-10-25T10:57:56Z</dcterms:modified>
</cp:coreProperties>
</file>