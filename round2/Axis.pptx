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CE0B77E-E670-4EA4-82CE-BD1F4EF43F5B}">
          <p14:sldIdLst>
            <p14:sldId id="256"/>
          </p14:sldIdLst>
        </p14:section>
        <p14:section name="The problem" id="{C058EAEE-E277-48D0-8B29-171270A3544B}">
          <p14:sldIdLst>
            <p14:sldId id="257"/>
            <p14:sldId id="258"/>
          </p14:sldIdLst>
        </p14:section>
        <p14:section name="The answer" id="{99BF1773-0216-4DBC-A6CB-F876E17578ED}">
          <p14:sldIdLst>
            <p14:sldId id="259"/>
          </p14:sldIdLst>
        </p14:section>
        <p14:section name="The five calls" id="{6136F35F-6C78-4486-ABCB-B043699B5157}">
          <p14:sldIdLst>
            <p14:sldId id="260"/>
            <p14:sldId id="261"/>
            <p14:sldId id="262"/>
            <p14:sldId id="263"/>
            <p14:sldId id="264"/>
          </p14:sldIdLst>
        </p14:section>
        <p14:section name="Will it hold" id="{9F5277C4-8072-45CB-8EB1-466EF69B2FD7}">
          <p14:sldIdLst>
            <p14:sldId id="265"/>
          </p14:sldIdLst>
        </p14:section>
        <p14:section name="What next" id="{08A1CB09-CB48-4148-B684-836D250B32B6}">
          <p14:sldIdLst>
            <p14:sldId id="266"/>
            <p14:sldId id="267"/>
          </p14:sldIdLst>
        </p14:section>
        <p14:section name="Us" id="{BD68B797-A3C2-4D76-9CF9-C818874E22D4}">
          <p14:sldIdLst>
            <p14:sldId id="268"/>
            <p14:sldId id="269"/>
          </p14:sldIdLst>
        </p14:section>
        <p14:section name="Close" id="{39D44F7F-4E51-449A-B236-98988BD02B3A}">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02544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On paper, they're secure: HK$24.4 million, but most of it is their home and Carmen's business. And it must last forty years. Ryan, 24, holds crypto and wants his own plan. Chloe, 16, may study here or abroad. Adrian, 54, wants capital and health protected; he retires at 65. Carmen, 49, wants money that reflects her values; she retires at 62. Then 27 years on HK$780K a year. Will it last to Carmen's 89? We tested it in 10,000 futures.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 home stays theirs: 97% with the review, almost every future with the rules. Win.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jpg"/><Relationship Id="rId7" Type="http://schemas.openxmlformats.org/officeDocument/2006/relationships/image" Target="../media/image38.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42.svg"/><Relationship Id="rId5" Type="http://schemas.openxmlformats.org/officeDocument/2006/relationships/image" Target="../media/image2.jpg"/><Relationship Id="rId10" Type="http://schemas.openxmlformats.org/officeDocument/2006/relationships/image" Target="../media/image41.svg"/><Relationship Id="rId4" Type="http://schemas.openxmlformats.org/officeDocument/2006/relationships/image" Target="../media/image5.jpg"/><Relationship Id="rId9" Type="http://schemas.openxmlformats.org/officeDocument/2006/relationships/image" Target="../media/image40.svg"/></Relationships>
</file>

<file path=ppt/slides/_rels/slide12.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43.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50.jpg"/><Relationship Id="rId4" Type="http://schemas.openxmlformats.org/officeDocument/2006/relationships/image" Target="../media/image49.jp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6"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7"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48"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49"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0"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1"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2"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3" name="!!Picture 7161207e" descr="image.jpg"/>
          <p:cNvPicPr>
            <a:picLocks noChangeAspect="1"/>
          </p:cNvPicPr>
          <p:nvPr/>
        </p:nvPicPr>
        <p:blipFill>
          <a:blip r:embed="rId3"/>
          <a:stretch>
            <a:fillRect/>
          </a:stretch>
        </p:blipFill>
        <p:spPr>
          <a:xfrm>
            <a:off x="457200" y="3695700"/>
            <a:ext cx="495300" cy="495300"/>
          </a:xfrm>
          <a:prstGeom prst="ellipse">
            <a:avLst/>
          </a:prstGeom>
        </p:spPr>
      </p:pic>
      <p:sp>
        <p:nvSpPr>
          <p:cNvPr id="54"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5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56"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57"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58"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9" name="!!Picture 40d6a68f" descr="image.jpg"/>
          <p:cNvPicPr>
            <a:picLocks noChangeAspect="1"/>
          </p:cNvPicPr>
          <p:nvPr/>
        </p:nvPicPr>
        <p:blipFill>
          <a:blip r:embed="rId4"/>
          <a:stretch>
            <a:fillRect/>
          </a:stretch>
        </p:blipFill>
        <p:spPr>
          <a:xfrm>
            <a:off x="3490317" y="3695700"/>
            <a:ext cx="495300" cy="495300"/>
          </a:xfrm>
          <a:prstGeom prst="ellipse">
            <a:avLst/>
          </a:prstGeom>
        </p:spPr>
      </p:pic>
      <p:sp>
        <p:nvSpPr>
          <p:cNvPr id="60"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61"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62"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63"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6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5" name="!!Picture fe9643a6" descr="image.jpg"/>
          <p:cNvPicPr>
            <a:picLocks noChangeAspect="1"/>
          </p:cNvPicPr>
          <p:nvPr/>
        </p:nvPicPr>
        <p:blipFill>
          <a:blip r:embed="rId5"/>
          <a:stretch>
            <a:fillRect/>
          </a:stretch>
        </p:blipFill>
        <p:spPr>
          <a:xfrm>
            <a:off x="1008608" y="5181600"/>
            <a:ext cx="495300" cy="495300"/>
          </a:xfrm>
          <a:prstGeom prst="ellipse">
            <a:avLst/>
          </a:prstGeom>
        </p:spPr>
      </p:pic>
      <p:sp>
        <p:nvSpPr>
          <p:cNvPr id="66"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67"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68"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69"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70"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1" name="!!Picture 1bc9f370" descr="image.jpg"/>
          <p:cNvPicPr>
            <a:picLocks noChangeAspect="1"/>
          </p:cNvPicPr>
          <p:nvPr/>
        </p:nvPicPr>
        <p:blipFill>
          <a:blip r:embed="rId6"/>
          <a:stretch>
            <a:fillRect/>
          </a:stretch>
        </p:blipFill>
        <p:spPr>
          <a:xfrm>
            <a:off x="4041874" y="5181600"/>
            <a:ext cx="495300" cy="495300"/>
          </a:xfrm>
          <a:prstGeom prst="ellipse">
            <a:avLst/>
          </a:prstGeom>
        </p:spPr>
      </p:pic>
      <p:sp>
        <p:nvSpPr>
          <p:cNvPr id="72"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73"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7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7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76"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77"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80" name="!!T Case: statement of assets and liabilitie"/>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81" name="!!T The problem"/>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82" name="!!T The answer"/>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85" name="!!T What n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 The problem"/>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Us"/>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sp>
        <p:nvSpPr>
          <p:cNvPr id="6"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7" name="!!Drawing c6008aec"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86775" y="1838176"/>
            <a:ext cx="190500" cy="190500"/>
          </a:xfrm>
          <a:prstGeom prst="rect">
            <a:avLst/>
          </a:prstGeom>
        </p:spPr>
      </p:pic>
      <p:sp>
        <p:nvSpPr>
          <p:cNvPr id="8"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9"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10"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11" name="!!Drawing 74fde01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6775" y="2828776"/>
            <a:ext cx="190500" cy="190500"/>
          </a:xfrm>
          <a:prstGeom prst="rect">
            <a:avLst/>
          </a:prstGeom>
        </p:spPr>
      </p:pic>
      <p:sp>
        <p:nvSpPr>
          <p:cNvPr id="12"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1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14"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15" name="!!Drawing 62cade5f"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6775" y="3724126"/>
            <a:ext cx="190500" cy="190500"/>
          </a:xfrm>
          <a:prstGeom prst="rect">
            <a:avLst/>
          </a:prstGeom>
        </p:spPr>
      </p:pic>
      <p:sp>
        <p:nvSpPr>
          <p:cNvPr id="16"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17"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18"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19"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20"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a173ee1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4725" y="2657326"/>
            <a:ext cx="190500" cy="190500"/>
          </a:xfrm>
          <a:prstGeom prst="rect">
            <a:avLst/>
          </a:prstGeom>
        </p:spPr>
      </p:pic>
      <p:sp>
        <p:nvSpPr>
          <p:cNvPr id="22"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2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24"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25" name="!!Drawing 4c54ffc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14725" y="3552676"/>
            <a:ext cx="190500" cy="190500"/>
          </a:xfrm>
          <a:prstGeom prst="rect">
            <a:avLst/>
          </a:prstGeom>
        </p:spPr>
      </p:pic>
      <p:sp>
        <p:nvSpPr>
          <p:cNvPr id="26"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27"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28"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b195c74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14725" y="4257526"/>
            <a:ext cx="190500" cy="190500"/>
          </a:xfrm>
          <a:prstGeom prst="rect">
            <a:avLst/>
          </a:prstGeom>
        </p:spPr>
      </p:pic>
      <p:sp>
        <p:nvSpPr>
          <p:cNvPr id="30"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31"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32"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3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34"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35"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36"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37" name="!!T Chance the money lasts to Carmen's 89, 1"/>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38" name="!!T The problem"/>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39" name="!!T The answer"/>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40" name="!!T The five calls"/>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41" name="!!T Will it hold"/>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42" name="!!T What n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43" name="!!T Us"/>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44"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 The problem"/>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Us"/>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sp>
        <p:nvSpPr>
          <p:cNvPr id="10"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1" name="!!Drawing 020f3b01"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7688" y="1799630"/>
            <a:ext cx="200025" cy="200025"/>
          </a:xfrm>
          <a:prstGeom prst="rect">
            <a:avLst/>
          </a:prstGeom>
        </p:spPr>
      </p:pic>
      <p:sp>
        <p:nvSpPr>
          <p:cNvPr id="12"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3"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4"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5" name="!!Drawing ce05508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688" y="2409230"/>
            <a:ext cx="200025" cy="200025"/>
          </a:xfrm>
          <a:prstGeom prst="rect">
            <a:avLst/>
          </a:prstGeom>
        </p:spPr>
      </p:pic>
      <p:sp>
        <p:nvSpPr>
          <p:cNvPr id="16"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17"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18"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19" name="!!Drawing 3ad79f7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688" y="3018830"/>
            <a:ext cx="200025" cy="200025"/>
          </a:xfrm>
          <a:prstGeom prst="rect">
            <a:avLst/>
          </a:prstGeom>
        </p:spPr>
      </p:pic>
      <p:sp>
        <p:nvSpPr>
          <p:cNvPr id="20"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1"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2"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3" name="!!Drawing 30bf0ab2"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7688" y="3628430"/>
            <a:ext cx="200025" cy="200025"/>
          </a:xfrm>
          <a:prstGeom prst="rect">
            <a:avLst/>
          </a:prstGeom>
        </p:spPr>
      </p:pic>
      <p:sp>
        <p:nvSpPr>
          <p:cNvPr id="24"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5"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26"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27"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28"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29"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0"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1"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2"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3"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4"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5"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36"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37"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38"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39"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1"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2"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3"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4"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5"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46"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47"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48"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49"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0"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1"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2"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3"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4"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5"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56"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57"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58"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5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0"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1" name="!!T Chance the money lasts to Carmen's 89, 1"/>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2"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3"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4"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5"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6"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7"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 Slide 3's future, same markets, today's "/>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 The problem"/>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Us"/>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 The home: still theirs"/>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 The problem"/>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Us"/>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 The problem"/>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Us"/>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 The problem"/>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 Us"/>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ealth Management Connect, Southbo"/>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 The problem"/>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Us"/>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7"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18" name="!!Picture 59db1258" descr="image.jpg"/>
          <p:cNvPicPr>
            <a:picLocks noChangeAspect="1"/>
          </p:cNvPicPr>
          <p:nvPr/>
        </p:nvPicPr>
        <p:blipFill>
          <a:blip r:embed="rId4"/>
          <a:stretch>
            <a:fillRect/>
          </a:stretch>
        </p:blipFill>
        <p:spPr>
          <a:xfrm>
            <a:off x="3362325" y="1350764"/>
            <a:ext cx="666750" cy="666750"/>
          </a:xfrm>
          <a:prstGeom prst="ellipse">
            <a:avLst/>
          </a:prstGeom>
        </p:spPr>
      </p:pic>
      <p:sp>
        <p:nvSpPr>
          <p:cNvPr id="19"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0"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1"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2"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23"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24"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25"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2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27"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28"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4927092" descr="image.jpg"/>
          <p:cNvPicPr>
            <a:picLocks noChangeAspect="1"/>
          </p:cNvPicPr>
          <p:nvPr/>
        </p:nvPicPr>
        <p:blipFill>
          <a:blip r:embed="rId5"/>
          <a:stretch>
            <a:fillRect/>
          </a:stretch>
        </p:blipFill>
        <p:spPr>
          <a:xfrm>
            <a:off x="6238875" y="1350764"/>
            <a:ext cx="666750" cy="666750"/>
          </a:xfrm>
          <a:prstGeom prst="ellipse">
            <a:avLst/>
          </a:prstGeom>
        </p:spPr>
      </p:pic>
      <p:sp>
        <p:nvSpPr>
          <p:cNvPr id="30"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31"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32" name="!!T In five years #3"/>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33"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34"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3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36" name="!!T What this plan taught me #3"/>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7"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38"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39"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0" name="!!Drawing 6bdc6dc6"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41"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42"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43" name="!!T In five years #4"/>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44"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45"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46"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47" name="!!T What this plan taught me #4"/>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48"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4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0"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51" name="!!T Personal statements: written case p.14. "/>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52" name="!!T The problem"/>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3" name="!!T The answer"/>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4" name="!!T The five calls"/>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55" name="!!T Will it hold"/>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6" name="!!T What n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7" name="!!T Us"/>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58"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2026-10-25T12:16:24Z</dcterms:created>
  <dcterms:modified xsi:type="dcterms:W3CDTF">2026-10-25T12:16:24Z</dcterms:modified>
</cp:coreProperties>
</file>