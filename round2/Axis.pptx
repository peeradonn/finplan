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117C613F-BBA4-48EA-863F-219F49BD6FCA}">
          <p14:sldIdLst>
            <p14:sldId id="256"/>
          </p14:sldIdLst>
        </p14:section>
        <p14:section name="The problem" id="{60FDA589-71E3-4FE3-88BF-5398580A73CA}">
          <p14:sldIdLst>
            <p14:sldId id="257"/>
            <p14:sldId id="258"/>
          </p14:sldIdLst>
        </p14:section>
        <p14:section name="The answer" id="{4748D0A9-9A2E-419D-96F3-4D45CBEA8E05}">
          <p14:sldIdLst>
            <p14:sldId id="259"/>
          </p14:sldIdLst>
        </p14:section>
        <p14:section name="The five calls" id="{9125EF4D-61A0-425E-988F-F178DEF254C2}">
          <p14:sldIdLst>
            <p14:sldId id="260"/>
            <p14:sldId id="261"/>
            <p14:sldId id="262"/>
            <p14:sldId id="263"/>
            <p14:sldId id="264"/>
          </p14:sldIdLst>
        </p14:section>
        <p14:section name="Will it hold" id="{337A42FD-C64C-4F97-8D6A-8951D0C05FD2}">
          <p14:sldIdLst>
            <p14:sldId id="265"/>
          </p14:sldIdLst>
        </p14:section>
        <p14:section name="What next" id="{B1BC32A4-39B4-484E-9338-9F85264CDDD2}">
          <p14:sldIdLst>
            <p14:sldId id="266"/>
          </p14:sldIdLst>
        </p14:section>
        <p14:section name="What passes on" id="{1D0DE826-4371-4985-ABCC-683E86D36E1E}">
          <p14:sldIdLst>
            <p14:sldId id="267"/>
          </p14:sldIdLst>
        </p14:section>
        <p14:section name="Us" id="{36EBF91A-183C-45A4-AC37-A25D88A9FCAD}">
          <p14:sldIdLst>
            <p14:sldId id="268"/>
            <p14:sldId id="269"/>
          </p14:sldIdLst>
        </p14:section>
        <p14:section name="Close" id="{A30E27C5-924D-4499-B7EF-5AA95D27B62E}">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55378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On paper, they're secure: HK$24.4 million, but most of it is their home and Carmen's business. And it must last forty years. Ryan, 24, holds crypto and wants his own plan. Chloe, 16, may study here or abroad. Adrian, 54, wants capital and health protected; he retires at 65. Carmen, 49, wants money that reflects her values; she retires at 62. Then 27 years on HK$780K a year. Will it last to Carmen's 89? We tested it in 10,000 futures.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It doesn't have to end that way.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they stay in their home: 97% with the review, almost every future with the rules. Win.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for the education and environmental causes they asked to support. Built to last: for their lifetimes, and after.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Wongs are one family; on both sides of the boundary there are many more like them. Since 2021, Wealth Management Connect has let residents of Hong Kong, Macao and nine mainland cities invest across it,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6.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jpg"/><Relationship Id="rId7" Type="http://schemas.openxmlformats.org/officeDocument/2006/relationships/image" Target="../media/image38.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42.svg"/><Relationship Id="rId5" Type="http://schemas.openxmlformats.org/officeDocument/2006/relationships/image" Target="../media/image2.jpg"/><Relationship Id="rId10" Type="http://schemas.openxmlformats.org/officeDocument/2006/relationships/image" Target="../media/image41.svg"/><Relationship Id="rId4" Type="http://schemas.openxmlformats.org/officeDocument/2006/relationships/image" Target="../media/image5.jpg"/><Relationship Id="rId9" Type="http://schemas.openxmlformats.org/officeDocument/2006/relationships/image" Target="../media/image40.svg"/></Relationships>
</file>

<file path=ppt/slides/_rels/slide12.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43.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1.svg"/><Relationship Id="rId5" Type="http://schemas.openxmlformats.org/officeDocument/2006/relationships/image" Target="../media/image50.jpg"/><Relationship Id="rId4" Type="http://schemas.openxmlformats.org/officeDocument/2006/relationships/image" Target="../media/image49.jpg"/></Relationships>
</file>

<file path=ppt/slides/_rels/slide1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Hong Kong Undergraduate Financial Planne"/>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 Built to Las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 Five calls that make the Wong family's w"/>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fdfd9047"/>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5a53ae4d"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 Photograph: Peter Steinhauer, Cocoons"/>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Meet the Wongs"/>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 On paper, the Wongs are secure, for a pl"/>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51e91ad5"/>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 What they have today…"/>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 What they own"/>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 HK$27.2M"/>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4fb58d2d"/>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 The home"/>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 HK$11.5M"/>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08516527"/>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029e13c9"/>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 The business"/>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 HK$5.0M"/>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813ebadc"/>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24d0fa7c"/>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 Investments"/>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 HK$6.1M"/>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41bc7407"/>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92e62bfc"/>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ec5ec3db"/>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3b47d71b"/>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1e5b7260"/>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15f016e0"/>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9c54e67f"/>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 MPF, HK$1.9M"/>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44c26aef"/>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 Cash, HK$2.5M: 30 months of spending"/>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ab87bb48"/>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 HK$24.4M"/>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 net worth today"/>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 what they own, less what they owe"/>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e85b9e59"/>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 41%"/>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 of after-tax income saved each year"/>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 What they owe"/>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 HK$2.8M"/>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10cf17ab"/>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9775f138"/>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2a2f75f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34dd1154"/>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9312a44d"/>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 10% of what they own: the mortgage, a bu"/>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167e5300"/>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6" name="!!T …and the forty years it has to las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7" name="!!i 22515991"/>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48" name="!!i 91c6b93e"/>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49" name="!!i 699b56e0"/>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0" name="!!T Both retired from 2039: 27 years paid fr"/>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1" name="!!ps-el 8178b22b"/>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2" name="!!span 82bf619f"/>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3" name="!!Picture 7161207e" descr="image.jpg"/>
          <p:cNvPicPr>
            <a:picLocks noChangeAspect="1"/>
          </p:cNvPicPr>
          <p:nvPr/>
        </p:nvPicPr>
        <p:blipFill>
          <a:blip r:embed="rId3"/>
          <a:stretch>
            <a:fillRect/>
          </a:stretch>
        </p:blipFill>
        <p:spPr>
          <a:xfrm>
            <a:off x="457200" y="3695700"/>
            <a:ext cx="495300" cy="495300"/>
          </a:xfrm>
          <a:prstGeom prst="ellipse">
            <a:avLst/>
          </a:prstGeom>
        </p:spPr>
      </p:pic>
      <p:sp>
        <p:nvSpPr>
          <p:cNvPr id="54" name="!!T Ryan, 24"/>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55" name="!!T holds crypto; his own plan"/>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56" name="!!ps-el 2b108506"/>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57" name="!!ps-el fbd59545"/>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58" name="!!span d7eaa2f5"/>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9" name="!!Picture 40d6a68f" descr="image.jpg"/>
          <p:cNvPicPr>
            <a:picLocks noChangeAspect="1"/>
          </p:cNvPicPr>
          <p:nvPr/>
        </p:nvPicPr>
        <p:blipFill>
          <a:blip r:embed="rId4"/>
          <a:stretch>
            <a:fillRect/>
          </a:stretch>
        </p:blipFill>
        <p:spPr>
          <a:xfrm>
            <a:off x="3490317" y="3695700"/>
            <a:ext cx="495300" cy="495300"/>
          </a:xfrm>
          <a:prstGeom prst="ellipse">
            <a:avLst/>
          </a:prstGeom>
        </p:spPr>
      </p:pic>
      <p:sp>
        <p:nvSpPr>
          <p:cNvPr id="60" name="!!T Adrian, 54"/>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61" name="!!T protect capital and health; retires 2037"/>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62" name="!!ps-el bb9503de"/>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63" name="!!ps-el 91281482"/>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64" name="!!span 6f50d65b"/>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5" name="!!Picture fe9643a6" descr="image.jpg"/>
          <p:cNvPicPr>
            <a:picLocks noChangeAspect="1"/>
          </p:cNvPicPr>
          <p:nvPr/>
        </p:nvPicPr>
        <p:blipFill>
          <a:blip r:embed="rId5"/>
          <a:stretch>
            <a:fillRect/>
          </a:stretch>
        </p:blipFill>
        <p:spPr>
          <a:xfrm>
            <a:off x="1008608" y="5181600"/>
            <a:ext cx="495300" cy="495300"/>
          </a:xfrm>
          <a:prstGeom prst="ellipse">
            <a:avLst/>
          </a:prstGeom>
        </p:spPr>
      </p:pic>
      <p:sp>
        <p:nvSpPr>
          <p:cNvPr id="66" name="!!T Chloe, 16"/>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67" name="!!T university, 2028 to 203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68" name="!!ps-el a15ac832"/>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69" name="!!ps-el c53fa193"/>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70" name="!!span ed854b46"/>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1" name="!!Picture 1bc9f370" descr="image.jpg"/>
          <p:cNvPicPr>
            <a:picLocks noChangeAspect="1"/>
          </p:cNvPicPr>
          <p:nvPr/>
        </p:nvPicPr>
        <p:blipFill>
          <a:blip r:embed="rId6"/>
          <a:stretch>
            <a:fillRect/>
          </a:stretch>
        </p:blipFill>
        <p:spPr>
          <a:xfrm>
            <a:off x="4041874" y="5181600"/>
            <a:ext cx="495300" cy="495300"/>
          </a:xfrm>
          <a:prstGeom prst="ellipse">
            <a:avLst/>
          </a:prstGeom>
        </p:spPr>
      </p:pic>
      <p:sp>
        <p:nvSpPr>
          <p:cNvPr id="72" name="!!T Carmen, 49"/>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73" name="!!T her values; retires 2039"/>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74" name="!!ps-el f06f4fd0"/>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75" name="!!T 2066: Carmen is 89"/>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76" name="!!T the money must last to here"/>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77" name="!!Rule 61335b6a"/>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But will it last to Carmen's 89? We tes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80" name="!!T Case: statement of assets and liabilitie"/>
          <p:cNvSpPr txBox="1"/>
          <p:nvPr/>
        </p:nvSpPr>
        <p:spPr>
          <a:xfrm>
            <a:off x="457200" y="6452104"/>
            <a:ext cx="582986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a:t>
            </a:r>
          </a:p>
          <a:p>
            <a:pPr algn="l">
              <a:lnSpc>
                <a:spcPts val="1170"/>
              </a:lnSpc>
              <a:spcBef>
                <a:spcPts val="0"/>
              </a:spcBef>
              <a:spcAft>
                <a:spcPts val="0"/>
              </a:spcAft>
            </a:pPr>
            <a:r>
              <a:rPr sz="900" b="0" i="0" kern="100">
                <a:solidFill>
                  <a:srgbClr val="80606A"/>
                </a:solidFill>
                <a:latin typeface="Plus Jakarta Sans"/>
              </a:rPr>
              <a:t>last sliver, a car, HK$0.2M); savings after tax and MPF (written case §2). Portraits: illustrations, fictional.</a:t>
            </a:r>
          </a:p>
        </p:txBody>
      </p:sp>
      <p:sp>
        <p:nvSpPr>
          <p:cNvPr id="81" name="!!T The problem"/>
          <p:cNvSpPr txBox="1"/>
          <p:nvPr/>
        </p:nvSpPr>
        <p:spPr>
          <a:xfrm>
            <a:off x="610344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82" name="!!T The answer"/>
          <p:cNvSpPr txBox="1"/>
          <p:nvPr/>
        </p:nvSpPr>
        <p:spPr>
          <a:xfrm>
            <a:off x="697497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774948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8600629"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85" name="!!T What next"/>
          <p:cNvSpPr txBox="1"/>
          <p:nvPr/>
        </p:nvSpPr>
        <p:spPr>
          <a:xfrm>
            <a:off x="931292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What passes on"/>
          <p:cNvSpPr txBox="1"/>
          <p:nvPr/>
        </p:nvSpPr>
        <p:spPr>
          <a:xfrm>
            <a:off x="10022532"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87" name="!!T Us"/>
          <p:cNvSpPr txBox="1"/>
          <p:nvPr/>
        </p:nvSpPr>
        <p:spPr>
          <a:xfrm>
            <a:off x="110696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8" name="!!T 2 / 15"/>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ill it las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 Their own way, Carmen is forced to sell "/>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 One typical future, managed their own wa"/>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 Our written case measured investments al"/>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963910ab"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66f615e2"/>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 Carmen 49"/>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 2026"/>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 Adrian retires"/>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 2037"/>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 Carmen 69"/>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 2046"/>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 Adrian dies"/>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 2056"/>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 Carmen 89"/>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 2066"/>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 …and across 10,000 futures"/>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 The same test in every simulated market "/>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 51%"/>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 of futures are forced to sell the home"/>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c65726d5"/>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314b411a"/>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 Sold"/>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 Kep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 when the money runs out, Carmen about 83"/>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f80cebdf"/>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 What Ryan and Chloe inherit, where it is"/>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 Today"/>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5100283d"/>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 HK$24.4M"/>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 Left to them"/>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65ee91bf"/>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 HK$2.3M"/>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 Their wealth will pay for their retireme"/>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 Their own way: the business sold; the fl"/>
          <p:cNvSpPr txBox="1"/>
          <p:nvPr/>
        </p:nvSpPr>
        <p:spPr>
          <a:xfrm>
            <a:off x="457200" y="6452104"/>
            <a:ext cx="56077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a:t>
            </a:r>
          </a:p>
          <a:p>
            <a:pPr algn="l">
              <a:lnSpc>
                <a:spcPts val="1170"/>
              </a:lnSpc>
              <a:spcBef>
                <a:spcPts val="0"/>
              </a:spcBef>
              <a:spcAft>
                <a:spcPts val="0"/>
              </a:spcAft>
            </a:pPr>
            <a:r>
              <a:rPr sz="900" b="0" i="0" kern="100">
                <a:solidFill>
                  <a:srgbClr val="80606A"/>
                </a:solidFill>
                <a:latin typeface="Plus Jakarta Sans"/>
              </a:rPr>
              <a:t>10,000 simulated markets, in today's money: an illustration, not a forecast.</a:t>
            </a:r>
          </a:p>
        </p:txBody>
      </p:sp>
      <p:sp>
        <p:nvSpPr>
          <p:cNvPr id="41" name="!!T The problem"/>
          <p:cNvSpPr txBox="1"/>
          <p:nvPr/>
        </p:nvSpPr>
        <p:spPr>
          <a:xfrm>
            <a:off x="610165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 The answer"/>
          <p:cNvSpPr txBox="1"/>
          <p:nvPr/>
        </p:nvSpPr>
        <p:spPr>
          <a:xfrm>
            <a:off x="6973193"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 The five calls"/>
          <p:cNvSpPr txBox="1"/>
          <p:nvPr/>
        </p:nvSpPr>
        <p:spPr>
          <a:xfrm>
            <a:off x="7747695"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 Will it hold"/>
          <p:cNvSpPr txBox="1"/>
          <p:nvPr/>
        </p:nvSpPr>
        <p:spPr>
          <a:xfrm>
            <a:off x="859884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 What next"/>
          <p:cNvSpPr txBox="1"/>
          <p:nvPr/>
        </p:nvSpPr>
        <p:spPr>
          <a:xfrm>
            <a:off x="931113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 What passes on"/>
          <p:cNvSpPr txBox="1"/>
          <p:nvPr/>
        </p:nvSpPr>
        <p:spPr>
          <a:xfrm>
            <a:off x="10020746"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47" name="!!T Us"/>
          <p:cNvSpPr txBox="1"/>
          <p:nvPr/>
        </p:nvSpPr>
        <p:spPr>
          <a:xfrm>
            <a:off x="110679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8" name="!!T 3 / 15"/>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9" name="!!T Savings, investments and MPF"/>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50" name="!!T since 2015, where Ryan and Chloe grew up"/>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1" name="!!T The home"/>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2" name="!!Rule 77250185"/>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3" name="!!Rule 25973030"/>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4" name="!!T HK$10M"/>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5" name="!!Rule 852397c8"/>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6" name="!!T HK$20M"/>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7" name="!!Rule 5f683f82"/>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8" name="!!T HK$30M"/>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9" name="!!Rule a4756d25"/>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60" name="!!T The flat is sold, Carmen 83 when her sav"/>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1" name="!!ps-el 90d010ca"/>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2" name="!!Rule fa57db72"/>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3" name="!!T Runs out again, Carmen 86 then unpaid bi"/>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4" name="!!ps-el f1f15a2e"/>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bg>
      <p:bgPr>
        <a:gradFill rotWithShape="0">
          <a:gsLst>
            <a:gs pos="0">
              <a:srgbClr val="BB1626"/>
            </a:gs>
            <a:gs pos="40000">
              <a:srgbClr val="971320"/>
            </a:gs>
            <a:gs pos="72000">
              <a:srgbClr val="700E19"/>
            </a:gs>
            <a:gs pos="100000">
              <a:srgbClr val="50091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Rule f39879af"/>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3" name="!!T Our answer"/>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4" name="!!T Five calls make their wealth last, on th"/>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5"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sp>
        <p:nvSpPr>
          <p:cNvPr id="6" name="!!span e0dd8d9d"/>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7" name="!!Drawing c6008aec"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86775" y="1838176"/>
            <a:ext cx="190500" cy="190500"/>
          </a:xfrm>
          <a:prstGeom prst="rect">
            <a:avLst/>
          </a:prstGeom>
        </p:spPr>
      </p:pic>
      <p:sp>
        <p:nvSpPr>
          <p:cNvPr id="8" name="!!T What passes on"/>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9" name="!!T the inheritance kept, passed on in stage"/>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10" name="!!span 6f83397d"/>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11" name="!!Drawing 74fde013"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6775" y="2828776"/>
            <a:ext cx="190500" cy="190500"/>
          </a:xfrm>
          <a:prstGeom prst="rect">
            <a:avLst/>
          </a:prstGeom>
        </p:spPr>
      </p:pic>
      <p:sp>
        <p:nvSpPr>
          <p:cNvPr id="12" name="!!T 5 Values and crypto, with guardrails"/>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13" name="!!T ESG at 25%; crypto sized per person"/>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14" name="!!span f1a92dc0"/>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15" name="!!Drawing 62cade5f"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6775" y="3724126"/>
            <a:ext cx="190500" cy="190500"/>
          </a:xfrm>
          <a:prstGeom prst="rect">
            <a:avLst/>
          </a:prstGeom>
        </p:spPr>
      </p:pic>
      <p:sp>
        <p:nvSpPr>
          <p:cNvPr id="16" name="!!T 3 Fix the cost the budget ignores"/>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17" name="!!T a medical review at 75; spending rules"/>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18" name="!!T 4 A plan for each person"/>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19" name="!!T Chloe funded; HK$45K a year less in fees"/>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20" name="!!span 4b2f7298"/>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21" name="!!Drawing a173ee1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14725" y="2657326"/>
            <a:ext cx="190500" cy="190500"/>
          </a:xfrm>
          <a:prstGeom prst="rect">
            <a:avLst/>
          </a:prstGeom>
        </p:spPr>
      </p:pic>
      <p:sp>
        <p:nvSpPr>
          <p:cNvPr id="22" name="!!T 2 The home and the business"/>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23" name="!!T decided at 65, not forced at 83"/>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24" name="!!span b4dc1599"/>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25" name="!!Drawing 4c54ffc9"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14725" y="3552676"/>
            <a:ext cx="190500" cy="190500"/>
          </a:xfrm>
          <a:prstGeom prst="rect">
            <a:avLst/>
          </a:prstGeom>
        </p:spPr>
      </p:pic>
      <p:sp>
        <p:nvSpPr>
          <p:cNvPr id="26" name="!!T 1 Insure the income, not the life"/>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27" name="!!T about HK$100K a year closes every gap"/>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28" name="!!span e19914a2"/>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29" name="!!Drawing b195c74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14725" y="4257526"/>
            <a:ext cx="190500" cy="190500"/>
          </a:xfrm>
          <a:prstGeom prst="rect">
            <a:avLst/>
          </a:prstGeom>
        </p:spPr>
      </p:pic>
      <p:sp>
        <p:nvSpPr>
          <p:cNvPr id="30" name="!!div eeaa2451"/>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31" name="!!T Chance the money lasts to Carmen's 89"/>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32" name="!!T 6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33" name="!!T their own way"/>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34" name="!!T →"/>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35" name="!!T 97%"/>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36" name="!!T with the five calls"/>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37" name="!!T Chance the money lasts to Carmen's 89, 1"/>
          <p:cNvSpPr txBox="1"/>
          <p:nvPr/>
        </p:nvSpPr>
        <p:spPr>
          <a:xfrm>
            <a:off x="457200" y="6452104"/>
            <a:ext cx="567084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a:t>
            </a:r>
          </a:p>
          <a:p>
            <a:pPr algn="l">
              <a:lnSpc>
                <a:spcPts val="1170"/>
              </a:lnSpc>
              <a:spcBef>
                <a:spcPts val="0"/>
              </a:spcBef>
              <a:spcAft>
                <a:spcPts val="0"/>
              </a:spcAft>
            </a:pPr>
            <a:r>
              <a:rPr sz="900" b="0" i="0" kern="100">
                <a:solidFill>
                  <a:srgbClr val="D9B3B9"/>
                </a:solidFill>
                <a:latin typeface="Plus Jakarta Sans"/>
              </a:rPr>
              <a:t>rules, almost every future. Their own way: the business sold, the flat sold when the money runs out.</a:t>
            </a:r>
          </a:p>
        </p:txBody>
      </p:sp>
      <p:sp>
        <p:nvSpPr>
          <p:cNvPr id="38" name="!!T The problem"/>
          <p:cNvSpPr txBox="1"/>
          <p:nvPr/>
        </p:nvSpPr>
        <p:spPr>
          <a:xfrm>
            <a:off x="609094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39" name="!!T The answer"/>
          <p:cNvSpPr txBox="1"/>
          <p:nvPr/>
        </p:nvSpPr>
        <p:spPr>
          <a:xfrm>
            <a:off x="6951464"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40" name="!!T The five calls"/>
          <p:cNvSpPr txBox="1"/>
          <p:nvPr/>
        </p:nvSpPr>
        <p:spPr>
          <a:xfrm>
            <a:off x="774308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41" name="!!T Will it hold"/>
          <p:cNvSpPr txBox="1"/>
          <p:nvPr/>
        </p:nvSpPr>
        <p:spPr>
          <a:xfrm>
            <a:off x="8594229"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42" name="!!T What next"/>
          <p:cNvSpPr txBox="1"/>
          <p:nvPr/>
        </p:nvSpPr>
        <p:spPr>
          <a:xfrm>
            <a:off x="930652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43" name="!!T What passes on #2"/>
          <p:cNvSpPr txBox="1"/>
          <p:nvPr/>
        </p:nvSpPr>
        <p:spPr>
          <a:xfrm>
            <a:off x="10016133"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passes on</a:t>
            </a:r>
          </a:p>
        </p:txBody>
      </p:sp>
      <p:sp>
        <p:nvSpPr>
          <p:cNvPr id="44" name="!!T Us"/>
          <p:cNvSpPr txBox="1"/>
          <p:nvPr/>
        </p:nvSpPr>
        <p:spPr>
          <a:xfrm>
            <a:off x="110632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45" name="!!T 4 / 15"/>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1: Protection"/>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 Insure the income, not the life: about H"/>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1e94dd1f"/>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 If Adrian couldn't work tomorrow…"/>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 The household's money each month, agains"/>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c85e5f45"/>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 Why not more life cover?"/>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 His HK$2.0M whole-life policy pays only "/>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16cb8604"/>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 …so we insure the income firs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 HK$100K"/>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 a year for four new covers, 14% of their"/>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fcca67e8"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 Disability"/>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 65% of pay, to retiremen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 HK$37K"/>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01249f82"/>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44ec0c80"/>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cd5d0bb6"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 Critical illness"/>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 HK$1.5M each"/>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 HK$41K"/>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791b9660"/>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8aa10e2c"/>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7f659e60"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 Medical of their own"/>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 before group cover ends"/>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 HK$15K"/>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95ce908c"/>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128e5ccd"/>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32c15cc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 Term-life top-up"/>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 to 65 and 62"/>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 HK$7K"/>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da278d09"/>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b6d0b23b"/>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0104df3e"/>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 The price: term cover lapses at 65 and 6"/>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597dee39"/>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 And within three months, under HK$25K: w"/>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 Protected first: now the plan can turn w"/>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 Year-1 premiums from 2026 rate cards and"/>
          <p:cNvSpPr txBox="1"/>
          <p:nvPr/>
        </p:nvSpPr>
        <p:spPr>
          <a:xfrm>
            <a:off x="457200" y="6452104"/>
            <a:ext cx="559906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a:t>
            </a:r>
          </a:p>
          <a:p>
            <a:pPr algn="l">
              <a:lnSpc>
                <a:spcPts val="1170"/>
              </a:lnSpc>
              <a:spcBef>
                <a:spcPts val="0"/>
              </a:spcBef>
              <a:spcAft>
                <a:spcPts val="0"/>
              </a:spcAft>
            </a:pPr>
            <a:r>
              <a:rPr sz="900" b="0" i="0" kern="100">
                <a:solidFill>
                  <a:srgbClr val="80606A"/>
                </a:solidFill>
                <a:latin typeface="Plus Jakarta Sans"/>
              </a:rPr>
              <a:t>Surplus: HK$718K a year after tax and MPF (written case §2).</a:t>
            </a:r>
          </a:p>
        </p:txBody>
      </p:sp>
      <p:sp>
        <p:nvSpPr>
          <p:cNvPr id="47" name="!!T The problem"/>
          <p:cNvSpPr txBox="1"/>
          <p:nvPr/>
        </p:nvSpPr>
        <p:spPr>
          <a:xfrm>
            <a:off x="60934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 The answer"/>
          <p:cNvSpPr txBox="1"/>
          <p:nvPr/>
        </p:nvSpPr>
        <p:spPr>
          <a:xfrm>
            <a:off x="695399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 The five calls"/>
          <p:cNvSpPr txBox="1"/>
          <p:nvPr/>
        </p:nvSpPr>
        <p:spPr>
          <a:xfrm>
            <a:off x="7728496"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 Will it hold"/>
          <p:cNvSpPr txBox="1"/>
          <p:nvPr/>
        </p:nvSpPr>
        <p:spPr>
          <a:xfrm>
            <a:off x="859839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 What next"/>
          <p:cNvSpPr txBox="1"/>
          <p:nvPr/>
        </p:nvSpPr>
        <p:spPr>
          <a:xfrm>
            <a:off x="9310688"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 What passes on"/>
          <p:cNvSpPr txBox="1"/>
          <p:nvPr/>
        </p:nvSpPr>
        <p:spPr>
          <a:xfrm>
            <a:off x="10020300"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53" name="!!T Us"/>
          <p:cNvSpPr txBox="1"/>
          <p:nvPr/>
        </p:nvSpPr>
        <p:spPr>
          <a:xfrm>
            <a:off x="110674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4" name="!!T 5 / 15"/>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5" name="!!i b93e70e6"/>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6" name="!!Rule ede3e6c2"/>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a75b2edc"/>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8" name="!!Rule 6f3a42d9"/>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9" name="!!T HK$22K shor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60" name="!!T every month"/>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1" name="!!i da042ed0"/>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2" name="!!T Carmen's pay HK$60K"/>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3" name="!!T Today"/>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4" name="!!i 8cb27814"/>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5" name="!!T Adrian's cover HK$65K"/>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6" name="!!i 47b1027d"/>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7" name="!!T Carmen's pay HK$60K #2"/>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8" name="!!T With the plan"/>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9" name="!!Rule a9c7ea31"/>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70" name="!!T HK$82K a month of bills"/>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1" name="!!Rule d22ec9f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2" name="!!Rule dedcf2c7"/>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3" name="!!Rule f549748b"/>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4" name="!!T 65% of his pay, until 65"/>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5" name="!!T Carmen's own cover: HK$39K a month, unti"/>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2: The home and the business"/>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 Decide now, not at 83: four decisions on"/>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 What they own and spend"/>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 What each becomes, decided now"/>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 What it gives them"/>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d791c66"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sp>
        <p:nvSpPr>
          <p:cNvPr id="10" name="!!span 0325418c"/>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1" name="!!Drawing 020f3b01"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7688" y="1799630"/>
            <a:ext cx="200025" cy="200025"/>
          </a:xfrm>
          <a:prstGeom prst="rect">
            <a:avLst/>
          </a:prstGeom>
        </p:spPr>
      </p:pic>
      <p:sp>
        <p:nvSpPr>
          <p:cNvPr id="12" name="!!T The fla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3" name="!!T HK$11.5M"/>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4" name="!!span fb5756a0"/>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5" name="!!Drawing ce05508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7688" y="2409230"/>
            <a:ext cx="200025" cy="200025"/>
          </a:xfrm>
          <a:prstGeom prst="rect">
            <a:avLst/>
          </a:prstGeom>
        </p:spPr>
      </p:pic>
      <p:sp>
        <p:nvSpPr>
          <p:cNvPr id="16" name="!!T The MPF"/>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17" name="!!T HK$1.7M"/>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18" name="!!span 44d22ef7"/>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19" name="!!Drawing 3ad79f7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7688" y="3018830"/>
            <a:ext cx="200025" cy="200025"/>
          </a:xfrm>
          <a:prstGeom prst="rect">
            <a:avLst/>
          </a:prstGeom>
        </p:spPr>
      </p:pic>
      <p:sp>
        <p:nvSpPr>
          <p:cNvPr id="20" name="!!T The business"/>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1" name="!!T HK$5.0M"/>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2" name="!!span 55acadb4"/>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3" name="!!Drawing 30bf0ab2"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7688" y="3628430"/>
            <a:ext cx="200025" cy="200025"/>
          </a:xfrm>
          <a:prstGeom prst="rect">
            <a:avLst/>
          </a:prstGeom>
        </p:spPr>
      </p:pic>
      <p:sp>
        <p:nvSpPr>
          <p:cNvPr id="24" name="!!T Their budge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5" name="!!T HK$780K a year"/>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26" name="!!T HK$230K a year for life, from 2037"/>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27" name="!!T they stay, with a reverse mortgage, or d"/>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28" name="!!T HK$268K a year for life"/>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29" name="!!T two HKMC annuities, bought at 65 and 62"/>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0" name="!!T Sold in stages, 2035–39"/>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1" name="!!T to her co-founder and managers; their ow"/>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2" name="!!T Planned now, for a survivor"/>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3" name="!!T for the years after the first death"/>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4" name="!!div 211d27bd"/>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5" name="!!Rule 155f7c8d"/>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36" name="!!T Guaranteed income, for life"/>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37" name="!!T 116%"/>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38" name="!!T of their essential bills, covered in 203"/>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39" name="!!div 92cc769e"/>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Rule 419b12c9"/>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1" name="!!T HK$3.0M"/>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2" name="!!T into savings"/>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3" name="!!T counted low, of HK$5.0M"/>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4" name="!!div 717b085c"/>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5" name="!!Rule 8c609223"/>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46" name="!!T 70%"/>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47" name="!!T of today's budge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48" name="!!T for the one who survives"/>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49" name="!!Rule 3d09e2fc"/>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0" name="!!T Chance the money lasts to Carmen's 89"/>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1" name="!!i ac1db153"/>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2" name="!!i 997b076d"/>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3" name="!!i 4c2d5999"/>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4" name="!!T four decisions, taken now"/>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5" name="!!T 83%"/>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56" name="!!T their own way 62%"/>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57" name="!!T with Call 3, next 97%"/>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58" name="!!T The price: staying in the home leaves HK"/>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5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0" name="!!T Decided now, four decisions close most o"/>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1" name="!!T Chance the money lasts to Carmen's 89, 1"/>
          <p:cNvSpPr txBox="1"/>
          <p:nvPr/>
        </p:nvSpPr>
        <p:spPr>
          <a:xfrm>
            <a:off x="457200" y="6452104"/>
            <a:ext cx="575382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a:t>
            </a:r>
          </a:p>
          <a:p>
            <a:pPr algn="l">
              <a:lnSpc>
                <a:spcPts val="1170"/>
              </a:lnSpc>
              <a:spcBef>
                <a:spcPts val="0"/>
              </a:spcBef>
              <a:spcAft>
                <a:spcPts val="0"/>
              </a:spcAft>
            </a:pPr>
            <a:r>
              <a:rPr sz="900" b="0" i="0" kern="100">
                <a:solidFill>
                  <a:srgbClr val="80606A"/>
                </a:solidFill>
                <a:latin typeface="Plus Jakarta Sans"/>
              </a:rPr>
              <a:t>premiums for life. Assets: case; the business counted at HK$3.0M, as in the written case.</a:t>
            </a:r>
          </a:p>
        </p:txBody>
      </p:sp>
      <p:sp>
        <p:nvSpPr>
          <p:cNvPr id="62" name="!!T The problem"/>
          <p:cNvSpPr txBox="1"/>
          <p:nvPr/>
        </p:nvSpPr>
        <p:spPr>
          <a:xfrm>
            <a:off x="609525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3" name="!!T The answer"/>
          <p:cNvSpPr txBox="1"/>
          <p:nvPr/>
        </p:nvSpPr>
        <p:spPr>
          <a:xfrm>
            <a:off x="6955780"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4" name="!!T The five calls"/>
          <p:cNvSpPr txBox="1"/>
          <p:nvPr/>
        </p:nvSpPr>
        <p:spPr>
          <a:xfrm>
            <a:off x="773028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5" name="!!T Will it hold"/>
          <p:cNvSpPr txBox="1"/>
          <p:nvPr/>
        </p:nvSpPr>
        <p:spPr>
          <a:xfrm>
            <a:off x="86001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6" name="!!T What next"/>
          <p:cNvSpPr txBox="1"/>
          <p:nvPr/>
        </p:nvSpPr>
        <p:spPr>
          <a:xfrm>
            <a:off x="931247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7" name="!!T What passes on"/>
          <p:cNvSpPr txBox="1"/>
          <p:nvPr/>
        </p:nvSpPr>
        <p:spPr>
          <a:xfrm>
            <a:off x="10022086"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68" name="!!T Us"/>
          <p:cNvSpPr txBox="1"/>
          <p:nvPr/>
        </p:nvSpPr>
        <p:spPr>
          <a:xfrm>
            <a:off x="110692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9" name="!!T 6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y stay in their hom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3: Retiremen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 Fix the cost the budget ignores: in that"/>
          <p:cNvSpPr txBox="1"/>
          <p:nvPr/>
        </p:nvSpPr>
        <p:spPr>
          <a:xfrm>
            <a:off x="638175" y="529852"/>
            <a:ext cx="7353648"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they stay in their home</a:t>
            </a:r>
          </a:p>
        </p:txBody>
      </p:sp>
      <p:sp>
        <p:nvSpPr>
          <p:cNvPr id="6" name="!!Rule 7f333516"/>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 Two fixes for what the budget leaves ou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4accf51d"/>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 1"/>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 Review the medical plan at Adrian's 75"/>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 Medical premiums a year, above the HK$65"/>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15b4ee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d5bedfbf"/>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 Review at 75"/>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36e5641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 HK$375K"/>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 saves about two-thirds"/>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 Flexi for life"/>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 Standard, after review"/>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e8553401"/>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 2037"/>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 2047"/>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 Adrian dies"/>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 2066"/>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 The price: lower limits and fewer priva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eb012fc9"/>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e4531eee"/>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 2"/>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 From 2039, spending rules for the bad ye"/>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248105c7"/>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cbb9bc4c"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 No raise after a market fall"/>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9f365eb7"/>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0dd7bd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 A 10% trim if drawing too fas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c26916ad"/>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b2f63dd1"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 Essentials are never cu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 The price: typical spending about HK$41K"/>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48d4bd77"/>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 …so the future that ran out at 86 now re"/>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e269f31d"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 HK$8.9M"/>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 left at 89"/>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519a1fb2"/>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 Carmen 49"/>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 2026"/>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 Adrian retires"/>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 2037 #2"/>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 Carmen 69"/>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 2046"/>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 Adrian dies #2"/>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 2056"/>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 Carmen 89"/>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 2066 #2"/>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1f890f9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 In 10,000 futures: 83% → 97% last to 89 "/>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 Will it last? In almost every future: th"/>
          <p:cNvSpPr txBox="1"/>
          <p:nvPr/>
        </p:nvSpPr>
        <p:spPr>
          <a:xfrm>
            <a:off x="1282925" y="5984558"/>
            <a:ext cx="962615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stay in their home.</a:t>
            </a:r>
          </a:p>
        </p:txBody>
      </p:sp>
      <p:sp>
        <p:nvSpPr>
          <p:cNvPr id="60" name="!!T Slide 3's future, same markets, today's "/>
          <p:cNvSpPr txBox="1"/>
          <p:nvPr/>
        </p:nvSpPr>
        <p:spPr>
          <a:xfrm>
            <a:off x="457200" y="6452104"/>
            <a:ext cx="560048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a:t>
            </a:r>
          </a:p>
          <a:p>
            <a:pPr algn="l">
              <a:lnSpc>
                <a:spcPts val="1170"/>
              </a:lnSpc>
              <a:spcBef>
                <a:spcPts val="0"/>
              </a:spcBef>
              <a:spcAft>
                <a:spcPts val="0"/>
              </a:spcAft>
            </a:pPr>
            <a:r>
              <a:rPr sz="900" b="0" i="0" kern="100">
                <a:solidFill>
                  <a:srgbClr val="80606A"/>
                </a:solidFill>
                <a:latin typeface="Plus Jakarta Sans"/>
              </a:rPr>
              <a:t>cover by age and medical inflation; one policy from 2057 (Adrian's life expectancy, 84).</a:t>
            </a:r>
          </a:p>
        </p:txBody>
      </p:sp>
      <p:sp>
        <p:nvSpPr>
          <p:cNvPr id="61" name="!!T The problem"/>
          <p:cNvSpPr txBox="1"/>
          <p:nvPr/>
        </p:nvSpPr>
        <p:spPr>
          <a:xfrm>
            <a:off x="610150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 The answer"/>
          <p:cNvSpPr txBox="1"/>
          <p:nvPr/>
        </p:nvSpPr>
        <p:spPr>
          <a:xfrm>
            <a:off x="696203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 The five calls"/>
          <p:cNvSpPr txBox="1"/>
          <p:nvPr/>
        </p:nvSpPr>
        <p:spPr>
          <a:xfrm>
            <a:off x="773653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 Will it hold"/>
          <p:cNvSpPr txBox="1"/>
          <p:nvPr/>
        </p:nvSpPr>
        <p:spPr>
          <a:xfrm>
            <a:off x="86064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 What next"/>
          <p:cNvSpPr txBox="1"/>
          <p:nvPr/>
        </p:nvSpPr>
        <p:spPr>
          <a:xfrm>
            <a:off x="931872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 What passes on"/>
          <p:cNvSpPr txBox="1"/>
          <p:nvPr/>
        </p:nvSpPr>
        <p:spPr>
          <a:xfrm>
            <a:off x="10028337"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67" name="!!T Us"/>
          <p:cNvSpPr txBox="1"/>
          <p:nvPr/>
        </p:nvSpPr>
        <p:spPr>
          <a:xfrm>
            <a:off x="110754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8" name="!!T 7 / 15"/>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9" name="!!T Savings with the four decisions"/>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70" name="!!T their own way"/>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1" name="!!T a reverse mortgage pays HK$230K a year f"/>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2" name="!!T Their home, for life"/>
          <p:cNvSpPr txBox="1"/>
          <p:nvPr/>
        </p:nvSpPr>
        <p:spPr>
          <a:xfrm>
            <a:off x="5918150" y="4365998"/>
            <a:ext cx="1364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Their home, for life</a:t>
            </a:r>
          </a:p>
        </p:txBody>
      </p:sp>
      <p:sp>
        <p:nvSpPr>
          <p:cNvPr id="73" name="!!Rule f438ee99"/>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4" name="!!Rule 89edf20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5" name="!!T HK$10M"/>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6" name="!!Rule d540d1aa"/>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7" name="!!T HK$20M"/>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8" name="!!Rule 1b780f79"/>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9" name="!!T HK$30M"/>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80" name="!!Rule 0e3790a1"/>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1" name="!!T Added by Call 3"/>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2" name="!!ps-el b6b14bbc"/>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4: Each person"/>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 One family policy, a plan for each perso"/>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 one pot that fits nobody"/>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 Today"/>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d70dd71c"/>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 HK$2.5M"/>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 Cash and deposits"/>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 30 months of spending, idle"/>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a409e7dc"/>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 HK$1.35M"/>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 Bond funds"/>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6e93a39f"/>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 HK$3.85M"/>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 Equity funds"/>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 about 1.5% a year in fees; more risk tha"/>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69bdd481"/>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 The same HK$7.7M, with a job for each pa"/>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 a job and an owner for each"/>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 With the plan"/>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1609de8e"/>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 HK$1.0M"/>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 Reserve"/>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 12 months"/>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3cbab694"/>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553aebb3"/>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c19efb08"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 HK$2.57M"/>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 Chloe's degree"/>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 funded today, wherever she goes"/>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75edbf39"/>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92b2adcd"/>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877e281b"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 HK$2.07M"/>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 Adrian's portfolio"/>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 40% shares, 55% bonds; Treasuries from 2"/>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94fcd239"/>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8fc03cfa"/>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a6c5f4f8"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 HK$2.07M #2"/>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 Carmen's portfolio"/>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 60% shares, 35% bonds; led by ESG funds"/>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1790d185"/>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404f1cc1"/>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c1787d32"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 Ryan's own plan: he saves 30% of his pay"/>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bbe2cafb"/>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 HK$45K"/>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 a year less in fees: broad index funds i"/>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 The price: Chloe's HK$2.57M stays in dep"/>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 Chloe's degree is funded today, and each"/>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 Today: the case's statement. The plan: w"/>
          <p:cNvSpPr txBox="1"/>
          <p:nvPr/>
        </p:nvSpPr>
        <p:spPr>
          <a:xfrm>
            <a:off x="457200" y="6452104"/>
            <a:ext cx="554369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a:t>
            </a:r>
          </a:p>
          <a:p>
            <a:pPr algn="l">
              <a:lnSpc>
                <a:spcPts val="1170"/>
              </a:lnSpc>
              <a:spcBef>
                <a:spcPts val="0"/>
              </a:spcBef>
              <a:spcAft>
                <a:spcPts val="0"/>
              </a:spcAft>
            </a:pPr>
            <a:r>
              <a:rPr sz="900" b="0" i="0" kern="100">
                <a:solidFill>
                  <a:srgbClr val="80606A"/>
                </a:solidFill>
                <a:latin typeface="Plus Jakarta Sans"/>
              </a:rPr>
              <a:t>Figure 14); fees about 1.5% today against about 0.5% in index funds.</a:t>
            </a:r>
          </a:p>
        </p:txBody>
      </p:sp>
      <p:sp>
        <p:nvSpPr>
          <p:cNvPr id="56" name="!!T The problem"/>
          <p:cNvSpPr txBox="1"/>
          <p:nvPr/>
        </p:nvSpPr>
        <p:spPr>
          <a:xfrm>
            <a:off x="6091238"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 The answer"/>
          <p:cNvSpPr txBox="1"/>
          <p:nvPr/>
        </p:nvSpPr>
        <p:spPr>
          <a:xfrm>
            <a:off x="695176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 The five calls"/>
          <p:cNvSpPr txBox="1"/>
          <p:nvPr/>
        </p:nvSpPr>
        <p:spPr>
          <a:xfrm>
            <a:off x="772626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 Will it hold"/>
          <p:cNvSpPr txBox="1"/>
          <p:nvPr/>
        </p:nvSpPr>
        <p:spPr>
          <a:xfrm>
            <a:off x="859616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 What next"/>
          <p:cNvSpPr txBox="1"/>
          <p:nvPr/>
        </p:nvSpPr>
        <p:spPr>
          <a:xfrm>
            <a:off x="930845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 What passes on"/>
          <p:cNvSpPr txBox="1"/>
          <p:nvPr/>
        </p:nvSpPr>
        <p:spPr>
          <a:xfrm>
            <a:off x="10018068"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62" name="!!T Us"/>
          <p:cNvSpPr txBox="1"/>
          <p:nvPr/>
        </p:nvSpPr>
        <p:spPr>
          <a:xfrm>
            <a:off x="110652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3" name="!!T 8 / 15"/>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5: Values and innovation"/>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 Values and innovation, with guardrails: "/>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173d024c"/>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 Carmen's values: ESG from 11% to 25%…"/>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99ab30da"/>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0be4d14a"/>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38eb5f99"/>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 their goal, 20–25% (case)"/>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cd32b6e5"/>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 World ESG index"/>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 HK$1.49M"/>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 the global shares core"/>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d02be6ea"/>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 MPF low-carbon"/>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 HK$0.84M"/>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 half of each parent's MPF"/>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7dd6fabf"/>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 Green bonds"/>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 HK$0.31M"/>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 part of the bonds"/>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718fc31f"/>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 Like for like, not a new bet: each fund "/>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 The price: slightly higher fees, a narro"/>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4a241af8"/>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 Tested, not trusted: two ESG ratings per"/>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a93b9485"/>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 …and Ryan's conviction: kept, and sized "/>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ed7c4c64"/>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fae6ebcc"/>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fb16abc7"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 Adrian"/>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 none"/>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3a0d92bb"/>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4cfdd03f"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 Carmen"/>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 up to 2% (ETF)"/>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7b9465b8"/>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a8c1f83f"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 Chloe"/>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 none #2"/>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6b6ef7e3"/>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4be40bb6"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 Ryan keeps his HK$500K: nothing sold, no"/>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 His savings go into a world index fund, "/>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 The price: a 70% fall would cost him HK$"/>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 74%"/>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a93c3177"/>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0a7c20da"/>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 HK$500K"/>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 today, 24"/>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 32%"/>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8ffb7adc"/>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a93bfba9"/>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 at 30"/>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 20%"/>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0b45516c"/>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746a5785"/>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 at 35"/>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 The dark block: his HK$500K, the same a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6437bdcf"/>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 Held where a regulator watches: HKEX-lis"/>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 Their values and Ryan's conviction both "/>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 ESG: written case §6, Figure 16; raters:"/>
          <p:cNvSpPr txBox="1"/>
          <p:nvPr/>
        </p:nvSpPr>
        <p:spPr>
          <a:xfrm>
            <a:off x="457200" y="6452104"/>
            <a:ext cx="574798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(all</a:t>
            </a:r>
          </a:p>
          <a:p>
            <a:pPr algn="l">
              <a:lnSpc>
                <a:spcPts val="1170"/>
              </a:lnSpc>
              <a:spcBef>
                <a:spcPts val="0"/>
              </a:spcBef>
              <a:spcAft>
                <a:spcPts val="0"/>
              </a:spcAft>
            </a:pPr>
            <a:r>
              <a:rPr sz="900" b="0" i="0" kern="100">
                <a:solidFill>
                  <a:srgbClr val="80606A"/>
                </a:solidFill>
                <a:latin typeface="Plus Jakarta Sans"/>
              </a:rPr>
              <a:t>HK$500K treated as crypto, prices flat, 30% of his pay saved).</a:t>
            </a:r>
          </a:p>
        </p:txBody>
      </p:sp>
      <p:sp>
        <p:nvSpPr>
          <p:cNvPr id="68" name="!!T The problem"/>
          <p:cNvSpPr txBox="1"/>
          <p:nvPr/>
        </p:nvSpPr>
        <p:spPr>
          <a:xfrm>
            <a:off x="609525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 The answer"/>
          <p:cNvSpPr txBox="1"/>
          <p:nvPr/>
        </p:nvSpPr>
        <p:spPr>
          <a:xfrm>
            <a:off x="6955780"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 The five calls"/>
          <p:cNvSpPr txBox="1"/>
          <p:nvPr/>
        </p:nvSpPr>
        <p:spPr>
          <a:xfrm>
            <a:off x="773028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 Will it hold"/>
          <p:cNvSpPr txBox="1"/>
          <p:nvPr/>
        </p:nvSpPr>
        <p:spPr>
          <a:xfrm>
            <a:off x="86001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 What next"/>
          <p:cNvSpPr txBox="1"/>
          <p:nvPr/>
        </p:nvSpPr>
        <p:spPr>
          <a:xfrm>
            <a:off x="931247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 What passes on"/>
          <p:cNvSpPr txBox="1"/>
          <p:nvPr/>
        </p:nvSpPr>
        <p:spPr>
          <a:xfrm>
            <a:off x="10022086"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74" name="!!T Us"/>
          <p:cNvSpPr txBox="1"/>
          <p:nvPr/>
        </p:nvSpPr>
        <p:spPr>
          <a:xfrm>
            <a:off x="110692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5" name="!!T 9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6" name="!!T Today"/>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7" name="!!i 76ed0f65"/>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8" name="!!T 11%"/>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9" name="!!T With the plan"/>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80" name="!!i 2c43a45c"/>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1" name="!!i 44256b8a"/>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2" name="!!i 33b7d3a1"/>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3" name="!!T 25%"/>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4" name="!!Rule 86aa8b7b"/>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5" name="!!Rule 2df83914"/>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6" name="!!T +14 points"/>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7" name="!!Arrowhead 823caef2"/>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ill it hold?"/>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 Tested against the worst: even if Adrian"/>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0e1ccda2"/>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9d61c349"/>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 Four hard tests in the same 10,000 marke"/>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760d7dc2"/>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 The tes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 Chance the money lasts to Carmen's 89"/>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 What holds i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838c27a8"/>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 Adrian's job ends at 60"/>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 no pay or MPF to 65, no severance"/>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a14cbae3"/>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0a5913c7"/>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a27bee5f"/>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a07366dd"/>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 30%"/>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 83%"/>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 Reserve pays a year of bills"/>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 Spending rules trim lean years"/>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 Full review resets the plan"/>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f9dc0d51"/>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 Low returns, every year"/>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 shares 4%, bonds 2.5%, to 2066"/>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603f9092"/>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be8a703d"/>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f33f1255"/>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e49d9551"/>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 32%"/>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 95%"/>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 Spending rules trim lean years #2"/>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 Treasuries mature on schedule"/>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5d953a4b"/>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 Inflation and medical costs"/>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 inflation 3.5%, medical 8.5% a year"/>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83e6bb3a"/>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c149a3be"/>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f8c76270"/>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bdeb7c5d"/>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 28%"/>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 92%"/>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 Review at 75 cuts the premiums"/>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 Spending rules absorb the res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aa0675ea"/>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 Carmen lives to 95"/>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 six years past the plan's 89"/>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6c550c84"/>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153aa188"/>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e5f3da39"/>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7a2724c5"/>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 61%"/>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 99%"/>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 Annuities pay for life"/>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 0%"/>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 50%"/>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 100%"/>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 The price of holding: in years of low re"/>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4482664d"/>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 written case, risk register"/>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 Every other risk has a named defence"/>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eea6115d"/>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c4eaa9b8"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 The business doesn't sell"/>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90014fb4"/>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928d39a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 Three risk appetites"/>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8fdfea72"/>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bc1cd2e"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 Crypto rules or licences change"/>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e391b3d2"/>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509cae1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 Greenwashing"/>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f53af421"/>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ff1cb4bb"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 Model risk"/>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It holds when the hardest things happen,"/>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 Chance the money lasts to Carmen's 89 (9"/>
          <p:cNvSpPr txBox="1"/>
          <p:nvPr/>
        </p:nvSpPr>
        <p:spPr>
          <a:xfrm>
            <a:off x="457200" y="6452104"/>
            <a:ext cx="567573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a:t>
            </a:r>
          </a:p>
          <a:p>
            <a:pPr algn="l">
              <a:lnSpc>
                <a:spcPts val="1170"/>
              </a:lnSpc>
              <a:spcBef>
                <a:spcPts val="0"/>
              </a:spcBef>
              <a:spcAft>
                <a:spcPts val="0"/>
              </a:spcAft>
            </a:pPr>
            <a:r>
              <a:rPr sz="900" b="0" i="0" kern="100">
                <a:solidFill>
                  <a:srgbClr val="80606A"/>
                </a:solidFill>
                <a:latin typeface="Plus Jakarta Sans"/>
              </a:rPr>
              <a:t>decisions compared in the same markets, not forecasts. Written case §11, Figure 26, A1.</a:t>
            </a:r>
          </a:p>
        </p:txBody>
      </p:sp>
      <p:sp>
        <p:nvSpPr>
          <p:cNvPr id="81" name="!!T The problem"/>
          <p:cNvSpPr txBox="1"/>
          <p:nvPr/>
        </p:nvSpPr>
        <p:spPr>
          <a:xfrm>
            <a:off x="602843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 The answer"/>
          <p:cNvSpPr txBox="1"/>
          <p:nvPr/>
        </p:nvSpPr>
        <p:spPr>
          <a:xfrm>
            <a:off x="688895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766345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8514606"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 What next"/>
          <p:cNvSpPr txBox="1"/>
          <p:nvPr/>
        </p:nvSpPr>
        <p:spPr>
          <a:xfrm>
            <a:off x="924490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What passes on"/>
          <p:cNvSpPr txBox="1"/>
          <p:nvPr/>
        </p:nvSpPr>
        <p:spPr>
          <a:xfrm>
            <a:off x="9954518"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87" name="!!T Us"/>
          <p:cNvSpPr txBox="1"/>
          <p:nvPr/>
        </p:nvSpPr>
        <p:spPr>
          <a:xfrm>
            <a:off x="110016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8" name="!!T 10 / 15"/>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hat happens when"/>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 It starts this month and closes every ga"/>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c58b1ef9"/>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 This year: close every gap…"/>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5fe1fbff"/>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 Month 1"/>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 Wills and a joint accoun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 a guardian; powers of attorney"/>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6a9345b5"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abd34fdc"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 By month 3"/>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 The cover in place"/>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 about HK$100K a year"/>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ef3cc36d"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2df3b36"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a0880d0"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 By month 6"/>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 A portfolio each"/>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 HK$45K a year less in fees"/>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5415930d"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b5e33b9c"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b2f69ff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 Month 12"/>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 First family meeting"/>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 a charter; Ryan's own plan"/>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c493aaa3"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3e1d8c1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91210872"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a55b9ee3"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b392e74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 …then dates trigger each step"/>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422da07f"/>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a3cb03a1"/>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 2028"/>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 Chloe accepts an offer"/>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 fees converted: no currency risk"/>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10645dc9"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fa66dd2b"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04939d8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b9a39bfd"/>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 2032"/>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 Chloe starts work"/>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 with a plan of her own"/>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3f248ff5"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3717c98e"/>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 2035–39"/>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 Carmen's business"/>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 sold in stages to her team"/>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11c9736"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e76982b8"/>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 2037–39"/>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 They retire"/>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 the home released; an annuity each"/>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6aeb2954"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b62b3fad"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771a37b3"/>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 2047"/>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 The medical review"/>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 at Adrian's 75"/>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bb69afc7"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e76b9a10"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15a2d7a3"/>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b74e5c5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 Reviewed as life changes: the portfolio "/>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 For the Wongs, it starts this month; for"/>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 The roadmap: written case §10, Figure 23"/>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 The problem"/>
          <p:cNvSpPr txBox="1"/>
          <p:nvPr/>
        </p:nvSpPr>
        <p:spPr>
          <a:xfrm>
            <a:off x="6072188"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 The answer"/>
          <p:cNvSpPr txBox="1"/>
          <p:nvPr/>
        </p:nvSpPr>
        <p:spPr>
          <a:xfrm>
            <a:off x="693271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 The five calls"/>
          <p:cNvSpPr txBox="1"/>
          <p:nvPr/>
        </p:nvSpPr>
        <p:spPr>
          <a:xfrm>
            <a:off x="770721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 Will it hold"/>
          <p:cNvSpPr txBox="1"/>
          <p:nvPr/>
        </p:nvSpPr>
        <p:spPr>
          <a:xfrm>
            <a:off x="855836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 What next"/>
          <p:cNvSpPr txBox="1"/>
          <p:nvPr/>
        </p:nvSpPr>
        <p:spPr>
          <a:xfrm>
            <a:off x="9270653"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 What passes on"/>
          <p:cNvSpPr txBox="1"/>
          <p:nvPr/>
        </p:nvSpPr>
        <p:spPr>
          <a:xfrm>
            <a:off x="9997678"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76" name="!!T Us"/>
          <p:cNvSpPr txBox="1"/>
          <p:nvPr/>
        </p:nvSpPr>
        <p:spPr>
          <a:xfrm>
            <a:off x="110448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 11 / 15"/>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8" name="!!Ring 4877fa0e"/>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9" name="!!span 625ab906"/>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80" name="!!Drawing d47f8ea3"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1" name="!!Ring dd7cb4d9"/>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2" name="!!span 2d0c4856"/>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3" name="!!Drawing b078a87f"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4" name="!!Ring 55aecc8e"/>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5" name="!!span cbd59824"/>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6" name="!!Drawing bd0f25c0"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7" name="!!Ring 6d8a1c38"/>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8" name="!!span d0d204da"/>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9" name="!!Drawing 9d1c2717"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What passes on"/>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 In the very futures where their own way "/>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 What their wealth does, and what is lef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 HK$24.4M"/>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 Today, their net worth"/>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 with their pay until they retire"/>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92589817"/>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5d09b9b1"/>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 First, it pays for 40 years of the life "/>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e20d4f7a"/>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 Left to Ryan and Chloe at Carmen's 89, i"/>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 Their own way"/>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25051afd"/>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 HK$2.3M"/>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 With the plan"/>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7a5a3a1d"/>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 HK$7.7M"/>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 More than three times as much, and more "/>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 …and if a parent dies early, it still pa"/>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 Wills, a guardian and trusts, signed in "/>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57a85e08"/>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756929ab"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238e4fb2"/>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bc75644c"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 Adrian and Carmen: each to the other fir"/>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 then to Ryan and Chloe"/>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c682b590"/>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6e7f88a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fc56e7a9"/>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90ca56c0"/>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fe056c79"/>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739430f6"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 Ryan, 24"/>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 his share held in trust, paid a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57d8066d"/>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9efda5e3"/>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 2027"/>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 25"/>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eb0ee99b"/>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 2032"/>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 30"/>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6319f708"/>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 2037"/>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 35"/>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dfbc7a02"/>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f8ee2500"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 Chloe, 16"/>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 a guardian until 18; her share paid a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57d427b7"/>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c2c751aa"/>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 2035"/>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 25 #2"/>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f4aea058"/>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 2040"/>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 30 #2"/>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0f01393b"/>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 2045"/>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 35 #2"/>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7d04d5fb"/>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937dc11d"/>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26ae75c"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 A legacy with purpose: about HK$30K a ye"/>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 Built to last: for their lifetimes, and "/>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 Inheritance at Carmen's 89: savings and "/>
          <p:cNvSpPr txBox="1"/>
          <p:nvPr/>
        </p:nvSpPr>
        <p:spPr>
          <a:xfrm>
            <a:off x="457200" y="6452104"/>
            <a:ext cx="55249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a:t>
            </a:r>
          </a:p>
          <a:p>
            <a:pPr algn="l">
              <a:lnSpc>
                <a:spcPts val="1170"/>
              </a:lnSpc>
              <a:spcBef>
                <a:spcPts val="0"/>
              </a:spcBef>
              <a:spcAft>
                <a:spcPts val="0"/>
              </a:spcAft>
            </a:pPr>
            <a:r>
              <a:rPr sz="900" b="0" i="0" kern="100">
                <a:solidFill>
                  <a:srgbClr val="80606A"/>
                </a:solidFill>
                <a:latin typeface="Plus Jakarta Sans"/>
              </a:rPr>
              <a:t>10,000 markets (measured). Succession: written case §9, Figure 22.</a:t>
            </a:r>
          </a:p>
        </p:txBody>
      </p:sp>
      <p:sp>
        <p:nvSpPr>
          <p:cNvPr id="71" name="!!T The problem"/>
          <p:cNvSpPr txBox="1"/>
          <p:nvPr/>
        </p:nvSpPr>
        <p:spPr>
          <a:xfrm>
            <a:off x="605016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 The answer"/>
          <p:cNvSpPr txBox="1"/>
          <p:nvPr/>
        </p:nvSpPr>
        <p:spPr>
          <a:xfrm>
            <a:off x="691068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 The five calls"/>
          <p:cNvSpPr txBox="1"/>
          <p:nvPr/>
        </p:nvSpPr>
        <p:spPr>
          <a:xfrm>
            <a:off x="76851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 Will it hold"/>
          <p:cNvSpPr txBox="1"/>
          <p:nvPr/>
        </p:nvSpPr>
        <p:spPr>
          <a:xfrm>
            <a:off x="8536335"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 What next"/>
          <p:cNvSpPr txBox="1"/>
          <p:nvPr/>
        </p:nvSpPr>
        <p:spPr>
          <a:xfrm>
            <a:off x="9248626"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6" name="!!T What passes on #2"/>
          <p:cNvSpPr txBox="1"/>
          <p:nvPr/>
        </p:nvSpPr>
        <p:spPr>
          <a:xfrm>
            <a:off x="9958239" y="6536246"/>
            <a:ext cx="1105808"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passes on</a:t>
            </a:r>
          </a:p>
        </p:txBody>
      </p:sp>
      <p:sp>
        <p:nvSpPr>
          <p:cNvPr id="77" name="!!T Us"/>
          <p:cNvSpPr txBox="1"/>
          <p:nvPr/>
        </p:nvSpPr>
        <p:spPr>
          <a:xfrm>
            <a:off x="110174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8" name="!!T 12 / 15"/>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ealth Management Connec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 The Connect is growing both ways: for th"/>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3c8f3311"/>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 2021"/>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 launched across Hong Kong, Macao and nin"/>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edb157e3"/>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 RMB 3M"/>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 each investor's limit since 2024, up fro"/>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06d10fa9"/>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 2024"/>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 securities firms admitted beside the ban"/>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6e2db72c"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33df08eb"/>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 The nine mainland cities of the Greater "/>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b61877f1"/>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 Hong Kong"/>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dd5c34b3"/>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 Macao"/>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 Under the Connect, an adviser's value is"/>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 HKMA, WMC Southbound Scheme (page revise"/>
          <p:cNvSpPr txBox="1"/>
          <p:nvPr/>
        </p:nvSpPr>
        <p:spPr>
          <a:xfrm>
            <a:off x="457200" y="6452104"/>
            <a:ext cx="5786482"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WMC Southbound Scheme (page revised 11 May 2026, checked 24 Oct 2026): quota, eligible</a:t>
            </a:r>
          </a:p>
          <a:p>
            <a:pPr algn="l">
              <a:lnSpc>
                <a:spcPts val="1170"/>
              </a:lnSpc>
              <a:spcBef>
                <a:spcPts val="0"/>
              </a:spcBef>
              <a:spcAft>
                <a:spcPts val="0"/>
              </a:spcAft>
            </a:pPr>
            <a:r>
              <a:rPr sz="900" b="0" i="0" kern="100">
                <a:solidFill>
                  <a:srgbClr val="80606A"/>
                </a:solidFill>
                <a:latin typeface="Plus Jakarta Sans"/>
              </a:rPr>
              <a:t>funds, solicitation rule (sourced). Map: geoBoundaries, OCHA/HDX (CC BY 3.0 IGO).</a:t>
            </a:r>
          </a:p>
        </p:txBody>
      </p:sp>
      <p:sp>
        <p:nvSpPr>
          <p:cNvPr id="24" name="!!T The problem"/>
          <p:cNvSpPr txBox="1"/>
          <p:nvPr/>
        </p:nvSpPr>
        <p:spPr>
          <a:xfrm>
            <a:off x="605849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 The answer"/>
          <p:cNvSpPr txBox="1"/>
          <p:nvPr/>
        </p:nvSpPr>
        <p:spPr>
          <a:xfrm>
            <a:off x="6919020"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 The five calls"/>
          <p:cNvSpPr txBox="1"/>
          <p:nvPr/>
        </p:nvSpPr>
        <p:spPr>
          <a:xfrm>
            <a:off x="769352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 Will it hold"/>
          <p:cNvSpPr txBox="1"/>
          <p:nvPr/>
        </p:nvSpPr>
        <p:spPr>
          <a:xfrm>
            <a:off x="8544669"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 What next"/>
          <p:cNvSpPr txBox="1"/>
          <p:nvPr/>
        </p:nvSpPr>
        <p:spPr>
          <a:xfrm>
            <a:off x="9256961"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 What passes on"/>
          <p:cNvSpPr txBox="1"/>
          <p:nvPr/>
        </p:nvSpPr>
        <p:spPr>
          <a:xfrm>
            <a:off x="9966573"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30" name="!!T Us"/>
          <p:cNvSpPr txBox="1"/>
          <p:nvPr/>
        </p:nvSpPr>
        <p:spPr>
          <a:xfrm>
            <a:off x="110137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1" name="!!T 13 / 15"/>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2" name="!!Rule 9307caaa"/>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3" name="!!T Northbound"/>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4" name="!!T Hong Kong and Macao residents buy mainla"/>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5" name="!!Rule b23448f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6" name="!!T For the Wongs: a tool for later"/>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7" name="!!T Kept out today: their home, income and b"/>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8" name="!!T Southbound"/>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9" name="!!T Mainland residents buy Hong Kong funds, "/>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40" name="!!Rule e8e771bd"/>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1" name="!!T For us: the market we want to serve"/>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2" name="!!T A Hong Kong bank won't solicit or recomm"/>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3" name="!!Drawing 3173ff20"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4" name="!!Drawing 58632ecf"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ho we want to become"/>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 Four planners, one aim: families like th"/>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3c84bd39"/>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6eca2b03"/>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967a1172"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 Pete"/>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 Lead adviser"/>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 In five years"/>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 An investment specialist in a Hong Kong "/>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 matching each Connect client's portfolio"/>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fd31cf9f"/>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 What this plan taught me"/>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 “Fitting the Wongs' three risk profiles "/>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fcd5f05c"/>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7" name="!!span 2424d96d"/>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18" name="!!Picture 59db1258" descr="image.jpg"/>
          <p:cNvPicPr>
            <a:picLocks noChangeAspect="1"/>
          </p:cNvPicPr>
          <p:nvPr/>
        </p:nvPicPr>
        <p:blipFill>
          <a:blip r:embed="rId4"/>
          <a:stretch>
            <a:fillRect/>
          </a:stretch>
        </p:blipFill>
        <p:spPr>
          <a:xfrm>
            <a:off x="3362325" y="1350764"/>
            <a:ext cx="666750" cy="666750"/>
          </a:xfrm>
          <a:prstGeom prst="ellipse">
            <a:avLst/>
          </a:prstGeom>
        </p:spPr>
      </p:pic>
      <p:sp>
        <p:nvSpPr>
          <p:cNvPr id="19" name="!!T Fahtai"/>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0" name="!!T Retiremen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1" name="!!T In five years #2"/>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2" name="!!T Building the data and risk models wealth"/>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23" name="!!T across East and Southeast Asia; next, th"/>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24" name="!!div f5d9e52b"/>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25" name="!!T What this plan taught me #2"/>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26" name="!!T “A model's job is to price the trade-off"/>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27" name="!!Rule ab73177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28" name="!!span 8434223d"/>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4927092" descr="image.jpg"/>
          <p:cNvPicPr>
            <a:picLocks noChangeAspect="1"/>
          </p:cNvPicPr>
          <p:nvPr/>
        </p:nvPicPr>
        <p:blipFill>
          <a:blip r:embed="rId5"/>
          <a:stretch>
            <a:fillRect/>
          </a:stretch>
        </p:blipFill>
        <p:spPr>
          <a:xfrm>
            <a:off x="6238875" y="1350764"/>
            <a:ext cx="666750" cy="666750"/>
          </a:xfrm>
          <a:prstGeom prst="ellipse">
            <a:avLst/>
          </a:prstGeom>
        </p:spPr>
      </p:pic>
      <p:sp>
        <p:nvSpPr>
          <p:cNvPr id="30" name="!!T Win"/>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31" name="!!T Investmen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32" name="!!T In five years #3"/>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33" name="!!T An investment strategist for family clie"/>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34" name="!!T across Asia-Pacific, fitting each portfo"/>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35" name="!!div fb8cba3e"/>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36" name="!!T What this plan taught me #3"/>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7" name="!!T Win's line, to confirm"/>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38" name="!!Rule 6863439a"/>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39" name="!!span 79bc03e5"/>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0" name="!!Drawing 6bdc6dc6"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41" name="!!T Lookbua"/>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42" name="!!T Protection and risk"/>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43" name="!!T In five years #4"/>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44" name="!!T A specialist in systems risk"/>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45" name="!!T the Connect links two markets with diffe"/>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46" name="!!div b98891b5"/>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47" name="!!T What this plan taught me #4"/>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48" name="!!T “Every risk needs a named defence.”"/>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4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0" name="!!T What the Wongs taught all four of us: a "/>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51" name="!!T Personal statements: written case p.14. "/>
          <p:cNvSpPr txBox="1"/>
          <p:nvPr/>
        </p:nvSpPr>
        <p:spPr>
          <a:xfrm>
            <a:off x="457200" y="6452104"/>
            <a:ext cx="570113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a:t>
            </a:r>
          </a:p>
          <a:p>
            <a:pPr algn="l">
              <a:lnSpc>
                <a:spcPts val="1170"/>
              </a:lnSpc>
              <a:spcBef>
                <a:spcPts val="0"/>
              </a:spcBef>
              <a:spcAft>
                <a:spcPts val="0"/>
              </a:spcAft>
            </a:pPr>
            <a:r>
              <a:rPr sz="900" b="0" i="0" kern="100">
                <a:solidFill>
                  <a:srgbClr val="80606A"/>
                </a:solidFill>
                <a:latin typeface="Plus Jakarta Sans"/>
              </a:rPr>
              <a:t>needs his OK.</a:t>
            </a:r>
          </a:p>
        </p:txBody>
      </p:sp>
      <p:sp>
        <p:nvSpPr>
          <p:cNvPr id="52" name="!!T The problem"/>
          <p:cNvSpPr txBox="1"/>
          <p:nvPr/>
        </p:nvSpPr>
        <p:spPr>
          <a:xfrm>
            <a:off x="605388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3" name="!!T The answer"/>
          <p:cNvSpPr txBox="1"/>
          <p:nvPr/>
        </p:nvSpPr>
        <p:spPr>
          <a:xfrm>
            <a:off x="691440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4" name="!!T The five calls"/>
          <p:cNvSpPr txBox="1"/>
          <p:nvPr/>
        </p:nvSpPr>
        <p:spPr>
          <a:xfrm>
            <a:off x="768890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55" name="!!T Will it hold"/>
          <p:cNvSpPr txBox="1"/>
          <p:nvPr/>
        </p:nvSpPr>
        <p:spPr>
          <a:xfrm>
            <a:off x="8540055"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6" name="!!T What next"/>
          <p:cNvSpPr txBox="1"/>
          <p:nvPr/>
        </p:nvSpPr>
        <p:spPr>
          <a:xfrm>
            <a:off x="925234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7" name="!!T What passes on"/>
          <p:cNvSpPr txBox="1"/>
          <p:nvPr/>
        </p:nvSpPr>
        <p:spPr>
          <a:xfrm>
            <a:off x="9961959"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58" name="!!T Us"/>
          <p:cNvSpPr txBox="1"/>
          <p:nvPr/>
        </p:nvSpPr>
        <p:spPr>
          <a:xfrm>
            <a:off x="110091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59" name="!!T 14 / 15"/>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Built to Las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5b5f95ac"/>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 97%"/>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 chance the money lasts to Carmen's 89, f"/>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d287fa9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 HK$7.7M"/>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 left to Ryan and Chloe where their own w"/>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ea4f3755"/>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 At 65"/>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 the home their choice, to stay or to mov"/>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 Thank you"/>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 Chance and inheritance: 10,000 simulated"/>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4180488b"/>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 What passes on"/>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 the inheritance kep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 A place for every voice"/>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 Calls 4 and 5"/>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 Income for life"/>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 Calls 2 and 3"/>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 Protected firs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 Call 1"/>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2026-10-25T12:53:18Z</dcterms:created>
  <dcterms:modified xsi:type="dcterms:W3CDTF">2026-10-25T12:53:18Z</dcterms:modified>
</cp:coreProperties>
</file>