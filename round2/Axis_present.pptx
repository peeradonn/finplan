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0761DD1-1D10-4E69-AE8B-FF3C5EE14E4D}">
          <p14:sldIdLst>
            <p14:sldId id="256"/>
          </p14:sldIdLst>
        </p14:section>
        <p14:section name="The problem" id="{7CD362E7-BFDA-4555-8F9C-0DBBE38A9109}">
          <p14:sldIdLst>
            <p14:sldId id="257"/>
            <p14:sldId id="258"/>
          </p14:sldIdLst>
        </p14:section>
        <p14:section name="The answer" id="{25FC0730-0C89-44CF-883C-30166520E1C3}">
          <p14:sldIdLst>
            <p14:sldId id="259"/>
          </p14:sldIdLst>
        </p14:section>
        <p14:section name="The five calls" id="{92FA59C3-495A-48CF-9A7B-D392189A99D2}">
          <p14:sldIdLst>
            <p14:sldId id="260"/>
            <p14:sldId id="261"/>
            <p14:sldId id="262"/>
            <p14:sldId id="263"/>
            <p14:sldId id="264"/>
          </p14:sldIdLst>
        </p14:section>
        <p14:section name="Will it hold" id="{A1E5F4D7-46FA-44BA-8057-CE201ADFBE3B}">
          <p14:sldIdLst>
            <p14:sldId id="265"/>
          </p14:sldIdLst>
        </p14:section>
        <p14:section name="What next" id="{FFB20993-DA01-49BB-8239-5229E1DF63FF}">
          <p14:sldIdLst>
            <p14:sldId id="266"/>
            <p14:sldId id="267"/>
          </p14:sldIdLst>
        </p14:section>
        <p14:section name="Us" id="{56EE1875-716F-4C1E-920D-9CA6E7FDC788}">
          <p14:sldIdLst>
            <p14:sldId id="268"/>
            <p14:sldId id="269"/>
          </p14:sldIdLst>
        </p14:section>
        <p14:section name="Close" id="{8080B7D9-D211-476C-88BC-715DF19A2938}">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750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On paper, they're secure: HK$24.4 million, but most of it is their home and Carmen's business. And it must last forty years. Ryan, 24, holds crypto and wants his own plan. Chloe, 16, may study here or abroad. Adrian, 54, wants capital and health protected; he retires at 65. Carmen, 49, wants money that reflects her values; she retires at 62. Then 27 years on HK$780K a year. Will it last to Carmen's 89? We tested it in 10,000 futures.</a:t>
            </a:r>
          </a:p>
          <a:p>
            <a:endParaRPr/>
          </a:p>
          <a:p>
            <a:r>
              <a:t>[Clicks on this slide]</a:t>
            </a:r>
          </a:p>
          <a:p>
            <a:r>
              <a:t>Click 1: …and the forty years it has to last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a:p>
            <a:endParaRPr/>
          </a:p>
          <a:p>
            <a:r>
              <a:t>[Clicks on this slide]</a:t>
            </a:r>
          </a:p>
          <a:p>
            <a:r>
              <a:t>Click 1: 51%</a:t>
            </a:r>
          </a:p>
          <a:p>
            <a:r>
              <a:t>Click 2: Runs out again, Carmen 86 then unpaid bills eat into the …</a:t>
            </a:r>
          </a:p>
          <a:p>
            <a:r>
              <a:t>Click 3: What Ryan and Chloe inherit, where it is sold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It doesn't have to end that way.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a:p>
            <a:endParaRPr/>
          </a:p>
          <a:p>
            <a:r>
              <a:t>[Clicks on this slide]</a:t>
            </a:r>
          </a:p>
          <a:p>
            <a:r>
              <a:t>Click 1: 1 Insure the income, not the life</a:t>
            </a:r>
          </a:p>
          <a:p>
            <a:r>
              <a:t>Click 2: 2 The home and the business</a:t>
            </a:r>
          </a:p>
          <a:p>
            <a:r>
              <a:t>Click 3: 3 Fix the cost the budget ignores</a:t>
            </a:r>
          </a:p>
          <a:p>
            <a:r>
              <a:t>Click 4: 4 A plan for each person</a:t>
            </a:r>
          </a:p>
          <a:p>
            <a:r>
              <a:t>Click 5: 5 Values and crypto, with guardrails</a:t>
            </a:r>
          </a:p>
          <a:p>
            <a:r>
              <a:t>Click 6: What passes 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a:p>
            <a:endParaRPr/>
          </a:p>
          <a:p>
            <a:r>
              <a:t>[Clicks on this slide]</a:t>
            </a:r>
          </a:p>
          <a:p>
            <a:r>
              <a:t>Click 1: Why not more life cover?</a:t>
            </a:r>
          </a:p>
          <a:p>
            <a:r>
              <a:t>Click 2: …so we insure the income first</a:t>
            </a:r>
          </a:p>
          <a:p>
            <a:r>
              <a:t>Click 3: And within three months, under HK$25K: wills, a guardian …</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a:p>
            <a:endParaRPr/>
          </a:p>
          <a:p>
            <a:r>
              <a:t>[Clicks on this slide]</a:t>
            </a:r>
          </a:p>
          <a:p>
            <a:r>
              <a:t>Click 1: HK$230K a year for life, from 2037</a:t>
            </a:r>
          </a:p>
          <a:p>
            <a:r>
              <a:t>Click 2: Sold in stages, 2035–39</a:t>
            </a:r>
          </a:p>
          <a:p>
            <a:r>
              <a:t>Click 3: Planned now, for a survivor</a:t>
            </a:r>
          </a:p>
          <a:p>
            <a:r>
              <a:t>Click 4: HK$268K a year for life</a:t>
            </a:r>
          </a:p>
          <a:p>
            <a:r>
              <a:t>Click 5: Chance the money lasts to Carmen's 89</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they stay in their home: 97% with the review, almost every future with the rules. Win.</a:t>
            </a:r>
          </a:p>
          <a:p>
            <a:endParaRPr/>
          </a:p>
          <a:p>
            <a:r>
              <a:t>[Clicks on this slide]</a:t>
            </a:r>
          </a:p>
          <a:p>
            <a:r>
              <a:t>Click 1: 1</a:t>
            </a:r>
          </a:p>
          <a:p>
            <a:r>
              <a:t>Click 2: 2</a:t>
            </a:r>
          </a:p>
          <a:p>
            <a:r>
              <a:t>Click 3: …so the future that ran out at 86 now reaches 89</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a:p>
            <a:endParaRPr/>
          </a:p>
          <a:p>
            <a:r>
              <a:t>[Clicks on this slide]</a:t>
            </a:r>
          </a:p>
          <a:p>
            <a:r>
              <a:t>Click 1: The same HK$7.7M, with a job for each part</a:t>
            </a:r>
          </a:p>
          <a:p>
            <a:r>
              <a:t>Click 2: Ryan's own plan: he saves 30% of his pay, in a plan of hi…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a:p>
            <a:endParaRPr/>
          </a:p>
          <a:p>
            <a:r>
              <a:t>[Clicks on this slide]</a:t>
            </a:r>
          </a:p>
          <a:p>
            <a:r>
              <a:t>Click 1: Like for like, not a new bet: each fund replaces what it …</a:t>
            </a:r>
          </a:p>
          <a:p>
            <a:r>
              <a:t>Click 2: …and Ryan's conviction: kept, and sized down as he saves</a:t>
            </a:r>
          </a:p>
          <a:p>
            <a:r>
              <a:t>Click 3: Ryan keeps his HK$500K: nothing sold, nothing added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a:p>
            <a:endParaRPr/>
          </a:p>
          <a:p>
            <a:r>
              <a:t>[Clicks on this slide]</a:t>
            </a:r>
          </a:p>
          <a:p>
            <a:r>
              <a:t>Click 1: Adrian's job ends at 60</a:t>
            </a:r>
          </a:p>
          <a:p>
            <a:r>
              <a:t>Click 2: Low returns, every year</a:t>
            </a:r>
          </a:p>
          <a:p>
            <a:r>
              <a:t>Click 3: Carmen lives to 95</a:t>
            </a:r>
          </a:p>
          <a:p>
            <a:r>
              <a:t>Click 4: The price of holding: in years of low returns, the rules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a:p>
            <a:endParaRPr/>
          </a:p>
          <a:p>
            <a:r>
              <a:t>[Clicks on this slide]</a:t>
            </a:r>
          </a:p>
          <a:p>
            <a:r>
              <a:t>Click 1: …then dates trigger each step</a:t>
            </a:r>
          </a:p>
          <a:p>
            <a:r>
              <a:t>Click 2: Reviewed as life changes: the portfolio every quarter; a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a:p>
            <a:endParaRPr/>
          </a:p>
          <a:p>
            <a:r>
              <a:t>[Clicks on this slide]</a:t>
            </a:r>
          </a:p>
          <a:p>
            <a:r>
              <a:t>Click 1: With the plan</a:t>
            </a:r>
          </a:p>
          <a:p>
            <a:r>
              <a:t>Click 2: …and if a parent dies early, it still passes on safely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a:p>
            <a:endParaRPr/>
          </a:p>
          <a:p>
            <a:r>
              <a:t>[Clicks on this slide]</a:t>
            </a:r>
          </a:p>
          <a:p>
            <a:r>
              <a:t>Click 1: Northbound</a:t>
            </a:r>
          </a:p>
          <a:p>
            <a:r>
              <a:t>Click 2: Under the Connect, an adviser's value is a clear, suitabl…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a:p>
            <a:endParaRPr/>
          </a:p>
          <a:p>
            <a:r>
              <a:t>[Clicks on this slide]</a:t>
            </a:r>
          </a:p>
          <a:p>
            <a:r>
              <a:t>Click 1: Fahtai</a:t>
            </a:r>
          </a:p>
          <a:p>
            <a:r>
              <a:t>Click 2: Win</a:t>
            </a:r>
          </a:p>
          <a:p>
            <a:r>
              <a:t>Click 3: Lookbua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svg"/><Relationship Id="rId2" Type="http://schemas.openxmlformats.org/officeDocument/2006/relationships/notesSlide" Target="../notesSlides/notesSlide4.xml"/><Relationship Id="rId16" Type="http://schemas.openxmlformats.org/officeDocument/2006/relationships/image" Target="../media/image20.svg"/><Relationship Id="rId1" Type="http://schemas.openxmlformats.org/officeDocument/2006/relationships/slideLayout" Target="../slideLayouts/slideLayout7.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 Id="rId14" Type="http://schemas.openxmlformats.org/officeDocument/2006/relationships/image" Target="../media/image18.svg"/></Relationships>
</file>

<file path=ppt/slides/_rels/slide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9.svg"/><Relationship Id="rId11" Type="http://schemas.openxmlformats.org/officeDocument/2006/relationships/image" Target="../media/image34.svg"/><Relationship Id="rId5" Type="http://schemas.openxmlformats.org/officeDocument/2006/relationships/image" Target="../media/image28.sv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11.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image" Target="../media/image3.jpg"/><Relationship Id="rId7" Type="http://schemas.openxmlformats.org/officeDocument/2006/relationships/image" Target="../media/image49.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53.svg"/><Relationship Id="rId5" Type="http://schemas.openxmlformats.org/officeDocument/2006/relationships/image" Target="../media/image2.jpg"/><Relationship Id="rId10" Type="http://schemas.openxmlformats.org/officeDocument/2006/relationships/image" Target="../media/image52.svg"/><Relationship Id="rId4" Type="http://schemas.openxmlformats.org/officeDocument/2006/relationships/image" Target="../media/image5.jpg"/><Relationship Id="rId9" Type="http://schemas.openxmlformats.org/officeDocument/2006/relationships/image" Target="../media/image51.svg"/></Relationships>
</file>

<file path=ppt/slides/_rels/slide1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4.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14.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2.svg"/><Relationship Id="rId5" Type="http://schemas.openxmlformats.org/officeDocument/2006/relationships/image" Target="../media/image61.jpg"/><Relationship Id="rId4" Type="http://schemas.openxmlformats.org/officeDocument/2006/relationships/image" Target="../media/image60.jpg"/></Relationships>
</file>

<file path=ppt/slides/_rels/slide15.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3bf3fecc"/>
          <p:cNvSpPr/>
          <p:nvPr/>
        </p:nvSpPr>
        <p:spPr>
          <a:xfrm>
            <a:off x="457200" y="3629025"/>
            <a:ext cx="11277600" cy="9525"/>
          </a:xfrm>
          <a:prstGeom prst="rect">
            <a:avLst/>
          </a:prstGeom>
          <a:solidFill>
            <a:srgbClr val="181818">
              <a:alpha val="30000"/>
            </a:srgbClr>
          </a:solidFill>
          <a:ln>
            <a:noFill/>
          </a:ln>
        </p:spPr>
        <p:txBody>
          <a:bodyPr rtlCol="0" anchor="ctr"/>
          <a:lstStyle/>
          <a:p>
            <a:pPr algn="ctr"/>
            <a:endParaRPr/>
          </a:p>
        </p:txBody>
      </p:sp>
      <p:sp>
        <p:nvSpPr>
          <p:cNvPr id="46"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7"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…and the forty years it has to last</a:t>
            </a:r>
          </a:p>
        </p:txBody>
      </p:sp>
      <p:sp>
        <p:nvSpPr>
          <p:cNvPr id="48" name="!!T …and the forty years it has to last #2"/>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9" name="!!i 4c36ba9c"/>
          <p:cNvSpPr/>
          <p:nvPr/>
        </p:nvSpPr>
        <p:spPr>
          <a:xfrm>
            <a:off x="4289524" y="4591050"/>
            <a:ext cx="7445127" cy="190500"/>
          </a:xfrm>
          <a:prstGeom prst="rect">
            <a:avLst/>
          </a:prstGeom>
          <a:solidFill>
            <a:srgbClr val="E0E0E0">
              <a:alpha val="30000"/>
            </a:srgbClr>
          </a:solidFill>
          <a:ln>
            <a:noFill/>
          </a:ln>
        </p:spPr>
        <p:txBody>
          <a:bodyPr rtlCol="0" anchor="ctr"/>
          <a:lstStyle/>
          <a:p>
            <a:pPr algn="ctr"/>
            <a:endParaRPr/>
          </a:p>
        </p:txBody>
      </p:sp>
      <p:sp>
        <p:nvSpPr>
          <p:cNvPr id="50"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51" name="!!i 430e609f"/>
          <p:cNvSpPr/>
          <p:nvPr/>
        </p:nvSpPr>
        <p:spPr>
          <a:xfrm>
            <a:off x="704850" y="4672012"/>
            <a:ext cx="11029950" cy="28575"/>
          </a:xfrm>
          <a:prstGeom prst="rect">
            <a:avLst/>
          </a:prstGeom>
          <a:solidFill>
            <a:srgbClr val="181818">
              <a:alpha val="30000"/>
            </a:srgbClr>
          </a:solidFill>
          <a:ln>
            <a:noFill/>
          </a:ln>
        </p:spPr>
        <p:txBody>
          <a:bodyPr rtlCol="0" anchor="ctr"/>
          <a:lstStyle/>
          <a:p>
            <a:pPr algn="ctr"/>
            <a:endParaRPr/>
          </a:p>
        </p:txBody>
      </p:sp>
      <p:sp>
        <p:nvSpPr>
          <p:cNvPr id="52"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53" name="!!i 722f3cca"/>
          <p:cNvSpPr/>
          <p:nvPr/>
        </p:nvSpPr>
        <p:spPr>
          <a:xfrm>
            <a:off x="1265783" y="4619625"/>
            <a:ext cx="1083915" cy="133350"/>
          </a:xfrm>
          <a:prstGeom prst="rect">
            <a:avLst/>
          </a:prstGeom>
          <a:solidFill>
            <a:srgbClr val="FFFFFF">
              <a:alpha val="30000"/>
            </a:srgbClr>
          </a:solidFill>
          <a:ln w="19050">
            <a:solidFill>
              <a:srgbClr val="3C3C3C">
                <a:alpha val="30000"/>
              </a:srgbClr>
            </a:solidFill>
          </a:ln>
        </p:spPr>
        <p:txBody>
          <a:bodyPr rtlCol="0" anchor="ctr"/>
          <a:lstStyle/>
          <a:p>
            <a:pPr algn="ctr"/>
            <a:endParaRPr/>
          </a:p>
        </p:txBody>
      </p:sp>
      <p:sp>
        <p:nvSpPr>
          <p:cNvPr id="54"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5"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6B6B6B">
                    <a:alpha val="30000"/>
                  </a:srgbClr>
                </a:solidFill>
                <a:latin typeface="Plus Jakarta Sans"/>
              </a:rPr>
              <a:t>Both retired from 2039: </a:t>
            </a:r>
            <a:r>
              <a:rPr sz="1125" b="1" i="0" kern="100">
                <a:solidFill>
                  <a:srgbClr val="181818">
                    <a:alpha val="30000"/>
                  </a:srgbClr>
                </a:solidFill>
                <a:latin typeface="Plus Jakarta Sans"/>
              </a:rPr>
              <a:t>27 years</a:t>
            </a:r>
            <a:r>
              <a:rPr sz="1125" b="0" i="0" kern="100">
                <a:solidFill>
                  <a:srgbClr val="6B6B6B">
                    <a:alpha val="30000"/>
                  </a:srgbClr>
                </a:solidFill>
                <a:latin typeface="Plus Jakarta Sans"/>
              </a:rPr>
              <a:t> paid from what they own</a:t>
            </a:r>
          </a:p>
        </p:txBody>
      </p:sp>
      <p:sp>
        <p:nvSpPr>
          <p:cNvPr id="56" name="!!T Both retired from 2039: 27 years paid fr #2"/>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7" name="!!ps-el ea8a7f39"/>
          <p:cNvSpPr/>
          <p:nvPr/>
        </p:nvSpPr>
        <p:spPr>
          <a:xfrm>
            <a:off x="695325" y="4191000"/>
            <a:ext cx="19050" cy="438150"/>
          </a:xfrm>
          <a:prstGeom prst="rect">
            <a:avLst/>
          </a:prstGeom>
          <a:solidFill>
            <a:srgbClr val="181818">
              <a:alpha val="30000"/>
            </a:srgbClr>
          </a:solidFill>
          <a:ln>
            <a:noFill/>
          </a:ln>
        </p:spPr>
        <p:txBody>
          <a:bodyPr rtlCol="0" anchor="ctr"/>
          <a:lstStyle/>
          <a:p>
            <a:pPr algn="ctr"/>
            <a:endParaRPr/>
          </a:p>
        </p:txBody>
      </p:sp>
      <p:sp>
        <p:nvSpPr>
          <p:cNvPr id="58"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9" name="!!span ff69c4de"/>
          <p:cNvSpPr/>
          <p:nvPr/>
        </p:nvSpPr>
        <p:spPr>
          <a:xfrm>
            <a:off x="457200" y="36957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60"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1" name="!!Picture 7161207e" descr="image.jpg"/>
          <p:cNvPicPr>
            <a:picLocks noChangeAspect="1"/>
          </p:cNvPicPr>
          <p:nvPr/>
        </p:nvPicPr>
        <p:blipFill>
          <a:blip r:embed="rId3">
            <a:alphaModFix amt="30000"/>
            <a:grayscl/>
          </a:blip>
          <a:stretch>
            <a:fillRect/>
          </a:stretch>
        </p:blipFill>
        <p:spPr>
          <a:xfrm>
            <a:off x="457200" y="3695700"/>
            <a:ext cx="495300" cy="495300"/>
          </a:xfrm>
          <a:prstGeom prst="ellipse">
            <a:avLst/>
          </a:prstGeom>
        </p:spPr>
      </p:pic>
      <p:pic>
        <p:nvPicPr>
          <p:cNvPr id="62" name="!!Picture 7161207e #2" descr="image.jpg"/>
          <p:cNvPicPr>
            <a:picLocks noChangeAspect="1"/>
          </p:cNvPicPr>
          <p:nvPr/>
        </p:nvPicPr>
        <p:blipFill>
          <a:blip r:embed="rId3"/>
          <a:stretch>
            <a:fillRect/>
          </a:stretch>
        </p:blipFill>
        <p:spPr>
          <a:xfrm>
            <a:off x="457200" y="3695700"/>
            <a:ext cx="495300" cy="495300"/>
          </a:xfrm>
          <a:prstGeom prst="ellipse">
            <a:avLst/>
          </a:prstGeom>
        </p:spPr>
      </p:pic>
      <p:sp>
        <p:nvSpPr>
          <p:cNvPr id="63"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Ryan, 24</a:t>
            </a:r>
          </a:p>
        </p:txBody>
      </p:sp>
      <p:sp>
        <p:nvSpPr>
          <p:cNvPr id="64" name="!!T Ryan, 24 #2"/>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6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holds crypto; his own plan</a:t>
            </a:r>
          </a:p>
        </p:txBody>
      </p:sp>
      <p:sp>
        <p:nvSpPr>
          <p:cNvPr id="66" name="!!T holds crypto; his own plan #2"/>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67" name="!!ps-el 0299b627"/>
          <p:cNvSpPr/>
          <p:nvPr/>
        </p:nvSpPr>
        <p:spPr>
          <a:xfrm>
            <a:off x="647700" y="4629150"/>
            <a:ext cx="114300" cy="114300"/>
          </a:xfrm>
          <a:prstGeom prst="ellipse">
            <a:avLst/>
          </a:prstGeom>
          <a:solidFill>
            <a:srgbClr val="181818">
              <a:alpha val="30000"/>
            </a:srgbClr>
          </a:solidFill>
          <a:ln>
            <a:noFill/>
          </a:ln>
        </p:spPr>
        <p:txBody>
          <a:bodyPr rtlCol="0" anchor="ctr"/>
          <a:lstStyle/>
          <a:p>
            <a:pPr algn="ctr"/>
            <a:endParaRPr/>
          </a:p>
        </p:txBody>
      </p:sp>
      <p:sp>
        <p:nvSpPr>
          <p:cNvPr id="68"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69" name="!!ps-el 55d4362a"/>
          <p:cNvSpPr/>
          <p:nvPr/>
        </p:nvSpPr>
        <p:spPr>
          <a:xfrm>
            <a:off x="3728442" y="4191000"/>
            <a:ext cx="19050" cy="438150"/>
          </a:xfrm>
          <a:prstGeom prst="rect">
            <a:avLst/>
          </a:prstGeom>
          <a:solidFill>
            <a:srgbClr val="181818">
              <a:alpha val="30000"/>
            </a:srgbClr>
          </a:solidFill>
          <a:ln>
            <a:noFill/>
          </a:ln>
        </p:spPr>
        <p:txBody>
          <a:bodyPr rtlCol="0" anchor="ctr"/>
          <a:lstStyle/>
          <a:p>
            <a:pPr algn="ctr"/>
            <a:endParaRPr/>
          </a:p>
        </p:txBody>
      </p:sp>
      <p:sp>
        <p:nvSpPr>
          <p:cNvPr id="70"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71" name="!!span 982fca22"/>
          <p:cNvSpPr/>
          <p:nvPr/>
        </p:nvSpPr>
        <p:spPr>
          <a:xfrm>
            <a:off x="3490317" y="36957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72"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3" name="!!Picture 40d6a68f" descr="image.jpg"/>
          <p:cNvPicPr>
            <a:picLocks noChangeAspect="1"/>
          </p:cNvPicPr>
          <p:nvPr/>
        </p:nvPicPr>
        <p:blipFill>
          <a:blip r:embed="rId4">
            <a:alphaModFix amt="30000"/>
            <a:grayscl/>
          </a:blip>
          <a:stretch>
            <a:fillRect/>
          </a:stretch>
        </p:blipFill>
        <p:spPr>
          <a:xfrm>
            <a:off x="3490317" y="3695700"/>
            <a:ext cx="495300" cy="495300"/>
          </a:xfrm>
          <a:prstGeom prst="ellipse">
            <a:avLst/>
          </a:prstGeom>
        </p:spPr>
      </p:pic>
      <p:pic>
        <p:nvPicPr>
          <p:cNvPr id="74" name="!!Picture 40d6a68f #2" descr="image.jpg"/>
          <p:cNvPicPr>
            <a:picLocks noChangeAspect="1"/>
          </p:cNvPicPr>
          <p:nvPr/>
        </p:nvPicPr>
        <p:blipFill>
          <a:blip r:embed="rId4"/>
          <a:stretch>
            <a:fillRect/>
          </a:stretch>
        </p:blipFill>
        <p:spPr>
          <a:xfrm>
            <a:off x="3490317" y="3695700"/>
            <a:ext cx="495300" cy="495300"/>
          </a:xfrm>
          <a:prstGeom prst="ellipse">
            <a:avLst/>
          </a:prstGeom>
        </p:spPr>
      </p:pic>
      <p:sp>
        <p:nvSpPr>
          <p:cNvPr id="75"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Adrian, 54</a:t>
            </a:r>
          </a:p>
        </p:txBody>
      </p:sp>
      <p:sp>
        <p:nvSpPr>
          <p:cNvPr id="76" name="!!T Adrian, 54 #2"/>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77"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protect capital and health; retires 2037</a:t>
            </a:r>
          </a:p>
        </p:txBody>
      </p:sp>
      <p:sp>
        <p:nvSpPr>
          <p:cNvPr id="78" name="!!T protect capital and health; retires 2037 #2"/>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79" name="!!ps-el 7859a2cc"/>
          <p:cNvSpPr/>
          <p:nvPr/>
        </p:nvSpPr>
        <p:spPr>
          <a:xfrm>
            <a:off x="3680817" y="4629150"/>
            <a:ext cx="114300" cy="114300"/>
          </a:xfrm>
          <a:prstGeom prst="ellipse">
            <a:avLst/>
          </a:prstGeom>
          <a:solidFill>
            <a:srgbClr val="181818">
              <a:alpha val="30000"/>
            </a:srgbClr>
          </a:solidFill>
          <a:ln>
            <a:noFill/>
          </a:ln>
        </p:spPr>
        <p:txBody>
          <a:bodyPr rtlCol="0" anchor="ctr"/>
          <a:lstStyle/>
          <a:p>
            <a:pPr algn="ctr"/>
            <a:endParaRPr/>
          </a:p>
        </p:txBody>
      </p:sp>
      <p:sp>
        <p:nvSpPr>
          <p:cNvPr id="80"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81" name="!!ps-el b2e58d19"/>
          <p:cNvSpPr/>
          <p:nvPr/>
        </p:nvSpPr>
        <p:spPr>
          <a:xfrm>
            <a:off x="1246733" y="4743450"/>
            <a:ext cx="19050" cy="438150"/>
          </a:xfrm>
          <a:prstGeom prst="rect">
            <a:avLst/>
          </a:prstGeom>
          <a:solidFill>
            <a:srgbClr val="181818">
              <a:alpha val="30000"/>
            </a:srgbClr>
          </a:solidFill>
          <a:ln>
            <a:noFill/>
          </a:ln>
        </p:spPr>
        <p:txBody>
          <a:bodyPr rtlCol="0" anchor="ctr"/>
          <a:lstStyle/>
          <a:p>
            <a:pPr algn="ctr"/>
            <a:endParaRPr/>
          </a:p>
        </p:txBody>
      </p:sp>
      <p:sp>
        <p:nvSpPr>
          <p:cNvPr id="82"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83" name="!!span c1131691"/>
          <p:cNvSpPr/>
          <p:nvPr/>
        </p:nvSpPr>
        <p:spPr>
          <a:xfrm>
            <a:off x="1008608" y="51816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8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85" name="!!Picture fe9643a6" descr="image.jpg"/>
          <p:cNvPicPr>
            <a:picLocks noChangeAspect="1"/>
          </p:cNvPicPr>
          <p:nvPr/>
        </p:nvPicPr>
        <p:blipFill>
          <a:blip r:embed="rId5">
            <a:alphaModFix amt="30000"/>
            <a:grayscl/>
          </a:blip>
          <a:stretch>
            <a:fillRect/>
          </a:stretch>
        </p:blipFill>
        <p:spPr>
          <a:xfrm>
            <a:off x="1008608" y="5181600"/>
            <a:ext cx="495300" cy="495300"/>
          </a:xfrm>
          <a:prstGeom prst="ellipse">
            <a:avLst/>
          </a:prstGeom>
        </p:spPr>
      </p:pic>
      <p:pic>
        <p:nvPicPr>
          <p:cNvPr id="86" name="!!Picture fe9643a6 #2" descr="image.jpg"/>
          <p:cNvPicPr>
            <a:picLocks noChangeAspect="1"/>
          </p:cNvPicPr>
          <p:nvPr/>
        </p:nvPicPr>
        <p:blipFill>
          <a:blip r:embed="rId5"/>
          <a:stretch>
            <a:fillRect/>
          </a:stretch>
        </p:blipFill>
        <p:spPr>
          <a:xfrm>
            <a:off x="1008608" y="5181600"/>
            <a:ext cx="495300" cy="495300"/>
          </a:xfrm>
          <a:prstGeom prst="ellipse">
            <a:avLst/>
          </a:prstGeom>
        </p:spPr>
      </p:pic>
      <p:sp>
        <p:nvSpPr>
          <p:cNvPr id="87"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Chloe, 16</a:t>
            </a:r>
          </a:p>
        </p:txBody>
      </p:sp>
      <p:sp>
        <p:nvSpPr>
          <p:cNvPr id="88" name="!!T Chloe, 16 #2"/>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89"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university, 2028 to 2032</a:t>
            </a:r>
          </a:p>
        </p:txBody>
      </p:sp>
      <p:sp>
        <p:nvSpPr>
          <p:cNvPr id="90" name="!!T university, 2028 to 2032 #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91" name="!!ps-el b3715ce8"/>
          <p:cNvSpPr/>
          <p:nvPr/>
        </p:nvSpPr>
        <p:spPr>
          <a:xfrm>
            <a:off x="1199108" y="4629150"/>
            <a:ext cx="114300" cy="114300"/>
          </a:xfrm>
          <a:prstGeom prst="ellipse">
            <a:avLst/>
          </a:prstGeom>
          <a:solidFill>
            <a:srgbClr val="181818">
              <a:alpha val="30000"/>
            </a:srgbClr>
          </a:solidFill>
          <a:ln>
            <a:noFill/>
          </a:ln>
        </p:spPr>
        <p:txBody>
          <a:bodyPr rtlCol="0" anchor="ctr"/>
          <a:lstStyle/>
          <a:p>
            <a:pPr algn="ctr"/>
            <a:endParaRPr/>
          </a:p>
        </p:txBody>
      </p:sp>
      <p:sp>
        <p:nvSpPr>
          <p:cNvPr id="92"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93" name="!!ps-el 0f570679"/>
          <p:cNvSpPr/>
          <p:nvPr/>
        </p:nvSpPr>
        <p:spPr>
          <a:xfrm>
            <a:off x="4279999" y="4743450"/>
            <a:ext cx="19050" cy="438150"/>
          </a:xfrm>
          <a:prstGeom prst="rect">
            <a:avLst/>
          </a:prstGeom>
          <a:solidFill>
            <a:srgbClr val="181818">
              <a:alpha val="30000"/>
            </a:srgbClr>
          </a:solidFill>
          <a:ln>
            <a:noFill/>
          </a:ln>
        </p:spPr>
        <p:txBody>
          <a:bodyPr rtlCol="0" anchor="ctr"/>
          <a:lstStyle/>
          <a:p>
            <a:pPr algn="ctr"/>
            <a:endParaRPr/>
          </a:p>
        </p:txBody>
      </p:sp>
      <p:sp>
        <p:nvSpPr>
          <p:cNvPr id="94"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95" name="!!span 36998eef"/>
          <p:cNvSpPr/>
          <p:nvPr/>
        </p:nvSpPr>
        <p:spPr>
          <a:xfrm>
            <a:off x="4041874" y="51816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96"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7" name="!!Picture 1bc9f370" descr="image.jpg"/>
          <p:cNvPicPr>
            <a:picLocks noChangeAspect="1"/>
          </p:cNvPicPr>
          <p:nvPr/>
        </p:nvPicPr>
        <p:blipFill>
          <a:blip r:embed="rId6">
            <a:alphaModFix amt="30000"/>
            <a:grayscl/>
          </a:blip>
          <a:stretch>
            <a:fillRect/>
          </a:stretch>
        </p:blipFill>
        <p:spPr>
          <a:xfrm>
            <a:off x="4041874" y="5181600"/>
            <a:ext cx="495300" cy="495300"/>
          </a:xfrm>
          <a:prstGeom prst="ellipse">
            <a:avLst/>
          </a:prstGeom>
        </p:spPr>
      </p:pic>
      <p:pic>
        <p:nvPicPr>
          <p:cNvPr id="98" name="!!Picture 1bc9f370 #2" descr="image.jpg"/>
          <p:cNvPicPr>
            <a:picLocks noChangeAspect="1"/>
          </p:cNvPicPr>
          <p:nvPr/>
        </p:nvPicPr>
        <p:blipFill>
          <a:blip r:embed="rId6"/>
          <a:stretch>
            <a:fillRect/>
          </a:stretch>
        </p:blipFill>
        <p:spPr>
          <a:xfrm>
            <a:off x="4041874" y="5181600"/>
            <a:ext cx="495300" cy="495300"/>
          </a:xfrm>
          <a:prstGeom prst="ellipse">
            <a:avLst/>
          </a:prstGeom>
        </p:spPr>
      </p:pic>
      <p:sp>
        <p:nvSpPr>
          <p:cNvPr id="99"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Carmen, 49</a:t>
            </a:r>
          </a:p>
        </p:txBody>
      </p:sp>
      <p:sp>
        <p:nvSpPr>
          <p:cNvPr id="100" name="!!T Carmen, 49 #2"/>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101"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her values; retires 2039</a:t>
            </a:r>
          </a:p>
        </p:txBody>
      </p:sp>
      <p:sp>
        <p:nvSpPr>
          <p:cNvPr id="102" name="!!T her values; retires 2039 #2"/>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103" name="!!ps-el d234425b"/>
          <p:cNvSpPr/>
          <p:nvPr/>
        </p:nvSpPr>
        <p:spPr>
          <a:xfrm>
            <a:off x="4232374" y="4629150"/>
            <a:ext cx="114300" cy="114300"/>
          </a:xfrm>
          <a:prstGeom prst="ellipse">
            <a:avLst/>
          </a:prstGeom>
          <a:solidFill>
            <a:srgbClr val="181818">
              <a:alpha val="30000"/>
            </a:srgbClr>
          </a:solidFill>
          <a:ln>
            <a:noFill/>
          </a:ln>
        </p:spPr>
        <p:txBody>
          <a:bodyPr rtlCol="0" anchor="ctr"/>
          <a:lstStyle/>
          <a:p>
            <a:pPr algn="ctr"/>
            <a:endParaRPr/>
          </a:p>
        </p:txBody>
      </p:sp>
      <p:sp>
        <p:nvSpPr>
          <p:cNvPr id="10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10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81818">
                    <a:alpha val="30000"/>
                  </a:srgbClr>
                </a:solidFill>
                <a:latin typeface="Plus Jakarta Sans SemiBold"/>
              </a:rPr>
              <a:t>2066: Carmen is 89</a:t>
            </a:r>
          </a:p>
        </p:txBody>
      </p:sp>
      <p:sp>
        <p:nvSpPr>
          <p:cNvPr id="106" name="!!T 2066: Carmen is 89 #2"/>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107"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6B6B6B">
                    <a:alpha val="30000"/>
                  </a:srgbClr>
                </a:solidFill>
                <a:latin typeface="Plus Jakarta Sans"/>
              </a:rPr>
              <a:t>the money must last to here</a:t>
            </a:r>
          </a:p>
        </p:txBody>
      </p:sp>
      <p:sp>
        <p:nvSpPr>
          <p:cNvPr id="108" name="!!T the money must last to here #2"/>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109" name="!!Rule d3b648d8"/>
          <p:cNvCxnSpPr/>
          <p:nvPr/>
        </p:nvCxnSpPr>
        <p:spPr>
          <a:xfrm>
            <a:off x="11725275" y="4343400"/>
            <a:ext cx="0" cy="685800"/>
          </a:xfrm>
          <a:prstGeom prst="line">
            <a:avLst/>
          </a:prstGeom>
          <a:ln w="19050">
            <a:solidFill>
              <a:srgbClr val="181818"/>
            </a:solidFill>
            <a:prstDash val="dash"/>
          </a:ln>
        </p:spPr>
        <p:style>
          <a:lnRef idx="2">
            <a:schemeClr val="accent1"/>
          </a:lnRef>
          <a:fillRef idx="0">
            <a:schemeClr val="accent1"/>
          </a:fillRef>
          <a:effectRef idx="1">
            <a:schemeClr val="accent1"/>
          </a:effectRef>
          <a:fontRef idx="minor">
            <a:schemeClr val="tx1"/>
          </a:fontRef>
        </p:style>
      </p:cxnSp>
      <p:cxnSp>
        <p:nvCxnSpPr>
          <p:cNvPr id="110"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111"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112"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113"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But will it last to Carmen's 89? We tested it in 10,000 futures.</a:t>
            </a:r>
          </a:p>
        </p:txBody>
      </p:sp>
      <p:sp>
        <p:nvSpPr>
          <p:cNvPr id="114" name="!!T But will it last to Carmen's 89? We test #2"/>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115"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116"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117"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118"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119"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120"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121"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122"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3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3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fade">
                                      <p:cBhvr>
                                        <p:cTn id="13" dur="300"/>
                                        <p:tgtEl>
                                          <p:spTgt spid="5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300"/>
                                        <p:tgtEl>
                                          <p:spTgt spid="5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300"/>
                                        <p:tgtEl>
                                          <p:spTgt spid="5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300"/>
                                        <p:tgtEl>
                                          <p:spTgt spid="5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300"/>
                                        <p:tgtEl>
                                          <p:spTgt spid="5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0"/>
                                        </p:tgtEl>
                                        <p:attrNameLst>
                                          <p:attrName>style.visibility</p:attrName>
                                        </p:attrNameLst>
                                      </p:cBhvr>
                                      <p:to>
                                        <p:strVal val="visible"/>
                                      </p:to>
                                    </p:set>
                                    <p:animEffect transition="in" filter="fade">
                                      <p:cBhvr>
                                        <p:cTn id="28" dur="300"/>
                                        <p:tgtEl>
                                          <p:spTgt spid="60"/>
                                        </p:tgtEl>
                                      </p:cBhvr>
                                    </p:animEffect>
                                  </p:childTnLst>
                                </p:cTn>
                              </p:par>
                              <p:par>
                                <p:cTn id="29" presetID="10" presetClass="entr" presetSubtype="0" fill="hold" nodeType="with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300"/>
                                        <p:tgtEl>
                                          <p:spTgt spid="6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4"/>
                                        </p:tgtEl>
                                        <p:attrNameLst>
                                          <p:attrName>style.visibility</p:attrName>
                                        </p:attrNameLst>
                                      </p:cBhvr>
                                      <p:to>
                                        <p:strVal val="visible"/>
                                      </p:to>
                                    </p:set>
                                    <p:animEffect transition="in" filter="fade">
                                      <p:cBhvr>
                                        <p:cTn id="34" dur="300"/>
                                        <p:tgtEl>
                                          <p:spTgt spid="6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6"/>
                                        </p:tgtEl>
                                        <p:attrNameLst>
                                          <p:attrName>style.visibility</p:attrName>
                                        </p:attrNameLst>
                                      </p:cBhvr>
                                      <p:to>
                                        <p:strVal val="visible"/>
                                      </p:to>
                                    </p:set>
                                    <p:animEffect transition="in" filter="fade">
                                      <p:cBhvr>
                                        <p:cTn id="37" dur="300"/>
                                        <p:tgtEl>
                                          <p:spTgt spid="6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fade">
                                      <p:cBhvr>
                                        <p:cTn id="40" dur="300"/>
                                        <p:tgtEl>
                                          <p:spTgt spid="6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0"/>
                                        </p:tgtEl>
                                        <p:attrNameLst>
                                          <p:attrName>style.visibility</p:attrName>
                                        </p:attrNameLst>
                                      </p:cBhvr>
                                      <p:to>
                                        <p:strVal val="visible"/>
                                      </p:to>
                                    </p:set>
                                    <p:animEffect transition="in" filter="fade">
                                      <p:cBhvr>
                                        <p:cTn id="43" dur="300"/>
                                        <p:tgtEl>
                                          <p:spTgt spid="7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72"/>
                                        </p:tgtEl>
                                        <p:attrNameLst>
                                          <p:attrName>style.visibility</p:attrName>
                                        </p:attrNameLst>
                                      </p:cBhvr>
                                      <p:to>
                                        <p:strVal val="visible"/>
                                      </p:to>
                                    </p:set>
                                    <p:animEffect transition="in" filter="fade">
                                      <p:cBhvr>
                                        <p:cTn id="46" dur="300"/>
                                        <p:tgtEl>
                                          <p:spTgt spid="72"/>
                                        </p:tgtEl>
                                      </p:cBhvr>
                                    </p:animEffect>
                                  </p:childTnLst>
                                </p:cTn>
                              </p:par>
                              <p:par>
                                <p:cTn id="47" presetID="10" presetClass="entr" presetSubtype="0" fill="hold" nodeType="withEffect">
                                  <p:stCondLst>
                                    <p:cond delay="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300"/>
                                        <p:tgtEl>
                                          <p:spTgt spid="7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76"/>
                                        </p:tgtEl>
                                        <p:attrNameLst>
                                          <p:attrName>style.visibility</p:attrName>
                                        </p:attrNameLst>
                                      </p:cBhvr>
                                      <p:to>
                                        <p:strVal val="visible"/>
                                      </p:to>
                                    </p:set>
                                    <p:animEffect transition="in" filter="fade">
                                      <p:cBhvr>
                                        <p:cTn id="52" dur="300"/>
                                        <p:tgtEl>
                                          <p:spTgt spid="7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78"/>
                                        </p:tgtEl>
                                        <p:attrNameLst>
                                          <p:attrName>style.visibility</p:attrName>
                                        </p:attrNameLst>
                                      </p:cBhvr>
                                      <p:to>
                                        <p:strVal val="visible"/>
                                      </p:to>
                                    </p:set>
                                    <p:animEffect transition="in" filter="fade">
                                      <p:cBhvr>
                                        <p:cTn id="55" dur="300"/>
                                        <p:tgtEl>
                                          <p:spTgt spid="7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80"/>
                                        </p:tgtEl>
                                        <p:attrNameLst>
                                          <p:attrName>style.visibility</p:attrName>
                                        </p:attrNameLst>
                                      </p:cBhvr>
                                      <p:to>
                                        <p:strVal val="visible"/>
                                      </p:to>
                                    </p:set>
                                    <p:animEffect transition="in" filter="fade">
                                      <p:cBhvr>
                                        <p:cTn id="58" dur="300"/>
                                        <p:tgtEl>
                                          <p:spTgt spid="8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animEffect transition="in" filter="fade">
                                      <p:cBhvr>
                                        <p:cTn id="61" dur="300"/>
                                        <p:tgtEl>
                                          <p:spTgt spid="8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84"/>
                                        </p:tgtEl>
                                        <p:attrNameLst>
                                          <p:attrName>style.visibility</p:attrName>
                                        </p:attrNameLst>
                                      </p:cBhvr>
                                      <p:to>
                                        <p:strVal val="visible"/>
                                      </p:to>
                                    </p:set>
                                    <p:animEffect transition="in" filter="fade">
                                      <p:cBhvr>
                                        <p:cTn id="64" dur="300"/>
                                        <p:tgtEl>
                                          <p:spTgt spid="84"/>
                                        </p:tgtEl>
                                      </p:cBhvr>
                                    </p:animEffect>
                                  </p:childTnLst>
                                </p:cTn>
                              </p:par>
                              <p:par>
                                <p:cTn id="65" presetID="10" presetClass="entr" presetSubtype="0" fill="hold" nodeType="withEffect">
                                  <p:stCondLst>
                                    <p:cond delay="0"/>
                                  </p:stCondLst>
                                  <p:childTnLst>
                                    <p:set>
                                      <p:cBhvr>
                                        <p:cTn id="66" dur="1" fill="hold">
                                          <p:stCondLst>
                                            <p:cond delay="0"/>
                                          </p:stCondLst>
                                        </p:cTn>
                                        <p:tgtEl>
                                          <p:spTgt spid="86"/>
                                        </p:tgtEl>
                                        <p:attrNameLst>
                                          <p:attrName>style.visibility</p:attrName>
                                        </p:attrNameLst>
                                      </p:cBhvr>
                                      <p:to>
                                        <p:strVal val="visible"/>
                                      </p:to>
                                    </p:set>
                                    <p:animEffect transition="in" filter="fade">
                                      <p:cBhvr>
                                        <p:cTn id="67" dur="300"/>
                                        <p:tgtEl>
                                          <p:spTgt spid="8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88"/>
                                        </p:tgtEl>
                                        <p:attrNameLst>
                                          <p:attrName>style.visibility</p:attrName>
                                        </p:attrNameLst>
                                      </p:cBhvr>
                                      <p:to>
                                        <p:strVal val="visible"/>
                                      </p:to>
                                    </p:set>
                                    <p:animEffect transition="in" filter="fade">
                                      <p:cBhvr>
                                        <p:cTn id="70" dur="300"/>
                                        <p:tgtEl>
                                          <p:spTgt spid="8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animEffect transition="in" filter="fade">
                                      <p:cBhvr>
                                        <p:cTn id="73" dur="300"/>
                                        <p:tgtEl>
                                          <p:spTgt spid="9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92"/>
                                        </p:tgtEl>
                                        <p:attrNameLst>
                                          <p:attrName>style.visibility</p:attrName>
                                        </p:attrNameLst>
                                      </p:cBhvr>
                                      <p:to>
                                        <p:strVal val="visible"/>
                                      </p:to>
                                    </p:set>
                                    <p:animEffect transition="in" filter="fade">
                                      <p:cBhvr>
                                        <p:cTn id="76" dur="300"/>
                                        <p:tgtEl>
                                          <p:spTgt spid="9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94"/>
                                        </p:tgtEl>
                                        <p:attrNameLst>
                                          <p:attrName>style.visibility</p:attrName>
                                        </p:attrNameLst>
                                      </p:cBhvr>
                                      <p:to>
                                        <p:strVal val="visible"/>
                                      </p:to>
                                    </p:set>
                                    <p:animEffect transition="in" filter="fade">
                                      <p:cBhvr>
                                        <p:cTn id="79" dur="300"/>
                                        <p:tgtEl>
                                          <p:spTgt spid="9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96"/>
                                        </p:tgtEl>
                                        <p:attrNameLst>
                                          <p:attrName>style.visibility</p:attrName>
                                        </p:attrNameLst>
                                      </p:cBhvr>
                                      <p:to>
                                        <p:strVal val="visible"/>
                                      </p:to>
                                    </p:set>
                                    <p:animEffect transition="in" filter="fade">
                                      <p:cBhvr>
                                        <p:cTn id="82" dur="300"/>
                                        <p:tgtEl>
                                          <p:spTgt spid="96"/>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300"/>
                                        <p:tgtEl>
                                          <p:spTgt spid="9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100"/>
                                        </p:tgtEl>
                                        <p:attrNameLst>
                                          <p:attrName>style.visibility</p:attrName>
                                        </p:attrNameLst>
                                      </p:cBhvr>
                                      <p:to>
                                        <p:strVal val="visible"/>
                                      </p:to>
                                    </p:set>
                                    <p:animEffect transition="in" filter="fade">
                                      <p:cBhvr>
                                        <p:cTn id="88" dur="300"/>
                                        <p:tgtEl>
                                          <p:spTgt spid="10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102"/>
                                        </p:tgtEl>
                                        <p:attrNameLst>
                                          <p:attrName>style.visibility</p:attrName>
                                        </p:attrNameLst>
                                      </p:cBhvr>
                                      <p:to>
                                        <p:strVal val="visible"/>
                                      </p:to>
                                    </p:set>
                                    <p:animEffect transition="in" filter="fade">
                                      <p:cBhvr>
                                        <p:cTn id="91" dur="300"/>
                                        <p:tgtEl>
                                          <p:spTgt spid="10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104"/>
                                        </p:tgtEl>
                                        <p:attrNameLst>
                                          <p:attrName>style.visibility</p:attrName>
                                        </p:attrNameLst>
                                      </p:cBhvr>
                                      <p:to>
                                        <p:strVal val="visible"/>
                                      </p:to>
                                    </p:set>
                                    <p:animEffect transition="in" filter="fade">
                                      <p:cBhvr>
                                        <p:cTn id="94" dur="300"/>
                                        <p:tgtEl>
                                          <p:spTgt spid="10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106"/>
                                        </p:tgtEl>
                                        <p:attrNameLst>
                                          <p:attrName>style.visibility</p:attrName>
                                        </p:attrNameLst>
                                      </p:cBhvr>
                                      <p:to>
                                        <p:strVal val="visible"/>
                                      </p:to>
                                    </p:set>
                                    <p:animEffect transition="in" filter="fade">
                                      <p:cBhvr>
                                        <p:cTn id="97" dur="300"/>
                                        <p:tgtEl>
                                          <p:spTgt spid="10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108"/>
                                        </p:tgtEl>
                                        <p:attrNameLst>
                                          <p:attrName>style.visibility</p:attrName>
                                        </p:attrNameLst>
                                      </p:cBhvr>
                                      <p:to>
                                        <p:strVal val="visible"/>
                                      </p:to>
                                    </p:set>
                                    <p:animEffect transition="in" filter="fade">
                                      <p:cBhvr>
                                        <p:cTn id="100" dur="300"/>
                                        <p:tgtEl>
                                          <p:spTgt spid="108"/>
                                        </p:tgtEl>
                                      </p:cBhvr>
                                    </p:animEffect>
                                  </p:childTnLst>
                                </p:cTn>
                              </p:par>
                              <p:par>
                                <p:cTn id="101" presetID="10" presetClass="entr" presetSubtype="0" fill="hold" nodeType="withEffect">
                                  <p:stCondLst>
                                    <p:cond delay="0"/>
                                  </p:stCondLst>
                                  <p:childTnLst>
                                    <p:set>
                                      <p:cBhvr>
                                        <p:cTn id="102" dur="1" fill="hold">
                                          <p:stCondLst>
                                            <p:cond delay="0"/>
                                          </p:stCondLst>
                                        </p:cTn>
                                        <p:tgtEl>
                                          <p:spTgt spid="110"/>
                                        </p:tgtEl>
                                        <p:attrNameLst>
                                          <p:attrName>style.visibility</p:attrName>
                                        </p:attrNameLst>
                                      </p:cBhvr>
                                      <p:to>
                                        <p:strVal val="visible"/>
                                      </p:to>
                                    </p:set>
                                    <p:animEffect transition="in" filter="fade">
                                      <p:cBhvr>
                                        <p:cTn id="103" dur="300"/>
                                        <p:tgtEl>
                                          <p:spTgt spid="11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112"/>
                                        </p:tgtEl>
                                        <p:attrNameLst>
                                          <p:attrName>style.visibility</p:attrName>
                                        </p:attrNameLst>
                                      </p:cBhvr>
                                      <p:to>
                                        <p:strVal val="visible"/>
                                      </p:to>
                                    </p:set>
                                    <p:animEffect transition="in" filter="fade">
                                      <p:cBhvr>
                                        <p:cTn id="106" dur="300"/>
                                        <p:tgtEl>
                                          <p:spTgt spid="112"/>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114"/>
                                        </p:tgtEl>
                                        <p:attrNameLst>
                                          <p:attrName>style.visibility</p:attrName>
                                        </p:attrNameLst>
                                      </p:cBhvr>
                                      <p:to>
                                        <p:strVal val="visible"/>
                                      </p:to>
                                    </p:set>
                                    <p:animEffect transition="in" filter="fade">
                                      <p:cBhvr>
                                        <p:cTn id="109" dur="3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8" grpId="0" animBg="1"/>
      <p:bldP spid="50" grpId="0" animBg="1"/>
      <p:bldP spid="52" grpId="0" animBg="1"/>
      <p:bldP spid="54" grpId="0" animBg="1"/>
      <p:bldP spid="56" grpId="0" animBg="1"/>
      <p:bldP spid="58" grpId="0" animBg="1"/>
      <p:bldP spid="60" grpId="0" animBg="1"/>
      <p:bldP spid="64" grpId="0" animBg="1"/>
      <p:bldP spid="66" grpId="0" animBg="1"/>
      <p:bldP spid="68" grpId="0" animBg="1"/>
      <p:bldP spid="70" grpId="0" animBg="1"/>
      <p:bldP spid="72" grpId="0" animBg="1"/>
      <p:bldP spid="76" grpId="0" animBg="1"/>
      <p:bldP spid="78" grpId="0" animBg="1"/>
      <p:bldP spid="80" grpId="0" animBg="1"/>
      <p:bldP spid="82" grpId="0" animBg="1"/>
      <p:bldP spid="84" grpId="0" animBg="1"/>
      <p:bldP spid="88" grpId="0" animBg="1"/>
      <p:bldP spid="90" grpId="0" animBg="1"/>
      <p:bldP spid="92" grpId="0" animBg="1"/>
      <p:bldP spid="94" grpId="0" animBg="1"/>
      <p:bldP spid="96" grpId="0" animBg="1"/>
      <p:bldP spid="100" grpId="0" animBg="1"/>
      <p:bldP spid="102" grpId="0" animBg="1"/>
      <p:bldP spid="104" grpId="0" animBg="1"/>
      <p:bldP spid="106" grpId="0" animBg="1"/>
      <p:bldP spid="108" grpId="0" animBg="1"/>
      <p:bldP spid="112" grpId="0" animBg="1"/>
      <p:bldP spid="1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3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3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3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3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3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3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300"/>
                                        <p:tgtEl>
                                          <p:spTgt spid="5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300"/>
                                        <p:tgtEl>
                                          <p:spTgt spid="5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0"/>
                                        </p:tgtEl>
                                        <p:attrNameLst>
                                          <p:attrName>style.visibility</p:attrName>
                                        </p:attrNameLst>
                                      </p:cBhvr>
                                      <p:to>
                                        <p:strVal val="visible"/>
                                      </p:to>
                                    </p:set>
                                    <p:animEffect transition="in" filter="fade">
                                      <p:cBhvr>
                                        <p:cTn id="34" dur="300"/>
                                        <p:tgtEl>
                                          <p:spTgt spid="6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300"/>
                                        <p:tgtEl>
                                          <p:spTgt spid="6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2"/>
                                        </p:tgtEl>
                                        <p:attrNameLst>
                                          <p:attrName>style.visibility</p:attrName>
                                        </p:attrNameLst>
                                      </p:cBhvr>
                                      <p:to>
                                        <p:strVal val="visible"/>
                                      </p:to>
                                    </p:set>
                                    <p:animEffect transition="in" filter="fade">
                                      <p:cBhvr>
                                        <p:cTn id="42" dur="300"/>
                                        <p:tgtEl>
                                          <p:spTgt spid="6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3"/>
                                        </p:tgtEl>
                                        <p:attrNameLst>
                                          <p:attrName>style.visibility</p:attrName>
                                        </p:attrNameLst>
                                      </p:cBhvr>
                                      <p:to>
                                        <p:strVal val="visible"/>
                                      </p:to>
                                    </p:set>
                                    <p:animEffect transition="in" filter="fade">
                                      <p:cBhvr>
                                        <p:cTn id="45" dur="300"/>
                                        <p:tgtEl>
                                          <p:spTgt spid="6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300"/>
                                        <p:tgtEl>
                                          <p:spTgt spid="3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300"/>
                                        <p:tgtEl>
                                          <p:spTgt spid="3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300"/>
                                        <p:tgtEl>
                                          <p:spTgt spid="3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300"/>
                                        <p:tgtEl>
                                          <p:spTgt spid="3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fade">
                                      <p:cBhvr>
                                        <p:cTn id="68" dur="300"/>
                                        <p:tgtEl>
                                          <p:spTgt spid="3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300"/>
                                        <p:tgtEl>
                                          <p:spTgt spid="3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3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58" grpId="0" animBg="1"/>
      <p:bldP spid="59" grpId="0" animBg="1"/>
      <p:bldP spid="60" grpId="0" animBg="1"/>
      <p:bldP spid="61" grpId="0" animBg="1"/>
      <p:bldP spid="62" grpId="0" animBg="1"/>
      <p:bldP spid="6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pic>
        <p:nvPicPr>
          <p:cNvPr id="6" name="!!Drawing b637dce9"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247626"/>
            <a:ext cx="11277600" cy="4181624"/>
          </a:xfrm>
          <a:prstGeom prst="rect">
            <a:avLst/>
          </a:prstGeom>
        </p:spPr>
      </p:pic>
      <p:pic>
        <p:nvPicPr>
          <p:cNvPr id="7" name="!!Drawing b637dce9 #2" descr="image.png"/>
          <p:cNvPicPr>
            <a:picLocks noChangeAspect="1"/>
          </p:cNvPicPr>
          <p:nvPr/>
        </p:nvPicPr>
        <p:blipFill>
          <a:blip>
            <a:alphaModFix amt="30000"/>
            <a:grayscl/>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8" name="!!Drawing b637dce9 #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9" name="!!Drawing b637dce9 #4"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0" name="!!Drawing b637dce9 #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1" name="!!Drawing b637dce9 #6" descr="image.png"/>
          <p:cNvPicPr>
            <a:picLocks noChangeAspect="1"/>
          </p:cNvPicPr>
          <p:nvPr/>
        </p:nvPicPr>
        <p:blipFill>
          <a:blip>
            <a:alphaModFix amt="30000"/>
            <a:grayscl/>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2" name="!!Drawing b637dce9 #7"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3" name="!!Drawing b637dce9 #8" descr="image.png"/>
          <p:cNvPicPr>
            <a:picLocks noChangeAspect="1"/>
          </p:cNvPicPr>
          <p:nvPr/>
        </p:nvPicPr>
        <p:blipFill>
          <a:blip>
            <a:alphaModFix amt="30000"/>
            <a:grayscl/>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4" name="!!Drawing b637dce9 #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5" name="!!Drawing b637dce9 #10" descr="image.png"/>
          <p:cNvPicPr>
            <a:picLocks noChangeAspect="1"/>
          </p:cNvPicPr>
          <p:nvPr/>
        </p:nvPicPr>
        <p:blipFill>
          <a:blip>
            <a:alphaModFix amt="30000"/>
            <a:grayscl/>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6" name="!!Drawing b637dce9 #1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7" name="!!Drawing b637dce9 #12" descr="image.png"/>
          <p:cNvPicPr>
            <a:picLocks noChangeAspect="1"/>
          </p:cNvPicPr>
          <p:nvPr/>
        </p:nvPicPr>
        <p:blipFill>
          <a:blip>
            <a:alphaModFix amt="30000"/>
            <a:grayscl/>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pic>
        <p:nvPicPr>
          <p:cNvPr id="18" name="!!Drawing b637dce9 #13"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sp>
        <p:nvSpPr>
          <p:cNvPr id="19" name="!!span 82b951b0"/>
          <p:cNvSpPr/>
          <p:nvPr/>
        </p:nvSpPr>
        <p:spPr>
          <a:xfrm>
            <a:off x="8401050" y="1752451"/>
            <a:ext cx="361950" cy="361950"/>
          </a:xfrm>
          <a:prstGeom prst="ellipse">
            <a:avLst/>
          </a:prstGeom>
          <a:solidFill>
            <a:srgbClr val="FFFFFF">
              <a:alpha val="3600"/>
            </a:srgbClr>
          </a:solidFill>
          <a:ln>
            <a:noFill/>
          </a:ln>
        </p:spPr>
        <p:txBody>
          <a:bodyPr rtlCol="0" anchor="ctr"/>
          <a:lstStyle/>
          <a:p>
            <a:pPr algn="ctr"/>
            <a:endParaRPr/>
          </a:p>
        </p:txBody>
      </p:sp>
      <p:sp>
        <p:nvSpPr>
          <p:cNvPr id="20"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c6008aec" descr="image.png"/>
          <p:cNvPicPr>
            <a:picLocks noChangeAspect="1"/>
          </p:cNvPicPr>
          <p:nvPr/>
        </p:nvPicPr>
        <p:blipFill>
          <a:blip>
            <a:alphaModFix amt="30000"/>
            <a:grayscl/>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pic>
        <p:nvPicPr>
          <p:cNvPr id="22" name="!!Drawing c6008aec #2"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sp>
        <p:nvSpPr>
          <p:cNvPr id="23"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alpha val="30000"/>
                  </a:srgbClr>
                </a:solidFill>
                <a:latin typeface="Plus Jakarta Sans SemiBold"/>
              </a:rPr>
              <a:t>What passes on</a:t>
            </a:r>
          </a:p>
        </p:txBody>
      </p:sp>
      <p:sp>
        <p:nvSpPr>
          <p:cNvPr id="24" name="!!T What passes on #2"/>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25"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the inheritance kept, passed on in stages</a:t>
            </a:r>
          </a:p>
        </p:txBody>
      </p:sp>
      <p:sp>
        <p:nvSpPr>
          <p:cNvPr id="26" name="!!T the inheritance kept, passed on in stage #2"/>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27" name="!!span f1efbc41"/>
          <p:cNvSpPr/>
          <p:nvPr/>
        </p:nvSpPr>
        <p:spPr>
          <a:xfrm>
            <a:off x="8401050" y="2743051"/>
            <a:ext cx="361950" cy="361950"/>
          </a:xfrm>
          <a:prstGeom prst="ellipse">
            <a:avLst/>
          </a:prstGeom>
          <a:solidFill>
            <a:srgbClr val="FFFFFF">
              <a:alpha val="3600"/>
            </a:srgbClr>
          </a:solidFill>
          <a:ln>
            <a:noFill/>
          </a:ln>
        </p:spPr>
        <p:txBody>
          <a:bodyPr rtlCol="0" anchor="ctr"/>
          <a:lstStyle/>
          <a:p>
            <a:pPr algn="ctr"/>
            <a:endParaRPr/>
          </a:p>
        </p:txBody>
      </p:sp>
      <p:sp>
        <p:nvSpPr>
          <p:cNvPr id="28"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74fde013" descr="image.png"/>
          <p:cNvPicPr>
            <a:picLocks noChangeAspect="1"/>
          </p:cNvPicPr>
          <p:nvPr/>
        </p:nvPicPr>
        <p:blipFill>
          <a:blip>
            <a:alphaModFix amt="30000"/>
            <a:grayscl/>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pic>
        <p:nvPicPr>
          <p:cNvPr id="30" name="!!Drawing 74fde013 #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sp>
        <p:nvSpPr>
          <p:cNvPr id="31"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5</a:t>
            </a:r>
            <a:r>
              <a:rPr sz="1275" b="0" i="0" kern="100">
                <a:solidFill>
                  <a:srgbClr val="FFFFFF">
                    <a:alpha val="30000"/>
                  </a:srgbClr>
                </a:solidFill>
                <a:latin typeface="Plus Jakarta Sans SemiBold"/>
              </a:rPr>
              <a:t>   Values and crypto, with guardrails</a:t>
            </a:r>
          </a:p>
        </p:txBody>
      </p:sp>
      <p:sp>
        <p:nvSpPr>
          <p:cNvPr id="32" name="!!T 5 Values and crypto, with guardrails #2"/>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3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ESG at 25%; crypto sized per person</a:t>
            </a:r>
          </a:p>
        </p:txBody>
      </p:sp>
      <p:sp>
        <p:nvSpPr>
          <p:cNvPr id="34" name="!!T ESG at 25%; crypto sized per person #2"/>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35" name="!!span 1e9f19b8"/>
          <p:cNvSpPr/>
          <p:nvPr/>
        </p:nvSpPr>
        <p:spPr>
          <a:xfrm>
            <a:off x="8401050" y="3638401"/>
            <a:ext cx="361950" cy="361950"/>
          </a:xfrm>
          <a:prstGeom prst="ellipse">
            <a:avLst/>
          </a:prstGeom>
          <a:solidFill>
            <a:srgbClr val="FFFFFF">
              <a:alpha val="3600"/>
            </a:srgbClr>
          </a:solidFill>
          <a:ln>
            <a:noFill/>
          </a:ln>
        </p:spPr>
        <p:txBody>
          <a:bodyPr rtlCol="0" anchor="ctr"/>
          <a:lstStyle/>
          <a:p>
            <a:pPr algn="ctr"/>
            <a:endParaRPr/>
          </a:p>
        </p:txBody>
      </p:sp>
      <p:sp>
        <p:nvSpPr>
          <p:cNvPr id="36"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37" name="!!Drawing 62cade5f" descr="image.png"/>
          <p:cNvPicPr>
            <a:picLocks noChangeAspect="1"/>
          </p:cNvPicPr>
          <p:nvPr/>
        </p:nvPicPr>
        <p:blipFill>
          <a:blip>
            <a:alphaModFix amt="30000"/>
            <a:grayscl/>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pic>
        <p:nvPicPr>
          <p:cNvPr id="38" name="!!Drawing 62cade5f #2" descr="image.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sp>
        <p:nvSpPr>
          <p:cNvPr id="39"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3</a:t>
            </a:r>
            <a:r>
              <a:rPr sz="1275" b="0" i="0" kern="100">
                <a:solidFill>
                  <a:srgbClr val="FFFFFF">
                    <a:alpha val="30000"/>
                  </a:srgbClr>
                </a:solidFill>
                <a:latin typeface="Plus Jakarta Sans SemiBold"/>
              </a:rPr>
              <a:t>   Fix the cost the budget ignores</a:t>
            </a:r>
          </a:p>
        </p:txBody>
      </p:sp>
      <p:sp>
        <p:nvSpPr>
          <p:cNvPr id="40" name="!!T 3 Fix the cost the budget ignores #2"/>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41"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a medical review at 75; spending rules</a:t>
            </a:r>
          </a:p>
        </p:txBody>
      </p:sp>
      <p:sp>
        <p:nvSpPr>
          <p:cNvPr id="42" name="!!T a medical review at 75; spending rules #2"/>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43"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4</a:t>
            </a:r>
            <a:r>
              <a:rPr sz="1275" b="0" i="0" kern="100">
                <a:solidFill>
                  <a:srgbClr val="FFFFFF">
                    <a:alpha val="30000"/>
                  </a:srgbClr>
                </a:solidFill>
                <a:latin typeface="Plus Jakarta Sans SemiBold"/>
              </a:rPr>
              <a:t>   A plan for each person</a:t>
            </a:r>
          </a:p>
        </p:txBody>
      </p:sp>
      <p:sp>
        <p:nvSpPr>
          <p:cNvPr id="44" name="!!T 4 A plan for each person #2"/>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45"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Chloe funded; HK$45K a year less in fees</a:t>
            </a:r>
          </a:p>
        </p:txBody>
      </p:sp>
      <p:sp>
        <p:nvSpPr>
          <p:cNvPr id="46" name="!!T Chloe funded; HK$45K a year less in fees #2"/>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47" name="!!span d292a3d1"/>
          <p:cNvSpPr/>
          <p:nvPr/>
        </p:nvSpPr>
        <p:spPr>
          <a:xfrm>
            <a:off x="3429000" y="2571601"/>
            <a:ext cx="361950" cy="361950"/>
          </a:xfrm>
          <a:prstGeom prst="ellipse">
            <a:avLst/>
          </a:prstGeom>
          <a:solidFill>
            <a:srgbClr val="FFFFFF">
              <a:alpha val="3600"/>
            </a:srgbClr>
          </a:solidFill>
          <a:ln>
            <a:noFill/>
          </a:ln>
        </p:spPr>
        <p:txBody>
          <a:bodyPr rtlCol="0" anchor="ctr"/>
          <a:lstStyle/>
          <a:p>
            <a:pPr algn="ctr"/>
            <a:endParaRPr/>
          </a:p>
        </p:txBody>
      </p:sp>
      <p:sp>
        <p:nvSpPr>
          <p:cNvPr id="48"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49" name="!!Drawing a173ee14" descr="image.png"/>
          <p:cNvPicPr>
            <a:picLocks noChangeAspect="1"/>
          </p:cNvPicPr>
          <p:nvPr/>
        </p:nvPicPr>
        <p:blipFill>
          <a:blip>
            <a:alphaModFix amt="30000"/>
            <a:grayscl/>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pic>
        <p:nvPicPr>
          <p:cNvPr id="50" name="!!Drawing a173ee14 #2" descr="image.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sp>
        <p:nvSpPr>
          <p:cNvPr id="51"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2</a:t>
            </a:r>
            <a:r>
              <a:rPr sz="1275" b="0" i="0" kern="100">
                <a:solidFill>
                  <a:srgbClr val="FFFFFF">
                    <a:alpha val="30000"/>
                  </a:srgbClr>
                </a:solidFill>
                <a:latin typeface="Plus Jakarta Sans SemiBold"/>
              </a:rPr>
              <a:t>   The home and the business</a:t>
            </a:r>
          </a:p>
        </p:txBody>
      </p:sp>
      <p:sp>
        <p:nvSpPr>
          <p:cNvPr id="52" name="!!T 2 The home and the business #2"/>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5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decided at 65, not forced at 83</a:t>
            </a:r>
          </a:p>
        </p:txBody>
      </p:sp>
      <p:sp>
        <p:nvSpPr>
          <p:cNvPr id="54" name="!!T decided at 65, not forced at 83 #2"/>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55" name="!!span fc6c9dba"/>
          <p:cNvSpPr/>
          <p:nvPr/>
        </p:nvSpPr>
        <p:spPr>
          <a:xfrm>
            <a:off x="3429000" y="3466951"/>
            <a:ext cx="361950" cy="361950"/>
          </a:xfrm>
          <a:prstGeom prst="ellipse">
            <a:avLst/>
          </a:prstGeom>
          <a:solidFill>
            <a:srgbClr val="FFFFFF">
              <a:alpha val="3600"/>
            </a:srgbClr>
          </a:solidFill>
          <a:ln>
            <a:noFill/>
          </a:ln>
        </p:spPr>
        <p:txBody>
          <a:bodyPr rtlCol="0" anchor="ctr"/>
          <a:lstStyle/>
          <a:p>
            <a:pPr algn="ctr"/>
            <a:endParaRPr/>
          </a:p>
        </p:txBody>
      </p:sp>
      <p:sp>
        <p:nvSpPr>
          <p:cNvPr id="56"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57" name="!!Drawing 4c54ffc9" descr="image.png"/>
          <p:cNvPicPr>
            <a:picLocks noChangeAspect="1"/>
          </p:cNvPicPr>
          <p:nvPr/>
        </p:nvPicPr>
        <p:blipFill>
          <a:blip>
            <a:alphaModFix amt="30000"/>
            <a:grayscl/>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pic>
        <p:nvPicPr>
          <p:cNvPr id="58" name="!!Drawing 4c54ffc9 #2" descr="image.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sp>
        <p:nvSpPr>
          <p:cNvPr id="59"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1</a:t>
            </a:r>
            <a:r>
              <a:rPr sz="1275" b="0" i="0" kern="100">
                <a:solidFill>
                  <a:srgbClr val="FFFFFF">
                    <a:alpha val="30000"/>
                  </a:srgbClr>
                </a:solidFill>
                <a:latin typeface="Plus Jakarta Sans SemiBold"/>
              </a:rPr>
              <a:t>   Insure the income, not the life</a:t>
            </a:r>
          </a:p>
        </p:txBody>
      </p:sp>
      <p:sp>
        <p:nvSpPr>
          <p:cNvPr id="60" name="!!T 1 Insure the income, not the life #2"/>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61"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about HK$100K a year closes every gap</a:t>
            </a:r>
          </a:p>
        </p:txBody>
      </p:sp>
      <p:sp>
        <p:nvSpPr>
          <p:cNvPr id="62" name="!!T about HK$100K a year closes every gap #2"/>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63" name="!!span e388fedc"/>
          <p:cNvSpPr/>
          <p:nvPr/>
        </p:nvSpPr>
        <p:spPr>
          <a:xfrm>
            <a:off x="3429000" y="4171801"/>
            <a:ext cx="361950" cy="361950"/>
          </a:xfrm>
          <a:prstGeom prst="ellipse">
            <a:avLst/>
          </a:prstGeom>
          <a:solidFill>
            <a:srgbClr val="FFFFFF">
              <a:alpha val="3600"/>
            </a:srgbClr>
          </a:solidFill>
          <a:ln>
            <a:noFill/>
          </a:ln>
        </p:spPr>
        <p:txBody>
          <a:bodyPr rtlCol="0" anchor="ctr"/>
          <a:lstStyle/>
          <a:p>
            <a:pPr algn="ctr"/>
            <a:endParaRPr/>
          </a:p>
        </p:txBody>
      </p:sp>
      <p:sp>
        <p:nvSpPr>
          <p:cNvPr id="64"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65" name="!!Drawing b195c741" descr="image.png"/>
          <p:cNvPicPr>
            <a:picLocks noChangeAspect="1"/>
          </p:cNvPicPr>
          <p:nvPr/>
        </p:nvPicPr>
        <p:blipFill>
          <a:blip>
            <a:alphaModFix amt="30000"/>
            <a:grayscl/>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pic>
        <p:nvPicPr>
          <p:cNvPr id="66" name="!!Drawing b195c741 #2" descr="image.png"/>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sp>
        <p:nvSpPr>
          <p:cNvPr id="67" name="!!div f2f9386a"/>
          <p:cNvSpPr/>
          <p:nvPr/>
        </p:nvSpPr>
        <p:spPr>
          <a:xfrm>
            <a:off x="2470398" y="5434012"/>
            <a:ext cx="7251055" cy="809625"/>
          </a:xfrm>
          <a:prstGeom prst="rect">
            <a:avLst/>
          </a:prstGeom>
          <a:solidFill>
            <a:srgbClr val="FFFFFF">
              <a:alpha val="1800"/>
            </a:srgbClr>
          </a:solidFill>
          <a:ln w="9525">
            <a:solidFill>
              <a:srgbClr val="FFFFFF">
                <a:alpha val="11400"/>
              </a:srgbClr>
            </a:solidFill>
          </a:ln>
        </p:spPr>
        <p:txBody>
          <a:bodyPr rtlCol="0" anchor="ctr"/>
          <a:lstStyle/>
          <a:p>
            <a:pPr algn="ctr"/>
            <a:endParaRPr/>
          </a:p>
        </p:txBody>
      </p:sp>
      <p:sp>
        <p:nvSpPr>
          <p:cNvPr id="68"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69"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Chance the money</a:t>
            </a:r>
          </a:p>
          <a:p>
            <a:pPr algn="l">
              <a:lnSpc>
                <a:spcPts val="1462"/>
              </a:lnSpc>
              <a:spcBef>
                <a:spcPts val="0"/>
              </a:spcBef>
              <a:spcAft>
                <a:spcPts val="0"/>
              </a:spcAft>
            </a:pPr>
            <a:r>
              <a:rPr sz="1125" b="0" i="0" kern="100">
                <a:solidFill>
                  <a:srgbClr val="FFFFFF">
                    <a:alpha val="30000"/>
                  </a:srgbClr>
                </a:solidFill>
                <a:latin typeface="Plus Jakarta Sans SemiBold"/>
              </a:rPr>
              <a:t>lasts to Carmen's 89</a:t>
            </a:r>
          </a:p>
        </p:txBody>
      </p:sp>
      <p:sp>
        <p:nvSpPr>
          <p:cNvPr id="70" name="!!T Chance the money lasts to Carmen's 89 #2"/>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71"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AEAEAE">
                    <a:alpha val="30000"/>
                  </a:srgbClr>
                </a:solidFill>
                <a:latin typeface="Plus Jakarta Sans"/>
              </a:rPr>
              <a:t>62%</a:t>
            </a:r>
          </a:p>
        </p:txBody>
      </p:sp>
      <p:sp>
        <p:nvSpPr>
          <p:cNvPr id="72" name="!!T 62% #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7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D1D1D1">
                    <a:alpha val="30000"/>
                  </a:srgbClr>
                </a:solidFill>
                <a:latin typeface="Plus Jakarta Sans"/>
              </a:rPr>
              <a:t>their own way</a:t>
            </a:r>
          </a:p>
        </p:txBody>
      </p:sp>
      <p:sp>
        <p:nvSpPr>
          <p:cNvPr id="74" name="!!T their own way #2"/>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75"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AEAEAE">
                    <a:alpha val="30000"/>
                  </a:srgbClr>
                </a:solidFill>
                <a:latin typeface="Plus Jakarta Sans"/>
              </a:rPr>
              <a:t>→</a:t>
            </a:r>
          </a:p>
        </p:txBody>
      </p:sp>
      <p:sp>
        <p:nvSpPr>
          <p:cNvPr id="76" name="!!T → #2"/>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77"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alpha val="30000"/>
                  </a:srgbClr>
                </a:solidFill>
                <a:latin typeface="Plus Jakarta Sans"/>
              </a:rPr>
              <a:t>97%</a:t>
            </a:r>
          </a:p>
        </p:txBody>
      </p:sp>
      <p:sp>
        <p:nvSpPr>
          <p:cNvPr id="78" name="!!T 97% #2"/>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79"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with the five calls</a:t>
            </a:r>
          </a:p>
        </p:txBody>
      </p:sp>
      <p:sp>
        <p:nvSpPr>
          <p:cNvPr id="80" name="!!T with the five calls #2"/>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81"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82"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83"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84"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85"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86"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87"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88"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3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3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4"/>
                                        </p:tgtEl>
                                        <p:attrNameLst>
                                          <p:attrName>style.visibility</p:attrName>
                                        </p:attrNameLst>
                                      </p:cBhvr>
                                      <p:to>
                                        <p:strVal val="visible"/>
                                      </p:to>
                                    </p:set>
                                    <p:animEffect transition="in" filter="fade">
                                      <p:cBhvr>
                                        <p:cTn id="16" dur="300"/>
                                        <p:tgtEl>
                                          <p:spTgt spid="64"/>
                                        </p:tgtEl>
                                      </p:cBhvr>
                                    </p:animEffect>
                                  </p:childTnLst>
                                </p:cTn>
                              </p:par>
                              <p:par>
                                <p:cTn id="17" presetID="10"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animEffect transition="in" filter="fade">
                                      <p:cBhvr>
                                        <p:cTn id="19" dur="300"/>
                                        <p:tgtEl>
                                          <p:spTgt spid="6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300"/>
                                        <p:tgtEl>
                                          <p:spTgt spid="5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300"/>
                                        <p:tgtEl>
                                          <p:spTgt spid="5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animEffect transition="in" filter="fade">
                                      <p:cBhvr>
                                        <p:cTn id="33" dur="300"/>
                                        <p:tgtEl>
                                          <p:spTgt spid="56"/>
                                        </p:tgtEl>
                                      </p:cBhvr>
                                    </p:animEffect>
                                  </p:childTnLst>
                                </p:cTn>
                              </p:par>
                              <p:par>
                                <p:cTn id="34" presetID="10" presetClass="entr" presetSubtype="0" fill="hold" nodeType="withEffect">
                                  <p:stCondLst>
                                    <p:cond delay="0"/>
                                  </p:stCondLst>
                                  <p:childTnLst>
                                    <p:set>
                                      <p:cBhvr>
                                        <p:cTn id="35" dur="1" fill="hold">
                                          <p:stCondLst>
                                            <p:cond delay="0"/>
                                          </p:stCondLst>
                                        </p:cTn>
                                        <p:tgtEl>
                                          <p:spTgt spid="58"/>
                                        </p:tgtEl>
                                        <p:attrNameLst>
                                          <p:attrName>style.visibility</p:attrName>
                                        </p:attrNameLst>
                                      </p:cBhvr>
                                      <p:to>
                                        <p:strVal val="visible"/>
                                      </p:to>
                                    </p:set>
                                    <p:animEffect transition="in" filter="fade">
                                      <p:cBhvr>
                                        <p:cTn id="36" dur="300"/>
                                        <p:tgtEl>
                                          <p:spTgt spid="5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3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300"/>
                                        <p:tgtEl>
                                          <p:spTgt spid="36"/>
                                        </p:tgtEl>
                                      </p:cBhvr>
                                    </p:animEffect>
                                  </p:childTnLst>
                                </p:cTn>
                              </p:par>
                              <p:par>
                                <p:cTn id="45" presetID="10"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300"/>
                                        <p:tgtEl>
                                          <p:spTgt spid="3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3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300"/>
                                        <p:tgtEl>
                                          <p:spTgt spid="4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30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300"/>
                                        <p:tgtEl>
                                          <p:spTgt spid="4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300"/>
                                        <p:tgtEl>
                                          <p:spTgt spid="48"/>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300"/>
                                        <p:tgtEl>
                                          <p:spTgt spid="5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00"/>
                                        <p:tgtEl>
                                          <p:spTgt spid="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3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3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00"/>
                                        <p:tgtEl>
                                          <p:spTgt spid="3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8"/>
                                        </p:tgtEl>
                                        <p:attrNameLst>
                                          <p:attrName>style.visibility</p:attrName>
                                        </p:attrNameLst>
                                      </p:cBhvr>
                                      <p:to>
                                        <p:strVal val="visible"/>
                                      </p:to>
                                    </p:set>
                                    <p:animEffect transition="in" filter="fade">
                                      <p:cBhvr>
                                        <p:cTn id="92" dur="300"/>
                                        <p:tgtEl>
                                          <p:spTgt spid="1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300"/>
                                        <p:tgtEl>
                                          <p:spTgt spid="20"/>
                                        </p:tgtEl>
                                      </p:cBhvr>
                                    </p:animEffect>
                                  </p:childTnLst>
                                </p:cTn>
                              </p:par>
                              <p:par>
                                <p:cTn id="96" presetID="10" presetClass="entr" presetSubtype="0"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300"/>
                                        <p:tgtEl>
                                          <p:spTgt spid="2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300"/>
                                        <p:tgtEl>
                                          <p:spTgt spid="2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68"/>
                                        </p:tgtEl>
                                        <p:attrNameLst>
                                          <p:attrName>style.visibility</p:attrName>
                                        </p:attrNameLst>
                                      </p:cBhvr>
                                      <p:to>
                                        <p:strVal val="visible"/>
                                      </p:to>
                                    </p:set>
                                    <p:animEffect transition="in" filter="fade">
                                      <p:cBhvr>
                                        <p:cTn id="107" dur="300"/>
                                        <p:tgtEl>
                                          <p:spTgt spid="6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0" dur="300"/>
                                        <p:tgtEl>
                                          <p:spTgt spid="7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72"/>
                                        </p:tgtEl>
                                        <p:attrNameLst>
                                          <p:attrName>style.visibility</p:attrName>
                                        </p:attrNameLst>
                                      </p:cBhvr>
                                      <p:to>
                                        <p:strVal val="visible"/>
                                      </p:to>
                                    </p:set>
                                    <p:animEffect transition="in" filter="fade">
                                      <p:cBhvr>
                                        <p:cTn id="113" dur="300"/>
                                        <p:tgtEl>
                                          <p:spTgt spid="7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74"/>
                                        </p:tgtEl>
                                        <p:attrNameLst>
                                          <p:attrName>style.visibility</p:attrName>
                                        </p:attrNameLst>
                                      </p:cBhvr>
                                      <p:to>
                                        <p:strVal val="visible"/>
                                      </p:to>
                                    </p:set>
                                    <p:animEffect transition="in" filter="fade">
                                      <p:cBhvr>
                                        <p:cTn id="116" dur="300"/>
                                        <p:tgtEl>
                                          <p:spTgt spid="7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76"/>
                                        </p:tgtEl>
                                        <p:attrNameLst>
                                          <p:attrName>style.visibility</p:attrName>
                                        </p:attrNameLst>
                                      </p:cBhvr>
                                      <p:to>
                                        <p:strVal val="visible"/>
                                      </p:to>
                                    </p:set>
                                    <p:animEffect transition="in" filter="fade">
                                      <p:cBhvr>
                                        <p:cTn id="119" dur="300"/>
                                        <p:tgtEl>
                                          <p:spTgt spid="7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78"/>
                                        </p:tgtEl>
                                        <p:attrNameLst>
                                          <p:attrName>style.visibility</p:attrName>
                                        </p:attrNameLst>
                                      </p:cBhvr>
                                      <p:to>
                                        <p:strVal val="visible"/>
                                      </p:to>
                                    </p:set>
                                    <p:animEffect transition="in" filter="fade">
                                      <p:cBhvr>
                                        <p:cTn id="122" dur="300"/>
                                        <p:tgtEl>
                                          <p:spTgt spid="7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80"/>
                                        </p:tgtEl>
                                        <p:attrNameLst>
                                          <p:attrName>style.visibility</p:attrName>
                                        </p:attrNameLst>
                                      </p:cBhvr>
                                      <p:to>
                                        <p:strVal val="visible"/>
                                      </p:to>
                                    </p:set>
                                    <p:animEffect transition="in" filter="fade">
                                      <p:cBhvr>
                                        <p:cTn id="125" dur="300"/>
                                        <p:tgtEl>
                                          <p:spTgt spid="80"/>
                                        </p:tgtEl>
                                      </p:cBhvr>
                                    </p:animEffect>
                                  </p:childTnLst>
                                </p:cTn>
                              </p:par>
                              <p:par>
                                <p:cTn id="126" presetID="10" presetClass="entr" presetSubtype="0" fill="hold" nodeType="withEffect">
                                  <p:stCondLst>
                                    <p:cond delay="0"/>
                                  </p:stCondLst>
                                  <p:childTnLst>
                                    <p:set>
                                      <p:cBhvr>
                                        <p:cTn id="127" dur="1" fill="hold">
                                          <p:stCondLst>
                                            <p:cond delay="0"/>
                                          </p:stCondLst>
                                        </p:cTn>
                                        <p:tgtEl>
                                          <p:spTgt spid="5"/>
                                        </p:tgtEl>
                                        <p:attrNameLst>
                                          <p:attrName>style.visibility</p:attrName>
                                        </p:attrNameLst>
                                      </p:cBhvr>
                                      <p:to>
                                        <p:strVal val="visible"/>
                                      </p:to>
                                    </p:set>
                                    <p:animEffect transition="in" filter="fade">
                                      <p:cBhvr>
                                        <p:cTn id="128" dur="300"/>
                                        <p:tgtEl>
                                          <p:spTgt spid="5"/>
                                        </p:tgtEl>
                                      </p:cBhvr>
                                    </p:animEffect>
                                  </p:childTnLst>
                                </p:cTn>
                              </p:par>
                              <p:par>
                                <p:cTn id="129" presetID="1" presetClass="exit" presetSubtype="0" fill="hold" nodeType="withEffect">
                                  <p:stCondLst>
                                    <p:cond delay="320"/>
                                  </p:stCondLst>
                                  <p:childTnLst>
                                    <p:set>
                                      <p:cBhvr>
                                        <p:cTn id="130" dur="1" fill="hold">
                                          <p:stCondLst>
                                            <p:cond delay="0"/>
                                          </p:stCondLst>
                                        </p:cTn>
                                        <p:tgtEl>
                                          <p:spTgt spid="6"/>
                                        </p:tgtEl>
                                        <p:attrNameLst>
                                          <p:attrName>style.visibility</p:attrName>
                                        </p:attrNameLst>
                                      </p:cBhvr>
                                      <p:to>
                                        <p:strVal val="hidden"/>
                                      </p:to>
                                    </p:set>
                                  </p:childTnLst>
                                </p:cTn>
                              </p:par>
                              <p:par>
                                <p:cTn id="131" presetID="1" presetClass="exit" presetSubtype="0" fill="hold" nodeType="withEffect">
                                  <p:stCondLst>
                                    <p:cond delay="320"/>
                                  </p:stCondLst>
                                  <p:childTnLst>
                                    <p:set>
                                      <p:cBhvr>
                                        <p:cTn id="132" dur="1" fill="hold">
                                          <p:stCondLst>
                                            <p:cond delay="0"/>
                                          </p:stCondLst>
                                        </p:cTn>
                                        <p:tgtEl>
                                          <p:spTgt spid="7"/>
                                        </p:tgtEl>
                                        <p:attrNameLst>
                                          <p:attrName>style.visibility</p:attrName>
                                        </p:attrNameLst>
                                      </p:cBhvr>
                                      <p:to>
                                        <p:strVal val="hidden"/>
                                      </p:to>
                                    </p:set>
                                  </p:childTnLst>
                                </p:cTn>
                              </p:par>
                              <p:par>
                                <p:cTn id="133" presetID="1" presetClass="exit" presetSubtype="0" fill="hold" nodeType="withEffect">
                                  <p:stCondLst>
                                    <p:cond delay="320"/>
                                  </p:stCondLst>
                                  <p:childTnLst>
                                    <p:set>
                                      <p:cBhvr>
                                        <p:cTn id="134" dur="1" fill="hold">
                                          <p:stCondLst>
                                            <p:cond delay="0"/>
                                          </p:stCondLst>
                                        </p:cTn>
                                        <p:tgtEl>
                                          <p:spTgt spid="8"/>
                                        </p:tgtEl>
                                        <p:attrNameLst>
                                          <p:attrName>style.visibility</p:attrName>
                                        </p:attrNameLst>
                                      </p:cBhvr>
                                      <p:to>
                                        <p:strVal val="hidden"/>
                                      </p:to>
                                    </p:set>
                                  </p:childTnLst>
                                </p:cTn>
                              </p:par>
                              <p:par>
                                <p:cTn id="135" presetID="1" presetClass="exit" presetSubtype="0" fill="hold" nodeType="withEffect">
                                  <p:stCondLst>
                                    <p:cond delay="320"/>
                                  </p:stCondLst>
                                  <p:childTnLst>
                                    <p:set>
                                      <p:cBhvr>
                                        <p:cTn id="136" dur="1" fill="hold">
                                          <p:stCondLst>
                                            <p:cond delay="0"/>
                                          </p:stCondLst>
                                        </p:cTn>
                                        <p:tgtEl>
                                          <p:spTgt spid="9"/>
                                        </p:tgtEl>
                                        <p:attrNameLst>
                                          <p:attrName>style.visibility</p:attrName>
                                        </p:attrNameLst>
                                      </p:cBhvr>
                                      <p:to>
                                        <p:strVal val="hidden"/>
                                      </p:to>
                                    </p:set>
                                  </p:childTnLst>
                                </p:cTn>
                              </p:par>
                              <p:par>
                                <p:cTn id="137" presetID="1" presetClass="exit" presetSubtype="0" fill="hold" nodeType="withEffect">
                                  <p:stCondLst>
                                    <p:cond delay="320"/>
                                  </p:stCondLst>
                                  <p:childTnLst>
                                    <p:set>
                                      <p:cBhvr>
                                        <p:cTn id="138" dur="1" fill="hold">
                                          <p:stCondLst>
                                            <p:cond delay="0"/>
                                          </p:stCondLst>
                                        </p:cTn>
                                        <p:tgtEl>
                                          <p:spTgt spid="10"/>
                                        </p:tgtEl>
                                        <p:attrNameLst>
                                          <p:attrName>style.visibility</p:attrName>
                                        </p:attrNameLst>
                                      </p:cBhvr>
                                      <p:to>
                                        <p:strVal val="hidden"/>
                                      </p:to>
                                    </p:set>
                                  </p:childTnLst>
                                </p:cTn>
                              </p:par>
                              <p:par>
                                <p:cTn id="139" presetID="1" presetClass="exit" presetSubtype="0" fill="hold" nodeType="withEffect">
                                  <p:stCondLst>
                                    <p:cond delay="320"/>
                                  </p:stCondLst>
                                  <p:childTnLst>
                                    <p:set>
                                      <p:cBhvr>
                                        <p:cTn id="140" dur="1" fill="hold">
                                          <p:stCondLst>
                                            <p:cond delay="0"/>
                                          </p:stCondLst>
                                        </p:cTn>
                                        <p:tgtEl>
                                          <p:spTgt spid="11"/>
                                        </p:tgtEl>
                                        <p:attrNameLst>
                                          <p:attrName>style.visibility</p:attrName>
                                        </p:attrNameLst>
                                      </p:cBhvr>
                                      <p:to>
                                        <p:strVal val="hidden"/>
                                      </p:to>
                                    </p:set>
                                  </p:childTnLst>
                                </p:cTn>
                              </p:par>
                              <p:par>
                                <p:cTn id="141" presetID="1" presetClass="exit" presetSubtype="0" fill="hold" nodeType="withEffect">
                                  <p:stCondLst>
                                    <p:cond delay="320"/>
                                  </p:stCondLst>
                                  <p:childTnLst>
                                    <p:set>
                                      <p:cBhvr>
                                        <p:cTn id="142" dur="1" fill="hold">
                                          <p:stCondLst>
                                            <p:cond delay="0"/>
                                          </p:stCondLst>
                                        </p:cTn>
                                        <p:tgtEl>
                                          <p:spTgt spid="12"/>
                                        </p:tgtEl>
                                        <p:attrNameLst>
                                          <p:attrName>style.visibility</p:attrName>
                                        </p:attrNameLst>
                                      </p:cBhvr>
                                      <p:to>
                                        <p:strVal val="hidden"/>
                                      </p:to>
                                    </p:set>
                                  </p:childTnLst>
                                </p:cTn>
                              </p:par>
                              <p:par>
                                <p:cTn id="143" presetID="1" presetClass="exit" presetSubtype="0" fill="hold" nodeType="withEffect">
                                  <p:stCondLst>
                                    <p:cond delay="320"/>
                                  </p:stCondLst>
                                  <p:childTnLst>
                                    <p:set>
                                      <p:cBhvr>
                                        <p:cTn id="144" dur="1" fill="hold">
                                          <p:stCondLst>
                                            <p:cond delay="0"/>
                                          </p:stCondLst>
                                        </p:cTn>
                                        <p:tgtEl>
                                          <p:spTgt spid="13"/>
                                        </p:tgtEl>
                                        <p:attrNameLst>
                                          <p:attrName>style.visibility</p:attrName>
                                        </p:attrNameLst>
                                      </p:cBhvr>
                                      <p:to>
                                        <p:strVal val="hidden"/>
                                      </p:to>
                                    </p:set>
                                  </p:childTnLst>
                                </p:cTn>
                              </p:par>
                              <p:par>
                                <p:cTn id="145" presetID="1" presetClass="exit" presetSubtype="0" fill="hold" nodeType="withEffect">
                                  <p:stCondLst>
                                    <p:cond delay="320"/>
                                  </p:stCondLst>
                                  <p:childTnLst>
                                    <p:set>
                                      <p:cBhvr>
                                        <p:cTn id="146" dur="1" fill="hold">
                                          <p:stCondLst>
                                            <p:cond delay="0"/>
                                          </p:stCondLst>
                                        </p:cTn>
                                        <p:tgtEl>
                                          <p:spTgt spid="14"/>
                                        </p:tgtEl>
                                        <p:attrNameLst>
                                          <p:attrName>style.visibility</p:attrName>
                                        </p:attrNameLst>
                                      </p:cBhvr>
                                      <p:to>
                                        <p:strVal val="hidden"/>
                                      </p:to>
                                    </p:set>
                                  </p:childTnLst>
                                </p:cTn>
                              </p:par>
                              <p:par>
                                <p:cTn id="147" presetID="1" presetClass="exit" presetSubtype="0" fill="hold" nodeType="withEffect">
                                  <p:stCondLst>
                                    <p:cond delay="320"/>
                                  </p:stCondLst>
                                  <p:childTnLst>
                                    <p:set>
                                      <p:cBhvr>
                                        <p:cTn id="148" dur="1" fill="hold">
                                          <p:stCondLst>
                                            <p:cond delay="0"/>
                                          </p:stCondLst>
                                        </p:cTn>
                                        <p:tgtEl>
                                          <p:spTgt spid="15"/>
                                        </p:tgtEl>
                                        <p:attrNameLst>
                                          <p:attrName>style.visibility</p:attrName>
                                        </p:attrNameLst>
                                      </p:cBhvr>
                                      <p:to>
                                        <p:strVal val="hidden"/>
                                      </p:to>
                                    </p:set>
                                  </p:childTnLst>
                                </p:cTn>
                              </p:par>
                              <p:par>
                                <p:cTn id="149" presetID="1" presetClass="exit" presetSubtype="0" fill="hold" nodeType="withEffect">
                                  <p:stCondLst>
                                    <p:cond delay="320"/>
                                  </p:stCondLst>
                                  <p:childTnLst>
                                    <p:set>
                                      <p:cBhvr>
                                        <p:cTn id="150" dur="1" fill="hold">
                                          <p:stCondLst>
                                            <p:cond delay="0"/>
                                          </p:stCondLst>
                                        </p:cTn>
                                        <p:tgtEl>
                                          <p:spTgt spid="16"/>
                                        </p:tgtEl>
                                        <p:attrNameLst>
                                          <p:attrName>style.visibility</p:attrName>
                                        </p:attrNameLst>
                                      </p:cBhvr>
                                      <p:to>
                                        <p:strVal val="hidden"/>
                                      </p:to>
                                    </p:set>
                                  </p:childTnLst>
                                </p:cTn>
                              </p:par>
                              <p:par>
                                <p:cTn id="151" presetID="1" presetClass="exit" presetSubtype="0" fill="hold" nodeType="withEffect">
                                  <p:stCondLst>
                                    <p:cond delay="320"/>
                                  </p:stCondLst>
                                  <p:childTnLst>
                                    <p:set>
                                      <p:cBhvr>
                                        <p:cTn id="152" dur="1" fill="hold">
                                          <p:stCondLst>
                                            <p:cond delay="0"/>
                                          </p:stCondLst>
                                        </p:cTn>
                                        <p:tgtEl>
                                          <p:spTgt spid="17"/>
                                        </p:tgtEl>
                                        <p:attrNameLst>
                                          <p:attrName>style.visibility</p:attrName>
                                        </p:attrNameLst>
                                      </p:cBhvr>
                                      <p:to>
                                        <p:strVal val="hidden"/>
                                      </p:to>
                                    </p:set>
                                  </p:childTnLst>
                                </p:cTn>
                              </p:par>
                              <p:par>
                                <p:cTn id="153" presetID="1" presetClass="exit" presetSubtype="0" fill="hold" nodeType="withEffect">
                                  <p:stCondLst>
                                    <p:cond delay="320"/>
                                  </p:stCondLst>
                                  <p:childTnLst>
                                    <p:set>
                                      <p:cBhvr>
                                        <p:cTn id="154"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animBg="1"/>
      <p:bldP spid="28" grpId="0" animBg="1"/>
      <p:bldP spid="32" grpId="0" animBg="1"/>
      <p:bldP spid="34" grpId="0" animBg="1"/>
      <p:bldP spid="36" grpId="0" animBg="1"/>
      <p:bldP spid="40" grpId="0" animBg="1"/>
      <p:bldP spid="42" grpId="0" animBg="1"/>
      <p:bldP spid="44" grpId="0" animBg="1"/>
      <p:bldP spid="46" grpId="0" animBg="1"/>
      <p:bldP spid="48" grpId="0" animBg="1"/>
      <p:bldP spid="52" grpId="0" animBg="1"/>
      <p:bldP spid="54" grpId="0" animBg="1"/>
      <p:bldP spid="56" grpId="0" animBg="1"/>
      <p:bldP spid="60" grpId="0" animBg="1"/>
      <p:bldP spid="62" grpId="0" animBg="1"/>
      <p:bldP spid="64" grpId="0" animBg="1"/>
      <p:bldP spid="68" grpId="0" animBg="1"/>
      <p:bldP spid="70" grpId="0" animBg="1"/>
      <p:bldP spid="72" grpId="0" animBg="1"/>
      <p:bldP spid="74" grpId="0" animBg="1"/>
      <p:bldP spid="76" grpId="0" animBg="1"/>
      <p:bldP spid="78" grpId="0" animBg="1"/>
      <p:bldP spid="8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300"/>
                                        <p:tgtEl>
                                          <p:spTgt spid="6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300"/>
                                        <p:tgtEl>
                                          <p:spTgt spid="6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300"/>
                                        <p:tgtEl>
                                          <p:spTgt spid="6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300"/>
                                        <p:tgtEl>
                                          <p:spTgt spid="6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300"/>
                                        <p:tgtEl>
                                          <p:spTgt spid="6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0"/>
                                        </p:tgtEl>
                                        <p:attrNameLst>
                                          <p:attrName>style.visibility</p:attrName>
                                        </p:attrNameLst>
                                      </p:cBhvr>
                                      <p:to>
                                        <p:strVal val="visible"/>
                                      </p:to>
                                    </p:set>
                                    <p:animEffect transition="in" filter="fade">
                                      <p:cBhvr>
                                        <p:cTn id="31" dur="300"/>
                                        <p:tgtEl>
                                          <p:spTgt spid="7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1"/>
                                        </p:tgtEl>
                                        <p:attrNameLst>
                                          <p:attrName>style.visibility</p:attrName>
                                        </p:attrNameLst>
                                      </p:cBhvr>
                                      <p:to>
                                        <p:strVal val="visible"/>
                                      </p:to>
                                    </p:set>
                                    <p:animEffect transition="in" filter="fade">
                                      <p:cBhvr>
                                        <p:cTn id="34" dur="300"/>
                                        <p:tgtEl>
                                          <p:spTgt spid="7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300"/>
                                        <p:tgtEl>
                                          <p:spTgt spid="7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73"/>
                                        </p:tgtEl>
                                        <p:attrNameLst>
                                          <p:attrName>style.visibility</p:attrName>
                                        </p:attrNameLst>
                                      </p:cBhvr>
                                      <p:to>
                                        <p:strVal val="visible"/>
                                      </p:to>
                                    </p:set>
                                    <p:animEffect transition="in" filter="fade">
                                      <p:cBhvr>
                                        <p:cTn id="40" dur="300"/>
                                        <p:tgtEl>
                                          <p:spTgt spid="7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4"/>
                                        </p:tgtEl>
                                        <p:attrNameLst>
                                          <p:attrName>style.visibility</p:attrName>
                                        </p:attrNameLst>
                                      </p:cBhvr>
                                      <p:to>
                                        <p:strVal val="visible"/>
                                      </p:to>
                                    </p:set>
                                    <p:animEffect transition="in" filter="fade">
                                      <p:cBhvr>
                                        <p:cTn id="43" dur="300"/>
                                        <p:tgtEl>
                                          <p:spTgt spid="7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300"/>
                                        <p:tgtEl>
                                          <p:spTgt spid="1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300"/>
                                        <p:tgtEl>
                                          <p:spTgt spid="1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300"/>
                                        <p:tgtEl>
                                          <p:spTgt spid="1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8" presetID="10"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300"/>
                                        <p:tgtEl>
                                          <p:spTgt spid="1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300"/>
                                        <p:tgtEl>
                                          <p:spTgt spid="1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300"/>
                                        <p:tgtEl>
                                          <p:spTgt spid="2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childTnLst>
                                </p:cTn>
                              </p:par>
                              <p:par>
                                <p:cTn id="76" presetID="10" presetClass="entr" presetSubtype="0" fill="hold"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300"/>
                                        <p:tgtEl>
                                          <p:spTgt spid="2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300"/>
                                        <p:tgtEl>
                                          <p:spTgt spid="2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3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300"/>
                                        <p:tgtEl>
                                          <p:spTgt spid="2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300"/>
                                        <p:tgtEl>
                                          <p:spTgt spid="2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300"/>
                                        <p:tgtEl>
                                          <p:spTgt spid="27"/>
                                        </p:tgtEl>
                                      </p:cBhvr>
                                    </p:animEffect>
                                  </p:childTnLst>
                                </p:cTn>
                              </p:par>
                              <p:par>
                                <p:cTn id="94" presetID="10" presetClass="entr" presetSubtype="0" fill="hold" nodeType="withEffect">
                                  <p:stCondLst>
                                    <p:cond delay="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300"/>
                                        <p:tgtEl>
                                          <p:spTgt spid="2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300"/>
                                        <p:tgtEl>
                                          <p:spTgt spid="2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300"/>
                                        <p:tgtEl>
                                          <p:spTgt spid="3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300"/>
                                        <p:tgtEl>
                                          <p:spTgt spid="3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300"/>
                                        <p:tgtEl>
                                          <p:spTgt spid="3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300"/>
                                        <p:tgtEl>
                                          <p:spTgt spid="33"/>
                                        </p:tgtEl>
                                      </p:cBhvr>
                                    </p:animEffect>
                                  </p:childTnLst>
                                </p:cTn>
                              </p:par>
                              <p:par>
                                <p:cTn id="112" presetID="10" presetClass="entr" presetSubtype="0" fill="hold"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300"/>
                                        <p:tgtEl>
                                          <p:spTgt spid="3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fade">
                                      <p:cBhvr>
                                        <p:cTn id="120" dur="300"/>
                                        <p:tgtEl>
                                          <p:spTgt spid="3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fade">
                                      <p:cBhvr>
                                        <p:cTn id="123" dur="300"/>
                                        <p:tgtEl>
                                          <p:spTgt spid="3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300"/>
                                        <p:tgtEl>
                                          <p:spTgt spid="3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300"/>
                                        <p:tgtEl>
                                          <p:spTgt spid="3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300"/>
                                        <p:tgtEl>
                                          <p:spTgt spid="4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300"/>
                                        <p:tgtEl>
                                          <p:spTgt spid="4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300"/>
                                        <p:tgtEl>
                                          <p:spTgt spid="42"/>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300"/>
                                        <p:tgtEl>
                                          <p:spTgt spid="43"/>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300"/>
                                        <p:tgtEl>
                                          <p:spTgt spid="44"/>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Effect transition="in" filter="fade">
                                      <p:cBhvr>
                                        <p:cTn id="149" dur="3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63" grpId="0" animBg="1"/>
      <p:bldP spid="64" grpId="0" animBg="1"/>
      <p:bldP spid="65" grpId="0" animBg="1"/>
      <p:bldP spid="66" grpId="0" animBg="1"/>
      <p:bldP spid="67" grpId="0" animBg="1"/>
      <p:bldP spid="70" grpId="0" animBg="1"/>
      <p:bldP spid="71" grpId="0" animBg="1"/>
      <p:bldP spid="72" grpId="0" animBg="1"/>
      <p:bldP spid="73" grpId="0" animBg="1"/>
      <p:bldP spid="7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pic>
        <p:nvPicPr>
          <p:cNvPr id="10" name="!!Drawing dd791c66 #2"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671042"/>
            <a:ext cx="11277600" cy="2609850"/>
          </a:xfrm>
          <a:prstGeom prst="rect">
            <a:avLst/>
          </a:prstGeom>
        </p:spPr>
      </p:pic>
      <p:pic>
        <p:nvPicPr>
          <p:cNvPr id="11" name="!!Drawing dd791c66 #3"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671042"/>
            <a:ext cx="11277600" cy="2609850"/>
          </a:xfrm>
          <a:prstGeom prst="rect">
            <a:avLst/>
          </a:prstGeom>
        </p:spPr>
      </p:pic>
      <p:pic>
        <p:nvPicPr>
          <p:cNvPr id="12" name="!!Drawing dd791c66 #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671042"/>
            <a:ext cx="11277600" cy="2609850"/>
          </a:xfrm>
          <a:prstGeom prst="rect">
            <a:avLst/>
          </a:prstGeom>
        </p:spPr>
      </p:pic>
      <p:pic>
        <p:nvPicPr>
          <p:cNvPr id="13" name="!!Drawing dd791c66 #5"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671042"/>
            <a:ext cx="11277600" cy="2609850"/>
          </a:xfrm>
          <a:prstGeom prst="rect">
            <a:avLst/>
          </a:prstGeom>
        </p:spPr>
      </p:pic>
      <p:sp>
        <p:nvSpPr>
          <p:cNvPr id="14"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5" name="!!Drawing 020f3b0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7688" y="1799630"/>
            <a:ext cx="200025" cy="200025"/>
          </a:xfrm>
          <a:prstGeom prst="rect">
            <a:avLst/>
          </a:prstGeom>
        </p:spPr>
      </p:pic>
      <p:sp>
        <p:nvSpPr>
          <p:cNvPr id="16"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7"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8"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9" name="!!Drawing ce055081"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7688" y="2409230"/>
            <a:ext cx="200025" cy="200025"/>
          </a:xfrm>
          <a:prstGeom prst="rect">
            <a:avLst/>
          </a:prstGeom>
        </p:spPr>
      </p:pic>
      <p:sp>
        <p:nvSpPr>
          <p:cNvPr id="20"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21"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22"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23" name="!!Drawing 3ad79f74"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7688" y="3018830"/>
            <a:ext cx="200025" cy="200025"/>
          </a:xfrm>
          <a:prstGeom prst="rect">
            <a:avLst/>
          </a:prstGeom>
        </p:spPr>
      </p:pic>
      <p:sp>
        <p:nvSpPr>
          <p:cNvPr id="24"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5"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6"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7" name="!!Drawing 30bf0ab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7688" y="3628430"/>
            <a:ext cx="200025" cy="200025"/>
          </a:xfrm>
          <a:prstGeom prst="rect">
            <a:avLst/>
          </a:prstGeom>
        </p:spPr>
      </p:pic>
      <p:sp>
        <p:nvSpPr>
          <p:cNvPr id="28"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9"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30"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31"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32"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33"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4"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5"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6"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7"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8"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9"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40"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41"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42"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43"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4"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5"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6"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7"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8"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9"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50"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51"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52"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53"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4"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5"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6"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7"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8"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9"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60"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61"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62"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6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4"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5"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6"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7"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8"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9"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0"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1"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2"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3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30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3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3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animEffect transition="in" filter="fade">
                                      <p:cBhvr>
                                        <p:cTn id="21" dur="300"/>
                                        <p:tgtEl>
                                          <p:spTgt spid="3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300"/>
                                        <p:tgtEl>
                                          <p:spTgt spid="3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3"/>
                                        </p:tgtEl>
                                        <p:attrNameLst>
                                          <p:attrName>style.visibility</p:attrName>
                                        </p:attrNameLst>
                                      </p:cBhvr>
                                      <p:to>
                                        <p:strVal val="visible"/>
                                      </p:to>
                                    </p:set>
                                    <p:animEffect transition="in" filter="fade">
                                      <p:cBhvr>
                                        <p:cTn id="27" dur="300"/>
                                        <p:tgtEl>
                                          <p:spTgt spid="4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4"/>
                                        </p:tgtEl>
                                        <p:attrNameLst>
                                          <p:attrName>style.visibility</p:attrName>
                                        </p:attrNameLst>
                                      </p:cBhvr>
                                      <p:to>
                                        <p:strVal val="visible"/>
                                      </p:to>
                                    </p:set>
                                    <p:animEffect transition="in" filter="fade">
                                      <p:cBhvr>
                                        <p:cTn id="30" dur="300"/>
                                        <p:tgtEl>
                                          <p:spTgt spid="4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300"/>
                                        <p:tgtEl>
                                          <p:spTgt spid="4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3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3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3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3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1"/>
                                        </p:tgtEl>
                                        <p:attrNameLst>
                                          <p:attrName>style.visibility</p:attrName>
                                        </p:attrNameLst>
                                      </p:cBhvr>
                                      <p:to>
                                        <p:strVal val="visible"/>
                                      </p:to>
                                    </p:set>
                                    <p:animEffect transition="in" filter="fade">
                                      <p:cBhvr>
                                        <p:cTn id="62" dur="300"/>
                                        <p:tgtEl>
                                          <p:spTgt spid="5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300"/>
                                        <p:tgtEl>
                                          <p:spTgt spid="5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
                                        </p:tgtEl>
                                        <p:attrNameLst>
                                          <p:attrName>style.visibility</p:attrName>
                                        </p:attrNameLst>
                                      </p:cBhvr>
                                      <p:to>
                                        <p:strVal val="visible"/>
                                      </p:to>
                                    </p:set>
                                    <p:animEffect transition="in" filter="fade">
                                      <p:cBhvr>
                                        <p:cTn id="70" dur="300"/>
                                        <p:tgtEl>
                                          <p:spTgt spid="1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3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300"/>
                                        <p:tgtEl>
                                          <p:spTgt spid="3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300"/>
                                        <p:tgtEl>
                                          <p:spTgt spid="3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300"/>
                                        <p:tgtEl>
                                          <p:spTgt spid="4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1"/>
                                        </p:tgtEl>
                                        <p:attrNameLst>
                                          <p:attrName>style.visibility</p:attrName>
                                        </p:attrNameLst>
                                      </p:cBhvr>
                                      <p:to>
                                        <p:strVal val="visible"/>
                                      </p:to>
                                    </p:set>
                                    <p:animEffect transition="in" filter="fade">
                                      <p:cBhvr>
                                        <p:cTn id="88" dur="300"/>
                                        <p:tgtEl>
                                          <p:spTgt spid="4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2"/>
                                        </p:tgtEl>
                                        <p:attrNameLst>
                                          <p:attrName>style.visibility</p:attrName>
                                        </p:attrNameLst>
                                      </p:cBhvr>
                                      <p:to>
                                        <p:strVal val="visible"/>
                                      </p:to>
                                    </p:set>
                                    <p:animEffect transition="in" filter="fade">
                                      <p:cBhvr>
                                        <p:cTn id="91" dur="300"/>
                                        <p:tgtEl>
                                          <p:spTgt spid="42"/>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300"/>
                                        <p:tgtEl>
                                          <p:spTgt spid="5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300"/>
                                        <p:tgtEl>
                                          <p:spTgt spid="5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5"/>
                                        </p:tgtEl>
                                        <p:attrNameLst>
                                          <p:attrName>style.visibility</p:attrName>
                                        </p:attrNameLst>
                                      </p:cBhvr>
                                      <p:to>
                                        <p:strVal val="visible"/>
                                      </p:to>
                                    </p:set>
                                    <p:animEffect transition="in" filter="fade">
                                      <p:cBhvr>
                                        <p:cTn id="102" dur="300"/>
                                        <p:tgtEl>
                                          <p:spTgt spid="5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6"/>
                                        </p:tgtEl>
                                        <p:attrNameLst>
                                          <p:attrName>style.visibility</p:attrName>
                                        </p:attrNameLst>
                                      </p:cBhvr>
                                      <p:to>
                                        <p:strVal val="visible"/>
                                      </p:to>
                                    </p:set>
                                    <p:animEffect transition="in" filter="fade">
                                      <p:cBhvr>
                                        <p:cTn id="105" dur="300"/>
                                        <p:tgtEl>
                                          <p:spTgt spid="5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300"/>
                                        <p:tgtEl>
                                          <p:spTgt spid="5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300"/>
                                        <p:tgtEl>
                                          <p:spTgt spid="5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9"/>
                                        </p:tgtEl>
                                        <p:attrNameLst>
                                          <p:attrName>style.visibility</p:attrName>
                                        </p:attrNameLst>
                                      </p:cBhvr>
                                      <p:to>
                                        <p:strVal val="visible"/>
                                      </p:to>
                                    </p:set>
                                    <p:animEffect transition="in" filter="fade">
                                      <p:cBhvr>
                                        <p:cTn id="114" dur="300"/>
                                        <p:tgtEl>
                                          <p:spTgt spid="5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0"/>
                                        </p:tgtEl>
                                        <p:attrNameLst>
                                          <p:attrName>style.visibility</p:attrName>
                                        </p:attrNameLst>
                                      </p:cBhvr>
                                      <p:to>
                                        <p:strVal val="visible"/>
                                      </p:to>
                                    </p:set>
                                    <p:animEffect transition="in" filter="fade">
                                      <p:cBhvr>
                                        <p:cTn id="117" dur="300"/>
                                        <p:tgtEl>
                                          <p:spTgt spid="6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1"/>
                                        </p:tgtEl>
                                        <p:attrNameLst>
                                          <p:attrName>style.visibility</p:attrName>
                                        </p:attrNameLst>
                                      </p:cBhvr>
                                      <p:to>
                                        <p:strVal val="visible"/>
                                      </p:to>
                                    </p:set>
                                    <p:animEffect transition="in" filter="fade">
                                      <p:cBhvr>
                                        <p:cTn id="120" dur="300"/>
                                        <p:tgtEl>
                                          <p:spTgt spid="6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2"/>
                                        </p:tgtEl>
                                        <p:attrNameLst>
                                          <p:attrName>style.visibility</p:attrName>
                                        </p:attrNameLst>
                                      </p:cBhvr>
                                      <p:to>
                                        <p:strVal val="visible"/>
                                      </p:to>
                                    </p:set>
                                    <p:animEffect transition="in" filter="fade">
                                      <p:cBhvr>
                                        <p:cTn id="123" dur="300"/>
                                        <p:tgtEl>
                                          <p:spTgt spid="6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Effect transition="in" filter="fade">
                                      <p:cBhvr>
                                        <p:cTn id="126" dur="300"/>
                                        <p:tgtEl>
                                          <p:spTgt spid="6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4"/>
                                        </p:tgtEl>
                                        <p:attrNameLst>
                                          <p:attrName>style.visibility</p:attrName>
                                        </p:attrNameLst>
                                      </p:cBhvr>
                                      <p:to>
                                        <p:strVal val="visible"/>
                                      </p:to>
                                    </p:set>
                                    <p:animEffect transition="in" filter="fade">
                                      <p:cBhvr>
                                        <p:cTn id="129" dur="3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y stay in their hom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353648"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they stay in their home</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282925" y="5984558"/>
            <a:ext cx="962615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stay in their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ir home, for life"/>
          <p:cNvSpPr txBox="1"/>
          <p:nvPr/>
        </p:nvSpPr>
        <p:spPr>
          <a:xfrm>
            <a:off x="5918150" y="4365998"/>
            <a:ext cx="1364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Their home, for life</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3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3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3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3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3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3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3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3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3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3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300"/>
                                        <p:tgtEl>
                                          <p:spTgt spid="2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3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300"/>
                                        <p:tgtEl>
                                          <p:spTgt spid="30"/>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3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3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300"/>
                                        <p:tgtEl>
                                          <p:spTgt spid="33"/>
                                        </p:tgtEl>
                                      </p:cBhvr>
                                    </p:animEffect>
                                  </p:childTnLst>
                                </p:cTn>
                              </p:par>
                              <p:par>
                                <p:cTn id="85" presetID="10" presetClass="entr" presetSubtype="0" fill="hold"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300"/>
                                        <p:tgtEl>
                                          <p:spTgt spid="3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300"/>
                                        <p:tgtEl>
                                          <p:spTgt spid="36"/>
                                        </p:tgtEl>
                                      </p:cBhvr>
                                    </p:animEffect>
                                  </p:childTnLst>
                                </p:cTn>
                              </p:par>
                              <p:par>
                                <p:cTn id="94" presetID="10" presetClass="entr" presetSubtype="0" fill="hold" nodeType="with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300"/>
                                        <p:tgtEl>
                                          <p:spTgt spid="3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300"/>
                                        <p:tgtEl>
                                          <p:spTgt spid="3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300"/>
                                        <p:tgtEl>
                                          <p:spTgt spid="39"/>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0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00"/>
                                        <p:tgtEl>
                                          <p:spTgt spid="41"/>
                                        </p:tgtEl>
                                      </p:cBhvr>
                                    </p:animEffect>
                                  </p:childTnLst>
                                </p:cTn>
                              </p:par>
                              <p:par>
                                <p:cTn id="111" presetID="10" presetClass="entr" presetSubtype="0" fill="hold"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0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0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0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00"/>
                                        <p:tgtEl>
                                          <p:spTgt spid="45"/>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6"/>
                                        </p:tgtEl>
                                        <p:attrNameLst>
                                          <p:attrName>style.visibility</p:attrName>
                                        </p:attrNameLst>
                                      </p:cBhvr>
                                      <p:to>
                                        <p:strVal val="visible"/>
                                      </p:to>
                                    </p:set>
                                    <p:animEffect transition="in" filter="fade">
                                      <p:cBhvr>
                                        <p:cTn id="125" dur="300"/>
                                        <p:tgtEl>
                                          <p:spTgt spid="46"/>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7"/>
                                        </p:tgtEl>
                                        <p:attrNameLst>
                                          <p:attrName>style.visibility</p:attrName>
                                        </p:attrNameLst>
                                      </p:cBhvr>
                                      <p:to>
                                        <p:strVal val="visible"/>
                                      </p:to>
                                    </p:set>
                                    <p:animEffect transition="in" filter="fade">
                                      <p:cBhvr>
                                        <p:cTn id="128" dur="300"/>
                                        <p:tgtEl>
                                          <p:spTgt spid="47"/>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8"/>
                                        </p:tgtEl>
                                        <p:attrNameLst>
                                          <p:attrName>style.visibility</p:attrName>
                                        </p:attrNameLst>
                                      </p:cBhvr>
                                      <p:to>
                                        <p:strVal val="visible"/>
                                      </p:to>
                                    </p:set>
                                    <p:animEffect transition="in" filter="fade">
                                      <p:cBhvr>
                                        <p:cTn id="131" dur="300"/>
                                        <p:tgtEl>
                                          <p:spTgt spid="48"/>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300"/>
                                        <p:tgtEl>
                                          <p:spTgt spid="4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0"/>
                                        </p:tgtEl>
                                        <p:attrNameLst>
                                          <p:attrName>style.visibility</p:attrName>
                                        </p:attrNameLst>
                                      </p:cBhvr>
                                      <p:to>
                                        <p:strVal val="visible"/>
                                      </p:to>
                                    </p:set>
                                    <p:animEffect transition="in" filter="fade">
                                      <p:cBhvr>
                                        <p:cTn id="137" dur="300"/>
                                        <p:tgtEl>
                                          <p:spTgt spid="5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1"/>
                                        </p:tgtEl>
                                        <p:attrNameLst>
                                          <p:attrName>style.visibility</p:attrName>
                                        </p:attrNameLst>
                                      </p:cBhvr>
                                      <p:to>
                                        <p:strVal val="visible"/>
                                      </p:to>
                                    </p:set>
                                    <p:animEffect transition="in" filter="fade">
                                      <p:cBhvr>
                                        <p:cTn id="140" dur="300"/>
                                        <p:tgtEl>
                                          <p:spTgt spid="5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2"/>
                                        </p:tgtEl>
                                        <p:attrNameLst>
                                          <p:attrName>style.visibility</p:attrName>
                                        </p:attrNameLst>
                                      </p:cBhvr>
                                      <p:to>
                                        <p:strVal val="visible"/>
                                      </p:to>
                                    </p:set>
                                    <p:animEffect transition="in" filter="fade">
                                      <p:cBhvr>
                                        <p:cTn id="143" dur="300"/>
                                        <p:tgtEl>
                                          <p:spTgt spid="5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3"/>
                                        </p:tgtEl>
                                        <p:attrNameLst>
                                          <p:attrName>style.visibility</p:attrName>
                                        </p:attrNameLst>
                                      </p:cBhvr>
                                      <p:to>
                                        <p:strVal val="visible"/>
                                      </p:to>
                                    </p:set>
                                    <p:animEffect transition="in" filter="fade">
                                      <p:cBhvr>
                                        <p:cTn id="146" dur="300"/>
                                        <p:tgtEl>
                                          <p:spTgt spid="5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4"/>
                                        </p:tgtEl>
                                        <p:attrNameLst>
                                          <p:attrName>style.visibility</p:attrName>
                                        </p:attrNameLst>
                                      </p:cBhvr>
                                      <p:to>
                                        <p:strVal val="visible"/>
                                      </p:to>
                                    </p:set>
                                    <p:animEffect transition="in" filter="fade">
                                      <p:cBhvr>
                                        <p:cTn id="149" dur="300"/>
                                        <p:tgtEl>
                                          <p:spTgt spid="5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5"/>
                                        </p:tgtEl>
                                        <p:attrNameLst>
                                          <p:attrName>style.visibility</p:attrName>
                                        </p:attrNameLst>
                                      </p:cBhvr>
                                      <p:to>
                                        <p:strVal val="visible"/>
                                      </p:to>
                                    </p:set>
                                    <p:animEffect transition="in" filter="fade">
                                      <p:cBhvr>
                                        <p:cTn id="152" dur="300"/>
                                        <p:tgtEl>
                                          <p:spTgt spid="5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fade">
                                      <p:cBhvr>
                                        <p:cTn id="155" dur="300"/>
                                        <p:tgtEl>
                                          <p:spTgt spid="5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Effect transition="in" filter="fade">
                                      <p:cBhvr>
                                        <p:cTn id="158" dur="300"/>
                                        <p:tgtEl>
                                          <p:spTgt spid="57"/>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8"/>
                                        </p:tgtEl>
                                        <p:attrNameLst>
                                          <p:attrName>style.visibility</p:attrName>
                                        </p:attrNameLst>
                                      </p:cBhvr>
                                      <p:to>
                                        <p:strVal val="visible"/>
                                      </p:to>
                                    </p:set>
                                    <p:animEffect transition="in" filter="fade">
                                      <p:cBhvr>
                                        <p:cTn id="161" dur="300"/>
                                        <p:tgtEl>
                                          <p:spTgt spid="58"/>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9"/>
                                        </p:tgtEl>
                                        <p:attrNameLst>
                                          <p:attrName>style.visibility</p:attrName>
                                        </p:attrNameLst>
                                      </p:cBhvr>
                                      <p:to>
                                        <p:strVal val="visible"/>
                                      </p:to>
                                    </p:set>
                                    <p:animEffect transition="in" filter="fade">
                                      <p:cBhvr>
                                        <p:cTn id="164" dur="300"/>
                                        <p:tgtEl>
                                          <p:spTgt spid="5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68"/>
                                        </p:tgtEl>
                                        <p:attrNameLst>
                                          <p:attrName>style.visibility</p:attrName>
                                        </p:attrNameLst>
                                      </p:cBhvr>
                                      <p:to>
                                        <p:strVal val="visible"/>
                                      </p:to>
                                    </p:set>
                                    <p:animEffect transition="in" filter="fade">
                                      <p:cBhvr>
                                        <p:cTn id="167" dur="300"/>
                                        <p:tgtEl>
                                          <p:spTgt spid="68"/>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9"/>
                                        </p:tgtEl>
                                        <p:attrNameLst>
                                          <p:attrName>style.visibility</p:attrName>
                                        </p:attrNameLst>
                                      </p:cBhvr>
                                      <p:to>
                                        <p:strVal val="visible"/>
                                      </p:to>
                                    </p:set>
                                    <p:animEffect transition="in" filter="fade">
                                      <p:cBhvr>
                                        <p:cTn id="170" dur="300"/>
                                        <p:tgtEl>
                                          <p:spTgt spid="69"/>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70"/>
                                        </p:tgtEl>
                                        <p:attrNameLst>
                                          <p:attrName>style.visibility</p:attrName>
                                        </p:attrNameLst>
                                      </p:cBhvr>
                                      <p:to>
                                        <p:strVal val="visible"/>
                                      </p:to>
                                    </p:set>
                                    <p:animEffect transition="in" filter="fade">
                                      <p:cBhvr>
                                        <p:cTn id="173" dur="300"/>
                                        <p:tgtEl>
                                          <p:spTgt spid="70"/>
                                        </p:tgtEl>
                                      </p:cBhvr>
                                    </p:animEffect>
                                  </p:childTnLst>
                                </p:cTn>
                              </p:par>
                              <p:par>
                                <p:cTn id="174" presetID="10" presetClass="entr" presetSubtype="0" fill="hold" grpId="0" nodeType="withEffect">
                                  <p:stCondLst>
                                    <p:cond delay="0"/>
                                  </p:stCondLst>
                                  <p:childTnLst>
                                    <p:set>
                                      <p:cBhvr>
                                        <p:cTn id="175" dur="1" fill="hold">
                                          <p:stCondLst>
                                            <p:cond delay="0"/>
                                          </p:stCondLst>
                                        </p:cTn>
                                        <p:tgtEl>
                                          <p:spTgt spid="71"/>
                                        </p:tgtEl>
                                        <p:attrNameLst>
                                          <p:attrName>style.visibility</p:attrName>
                                        </p:attrNameLst>
                                      </p:cBhvr>
                                      <p:to>
                                        <p:strVal val="visible"/>
                                      </p:to>
                                    </p:set>
                                    <p:animEffect transition="in" filter="fade">
                                      <p:cBhvr>
                                        <p:cTn id="176" dur="300"/>
                                        <p:tgtEl>
                                          <p:spTgt spid="71"/>
                                        </p:tgtEl>
                                      </p:cBhvr>
                                    </p:animEffect>
                                  </p:childTnLst>
                                </p:cTn>
                              </p:par>
                              <p:par>
                                <p:cTn id="177" presetID="10" presetClass="entr" presetSubtype="0" fill="hold" grpId="0" nodeType="withEffect">
                                  <p:stCondLst>
                                    <p:cond delay="0"/>
                                  </p:stCondLst>
                                  <p:childTnLst>
                                    <p:set>
                                      <p:cBhvr>
                                        <p:cTn id="178" dur="1" fill="hold">
                                          <p:stCondLst>
                                            <p:cond delay="0"/>
                                          </p:stCondLst>
                                        </p:cTn>
                                        <p:tgtEl>
                                          <p:spTgt spid="72"/>
                                        </p:tgtEl>
                                        <p:attrNameLst>
                                          <p:attrName>style.visibility</p:attrName>
                                        </p:attrNameLst>
                                      </p:cBhvr>
                                      <p:to>
                                        <p:strVal val="visible"/>
                                      </p:to>
                                    </p:set>
                                    <p:animEffect transition="in" filter="fade">
                                      <p:cBhvr>
                                        <p:cTn id="179" dur="300"/>
                                        <p:tgtEl>
                                          <p:spTgt spid="72"/>
                                        </p:tgtEl>
                                      </p:cBhvr>
                                    </p:animEffect>
                                  </p:childTnLst>
                                </p:cTn>
                              </p:par>
                              <p:par>
                                <p:cTn id="180" presetID="10" presetClass="entr" presetSubtype="0" fill="hold" grpId="0" nodeType="withEffect">
                                  <p:stCondLst>
                                    <p:cond delay="0"/>
                                  </p:stCondLst>
                                  <p:childTnLst>
                                    <p:set>
                                      <p:cBhvr>
                                        <p:cTn id="181" dur="1" fill="hold">
                                          <p:stCondLst>
                                            <p:cond delay="0"/>
                                          </p:stCondLst>
                                        </p:cTn>
                                        <p:tgtEl>
                                          <p:spTgt spid="73"/>
                                        </p:tgtEl>
                                        <p:attrNameLst>
                                          <p:attrName>style.visibility</p:attrName>
                                        </p:attrNameLst>
                                      </p:cBhvr>
                                      <p:to>
                                        <p:strVal val="visible"/>
                                      </p:to>
                                    </p:set>
                                    <p:animEffect transition="in" filter="fade">
                                      <p:cBhvr>
                                        <p:cTn id="182" dur="300"/>
                                        <p:tgtEl>
                                          <p:spTgt spid="73"/>
                                        </p:tgtEl>
                                      </p:cBhvr>
                                    </p:animEffect>
                                  </p:childTnLst>
                                </p:cTn>
                              </p:par>
                              <p:par>
                                <p:cTn id="183" presetID="10" presetClass="entr" presetSubtype="0" fill="hold" grpId="0" nodeType="withEffect">
                                  <p:stCondLst>
                                    <p:cond delay="0"/>
                                  </p:stCondLst>
                                  <p:childTnLst>
                                    <p:set>
                                      <p:cBhvr>
                                        <p:cTn id="184" dur="1" fill="hold">
                                          <p:stCondLst>
                                            <p:cond delay="0"/>
                                          </p:stCondLst>
                                        </p:cTn>
                                        <p:tgtEl>
                                          <p:spTgt spid="74"/>
                                        </p:tgtEl>
                                        <p:attrNameLst>
                                          <p:attrName>style.visibility</p:attrName>
                                        </p:attrNameLst>
                                      </p:cBhvr>
                                      <p:to>
                                        <p:strVal val="visible"/>
                                      </p:to>
                                    </p:set>
                                    <p:animEffect transition="in" filter="fade">
                                      <p:cBhvr>
                                        <p:cTn id="185" dur="300"/>
                                        <p:tgtEl>
                                          <p:spTgt spid="74"/>
                                        </p:tgtEl>
                                      </p:cBhvr>
                                    </p:animEffect>
                                  </p:childTnLst>
                                </p:cTn>
                              </p:par>
                              <p:par>
                                <p:cTn id="186" presetID="10" presetClass="entr" presetSubtype="0" fill="hold" grpId="0" nodeType="withEffect">
                                  <p:stCondLst>
                                    <p:cond delay="0"/>
                                  </p:stCondLst>
                                  <p:childTnLst>
                                    <p:set>
                                      <p:cBhvr>
                                        <p:cTn id="187" dur="1" fill="hold">
                                          <p:stCondLst>
                                            <p:cond delay="0"/>
                                          </p:stCondLst>
                                        </p:cTn>
                                        <p:tgtEl>
                                          <p:spTgt spid="75"/>
                                        </p:tgtEl>
                                        <p:attrNameLst>
                                          <p:attrName>style.visibility</p:attrName>
                                        </p:attrNameLst>
                                      </p:cBhvr>
                                      <p:to>
                                        <p:strVal val="visible"/>
                                      </p:to>
                                    </p:set>
                                    <p:animEffect transition="in" filter="fade">
                                      <p:cBhvr>
                                        <p:cTn id="188" dur="300"/>
                                        <p:tgtEl>
                                          <p:spTgt spid="75"/>
                                        </p:tgtEl>
                                      </p:cBhvr>
                                    </p:animEffect>
                                  </p:childTnLst>
                                </p:cTn>
                              </p:par>
                              <p:par>
                                <p:cTn id="189" presetID="10" presetClass="entr" presetSubtype="0" fill="hold" grpId="0" nodeType="withEffect">
                                  <p:stCondLst>
                                    <p:cond delay="0"/>
                                  </p:stCondLst>
                                  <p:childTnLst>
                                    <p:set>
                                      <p:cBhvr>
                                        <p:cTn id="190" dur="1" fill="hold">
                                          <p:stCondLst>
                                            <p:cond delay="0"/>
                                          </p:stCondLst>
                                        </p:cTn>
                                        <p:tgtEl>
                                          <p:spTgt spid="76"/>
                                        </p:tgtEl>
                                        <p:attrNameLst>
                                          <p:attrName>style.visibility</p:attrName>
                                        </p:attrNameLst>
                                      </p:cBhvr>
                                      <p:to>
                                        <p:strVal val="visible"/>
                                      </p:to>
                                    </p:set>
                                    <p:animEffect transition="in" filter="fade">
                                      <p:cBhvr>
                                        <p:cTn id="191" dur="300"/>
                                        <p:tgtEl>
                                          <p:spTgt spid="76"/>
                                        </p:tgtEl>
                                      </p:cBhvr>
                                    </p:animEffect>
                                  </p:childTnLst>
                                </p:cTn>
                              </p:par>
                              <p:par>
                                <p:cTn id="192" presetID="10" presetClass="entr" presetSubtype="0" fill="hold" grpId="0" nodeType="withEffect">
                                  <p:stCondLst>
                                    <p:cond delay="0"/>
                                  </p:stCondLst>
                                  <p:childTnLst>
                                    <p:set>
                                      <p:cBhvr>
                                        <p:cTn id="193" dur="1" fill="hold">
                                          <p:stCondLst>
                                            <p:cond delay="0"/>
                                          </p:stCondLst>
                                        </p:cTn>
                                        <p:tgtEl>
                                          <p:spTgt spid="77"/>
                                        </p:tgtEl>
                                        <p:attrNameLst>
                                          <p:attrName>style.visibility</p:attrName>
                                        </p:attrNameLst>
                                      </p:cBhvr>
                                      <p:to>
                                        <p:strVal val="visible"/>
                                      </p:to>
                                    </p:set>
                                    <p:animEffect transition="in" filter="fade">
                                      <p:cBhvr>
                                        <p:cTn id="194" dur="300"/>
                                        <p:tgtEl>
                                          <p:spTgt spid="77"/>
                                        </p:tgtEl>
                                      </p:cBhvr>
                                    </p:animEffect>
                                  </p:childTnLst>
                                </p:cTn>
                              </p:par>
                              <p:par>
                                <p:cTn id="195" presetID="10" presetClass="entr" presetSubtype="0" fill="hold" grpId="0" nodeType="withEffect">
                                  <p:stCondLst>
                                    <p:cond delay="0"/>
                                  </p:stCondLst>
                                  <p:childTnLst>
                                    <p:set>
                                      <p:cBhvr>
                                        <p:cTn id="196" dur="1" fill="hold">
                                          <p:stCondLst>
                                            <p:cond delay="0"/>
                                          </p:stCondLst>
                                        </p:cTn>
                                        <p:tgtEl>
                                          <p:spTgt spid="78"/>
                                        </p:tgtEl>
                                        <p:attrNameLst>
                                          <p:attrName>style.visibility</p:attrName>
                                        </p:attrNameLst>
                                      </p:cBhvr>
                                      <p:to>
                                        <p:strVal val="visible"/>
                                      </p:to>
                                    </p:set>
                                    <p:animEffect transition="in" filter="fade">
                                      <p:cBhvr>
                                        <p:cTn id="197" dur="300"/>
                                        <p:tgtEl>
                                          <p:spTgt spid="78"/>
                                        </p:tgtEl>
                                      </p:cBhvr>
                                    </p:animEffect>
                                  </p:childTnLst>
                                </p:cTn>
                              </p:par>
                              <p:par>
                                <p:cTn id="198" presetID="10" presetClass="entr" presetSubtype="0" fill="hold" grpId="0" nodeType="withEffect">
                                  <p:stCondLst>
                                    <p:cond delay="0"/>
                                  </p:stCondLst>
                                  <p:childTnLst>
                                    <p:set>
                                      <p:cBhvr>
                                        <p:cTn id="199" dur="1" fill="hold">
                                          <p:stCondLst>
                                            <p:cond delay="0"/>
                                          </p:stCondLst>
                                        </p:cTn>
                                        <p:tgtEl>
                                          <p:spTgt spid="79"/>
                                        </p:tgtEl>
                                        <p:attrNameLst>
                                          <p:attrName>style.visibility</p:attrName>
                                        </p:attrNameLst>
                                      </p:cBhvr>
                                      <p:to>
                                        <p:strVal val="visible"/>
                                      </p:to>
                                    </p:set>
                                    <p:animEffect transition="in" filter="fade">
                                      <p:cBhvr>
                                        <p:cTn id="200" dur="300"/>
                                        <p:tgtEl>
                                          <p:spTgt spid="79"/>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80"/>
                                        </p:tgtEl>
                                        <p:attrNameLst>
                                          <p:attrName>style.visibility</p:attrName>
                                        </p:attrNameLst>
                                      </p:cBhvr>
                                      <p:to>
                                        <p:strVal val="visible"/>
                                      </p:to>
                                    </p:set>
                                    <p:animEffect transition="in" filter="fade">
                                      <p:cBhvr>
                                        <p:cTn id="203" dur="300"/>
                                        <p:tgtEl>
                                          <p:spTgt spid="80"/>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81"/>
                                        </p:tgtEl>
                                        <p:attrNameLst>
                                          <p:attrName>style.visibility</p:attrName>
                                        </p:attrNameLst>
                                      </p:cBhvr>
                                      <p:to>
                                        <p:strVal val="visible"/>
                                      </p:to>
                                    </p:set>
                                    <p:animEffect transition="in" filter="fade">
                                      <p:cBhvr>
                                        <p:cTn id="206" dur="3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5" grpId="0" animBg="1"/>
      <p:bldP spid="36"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3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3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3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3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3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3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3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3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3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300"/>
                                        <p:tgtEl>
                                          <p:spTgt spid="3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3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3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3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300"/>
                                        <p:tgtEl>
                                          <p:spTgt spid="40"/>
                                        </p:tgtEl>
                                      </p:cBhvr>
                                    </p:animEffect>
                                  </p:childTnLst>
                                </p:cTn>
                              </p:par>
                              <p:par>
                                <p:cTn id="71" presetID="10"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3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300"/>
                                        <p:tgtEl>
                                          <p:spTgt spid="4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300"/>
                                        <p:tgtEl>
                                          <p:spTgt spid="4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3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3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3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3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3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3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3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3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3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3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3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3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3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3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3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30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3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3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300"/>
                                        <p:tgtEl>
                                          <p:spTgt spid="43"/>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3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3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3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300"/>
                                        <p:tgtEl>
                                          <p:spTgt spid="4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300"/>
                                        <p:tgtEl>
                                          <p:spTgt spid="4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300"/>
                                        <p:tgtEl>
                                          <p:spTgt spid="4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0"/>
                                        </p:tgtEl>
                                        <p:attrNameLst>
                                          <p:attrName>style.visibility</p:attrName>
                                        </p:attrNameLst>
                                      </p:cBhvr>
                                      <p:to>
                                        <p:strVal val="visible"/>
                                      </p:to>
                                    </p:set>
                                    <p:animEffect transition="in" filter="fade">
                                      <p:cBhvr>
                                        <p:cTn id="89" dur="300"/>
                                        <p:tgtEl>
                                          <p:spTgt spid="5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1"/>
                                        </p:tgtEl>
                                        <p:attrNameLst>
                                          <p:attrName>style.visibility</p:attrName>
                                        </p:attrNameLst>
                                      </p:cBhvr>
                                      <p:to>
                                        <p:strVal val="visible"/>
                                      </p:to>
                                    </p:set>
                                    <p:animEffect transition="in" filter="fade">
                                      <p:cBhvr>
                                        <p:cTn id="92" dur="300"/>
                                        <p:tgtEl>
                                          <p:spTgt spid="5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3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300"/>
                                        <p:tgtEl>
                                          <p:spTgt spid="5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fade">
                                      <p:cBhvr>
                                        <p:cTn id="101" dur="300"/>
                                        <p:tgtEl>
                                          <p:spTgt spid="5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5"/>
                                        </p:tgtEl>
                                        <p:attrNameLst>
                                          <p:attrName>style.visibility</p:attrName>
                                        </p:attrNameLst>
                                      </p:cBhvr>
                                      <p:to>
                                        <p:strVal val="visible"/>
                                      </p:to>
                                    </p:set>
                                    <p:animEffect transition="in" filter="fade">
                                      <p:cBhvr>
                                        <p:cTn id="104" dur="300"/>
                                        <p:tgtEl>
                                          <p:spTgt spid="5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6"/>
                                        </p:tgtEl>
                                        <p:attrNameLst>
                                          <p:attrName>style.visibility</p:attrName>
                                        </p:attrNameLst>
                                      </p:cBhvr>
                                      <p:to>
                                        <p:strVal val="visible"/>
                                      </p:to>
                                    </p:set>
                                    <p:animEffect transition="in" filter="fade">
                                      <p:cBhvr>
                                        <p:cTn id="107" dur="300"/>
                                        <p:tgtEl>
                                          <p:spTgt spid="5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7"/>
                                        </p:tgtEl>
                                        <p:attrNameLst>
                                          <p:attrName>style.visibility</p:attrName>
                                        </p:attrNameLst>
                                      </p:cBhvr>
                                      <p:to>
                                        <p:strVal val="visible"/>
                                      </p:to>
                                    </p:set>
                                    <p:animEffect transition="in" filter="fade">
                                      <p:cBhvr>
                                        <p:cTn id="110" dur="300"/>
                                        <p:tgtEl>
                                          <p:spTgt spid="5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8"/>
                                        </p:tgtEl>
                                        <p:attrNameLst>
                                          <p:attrName>style.visibility</p:attrName>
                                        </p:attrNameLst>
                                      </p:cBhvr>
                                      <p:to>
                                        <p:strVal val="visible"/>
                                      </p:to>
                                    </p:set>
                                    <p:animEffect transition="in" filter="fade">
                                      <p:cBhvr>
                                        <p:cTn id="113" dur="300"/>
                                        <p:tgtEl>
                                          <p:spTgt spid="5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9"/>
                                        </p:tgtEl>
                                        <p:attrNameLst>
                                          <p:attrName>style.visibility</p:attrName>
                                        </p:attrNameLst>
                                      </p:cBhvr>
                                      <p:to>
                                        <p:strVal val="visible"/>
                                      </p:to>
                                    </p:set>
                                    <p:animEffect transition="in" filter="fade">
                                      <p:cBhvr>
                                        <p:cTn id="116" dur="300"/>
                                        <p:tgtEl>
                                          <p:spTgt spid="5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60"/>
                                        </p:tgtEl>
                                        <p:attrNameLst>
                                          <p:attrName>style.visibility</p:attrName>
                                        </p:attrNameLst>
                                      </p:cBhvr>
                                      <p:to>
                                        <p:strVal val="visible"/>
                                      </p:to>
                                    </p:set>
                                    <p:animEffect transition="in" filter="fade">
                                      <p:cBhvr>
                                        <p:cTn id="119" dur="300"/>
                                        <p:tgtEl>
                                          <p:spTgt spid="6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61"/>
                                        </p:tgtEl>
                                        <p:attrNameLst>
                                          <p:attrName>style.visibility</p:attrName>
                                        </p:attrNameLst>
                                      </p:cBhvr>
                                      <p:to>
                                        <p:strVal val="visible"/>
                                      </p:to>
                                    </p:set>
                                    <p:animEffect transition="in" filter="fade">
                                      <p:cBhvr>
                                        <p:cTn id="122" dur="300"/>
                                        <p:tgtEl>
                                          <p:spTgt spid="6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62"/>
                                        </p:tgtEl>
                                        <p:attrNameLst>
                                          <p:attrName>style.visibility</p:attrName>
                                        </p:attrNameLst>
                                      </p:cBhvr>
                                      <p:to>
                                        <p:strVal val="visible"/>
                                      </p:to>
                                    </p:set>
                                    <p:animEffect transition="in" filter="fade">
                                      <p:cBhvr>
                                        <p:cTn id="125" dur="300"/>
                                        <p:tgtEl>
                                          <p:spTgt spid="6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3"/>
                                        </p:tgtEl>
                                        <p:attrNameLst>
                                          <p:attrName>style.visibility</p:attrName>
                                        </p:attrNameLst>
                                      </p:cBhvr>
                                      <p:to>
                                        <p:strVal val="visible"/>
                                      </p:to>
                                    </p:set>
                                    <p:animEffect transition="in" filter="fade">
                                      <p:cBhvr>
                                        <p:cTn id="128" dur="300"/>
                                        <p:tgtEl>
                                          <p:spTgt spid="6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64"/>
                                        </p:tgtEl>
                                        <p:attrNameLst>
                                          <p:attrName>style.visibility</p:attrName>
                                        </p:attrNameLst>
                                      </p:cBhvr>
                                      <p:to>
                                        <p:strVal val="visible"/>
                                      </p:to>
                                    </p:set>
                                    <p:animEffect transition="in" filter="fade">
                                      <p:cBhvr>
                                        <p:cTn id="131" dur="300"/>
                                        <p:tgtEl>
                                          <p:spTgt spid="64"/>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Effect transition="in" filter="fade">
                                      <p:cBhvr>
                                        <p:cTn id="134" dur="300"/>
                                        <p:tgtEl>
                                          <p:spTgt spid="65"/>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6"/>
                                        </p:tgtEl>
                                        <p:attrNameLst>
                                          <p:attrName>style.visibility</p:attrName>
                                        </p:attrNameLst>
                                      </p:cBhvr>
                                      <p:to>
                                        <p:strVal val="visible"/>
                                      </p:to>
                                    </p:set>
                                    <p:animEffect transition="in" filter="fade">
                                      <p:cBhvr>
                                        <p:cTn id="137" dur="300"/>
                                        <p:tgtEl>
                                          <p:spTgt spid="66"/>
                                        </p:tgtEl>
                                      </p:cBhvr>
                                    </p:animEffect>
                                  </p:childTnLst>
                                </p:cTn>
                              </p:par>
                              <p:par>
                                <p:cTn id="138" presetID="10" presetClass="entr" presetSubtype="0" fill="hold" nodeType="withEffect">
                                  <p:stCondLst>
                                    <p:cond delay="0"/>
                                  </p:stCondLst>
                                  <p:childTnLst>
                                    <p:set>
                                      <p:cBhvr>
                                        <p:cTn id="139" dur="1" fill="hold">
                                          <p:stCondLst>
                                            <p:cond delay="0"/>
                                          </p:stCondLst>
                                        </p:cTn>
                                        <p:tgtEl>
                                          <p:spTgt spid="83"/>
                                        </p:tgtEl>
                                        <p:attrNameLst>
                                          <p:attrName>style.visibility</p:attrName>
                                        </p:attrNameLst>
                                      </p:cBhvr>
                                      <p:to>
                                        <p:strVal val="visible"/>
                                      </p:to>
                                    </p:set>
                                    <p:animEffect transition="in" filter="fade">
                                      <p:cBhvr>
                                        <p:cTn id="140" dur="3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8" grpId="0" animBg="1"/>
      <p:bldP spid="39" grpId="0" animBg="1"/>
      <p:bldP spid="40"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00"/>
                                        <p:tgtEl>
                                          <p:spTgt spid="1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300"/>
                                        <p:tgtEl>
                                          <p:spTgt spid="1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3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3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3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3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300"/>
                                        <p:tgtEl>
                                          <p:spTgt spid="2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300"/>
                                        <p:tgtEl>
                                          <p:spTgt spid="2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3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300"/>
                                        <p:tgtEl>
                                          <p:spTgt spid="2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3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300"/>
                                        <p:tgtEl>
                                          <p:spTgt spid="3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300"/>
                                        <p:tgtEl>
                                          <p:spTgt spid="3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300"/>
                                        <p:tgtEl>
                                          <p:spTgt spid="3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300"/>
                                        <p:tgtEl>
                                          <p:spTgt spid="3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300"/>
                                        <p:tgtEl>
                                          <p:spTgt spid="3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3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300"/>
                                        <p:tgtEl>
                                          <p:spTgt spid="3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300"/>
                                        <p:tgtEl>
                                          <p:spTgt spid="3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300"/>
                                        <p:tgtEl>
                                          <p:spTgt spid="3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300"/>
                                        <p:tgtEl>
                                          <p:spTgt spid="4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300"/>
                                        <p:tgtEl>
                                          <p:spTgt spid="4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300"/>
                                        <p:tgtEl>
                                          <p:spTgt spid="4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300"/>
                                        <p:tgtEl>
                                          <p:spTgt spid="4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300"/>
                                        <p:tgtEl>
                                          <p:spTgt spid="4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300"/>
                                        <p:tgtEl>
                                          <p:spTgt spid="45"/>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300"/>
                                        <p:tgtEl>
                                          <p:spTgt spid="4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7"/>
                                        </p:tgtEl>
                                        <p:attrNameLst>
                                          <p:attrName>style.visibility</p:attrName>
                                        </p:attrNameLst>
                                      </p:cBhvr>
                                      <p:to>
                                        <p:strVal val="visible"/>
                                      </p:to>
                                    </p:set>
                                    <p:animEffect transition="in" filter="fade">
                                      <p:cBhvr>
                                        <p:cTn id="116" dur="300"/>
                                        <p:tgtEl>
                                          <p:spTgt spid="4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300"/>
                                        <p:tgtEl>
                                          <p:spTgt spid="4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9"/>
                                        </p:tgtEl>
                                        <p:attrNameLst>
                                          <p:attrName>style.visibility</p:attrName>
                                        </p:attrNameLst>
                                      </p:cBhvr>
                                      <p:to>
                                        <p:strVal val="visible"/>
                                      </p:to>
                                    </p:set>
                                    <p:animEffect transition="in" filter="fade">
                                      <p:cBhvr>
                                        <p:cTn id="122" dur="300"/>
                                        <p:tgtEl>
                                          <p:spTgt spid="4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0"/>
                                        </p:tgtEl>
                                        <p:attrNameLst>
                                          <p:attrName>style.visibility</p:attrName>
                                        </p:attrNameLst>
                                      </p:cBhvr>
                                      <p:to>
                                        <p:strVal val="visible"/>
                                      </p:to>
                                    </p:set>
                                    <p:animEffect transition="in" filter="fade">
                                      <p:cBhvr>
                                        <p:cTn id="125" dur="300"/>
                                        <p:tgtEl>
                                          <p:spTgt spid="5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300"/>
                                        <p:tgtEl>
                                          <p:spTgt spid="5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52"/>
                                        </p:tgtEl>
                                        <p:attrNameLst>
                                          <p:attrName>style.visibility</p:attrName>
                                        </p:attrNameLst>
                                      </p:cBhvr>
                                      <p:to>
                                        <p:strVal val="visible"/>
                                      </p:to>
                                    </p:set>
                                    <p:animEffect transition="in" filter="fade">
                                      <p:cBhvr>
                                        <p:cTn id="131" dur="300"/>
                                        <p:tgtEl>
                                          <p:spTgt spid="5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300"/>
                                        <p:tgtEl>
                                          <p:spTgt spid="5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300"/>
                                        <p:tgtEl>
                                          <p:spTgt spid="5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300"/>
                                        <p:tgtEl>
                                          <p:spTgt spid="55"/>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59"/>
                                        </p:tgtEl>
                                        <p:attrNameLst>
                                          <p:attrName>style.visibility</p:attrName>
                                        </p:attrNameLst>
                                      </p:cBhvr>
                                      <p:to>
                                        <p:strVal val="visible"/>
                                      </p:to>
                                    </p:set>
                                    <p:animEffect transition="in" filter="fade">
                                      <p:cBhvr>
                                        <p:cTn id="145" dur="300"/>
                                        <p:tgtEl>
                                          <p:spTgt spid="5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60"/>
                                        </p:tgtEl>
                                        <p:attrNameLst>
                                          <p:attrName>style.visibility</p:attrName>
                                        </p:attrNameLst>
                                      </p:cBhvr>
                                      <p:to>
                                        <p:strVal val="visible"/>
                                      </p:to>
                                    </p:set>
                                    <p:animEffect transition="in" filter="fade">
                                      <p:cBhvr>
                                        <p:cTn id="148" dur="300"/>
                                        <p:tgtEl>
                                          <p:spTgt spid="6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61"/>
                                        </p:tgtEl>
                                        <p:attrNameLst>
                                          <p:attrName>style.visibility</p:attrName>
                                        </p:attrNameLst>
                                      </p:cBhvr>
                                      <p:to>
                                        <p:strVal val="visible"/>
                                      </p:to>
                                    </p:set>
                                    <p:animEffect transition="in" filter="fade">
                                      <p:cBhvr>
                                        <p:cTn id="151" dur="300"/>
                                        <p:tgtEl>
                                          <p:spTgt spid="6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62"/>
                                        </p:tgtEl>
                                        <p:attrNameLst>
                                          <p:attrName>style.visibility</p:attrName>
                                        </p:attrNameLst>
                                      </p:cBhvr>
                                      <p:to>
                                        <p:strVal val="visible"/>
                                      </p:to>
                                    </p:set>
                                    <p:animEffect transition="in" filter="fade">
                                      <p:cBhvr>
                                        <p:cTn id="154" dur="300"/>
                                        <p:tgtEl>
                                          <p:spTgt spid="6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63"/>
                                        </p:tgtEl>
                                        <p:attrNameLst>
                                          <p:attrName>style.visibility</p:attrName>
                                        </p:attrNameLst>
                                      </p:cBhvr>
                                      <p:to>
                                        <p:strVal val="visible"/>
                                      </p:to>
                                    </p:set>
                                    <p:animEffect transition="in" filter="fade">
                                      <p:cBhvr>
                                        <p:cTn id="157" dur="300"/>
                                        <p:tgtEl>
                                          <p:spTgt spid="63"/>
                                        </p:tgtEl>
                                      </p:cBhvr>
                                    </p:animEffect>
                                  </p:childTnLst>
                                </p:cTn>
                              </p:par>
                              <p:par>
                                <p:cTn id="158" presetID="10" presetClass="entr" presetSubtype="0" fill="hold" nodeType="withEffect">
                                  <p:stCondLst>
                                    <p:cond delay="0"/>
                                  </p:stCondLst>
                                  <p:childTnLst>
                                    <p:set>
                                      <p:cBhvr>
                                        <p:cTn id="159" dur="1" fill="hold">
                                          <p:stCondLst>
                                            <p:cond delay="0"/>
                                          </p:stCondLst>
                                        </p:cTn>
                                        <p:tgtEl>
                                          <p:spTgt spid="64"/>
                                        </p:tgtEl>
                                        <p:attrNameLst>
                                          <p:attrName>style.visibility</p:attrName>
                                        </p:attrNameLst>
                                      </p:cBhvr>
                                      <p:to>
                                        <p:strVal val="visible"/>
                                      </p:to>
                                    </p:set>
                                    <p:animEffect transition="in" filter="fade">
                                      <p:cBhvr>
                                        <p:cTn id="160" dur="300"/>
                                        <p:tgtEl>
                                          <p:spTgt spid="6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65"/>
                                        </p:tgtEl>
                                        <p:attrNameLst>
                                          <p:attrName>style.visibility</p:attrName>
                                        </p:attrNameLst>
                                      </p:cBhvr>
                                      <p:to>
                                        <p:strVal val="visible"/>
                                      </p:to>
                                    </p:set>
                                    <p:animEffect transition="in" filter="fade">
                                      <p:cBhvr>
                                        <p:cTn id="163" dur="300"/>
                                        <p:tgtEl>
                                          <p:spTgt spid="6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66"/>
                                        </p:tgtEl>
                                        <p:attrNameLst>
                                          <p:attrName>style.visibility</p:attrName>
                                        </p:attrNameLst>
                                      </p:cBhvr>
                                      <p:to>
                                        <p:strVal val="visible"/>
                                      </p:to>
                                    </p:set>
                                    <p:animEffect transition="in" filter="fade">
                                      <p:cBhvr>
                                        <p:cTn id="166" dur="300"/>
                                        <p:tgtEl>
                                          <p:spTgt spid="66"/>
                                        </p:tgtEl>
                                      </p:cBhvr>
                                    </p:animEffect>
                                  </p:childTnLst>
                                </p:cTn>
                              </p:par>
                              <p:par>
                                <p:cTn id="167" presetID="10" presetClass="entr" presetSubtype="0" fill="hold" nodeType="withEffect">
                                  <p:stCondLst>
                                    <p:cond delay="0"/>
                                  </p:stCondLst>
                                  <p:childTnLst>
                                    <p:set>
                                      <p:cBhvr>
                                        <p:cTn id="168" dur="1" fill="hold">
                                          <p:stCondLst>
                                            <p:cond delay="0"/>
                                          </p:stCondLst>
                                        </p:cTn>
                                        <p:tgtEl>
                                          <p:spTgt spid="67"/>
                                        </p:tgtEl>
                                        <p:attrNameLst>
                                          <p:attrName>style.visibility</p:attrName>
                                        </p:attrNameLst>
                                      </p:cBhvr>
                                      <p:to>
                                        <p:strVal val="visible"/>
                                      </p:to>
                                    </p:set>
                                    <p:animEffect transition="in" filter="fade">
                                      <p:cBhvr>
                                        <p:cTn id="169" dur="300"/>
                                        <p:tgtEl>
                                          <p:spTgt spid="67"/>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68"/>
                                        </p:tgtEl>
                                        <p:attrNameLst>
                                          <p:attrName>style.visibility</p:attrName>
                                        </p:attrNameLst>
                                      </p:cBhvr>
                                      <p:to>
                                        <p:strVal val="visible"/>
                                      </p:to>
                                    </p:set>
                                    <p:animEffect transition="in" filter="fade">
                                      <p:cBhvr>
                                        <p:cTn id="172" dur="300"/>
                                        <p:tgtEl>
                                          <p:spTgt spid="68"/>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animEffect transition="in" filter="fade">
                                      <p:cBhvr>
                                        <p:cTn id="175" dur="300"/>
                                        <p:tgtEl>
                                          <p:spTgt spid="69"/>
                                        </p:tgtEl>
                                      </p:cBhvr>
                                    </p:animEffect>
                                  </p:childTnLst>
                                </p:cTn>
                              </p:par>
                              <p:par>
                                <p:cTn id="176" presetID="10" presetClass="entr" presetSubtype="0" fill="hold" nodeType="withEffect">
                                  <p:stCondLst>
                                    <p:cond delay="0"/>
                                  </p:stCondLst>
                                  <p:childTnLst>
                                    <p:set>
                                      <p:cBhvr>
                                        <p:cTn id="177" dur="1" fill="hold">
                                          <p:stCondLst>
                                            <p:cond delay="0"/>
                                          </p:stCondLst>
                                        </p:cTn>
                                        <p:tgtEl>
                                          <p:spTgt spid="70"/>
                                        </p:tgtEl>
                                        <p:attrNameLst>
                                          <p:attrName>style.visibility</p:attrName>
                                        </p:attrNameLst>
                                      </p:cBhvr>
                                      <p:to>
                                        <p:strVal val="visible"/>
                                      </p:to>
                                    </p:set>
                                    <p:animEffect transition="in" filter="fade">
                                      <p:cBhvr>
                                        <p:cTn id="178" dur="300"/>
                                        <p:tgtEl>
                                          <p:spTgt spid="70"/>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71"/>
                                        </p:tgtEl>
                                        <p:attrNameLst>
                                          <p:attrName>style.visibility</p:attrName>
                                        </p:attrNameLst>
                                      </p:cBhvr>
                                      <p:to>
                                        <p:strVal val="visible"/>
                                      </p:to>
                                    </p:set>
                                    <p:animEffect transition="in" filter="fade">
                                      <p:cBhvr>
                                        <p:cTn id="181" dur="300"/>
                                        <p:tgtEl>
                                          <p:spTgt spid="71"/>
                                        </p:tgtEl>
                                      </p:cBhvr>
                                    </p:animEffect>
                                  </p:childTnLst>
                                </p:cTn>
                              </p:par>
                              <p:par>
                                <p:cTn id="182" presetID="10" presetClass="entr" presetSubtype="0" fill="hold" grpId="0" nodeType="withEffect">
                                  <p:stCondLst>
                                    <p:cond delay="0"/>
                                  </p:stCondLst>
                                  <p:childTnLst>
                                    <p:set>
                                      <p:cBhvr>
                                        <p:cTn id="183" dur="1" fill="hold">
                                          <p:stCondLst>
                                            <p:cond delay="0"/>
                                          </p:stCondLst>
                                        </p:cTn>
                                        <p:tgtEl>
                                          <p:spTgt spid="72"/>
                                        </p:tgtEl>
                                        <p:attrNameLst>
                                          <p:attrName>style.visibility</p:attrName>
                                        </p:attrNameLst>
                                      </p:cBhvr>
                                      <p:to>
                                        <p:strVal val="visible"/>
                                      </p:to>
                                    </p:set>
                                    <p:animEffect transition="in" filter="fade">
                                      <p:cBhvr>
                                        <p:cTn id="184" dur="300"/>
                                        <p:tgtEl>
                                          <p:spTgt spid="72"/>
                                        </p:tgtEl>
                                      </p:cBhvr>
                                    </p:animEffect>
                                  </p:childTnLst>
                                </p:cTn>
                              </p:par>
                              <p:par>
                                <p:cTn id="185" presetID="10" presetClass="entr" presetSubtype="0" fill="hold" nodeType="withEffect">
                                  <p:stCondLst>
                                    <p:cond delay="0"/>
                                  </p:stCondLst>
                                  <p:childTnLst>
                                    <p:set>
                                      <p:cBhvr>
                                        <p:cTn id="186" dur="1" fill="hold">
                                          <p:stCondLst>
                                            <p:cond delay="0"/>
                                          </p:stCondLst>
                                        </p:cTn>
                                        <p:tgtEl>
                                          <p:spTgt spid="73"/>
                                        </p:tgtEl>
                                        <p:attrNameLst>
                                          <p:attrName>style.visibility</p:attrName>
                                        </p:attrNameLst>
                                      </p:cBhvr>
                                      <p:to>
                                        <p:strVal val="visible"/>
                                      </p:to>
                                    </p:set>
                                    <p:animEffect transition="in" filter="fade">
                                      <p:cBhvr>
                                        <p:cTn id="187" dur="300"/>
                                        <p:tgtEl>
                                          <p:spTgt spid="73"/>
                                        </p:tgtEl>
                                      </p:cBhvr>
                                    </p:animEffect>
                                  </p:childTnLst>
                                </p:cTn>
                              </p:par>
                              <p:par>
                                <p:cTn id="188" presetID="10" presetClass="entr" presetSubtype="0" fill="hold" grpId="0" nodeType="withEffect">
                                  <p:stCondLst>
                                    <p:cond delay="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300"/>
                                        <p:tgtEl>
                                          <p:spTgt spid="7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75"/>
                                        </p:tgtEl>
                                        <p:attrNameLst>
                                          <p:attrName>style.visibility</p:attrName>
                                        </p:attrNameLst>
                                      </p:cBhvr>
                                      <p:to>
                                        <p:strVal val="visible"/>
                                      </p:to>
                                    </p:set>
                                    <p:animEffect transition="in" filter="fade">
                                      <p:cBhvr>
                                        <p:cTn id="193" dur="300"/>
                                        <p:tgtEl>
                                          <p:spTgt spid="75"/>
                                        </p:tgtEl>
                                      </p:cBhvr>
                                    </p:animEffect>
                                  </p:childTnLst>
                                </p:cTn>
                              </p:par>
                              <p:par>
                                <p:cTn id="194" presetID="10" presetClass="entr" presetSubtype="0" fill="hold" nodeType="withEffect">
                                  <p:stCondLst>
                                    <p:cond delay="0"/>
                                  </p:stCondLst>
                                  <p:childTnLst>
                                    <p:set>
                                      <p:cBhvr>
                                        <p:cTn id="195" dur="1" fill="hold">
                                          <p:stCondLst>
                                            <p:cond delay="0"/>
                                          </p:stCondLst>
                                        </p:cTn>
                                        <p:tgtEl>
                                          <p:spTgt spid="76"/>
                                        </p:tgtEl>
                                        <p:attrNameLst>
                                          <p:attrName>style.visibility</p:attrName>
                                        </p:attrNameLst>
                                      </p:cBhvr>
                                      <p:to>
                                        <p:strVal val="visible"/>
                                      </p:to>
                                    </p:set>
                                    <p:animEffect transition="in" filter="fade">
                                      <p:cBhvr>
                                        <p:cTn id="196" dur="300"/>
                                        <p:tgtEl>
                                          <p:spTgt spid="7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77"/>
                                        </p:tgtEl>
                                        <p:attrNameLst>
                                          <p:attrName>style.visibility</p:attrName>
                                        </p:attrNameLst>
                                      </p:cBhvr>
                                      <p:to>
                                        <p:strVal val="visible"/>
                                      </p:to>
                                    </p:set>
                                    <p:animEffect transition="in" filter="fade">
                                      <p:cBhvr>
                                        <p:cTn id="199" dur="300"/>
                                        <p:tgtEl>
                                          <p:spTgt spid="7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78"/>
                                        </p:tgtEl>
                                        <p:attrNameLst>
                                          <p:attrName>style.visibility</p:attrName>
                                        </p:attrNameLst>
                                      </p:cBhvr>
                                      <p:to>
                                        <p:strVal val="visible"/>
                                      </p:to>
                                    </p:set>
                                    <p:animEffect transition="in" filter="fade">
                                      <p:cBhvr>
                                        <p:cTn id="202" dur="300"/>
                                        <p:tgtEl>
                                          <p:spTgt spid="7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79"/>
                                        </p:tgtEl>
                                        <p:attrNameLst>
                                          <p:attrName>style.visibility</p:attrName>
                                        </p:attrNameLst>
                                      </p:cBhvr>
                                      <p:to>
                                        <p:strVal val="visible"/>
                                      </p:to>
                                    </p:set>
                                    <p:animEffect transition="in" filter="fade">
                                      <p:cBhvr>
                                        <p:cTn id="205" dur="3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9" grpId="0" animBg="1"/>
      <p:bldP spid="60" grpId="0" animBg="1"/>
      <p:bldP spid="61" grpId="0" animBg="1"/>
      <p:bldP spid="62" grpId="0" animBg="1"/>
      <p:bldP spid="63" grpId="0" animBg="1"/>
      <p:bldP spid="65" grpId="0" animBg="1"/>
      <p:bldP spid="66" grpId="0" animBg="1"/>
      <p:bldP spid="68" grpId="0" animBg="1"/>
      <p:bldP spid="69" grpId="0" animBg="1"/>
      <p:bldP spid="71" grpId="0" animBg="1"/>
      <p:bldP spid="72" grpId="0" animBg="1"/>
      <p:bldP spid="74" grpId="0" animBg="1"/>
      <p:bldP spid="75" grpId="0" animBg="1"/>
      <p:bldP spid="77" grpId="0" animBg="1"/>
      <p:bldP spid="78" grpId="0" animBg="1"/>
      <p:bldP spid="7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3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3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3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3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300"/>
                                        <p:tgtEl>
                                          <p:spTgt spid="3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300"/>
                                        <p:tgtEl>
                                          <p:spTgt spid="3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3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3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300"/>
                                        <p:tgtEl>
                                          <p:spTgt spid="4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3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300"/>
                                        <p:tgtEl>
                                          <p:spTgt spid="4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animEffect transition="in" filter="fade">
                                      <p:cBhvr>
                                        <p:cTn id="43" dur="300"/>
                                        <p:tgtEl>
                                          <p:spTgt spid="4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300"/>
                                        <p:tgtEl>
                                          <p:spTgt spid="45"/>
                                        </p:tgtEl>
                                      </p:cBhvr>
                                    </p:animEffect>
                                  </p:childTnLst>
                                </p:cTn>
                              </p:par>
                              <p:par>
                                <p:cTn id="47" presetID="10" presetClass="entr" presetSubtype="0" fill="hold" nodeType="withEffect">
                                  <p:stCondLst>
                                    <p:cond delay="0"/>
                                  </p:stCondLst>
                                  <p:childTnLst>
                                    <p:set>
                                      <p:cBhvr>
                                        <p:cTn id="48" dur="1" fill="hold">
                                          <p:stCondLst>
                                            <p:cond delay="0"/>
                                          </p:stCondLst>
                                        </p:cTn>
                                        <p:tgtEl>
                                          <p:spTgt spid="46"/>
                                        </p:tgtEl>
                                        <p:attrNameLst>
                                          <p:attrName>style.visibility</p:attrName>
                                        </p:attrNameLst>
                                      </p:cBhvr>
                                      <p:to>
                                        <p:strVal val="visible"/>
                                      </p:to>
                                    </p:set>
                                    <p:animEffect transition="in" filter="fade">
                                      <p:cBhvr>
                                        <p:cTn id="49" dur="300"/>
                                        <p:tgtEl>
                                          <p:spTgt spid="4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300"/>
                                        <p:tgtEl>
                                          <p:spTgt spid="4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animEffect transition="in" filter="fade">
                                      <p:cBhvr>
                                        <p:cTn id="55" dur="300"/>
                                        <p:tgtEl>
                                          <p:spTgt spid="4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300"/>
                                        <p:tgtEl>
                                          <p:spTgt spid="4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0"/>
                                        </p:tgtEl>
                                        <p:attrNameLst>
                                          <p:attrName>style.visibility</p:attrName>
                                        </p:attrNameLst>
                                      </p:cBhvr>
                                      <p:to>
                                        <p:strVal val="visible"/>
                                      </p:to>
                                    </p:set>
                                    <p:animEffect transition="in" filter="fade">
                                      <p:cBhvr>
                                        <p:cTn id="61" dur="300"/>
                                        <p:tgtEl>
                                          <p:spTgt spid="50"/>
                                        </p:tgtEl>
                                      </p:cBhvr>
                                    </p:animEffect>
                                  </p:childTnLst>
                                </p:cTn>
                              </p:par>
                              <p:par>
                                <p:cTn id="62" presetID="10" presetClass="entr" presetSubtype="0" fill="hold" nodeType="with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3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3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3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3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300"/>
                                        <p:tgtEl>
                                          <p:spTgt spid="55"/>
                                        </p:tgtEl>
                                      </p:cBhvr>
                                    </p:animEffect>
                                  </p:childTnLst>
                                </p:cTn>
                              </p:par>
                              <p:par>
                                <p:cTn id="77" presetID="10" presetClass="entr" presetSubtype="0" fill="hold"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300"/>
                                        <p:tgtEl>
                                          <p:spTgt spid="56"/>
                                        </p:tgtEl>
                                      </p:cBhvr>
                                    </p:animEffect>
                                  </p:childTnLst>
                                </p:cTn>
                              </p:par>
                              <p:par>
                                <p:cTn id="80" presetID="10" presetClass="entr" presetSubtype="0" fill="hold"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3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3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3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300"/>
                                        <p:tgtEl>
                                          <p:spTgt spid="61"/>
                                        </p:tgtEl>
                                      </p:cBhvr>
                                    </p:animEffect>
                                  </p:childTnLst>
                                </p:cTn>
                              </p:par>
                              <p:par>
                                <p:cTn id="95" presetID="10" presetClass="entr" presetSubtype="0" fill="hold"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300"/>
                                        <p:tgtEl>
                                          <p:spTgt spid="62"/>
                                        </p:tgtEl>
                                      </p:cBhvr>
                                    </p:animEffect>
                                  </p:childTnLst>
                                </p:cTn>
                              </p:par>
                              <p:par>
                                <p:cTn id="98" presetID="10" presetClass="entr" presetSubtype="0" fill="hold"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3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grpId="0" nodeType="click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30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5"/>
                                        </p:tgtEl>
                                        <p:attrNameLst>
                                          <p:attrName>style.visibility</p:attrName>
                                        </p:attrNameLst>
                                      </p:cBhvr>
                                      <p:to>
                                        <p:strVal val="visible"/>
                                      </p:to>
                                    </p:set>
                                    <p:animEffect transition="in" filter="fade">
                                      <p:cBhvr>
                                        <p:cTn id="108" dur="300"/>
                                        <p:tgtEl>
                                          <p:spTgt spid="6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66"/>
                                        </p:tgtEl>
                                        <p:attrNameLst>
                                          <p:attrName>style.visibility</p:attrName>
                                        </p:attrNameLst>
                                      </p:cBhvr>
                                      <p:to>
                                        <p:strVal val="visible"/>
                                      </p:to>
                                    </p:set>
                                    <p:animEffect transition="in" filter="fade">
                                      <p:cBhvr>
                                        <p:cTn id="111" dur="300"/>
                                        <p:tgtEl>
                                          <p:spTgt spid="6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3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3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8" grpId="0" animBg="1"/>
      <p:bldP spid="59" grpId="0" animBg="1"/>
      <p:bldP spid="60" grpId="0" animBg="1"/>
      <p:bldP spid="61" grpId="0" animBg="1"/>
      <p:bldP spid="64" grpId="0" animBg="1"/>
      <p:bldP spid="66" grpId="0" animBg="1"/>
      <p:bldP spid="67" grpId="0" animBg="1"/>
      <p:bldP spid="6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3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3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3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300"/>
                                        <p:tgtEl>
                                          <p:spTgt spid="2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3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3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3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3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3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3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3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3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3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3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3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3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3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5"/>
                                        </p:tgtEl>
                                        <p:attrNameLst>
                                          <p:attrName>style.visibility</p:attrName>
                                        </p:attrNameLst>
                                      </p:cBhvr>
                                      <p:to>
                                        <p:strVal val="visible"/>
                                      </p:to>
                                    </p:set>
                                    <p:animEffect transition="in" filter="fade">
                                      <p:cBhvr>
                                        <p:cTn id="117" dur="300"/>
                                        <p:tgtEl>
                                          <p:spTgt spid="5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300"/>
                                        <p:tgtEl>
                                          <p:spTgt spid="5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7"/>
                                        </p:tgtEl>
                                        <p:attrNameLst>
                                          <p:attrName>style.visibility</p:attrName>
                                        </p:attrNameLst>
                                      </p:cBhvr>
                                      <p:to>
                                        <p:strVal val="visible"/>
                                      </p:to>
                                    </p:set>
                                    <p:animEffect transition="in" filter="fade">
                                      <p:cBhvr>
                                        <p:cTn id="123" dur="300"/>
                                        <p:tgtEl>
                                          <p:spTgt spid="5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8"/>
                                        </p:tgtEl>
                                        <p:attrNameLst>
                                          <p:attrName>style.visibility</p:attrName>
                                        </p:attrNameLst>
                                      </p:cBhvr>
                                      <p:to>
                                        <p:strVal val="visible"/>
                                      </p:to>
                                    </p:set>
                                    <p:animEffect transition="in" filter="fade">
                                      <p:cBhvr>
                                        <p:cTn id="126" dur="300"/>
                                        <p:tgtEl>
                                          <p:spTgt spid="5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300"/>
                                        <p:tgtEl>
                                          <p:spTgt spid="5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0"/>
                                        </p:tgtEl>
                                        <p:attrNameLst>
                                          <p:attrName>style.visibility</p:attrName>
                                        </p:attrNameLst>
                                      </p:cBhvr>
                                      <p:to>
                                        <p:strVal val="visible"/>
                                      </p:to>
                                    </p:set>
                                    <p:animEffect transition="in" filter="fade">
                                      <p:cBhvr>
                                        <p:cTn id="132" dur="300"/>
                                        <p:tgtEl>
                                          <p:spTgt spid="6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1"/>
                                        </p:tgtEl>
                                        <p:attrNameLst>
                                          <p:attrName>style.visibility</p:attrName>
                                        </p:attrNameLst>
                                      </p:cBhvr>
                                      <p:to>
                                        <p:strVal val="visible"/>
                                      </p:to>
                                    </p:set>
                                    <p:animEffect transition="in" filter="fade">
                                      <p:cBhvr>
                                        <p:cTn id="135" dur="300"/>
                                        <p:tgtEl>
                                          <p:spTgt spid="61"/>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2"/>
                                        </p:tgtEl>
                                        <p:attrNameLst>
                                          <p:attrName>style.visibility</p:attrName>
                                        </p:attrNameLst>
                                      </p:cBhvr>
                                      <p:to>
                                        <p:strVal val="visible"/>
                                      </p:to>
                                    </p:set>
                                    <p:animEffect transition="in" filter="fade">
                                      <p:cBhvr>
                                        <p:cTn id="138" dur="300"/>
                                        <p:tgtEl>
                                          <p:spTgt spid="6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3"/>
                                        </p:tgtEl>
                                        <p:attrNameLst>
                                          <p:attrName>style.visibility</p:attrName>
                                        </p:attrNameLst>
                                      </p:cBhvr>
                                      <p:to>
                                        <p:strVal val="visible"/>
                                      </p:to>
                                    </p:set>
                                    <p:animEffect transition="in" filter="fade">
                                      <p:cBhvr>
                                        <p:cTn id="141" dur="300"/>
                                        <p:tgtEl>
                                          <p:spTgt spid="63"/>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4"/>
                                        </p:tgtEl>
                                        <p:attrNameLst>
                                          <p:attrName>style.visibility</p:attrName>
                                        </p:attrNameLst>
                                      </p:cBhvr>
                                      <p:to>
                                        <p:strVal val="visible"/>
                                      </p:to>
                                    </p:set>
                                    <p:animEffect transition="in" filter="fade">
                                      <p:cBhvr>
                                        <p:cTn id="144" dur="300"/>
                                        <p:tgtEl>
                                          <p:spTgt spid="64"/>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5"/>
                                        </p:tgtEl>
                                        <p:attrNameLst>
                                          <p:attrName>style.visibility</p:attrName>
                                        </p:attrNameLst>
                                      </p:cBhvr>
                                      <p:to>
                                        <p:strVal val="visible"/>
                                      </p:to>
                                    </p:set>
                                    <p:animEffect transition="in" filter="fade">
                                      <p:cBhvr>
                                        <p:cTn id="147" dur="300"/>
                                        <p:tgtEl>
                                          <p:spTgt spid="65"/>
                                        </p:tgtEl>
                                      </p:cBhvr>
                                    </p:animEffect>
                                  </p:childTnLst>
                                </p:cTn>
                              </p:par>
                              <p:par>
                                <p:cTn id="148" presetID="10" presetClass="entr" presetSubtype="0" fill="hold" nodeType="withEffect">
                                  <p:stCondLst>
                                    <p:cond delay="0"/>
                                  </p:stCondLst>
                                  <p:childTnLst>
                                    <p:set>
                                      <p:cBhvr>
                                        <p:cTn id="149" dur="1" fill="hold">
                                          <p:stCondLst>
                                            <p:cond delay="0"/>
                                          </p:stCondLst>
                                        </p:cTn>
                                        <p:tgtEl>
                                          <p:spTgt spid="66"/>
                                        </p:tgtEl>
                                        <p:attrNameLst>
                                          <p:attrName>style.visibility</p:attrName>
                                        </p:attrNameLst>
                                      </p:cBhvr>
                                      <p:to>
                                        <p:strVal val="visible"/>
                                      </p:to>
                                    </p:set>
                                    <p:animEffect transition="in" filter="fade">
                                      <p:cBhvr>
                                        <p:cTn id="150" dur="300"/>
                                        <p:tgtEl>
                                          <p:spTgt spid="66"/>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7"/>
                                        </p:tgtEl>
                                        <p:attrNameLst>
                                          <p:attrName>style.visibility</p:attrName>
                                        </p:attrNameLst>
                                      </p:cBhvr>
                                      <p:to>
                                        <p:strVal val="visible"/>
                                      </p:to>
                                    </p:set>
                                    <p:animEffect transition="in" filter="fade">
                                      <p:cBhvr>
                                        <p:cTn id="153" dur="300"/>
                                        <p:tgtEl>
                                          <p:spTgt spid="67"/>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68"/>
                                        </p:tgtEl>
                                        <p:attrNameLst>
                                          <p:attrName>style.visibility</p:attrName>
                                        </p:attrNameLst>
                                      </p:cBhvr>
                                      <p:to>
                                        <p:strVal val="visible"/>
                                      </p:to>
                                    </p:set>
                                    <p:animEffect transition="in" filter="fade">
                                      <p:cBhvr>
                                        <p:cTn id="156" dur="300"/>
                                        <p:tgtEl>
                                          <p:spTgt spid="68"/>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69"/>
                                        </p:tgtEl>
                                        <p:attrNameLst>
                                          <p:attrName>style.visibility</p:attrName>
                                        </p:attrNameLst>
                                      </p:cBhvr>
                                      <p:to>
                                        <p:strVal val="visible"/>
                                      </p:to>
                                    </p:set>
                                    <p:animEffect transition="in" filter="fade">
                                      <p:cBhvr>
                                        <p:cTn id="159" dur="3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8"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300"/>
                                        <p:tgtEl>
                                          <p:spTgt spid="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3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300"/>
                                        <p:tgtEl>
                                          <p:spTgt spid="3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300"/>
                                        <p:tgtEl>
                                          <p:spTgt spid="3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300"/>
                                        <p:tgtEl>
                                          <p:spTgt spid="3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3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3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3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3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Effect transition="in" filter="fade">
                                      <p:cBhvr>
                                        <p:cTn id="36" dur="300"/>
                                        <p:tgtEl>
                                          <p:spTgt spid="3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8"/>
                                        </p:tgtEl>
                                        <p:attrNameLst>
                                          <p:attrName>style.visibility</p:attrName>
                                        </p:attrNameLst>
                                      </p:cBhvr>
                                      <p:to>
                                        <p:strVal val="visible"/>
                                      </p:to>
                                    </p:set>
                                    <p:animEffect transition="in" filter="fade">
                                      <p:cBhvr>
                                        <p:cTn id="39" dur="300"/>
                                        <p:tgtEl>
                                          <p:spTgt spid="3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animEffect transition="in" filter="fade">
                                      <p:cBhvr>
                                        <p:cTn id="45" dur="300"/>
                                        <p:tgtEl>
                                          <p:spTgt spid="4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fade">
                                      <p:cBhvr>
                                        <p:cTn id="48" dur="300"/>
                                        <p:tgtEl>
                                          <p:spTgt spid="41"/>
                                        </p:tgtEl>
                                      </p:cBhvr>
                                    </p:animEffect>
                                  </p:childTnLst>
                                </p:cTn>
                              </p:par>
                              <p:par>
                                <p:cTn id="49" presetID="10" presetClass="entr" presetSubtype="0" fill="hold"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fade">
                                      <p:cBhvr>
                                        <p:cTn id="51" dur="3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4df0efd2"/>
          <p:cNvSpPr/>
          <p:nvPr/>
        </p:nvSpPr>
        <p:spPr>
          <a:xfrm>
            <a:off x="3333750" y="1141214"/>
            <a:ext cx="2647950" cy="28575"/>
          </a:xfrm>
          <a:prstGeom prst="rect">
            <a:avLst/>
          </a:prstGeom>
          <a:solidFill>
            <a:srgbClr val="3C3C3C">
              <a:alpha val="30000"/>
            </a:srgbClr>
          </a:solidFill>
          <a:ln>
            <a:noFill/>
          </a:ln>
        </p:spPr>
        <p:txBody>
          <a:bodyPr rtlCol="0" anchor="ctr"/>
          <a:lstStyle/>
          <a:p>
            <a:pPr algn="ctr"/>
            <a:endParaRPr/>
          </a:p>
        </p:txBody>
      </p:sp>
      <p:sp>
        <p:nvSpPr>
          <p:cNvPr id="17"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8" name="!!span 0f0f8c1c"/>
          <p:cNvSpPr/>
          <p:nvPr/>
        </p:nvSpPr>
        <p:spPr>
          <a:xfrm>
            <a:off x="334803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19"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0" name="!!Picture 59db1258" descr="image.jpg"/>
          <p:cNvPicPr>
            <a:picLocks noChangeAspect="1"/>
          </p:cNvPicPr>
          <p:nvPr/>
        </p:nvPicPr>
        <p:blipFill>
          <a:blip r:embed="rId4">
            <a:alphaModFix amt="30000"/>
            <a:grayscl/>
          </a:blip>
          <a:stretch>
            <a:fillRect/>
          </a:stretch>
        </p:blipFill>
        <p:spPr>
          <a:xfrm>
            <a:off x="3362325" y="1350764"/>
            <a:ext cx="666750" cy="666750"/>
          </a:xfrm>
          <a:prstGeom prst="ellipse">
            <a:avLst/>
          </a:prstGeom>
        </p:spPr>
      </p:pic>
      <p:pic>
        <p:nvPicPr>
          <p:cNvPr id="21" name="!!Picture 59db1258 #2" descr="image.jpg"/>
          <p:cNvPicPr>
            <a:picLocks noChangeAspect="1"/>
          </p:cNvPicPr>
          <p:nvPr/>
        </p:nvPicPr>
        <p:blipFill>
          <a:blip r:embed="rId4"/>
          <a:stretch>
            <a:fillRect/>
          </a:stretch>
        </p:blipFill>
        <p:spPr>
          <a:xfrm>
            <a:off x="3362325" y="1350764"/>
            <a:ext cx="666750" cy="666750"/>
          </a:xfrm>
          <a:prstGeom prst="ellipse">
            <a:avLst/>
          </a:prstGeom>
        </p:spPr>
      </p:pic>
      <p:sp>
        <p:nvSpPr>
          <p:cNvPr id="22"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Fahtai</a:t>
            </a:r>
          </a:p>
        </p:txBody>
      </p:sp>
      <p:sp>
        <p:nvSpPr>
          <p:cNvPr id="23" name="!!T Fahtai #2"/>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4"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Retirement</a:t>
            </a:r>
          </a:p>
        </p:txBody>
      </p:sp>
      <p:sp>
        <p:nvSpPr>
          <p:cNvPr id="25" name="!!T Retirement #2"/>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6"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27" name="!!T In five years #3"/>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8"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Building the data and risk</a:t>
            </a:r>
          </a:p>
          <a:p>
            <a:pPr algn="l">
              <a:lnSpc>
                <a:spcPts val="1852"/>
              </a:lnSpc>
              <a:spcBef>
                <a:spcPts val="0"/>
              </a:spcBef>
              <a:spcAft>
                <a:spcPts val="0"/>
              </a:spcAft>
            </a:pPr>
            <a:r>
              <a:rPr sz="1425" b="1" i="0" kern="100">
                <a:solidFill>
                  <a:srgbClr val="181818">
                    <a:alpha val="30000"/>
                  </a:srgbClr>
                </a:solidFill>
                <a:latin typeface="Plus Jakarta Sans"/>
              </a:rPr>
              <a:t>models wealth managers use</a:t>
            </a:r>
          </a:p>
          <a:p>
            <a:pPr algn="l">
              <a:lnSpc>
                <a:spcPts val="1852"/>
              </a:lnSpc>
              <a:spcBef>
                <a:spcPts val="0"/>
              </a:spcBef>
              <a:spcAft>
                <a:spcPts val="0"/>
              </a:spcAft>
            </a:pPr>
            <a:r>
              <a:rPr sz="1425" b="1" i="0" kern="100">
                <a:solidFill>
                  <a:srgbClr val="181818">
                    <a:alpha val="30000"/>
                  </a:srgbClr>
                </a:solidFill>
                <a:latin typeface="Plus Jakarta Sans"/>
              </a:rPr>
              <a:t>for families</a:t>
            </a:r>
          </a:p>
        </p:txBody>
      </p:sp>
      <p:sp>
        <p:nvSpPr>
          <p:cNvPr id="29" name="!!T Building the data and risk models wealth #2"/>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30"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East and Southeast Asia; next,</a:t>
            </a:r>
          </a:p>
          <a:p>
            <a:pPr algn="l">
              <a:lnSpc>
                <a:spcPts val="1631"/>
              </a:lnSpc>
              <a:spcBef>
                <a:spcPts val="0"/>
              </a:spcBef>
              <a:spcAft>
                <a:spcPts val="0"/>
              </a:spcAft>
            </a:pPr>
            <a:r>
              <a:rPr sz="1125" b="0" i="0" kern="100">
                <a:solidFill>
                  <a:srgbClr val="181818">
                    <a:alpha val="30000"/>
                  </a:srgbClr>
                </a:solidFill>
                <a:latin typeface="Plus Jakarta Sans"/>
              </a:rPr>
              <a:t>the FRM, with </a:t>
            </a:r>
            <a:r>
              <a:rPr sz="1125" b="1" i="0" kern="100">
                <a:solidFill>
                  <a:srgbClr val="181818">
                    <a:alpha val="30000"/>
                  </a:srgbClr>
                </a:solidFill>
                <a:latin typeface="Plus Jakarta Sans"/>
              </a:rPr>
              <a:t>Connect funds as the</a:t>
            </a:r>
          </a:p>
          <a:p>
            <a:pPr algn="l">
              <a:lnSpc>
                <a:spcPts val="1631"/>
              </a:lnSpc>
              <a:spcBef>
                <a:spcPts val="0"/>
              </a:spcBef>
              <a:spcAft>
                <a:spcPts val="0"/>
              </a:spcAft>
            </a:pPr>
            <a:r>
              <a:rPr sz="1125" b="1" i="0" kern="100">
                <a:solidFill>
                  <a:srgbClr val="181818">
                    <a:alpha val="30000"/>
                  </a:srgbClr>
                </a:solidFill>
                <a:latin typeface="Plus Jakarta Sans"/>
              </a:rPr>
              <a:t>first case</a:t>
            </a:r>
          </a:p>
        </p:txBody>
      </p:sp>
      <p:sp>
        <p:nvSpPr>
          <p:cNvPr id="31" name="!!T across East and Southeast Asia; next, th #2"/>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32" name="!!div fc8545ea"/>
          <p:cNvSpPr/>
          <p:nvPr/>
        </p:nvSpPr>
        <p:spPr>
          <a:xfrm>
            <a:off x="3333750" y="4286250"/>
            <a:ext cx="2647950" cy="1428750"/>
          </a:xfrm>
          <a:prstGeom prst="rect">
            <a:avLst/>
          </a:prstGeom>
          <a:solidFill>
            <a:srgbClr val="F2F2F2">
              <a:alpha val="30000"/>
            </a:srgbClr>
          </a:solidFill>
          <a:ln>
            <a:noFill/>
          </a:ln>
        </p:spPr>
        <p:txBody>
          <a:bodyPr rtlCol="0" anchor="ctr"/>
          <a:lstStyle/>
          <a:p>
            <a:pPr algn="ctr"/>
            <a:endParaRPr/>
          </a:p>
        </p:txBody>
      </p:sp>
      <p:sp>
        <p:nvSpPr>
          <p:cNvPr id="33"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34"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35" name="!!T What this plan taught me #3"/>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“A model's job is to</a:t>
            </a:r>
          </a:p>
          <a:p>
            <a:pPr algn="l">
              <a:lnSpc>
                <a:spcPts val="1889"/>
              </a:lnSpc>
              <a:spcBef>
                <a:spcPts val="0"/>
              </a:spcBef>
              <a:spcAft>
                <a:spcPts val="0"/>
              </a:spcAft>
            </a:pPr>
            <a:r>
              <a:rPr sz="1350" b="0" i="0" kern="100">
                <a:solidFill>
                  <a:srgbClr val="181818">
                    <a:alpha val="30000"/>
                  </a:srgbClr>
                </a:solidFill>
                <a:latin typeface="Plus Jakarta Sans SemiBold"/>
              </a:rPr>
              <a:t>price the trade-offs</a:t>
            </a:r>
          </a:p>
          <a:p>
            <a:pPr algn="l">
              <a:lnSpc>
                <a:spcPts val="1889"/>
              </a:lnSpc>
              <a:spcBef>
                <a:spcPts val="0"/>
              </a:spcBef>
              <a:spcAft>
                <a:spcPts val="0"/>
              </a:spcAft>
            </a:pPr>
            <a:r>
              <a:rPr sz="1350" b="0" i="0" kern="100">
                <a:solidFill>
                  <a:srgbClr val="181818">
                    <a:alpha val="30000"/>
                  </a:srgbClr>
                </a:solidFill>
                <a:latin typeface="Plus Jakarta Sans SemiBold"/>
              </a:rPr>
              <a:t>between people.”</a:t>
            </a:r>
          </a:p>
        </p:txBody>
      </p:sp>
      <p:sp>
        <p:nvSpPr>
          <p:cNvPr id="37" name="!!T “A model's job is to price the trade-off #2"/>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38" name="!!Rule 47be3e99"/>
          <p:cNvSpPr/>
          <p:nvPr/>
        </p:nvSpPr>
        <p:spPr>
          <a:xfrm>
            <a:off x="6210300" y="1141214"/>
            <a:ext cx="2647950" cy="28575"/>
          </a:xfrm>
          <a:prstGeom prst="rect">
            <a:avLst/>
          </a:prstGeom>
          <a:solidFill>
            <a:srgbClr val="3C3C3C">
              <a:alpha val="30000"/>
            </a:srgbClr>
          </a:solidFill>
          <a:ln>
            <a:noFill/>
          </a:ln>
        </p:spPr>
        <p:txBody>
          <a:bodyPr rtlCol="0" anchor="ctr"/>
          <a:lstStyle/>
          <a:p>
            <a:pPr algn="ctr"/>
            <a:endParaRPr/>
          </a:p>
        </p:txBody>
      </p:sp>
      <p:sp>
        <p:nvSpPr>
          <p:cNvPr id="39"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40" name="!!span 28c9db79"/>
          <p:cNvSpPr/>
          <p:nvPr/>
        </p:nvSpPr>
        <p:spPr>
          <a:xfrm>
            <a:off x="622458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41"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2" name="!!Picture d4927092" descr="image.jpg"/>
          <p:cNvPicPr>
            <a:picLocks noChangeAspect="1"/>
          </p:cNvPicPr>
          <p:nvPr/>
        </p:nvPicPr>
        <p:blipFill>
          <a:blip r:embed="rId5">
            <a:alphaModFix amt="30000"/>
            <a:grayscl/>
          </a:blip>
          <a:stretch>
            <a:fillRect/>
          </a:stretch>
        </p:blipFill>
        <p:spPr>
          <a:xfrm>
            <a:off x="6238875" y="1350764"/>
            <a:ext cx="666750" cy="666750"/>
          </a:xfrm>
          <a:prstGeom prst="ellipse">
            <a:avLst/>
          </a:prstGeom>
        </p:spPr>
      </p:pic>
      <p:pic>
        <p:nvPicPr>
          <p:cNvPr id="43" name="!!Picture d4927092 #2" descr="image.jpg"/>
          <p:cNvPicPr>
            <a:picLocks noChangeAspect="1"/>
          </p:cNvPicPr>
          <p:nvPr/>
        </p:nvPicPr>
        <p:blipFill>
          <a:blip r:embed="rId5"/>
          <a:stretch>
            <a:fillRect/>
          </a:stretch>
        </p:blipFill>
        <p:spPr>
          <a:xfrm>
            <a:off x="6238875" y="1350764"/>
            <a:ext cx="666750" cy="666750"/>
          </a:xfrm>
          <a:prstGeom prst="ellipse">
            <a:avLst/>
          </a:prstGeom>
        </p:spPr>
      </p:pic>
      <p:sp>
        <p:nvSpPr>
          <p:cNvPr id="44"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Win</a:t>
            </a:r>
          </a:p>
        </p:txBody>
      </p:sp>
      <p:sp>
        <p:nvSpPr>
          <p:cNvPr id="45" name="!!T Win #2"/>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46"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Investment</a:t>
            </a:r>
          </a:p>
        </p:txBody>
      </p:sp>
      <p:sp>
        <p:nvSpPr>
          <p:cNvPr id="47" name="!!T Investment #2"/>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48" name="!!T In five years #4"/>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49" name="!!T In five years #5"/>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50"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An investment strategist for</a:t>
            </a:r>
          </a:p>
          <a:p>
            <a:pPr algn="l">
              <a:lnSpc>
                <a:spcPts val="1852"/>
              </a:lnSpc>
              <a:spcBef>
                <a:spcPts val="0"/>
              </a:spcBef>
              <a:spcAft>
                <a:spcPts val="0"/>
              </a:spcAft>
            </a:pPr>
            <a:r>
              <a:rPr sz="1425" b="1" i="0" kern="100">
                <a:solidFill>
                  <a:srgbClr val="181818">
                    <a:alpha val="30000"/>
                  </a:srgbClr>
                </a:solidFill>
                <a:latin typeface="Plus Jakarta Sans"/>
              </a:rPr>
              <a:t>family clients</a:t>
            </a:r>
          </a:p>
        </p:txBody>
      </p:sp>
      <p:sp>
        <p:nvSpPr>
          <p:cNvPr id="51" name="!!T An investment strategist for family clie #2"/>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52"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Asia-Pacific, fitting each</a:t>
            </a:r>
          </a:p>
          <a:p>
            <a:pPr algn="l">
              <a:lnSpc>
                <a:spcPts val="1631"/>
              </a:lnSpc>
              <a:spcBef>
                <a:spcPts val="0"/>
              </a:spcBef>
              <a:spcAft>
                <a:spcPts val="0"/>
              </a:spcAft>
            </a:pPr>
            <a:r>
              <a:rPr sz="1125" b="0" i="0" kern="100">
                <a:solidFill>
                  <a:srgbClr val="181818">
                    <a:alpha val="30000"/>
                  </a:srgbClr>
                </a:solidFill>
                <a:latin typeface="Plus Jakarta Sans"/>
              </a:rPr>
              <a:t>portfolio to its owner </a:t>
            </a:r>
            <a:r>
              <a:rPr sz="1125" b="1" i="0" kern="100">
                <a:solidFill>
                  <a:srgbClr val="181818">
                    <a:alpha val="30000"/>
                  </a:srgbClr>
                </a:solidFill>
                <a:latin typeface="Plus Jakarta Sans"/>
              </a:rPr>
              <a:t>on either side of</a:t>
            </a:r>
          </a:p>
          <a:p>
            <a:pPr algn="l">
              <a:lnSpc>
                <a:spcPts val="1631"/>
              </a:lnSpc>
              <a:spcBef>
                <a:spcPts val="0"/>
              </a:spcBef>
              <a:spcAft>
                <a:spcPts val="0"/>
              </a:spcAft>
            </a:pPr>
            <a:r>
              <a:rPr sz="1125" b="1" i="0" kern="100">
                <a:solidFill>
                  <a:srgbClr val="181818">
                    <a:alpha val="30000"/>
                  </a:srgbClr>
                </a:solidFill>
                <a:latin typeface="Plus Jakarta Sans"/>
              </a:rPr>
              <a:t>the boundary</a:t>
            </a:r>
          </a:p>
        </p:txBody>
      </p:sp>
      <p:sp>
        <p:nvSpPr>
          <p:cNvPr id="53" name="!!T across Asia-Pacific, fitting each portfo #2"/>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54" name="!!div 8a4a4c6a"/>
          <p:cNvSpPr/>
          <p:nvPr/>
        </p:nvSpPr>
        <p:spPr>
          <a:xfrm>
            <a:off x="6215062" y="4291012"/>
            <a:ext cx="2638425" cy="1419225"/>
          </a:xfrm>
          <a:prstGeom prst="rect">
            <a:avLst/>
          </a:prstGeom>
          <a:noFill/>
          <a:ln w="9525">
            <a:solidFill>
              <a:srgbClr val="A1A1A1">
                <a:alpha val="30000"/>
              </a:srgbClr>
            </a:solidFill>
            <a:prstDash val="dash"/>
          </a:ln>
        </p:spPr>
        <p:txBody>
          <a:bodyPr rtlCol="0" anchor="ctr"/>
          <a:lstStyle/>
          <a:p>
            <a:pPr algn="ctr"/>
            <a:endParaRPr/>
          </a:p>
        </p:txBody>
      </p:sp>
      <p:sp>
        <p:nvSpPr>
          <p:cNvPr id="5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56" name="!!T What this plan taught me #4"/>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57" name="!!T What this plan taught me #5"/>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58"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6B6B6B">
                    <a:alpha val="30000"/>
                  </a:srgbClr>
                </a:solidFill>
                <a:latin typeface="Plus Jakarta Sans"/>
              </a:rPr>
              <a:t>Win's line, to confirm</a:t>
            </a:r>
          </a:p>
        </p:txBody>
      </p:sp>
      <p:sp>
        <p:nvSpPr>
          <p:cNvPr id="59" name="!!T Win's line, to confirm #2"/>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60" name="!!Rule c5222483"/>
          <p:cNvSpPr/>
          <p:nvPr/>
        </p:nvSpPr>
        <p:spPr>
          <a:xfrm>
            <a:off x="9086850" y="1141214"/>
            <a:ext cx="2647950" cy="28575"/>
          </a:xfrm>
          <a:prstGeom prst="rect">
            <a:avLst/>
          </a:prstGeom>
          <a:solidFill>
            <a:srgbClr val="3C3C3C">
              <a:alpha val="30000"/>
            </a:srgbClr>
          </a:solidFill>
          <a:ln>
            <a:noFill/>
          </a:ln>
        </p:spPr>
        <p:txBody>
          <a:bodyPr rtlCol="0" anchor="ctr"/>
          <a:lstStyle/>
          <a:p>
            <a:pPr algn="ctr"/>
            <a:endParaRPr/>
          </a:p>
        </p:txBody>
      </p:sp>
      <p:sp>
        <p:nvSpPr>
          <p:cNvPr id="61"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62" name="!!span ca5a50b4"/>
          <p:cNvSpPr/>
          <p:nvPr/>
        </p:nvSpPr>
        <p:spPr>
          <a:xfrm>
            <a:off x="9101138" y="1336477"/>
            <a:ext cx="695325" cy="695325"/>
          </a:xfrm>
          <a:prstGeom prst="ellipse">
            <a:avLst/>
          </a:prstGeom>
          <a:gradFill rotWithShape="0">
            <a:gsLst>
              <a:gs pos="0">
                <a:srgbClr val="4C4C4C">
                  <a:alpha val="30000"/>
                </a:srgbClr>
              </a:gs>
              <a:gs pos="100000">
                <a:srgbClr val="2D2D2D">
                  <a:alpha val="30000"/>
                </a:srgbClr>
              </a:gs>
            </a:gsLst>
            <a:lin ang="5400000" scaled="0"/>
          </a:gra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63"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64" name="!!Drawing 6bdc6dc6"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pic>
        <p:nvPicPr>
          <p:cNvPr id="65" name="!!Drawing 6bdc6dc6 #2"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66"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Lookbua</a:t>
            </a:r>
          </a:p>
        </p:txBody>
      </p:sp>
      <p:sp>
        <p:nvSpPr>
          <p:cNvPr id="67" name="!!T Lookbua #2"/>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68"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Protection and risk</a:t>
            </a:r>
          </a:p>
        </p:txBody>
      </p:sp>
      <p:sp>
        <p:nvSpPr>
          <p:cNvPr id="69" name="!!T Protection and risk #2"/>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70" name="!!T In five years #6"/>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71" name="!!T In five years #7"/>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72"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 specialist in systems risk</a:t>
            </a:r>
          </a:p>
        </p:txBody>
      </p:sp>
      <p:sp>
        <p:nvSpPr>
          <p:cNvPr id="73" name="!!T A specialist in systems risk #2"/>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74"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81818">
                    <a:alpha val="30000"/>
                  </a:srgbClr>
                </a:solidFill>
                <a:latin typeface="Plus Jakarta Sans"/>
              </a:rPr>
              <a:t>the Connect links two markets</a:t>
            </a:r>
            <a:r>
              <a:rPr sz="1125" b="0" i="0" kern="100">
                <a:solidFill>
                  <a:srgbClr val="181818">
                    <a:alpha val="30000"/>
                  </a:srgbClr>
                </a:solidFill>
                <a:latin typeface="Plus Jakarta Sans"/>
              </a:rPr>
              <a:t> with</a:t>
            </a:r>
          </a:p>
          <a:p>
            <a:pPr algn="l">
              <a:lnSpc>
                <a:spcPts val="1631"/>
              </a:lnSpc>
              <a:spcBef>
                <a:spcPts val="0"/>
              </a:spcBef>
              <a:spcAft>
                <a:spcPts val="0"/>
              </a:spcAft>
            </a:pPr>
            <a:r>
              <a:rPr sz="1125" b="0" i="0" kern="100">
                <a:solidFill>
                  <a:srgbClr val="181818">
                    <a:alpha val="30000"/>
                  </a:srgbClr>
                </a:solidFill>
                <a:latin typeface="Plus Jakarta Sans"/>
              </a:rPr>
              <a:t>different rules, so a shock in one can</a:t>
            </a:r>
          </a:p>
          <a:p>
            <a:pPr algn="l">
              <a:lnSpc>
                <a:spcPts val="1631"/>
              </a:lnSpc>
              <a:spcBef>
                <a:spcPts val="0"/>
              </a:spcBef>
              <a:spcAft>
                <a:spcPts val="0"/>
              </a:spcAft>
            </a:pPr>
            <a:r>
              <a:rPr sz="1125" b="0" i="0" kern="100">
                <a:solidFill>
                  <a:srgbClr val="181818">
                    <a:alpha val="30000"/>
                  </a:srgbClr>
                </a:solidFill>
                <a:latin typeface="Plus Jakarta Sans"/>
              </a:rPr>
              <a:t>reach the other</a:t>
            </a:r>
          </a:p>
        </p:txBody>
      </p:sp>
      <p:sp>
        <p:nvSpPr>
          <p:cNvPr id="75" name="!!T the Connect links two markets with diffe #2"/>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76" name="!!div dd9e70f6"/>
          <p:cNvSpPr/>
          <p:nvPr/>
        </p:nvSpPr>
        <p:spPr>
          <a:xfrm>
            <a:off x="9086850" y="4286250"/>
            <a:ext cx="2647950" cy="1428750"/>
          </a:xfrm>
          <a:prstGeom prst="rect">
            <a:avLst/>
          </a:prstGeom>
          <a:solidFill>
            <a:srgbClr val="F2F2F2">
              <a:alpha val="30000"/>
            </a:srgbClr>
          </a:solidFill>
          <a:ln>
            <a:noFill/>
          </a:ln>
        </p:spPr>
        <p:txBody>
          <a:bodyPr rtlCol="0" anchor="ctr"/>
          <a:lstStyle/>
          <a:p>
            <a:pPr algn="ctr"/>
            <a:endParaRPr/>
          </a:p>
        </p:txBody>
      </p:sp>
      <p:sp>
        <p:nvSpPr>
          <p:cNvPr id="77"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78" name="!!T What this plan taught me #6"/>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79" name="!!T What this plan taught me #7"/>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80"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“Every risk needs a named</a:t>
            </a:r>
          </a:p>
          <a:p>
            <a:pPr algn="l">
              <a:lnSpc>
                <a:spcPts val="1889"/>
              </a:lnSpc>
              <a:spcBef>
                <a:spcPts val="0"/>
              </a:spcBef>
              <a:spcAft>
                <a:spcPts val="0"/>
              </a:spcAft>
            </a:pPr>
            <a:r>
              <a:rPr sz="1350" b="0" i="0" kern="100">
                <a:solidFill>
                  <a:srgbClr val="181818">
                    <a:alpha val="30000"/>
                  </a:srgbClr>
                </a:solidFill>
                <a:latin typeface="Plus Jakarta Sans SemiBold"/>
              </a:rPr>
              <a:t>defence.”</a:t>
            </a:r>
          </a:p>
        </p:txBody>
      </p:sp>
      <p:sp>
        <p:nvSpPr>
          <p:cNvPr id="81" name="!!T “Every risk needs a named defence.” #2"/>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82"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8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84"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What the Wongs taught all four of us: a plan is a set of choices between people, each made clear.</a:t>
            </a:r>
          </a:p>
        </p:txBody>
      </p:sp>
      <p:sp>
        <p:nvSpPr>
          <p:cNvPr id="85" name="!!T What the Wongs taught all four of us: a  #2"/>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86"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87"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8"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9"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90"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91"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92"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93"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3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3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3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3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3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3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300"/>
                                        <p:tgtEl>
                                          <p:spTgt spid="41"/>
                                        </p:tgtEl>
                                      </p:cBhvr>
                                    </p:animEffect>
                                  </p:childTnLst>
                                </p:cTn>
                              </p:par>
                              <p:par>
                                <p:cTn id="46" presetID="10" presetClass="entr" presetSubtype="0" fill="hold" nodeType="withEffect">
                                  <p:stCondLst>
                                    <p:cond delay="0"/>
                                  </p:stCondLst>
                                  <p:childTnLst>
                                    <p:set>
                                      <p:cBhvr>
                                        <p:cTn id="47" dur="1" fill="hold">
                                          <p:stCondLst>
                                            <p:cond delay="0"/>
                                          </p:stCondLst>
                                        </p:cTn>
                                        <p:tgtEl>
                                          <p:spTgt spid="43"/>
                                        </p:tgtEl>
                                        <p:attrNameLst>
                                          <p:attrName>style.visibility</p:attrName>
                                        </p:attrNameLst>
                                      </p:cBhvr>
                                      <p:to>
                                        <p:strVal val="visible"/>
                                      </p:to>
                                    </p:set>
                                    <p:animEffect transition="in" filter="fade">
                                      <p:cBhvr>
                                        <p:cTn id="48" dur="300"/>
                                        <p:tgtEl>
                                          <p:spTgt spid="4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5"/>
                                        </p:tgtEl>
                                        <p:attrNameLst>
                                          <p:attrName>style.visibility</p:attrName>
                                        </p:attrNameLst>
                                      </p:cBhvr>
                                      <p:to>
                                        <p:strVal val="visible"/>
                                      </p:to>
                                    </p:set>
                                    <p:animEffect transition="in" filter="fade">
                                      <p:cBhvr>
                                        <p:cTn id="51" dur="300"/>
                                        <p:tgtEl>
                                          <p:spTgt spid="4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300"/>
                                        <p:tgtEl>
                                          <p:spTgt spid="4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3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1"/>
                                        </p:tgtEl>
                                        <p:attrNameLst>
                                          <p:attrName>style.visibility</p:attrName>
                                        </p:attrNameLst>
                                      </p:cBhvr>
                                      <p:to>
                                        <p:strVal val="visible"/>
                                      </p:to>
                                    </p:set>
                                    <p:animEffect transition="in" filter="fade">
                                      <p:cBhvr>
                                        <p:cTn id="60" dur="300"/>
                                        <p:tgtEl>
                                          <p:spTgt spid="5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3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5"/>
                                        </p:tgtEl>
                                        <p:attrNameLst>
                                          <p:attrName>style.visibility</p:attrName>
                                        </p:attrNameLst>
                                      </p:cBhvr>
                                      <p:to>
                                        <p:strVal val="visible"/>
                                      </p:to>
                                    </p:set>
                                    <p:animEffect transition="in" filter="fade">
                                      <p:cBhvr>
                                        <p:cTn id="66" dur="300"/>
                                        <p:tgtEl>
                                          <p:spTgt spid="5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7"/>
                                        </p:tgtEl>
                                        <p:attrNameLst>
                                          <p:attrName>style.visibility</p:attrName>
                                        </p:attrNameLst>
                                      </p:cBhvr>
                                      <p:to>
                                        <p:strVal val="visible"/>
                                      </p:to>
                                    </p:set>
                                    <p:animEffect transition="in" filter="fade">
                                      <p:cBhvr>
                                        <p:cTn id="69" dur="300"/>
                                        <p:tgtEl>
                                          <p:spTgt spid="5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9"/>
                                        </p:tgtEl>
                                        <p:attrNameLst>
                                          <p:attrName>style.visibility</p:attrName>
                                        </p:attrNameLst>
                                      </p:cBhvr>
                                      <p:to>
                                        <p:strVal val="visible"/>
                                      </p:to>
                                    </p:set>
                                    <p:animEffect transition="in" filter="fade">
                                      <p:cBhvr>
                                        <p:cTn id="72" dur="300"/>
                                        <p:tgtEl>
                                          <p:spTgt spid="5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300"/>
                                        <p:tgtEl>
                                          <p:spTgt spid="6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fade">
                                      <p:cBhvr>
                                        <p:cTn id="80" dur="300"/>
                                        <p:tgtEl>
                                          <p:spTgt spid="63"/>
                                        </p:tgtEl>
                                      </p:cBhvr>
                                    </p:animEffect>
                                  </p:childTnLst>
                                </p:cTn>
                              </p:par>
                              <p:par>
                                <p:cTn id="81" presetID="10" presetClass="entr" presetSubtype="0" fill="hold" nodeType="withEffect">
                                  <p:stCondLst>
                                    <p:cond delay="0"/>
                                  </p:stCondLst>
                                  <p:childTnLst>
                                    <p:set>
                                      <p:cBhvr>
                                        <p:cTn id="82" dur="1" fill="hold">
                                          <p:stCondLst>
                                            <p:cond delay="0"/>
                                          </p:stCondLst>
                                        </p:cTn>
                                        <p:tgtEl>
                                          <p:spTgt spid="65"/>
                                        </p:tgtEl>
                                        <p:attrNameLst>
                                          <p:attrName>style.visibility</p:attrName>
                                        </p:attrNameLst>
                                      </p:cBhvr>
                                      <p:to>
                                        <p:strVal val="visible"/>
                                      </p:to>
                                    </p:set>
                                    <p:animEffect transition="in" filter="fade">
                                      <p:cBhvr>
                                        <p:cTn id="83" dur="300"/>
                                        <p:tgtEl>
                                          <p:spTgt spid="6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7"/>
                                        </p:tgtEl>
                                        <p:attrNameLst>
                                          <p:attrName>style.visibility</p:attrName>
                                        </p:attrNameLst>
                                      </p:cBhvr>
                                      <p:to>
                                        <p:strVal val="visible"/>
                                      </p:to>
                                    </p:set>
                                    <p:animEffect transition="in" filter="fade">
                                      <p:cBhvr>
                                        <p:cTn id="86" dur="300"/>
                                        <p:tgtEl>
                                          <p:spTgt spid="6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9"/>
                                        </p:tgtEl>
                                        <p:attrNameLst>
                                          <p:attrName>style.visibility</p:attrName>
                                        </p:attrNameLst>
                                      </p:cBhvr>
                                      <p:to>
                                        <p:strVal val="visible"/>
                                      </p:to>
                                    </p:set>
                                    <p:animEffect transition="in" filter="fade">
                                      <p:cBhvr>
                                        <p:cTn id="89" dur="300"/>
                                        <p:tgtEl>
                                          <p:spTgt spid="6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1"/>
                                        </p:tgtEl>
                                        <p:attrNameLst>
                                          <p:attrName>style.visibility</p:attrName>
                                        </p:attrNameLst>
                                      </p:cBhvr>
                                      <p:to>
                                        <p:strVal val="visible"/>
                                      </p:to>
                                    </p:set>
                                    <p:animEffect transition="in" filter="fade">
                                      <p:cBhvr>
                                        <p:cTn id="92" dur="300"/>
                                        <p:tgtEl>
                                          <p:spTgt spid="7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300"/>
                                        <p:tgtEl>
                                          <p:spTgt spid="7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5"/>
                                        </p:tgtEl>
                                        <p:attrNameLst>
                                          <p:attrName>style.visibility</p:attrName>
                                        </p:attrNameLst>
                                      </p:cBhvr>
                                      <p:to>
                                        <p:strVal val="visible"/>
                                      </p:to>
                                    </p:set>
                                    <p:animEffect transition="in" filter="fade">
                                      <p:cBhvr>
                                        <p:cTn id="98" dur="300"/>
                                        <p:tgtEl>
                                          <p:spTgt spid="7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7"/>
                                        </p:tgtEl>
                                        <p:attrNameLst>
                                          <p:attrName>style.visibility</p:attrName>
                                        </p:attrNameLst>
                                      </p:cBhvr>
                                      <p:to>
                                        <p:strVal val="visible"/>
                                      </p:to>
                                    </p:set>
                                    <p:animEffect transition="in" filter="fade">
                                      <p:cBhvr>
                                        <p:cTn id="101" dur="300"/>
                                        <p:tgtEl>
                                          <p:spTgt spid="7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9"/>
                                        </p:tgtEl>
                                        <p:attrNameLst>
                                          <p:attrName>style.visibility</p:attrName>
                                        </p:attrNameLst>
                                      </p:cBhvr>
                                      <p:to>
                                        <p:strVal val="visible"/>
                                      </p:to>
                                    </p:set>
                                    <p:animEffect transition="in" filter="fade">
                                      <p:cBhvr>
                                        <p:cTn id="104" dur="300"/>
                                        <p:tgtEl>
                                          <p:spTgt spid="7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1"/>
                                        </p:tgtEl>
                                        <p:attrNameLst>
                                          <p:attrName>style.visibility</p:attrName>
                                        </p:attrNameLst>
                                      </p:cBhvr>
                                      <p:to>
                                        <p:strVal val="visible"/>
                                      </p:to>
                                    </p:set>
                                    <p:animEffect transition="in" filter="fade">
                                      <p:cBhvr>
                                        <p:cTn id="107" dur="300"/>
                                        <p:tgtEl>
                                          <p:spTgt spid="8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3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5"/>
                                        </p:tgtEl>
                                        <p:attrNameLst>
                                          <p:attrName>style.visibility</p:attrName>
                                        </p:attrNameLst>
                                      </p:cBhvr>
                                      <p:to>
                                        <p:strVal val="visible"/>
                                      </p:to>
                                    </p:set>
                                    <p:animEffect transition="in" filter="fade">
                                      <p:cBhvr>
                                        <p:cTn id="113" dur="3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5" grpId="0" animBg="1"/>
      <p:bldP spid="47" grpId="0" animBg="1"/>
      <p:bldP spid="49" grpId="0" animBg="1"/>
      <p:bldP spid="51" grpId="0" animBg="1"/>
      <p:bldP spid="53" grpId="0" animBg="1"/>
      <p:bldP spid="55" grpId="0" animBg="1"/>
      <p:bldP spid="57" grpId="0" animBg="1"/>
      <p:bldP spid="59" grpId="0" animBg="1"/>
      <p:bldP spid="61" grpId="0" animBg="1"/>
      <p:bldP spid="63" grpId="0" animBg="1"/>
      <p:bldP spid="67" grpId="0" animBg="1"/>
      <p:bldP spid="69" grpId="0" animBg="1"/>
      <p:bldP spid="71" grpId="0" animBg="1"/>
      <p:bldP spid="73" grpId="0" animBg="1"/>
      <p:bldP spid="75" grpId="0" animBg="1"/>
      <p:bldP spid="77" grpId="0" animBg="1"/>
      <p:bldP spid="79" grpId="0" animBg="1"/>
      <p:bldP spid="81" grpId="0" animBg="1"/>
      <p:bldP spid="83" grpId="0" animBg="1"/>
      <p:bldP spid="8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2026-10-25T12:34:24Z</dcterms:created>
  <dcterms:modified xsi:type="dcterms:W3CDTF">2026-10-25T12:34:24Z</dcterms:modified>
</cp:coreProperties>
</file>