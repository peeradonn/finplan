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50863EA-B6E5-4748-857D-381BB22B0DBB}">
          <p14:sldIdLst>
            <p14:sldId id="256"/>
          </p14:sldIdLst>
        </p14:section>
        <p14:section name="The problem" id="{2876C444-BEC6-4E1A-8E6C-E3A37F3DFEF6}">
          <p14:sldIdLst>
            <p14:sldId id="257"/>
            <p14:sldId id="258"/>
          </p14:sldIdLst>
        </p14:section>
        <p14:section name="The answer" id="{E0610E4D-6421-4459-B191-3592664C40D5}">
          <p14:sldIdLst>
            <p14:sldId id="259"/>
          </p14:sldIdLst>
        </p14:section>
        <p14:section name="The five calls" id="{B54C14B5-6D43-4A2A-B110-BD0B1D4C5D2E}">
          <p14:sldIdLst>
            <p14:sldId id="260"/>
            <p14:sldId id="261"/>
            <p14:sldId id="262"/>
            <p14:sldId id="263"/>
            <p14:sldId id="264"/>
          </p14:sldIdLst>
        </p14:section>
        <p14:section name="Will it hold" id="{8305BA35-7796-460F-8114-7AB116C4A9C7}">
          <p14:sldIdLst>
            <p14:sldId id="265"/>
          </p14:sldIdLst>
        </p14:section>
        <p14:section name="What next" id="{7231F436-A96C-46CF-8326-38A420D836BE}">
          <p14:sldIdLst>
            <p14:sldId id="266"/>
            <p14:sldId id="267"/>
          </p14:sldIdLst>
        </p14:section>
        <p14:section name="Us" id="{5A39ED36-9166-42A3-BA30-A647D18A63F8}">
          <p14:sldIdLst>
            <p14:sldId id="268"/>
            <p14:sldId id="269"/>
          </p14:sldIdLst>
        </p14:section>
        <p14:section name="Close" id="{19B28A7E-E926-4374-B9FD-FB3E83FA083B}">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60173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Adrian, 54, wants his capital, retirement and health protected. Carmen, 49, runs a business and wants money that reflects her values. Ryan, 24, holds crypto. Chloe, 16, starts university in 2028. On paper, they're secure: HK$24.4 million. The parents want to retire at 65 and 62, on HK$780K a year. But will it last to Carmen's 89? We tested it in 10,000 futures.</a:t>
            </a:r>
          </a:p>
          <a:p>
            <a:endParaRPr/>
          </a:p>
          <a:p>
            <a:r>
              <a:t>[Clicks on this slide]</a:t>
            </a:r>
          </a:p>
          <a:p>
            <a:r>
              <a:t>Click 1: What they have today…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Living on investments alone, as our written case measured, the money lasts in only 33%. The fairer test is their own way: sell the business when Carmen retires, keep the flat, and sell it only if they must. In 51% of futures, they must. In a typical one, Carmen, at 83 and on her own, sells the home where they raised Ryan and Chloe. By 86 the money has run out again, and the wealth meant for their children pays the bills: just HK$2.3M is left to them.</a:t>
            </a:r>
          </a:p>
          <a:p>
            <a:endParaRPr/>
          </a:p>
          <a:p>
            <a:r>
              <a:t>[Clicks on this slide]</a:t>
            </a:r>
          </a:p>
          <a:p>
            <a:r>
              <a:t>Click 1: 51%</a:t>
            </a:r>
          </a:p>
          <a:p>
            <a:r>
              <a:t>Click 2: Runs out again, Carmen 86 then unpaid bills eat into the …</a:t>
            </a:r>
          </a:p>
          <a:p>
            <a:r>
              <a:t>Click 3: What Ryan and Chloe inherit, where it is sold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They asked for a plan that's innovative yet prudent.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a:p>
            <a:endParaRPr/>
          </a:p>
          <a:p>
            <a:r>
              <a:t>[Clicks on this slide]</a:t>
            </a:r>
          </a:p>
          <a:p>
            <a:r>
              <a:t>Click 1: 1 Insure the income, not the life</a:t>
            </a:r>
          </a:p>
          <a:p>
            <a:r>
              <a:t>Click 2: 2 The home and the business</a:t>
            </a:r>
          </a:p>
          <a:p>
            <a:r>
              <a:t>Click 3: 3 Fix the cost the budget ignores</a:t>
            </a:r>
          </a:p>
          <a:p>
            <a:r>
              <a:t>Click 4: 4 A plan for each person</a:t>
            </a:r>
          </a:p>
          <a:p>
            <a:r>
              <a:t>Click 5: 5 Values and crypto, with guardrails</a:t>
            </a:r>
          </a:p>
          <a:p>
            <a:r>
              <a:t>Click 6: What passes 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Adrian couldn't work tomorrow, they'd be HK$22K short every month. So disability cover comes first, then critical illness, medical cover of their own, and a term-life top-up: about HK$100K a year. Term, because the need ends at retirement. And a buy-sell agreement, so Carmen's business survives her. Protected first; now Fahtai turns what they own into income.</a:t>
            </a:r>
          </a:p>
          <a:p>
            <a:endParaRPr/>
          </a:p>
          <a:p>
            <a:r>
              <a:t>[Clicks on this slide]</a:t>
            </a:r>
          </a:p>
          <a:p>
            <a:r>
              <a:t>Click 1: Why not more life cover?</a:t>
            </a:r>
          </a:p>
          <a:p>
            <a:r>
              <a:t>Click 2: …so we insure the income first</a:t>
            </a:r>
          </a:p>
          <a:p>
            <a:r>
              <a:t>Click 3: And within three months, under HK$25K: wills, a guardian …</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two: the home and the business will pay for their retirement either way. The question is when. At 65 they choose: stay, with a reverse mortgage paying HK$230K a year for life, or downsize. The business is sold in stages to Carmen's team; we count only HK$3 million of its five. After the first death, the survivor plans on 70% of the budget. And the MPF buys annuities, an income each can't outlive. Four decisions, taken now, lift the odds from 62% to 83%. The price: the annuities can't be undone.</a:t>
            </a:r>
          </a:p>
          <a:p>
            <a:endParaRPr/>
          </a:p>
          <a:p>
            <a:r>
              <a:t>[Clicks on this slide]</a:t>
            </a:r>
          </a:p>
          <a:p>
            <a:r>
              <a:t>Click 1: HK$230K a year for life, from 2037</a:t>
            </a:r>
          </a:p>
          <a:p>
            <a:r>
              <a:t>Click 2: Sold in stages, 2035–39</a:t>
            </a:r>
          </a:p>
          <a:p>
            <a:r>
              <a:t>Click 3: Planned now, for a survivor</a:t>
            </a:r>
          </a:p>
          <a:p>
            <a:r>
              <a:t>Click 4: HK$268K a year for life</a:t>
            </a:r>
          </a:p>
          <a:p>
            <a:r>
              <a:t>Click 5: Chance the money lasts to Carmen's 89</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 budget ignores. Kept on Flexi for life, medical premiums climb to HK$375K a year, close to half the budget. So at Adrian's 75 they review the tier: the Standard plan costs a third as much, with lower limits. And from 2039, two spending rules for the bad years; essentials are never cut. Remember that future? Now the money lasts to 89, and the home stays theirs: 97% with the review, almost every future with the rules. Win.</a:t>
            </a:r>
          </a:p>
          <a:p>
            <a:endParaRPr/>
          </a:p>
          <a:p>
            <a:r>
              <a:t>[Clicks on this slide]</a:t>
            </a:r>
          </a:p>
          <a:p>
            <a:r>
              <a:t>Click 1: 1</a:t>
            </a:r>
          </a:p>
          <a:p>
            <a:r>
              <a:t>Click 2: 2</a:t>
            </a:r>
          </a:p>
          <a:p>
            <a:r>
              <a:t>Click 3: …so the future that ran out at 86 now reaches 89</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investment policy, a plan for each person. Today HK$2.5 million sits idle in cash, and most of their shares are in funds charging 1.5% a year. We give every dollar a job: a year's reserve; HK$2.57 million for Chloe's degree, wherever she goes; and a portfolio fitted to each parent's risk: Adrian 40% in shares, Carmen 60%. Ryan saves 30% of his pay in a plan of his own. Index funds alone save HK$45K a year.</a:t>
            </a:r>
          </a:p>
          <a:p>
            <a:endParaRPr/>
          </a:p>
          <a:p>
            <a:r>
              <a:t>[Clicks on this slide]</a:t>
            </a:r>
          </a:p>
          <a:p>
            <a:r>
              <a:t>Click 1: The same HK$7.7M, with a job for each part</a:t>
            </a:r>
          </a:p>
          <a:p>
            <a:r>
              <a:t>Click 2: Ryan's own plan: he saves 30% of his pay, in a plan of hi…</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ESG rises from 11% to 25%, only in funds on the SFC's ESG list that pass two ratings, because raters often disagree. Crypto is sized per person, and held only where a regulator watches. Adrian holds none; Carmen up to 2%; Ryan keeps his HK$500K but adds nothing new, so its share falls from 74% of his wealth to 20% by 35. The price: a 70% fall would cost him HK$350K. Lookbua.</a:t>
            </a:r>
          </a:p>
          <a:p>
            <a:endParaRPr/>
          </a:p>
          <a:p>
            <a:r>
              <a:t>[Clicks on this slide]</a:t>
            </a:r>
          </a:p>
          <a:p>
            <a:r>
              <a:t>Click 1: Like for like, not a new bet: each fund replaces what it …</a:t>
            </a:r>
          </a:p>
          <a:p>
            <a:r>
              <a:t>Click 2: …and Ryan's conviction: kept, and sized down as he saves</a:t>
            </a:r>
          </a:p>
          <a:p>
            <a:r>
              <a:t>Click 3: Ryan keeps his HK$500K: nothing sold, nothing added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Here the four decisions alone last in 30% of futures; the full plan, with its reserve and spending rules, 83%. Years of low returns, or high inflation with dearer medical care: 92% or better. And if Carmen lives to 95: 99%.</a:t>
            </a:r>
          </a:p>
          <a:p>
            <a:endParaRPr/>
          </a:p>
          <a:p>
            <a:r>
              <a:t>[Clicks on this slide]</a:t>
            </a:r>
          </a:p>
          <a:p>
            <a:r>
              <a:t>Click 1: Adrian's job ends at 60</a:t>
            </a:r>
          </a:p>
          <a:p>
            <a:r>
              <a:t>Click 2: Low returns, every year</a:t>
            </a:r>
          </a:p>
          <a:p>
            <a:r>
              <a:t>Click 3: Carmen lives to 95</a:t>
            </a:r>
          </a:p>
          <a:p>
            <a:r>
              <a:t>Click 4: The price of holding: in years of low returns, the rules …</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in month one, the cover within three months. After that, dates trigger each step, from Chloe's offer in 2028 to the medical review in 2047, and we review the plan whenever life changes. Pete.</a:t>
            </a:r>
          </a:p>
          <a:p>
            <a:endParaRPr/>
          </a:p>
          <a:p>
            <a:r>
              <a:t>[Clicks on this slide]</a:t>
            </a:r>
          </a:p>
          <a:p>
            <a:r>
              <a:t>Click 1: …then dates trigger each step</a:t>
            </a:r>
          </a:p>
          <a:p>
            <a:r>
              <a:t>Click 2: Reviewed as life changes: the portfolio every quarter; a …</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If a parent dies early, the wills name Chloe's guardian and hold each child's share in trust, paid at 25, 30 and 35. And a scholarship in sustainable design joins Carmen's mission to Chloe's interest.</a:t>
            </a:r>
          </a:p>
          <a:p>
            <a:endParaRPr/>
          </a:p>
          <a:p>
            <a:r>
              <a:t>[Clicks on this slide]</a:t>
            </a:r>
          </a:p>
          <a:p>
            <a:r>
              <a:t>Click 1: With the plan</a:t>
            </a:r>
          </a:p>
          <a:p>
            <a:r>
              <a:t>Click 2: …and if a parent dies early, it still passes on safely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Since 2021, Wealth Management Connect has let residents of Hong Kong, Macao and nine mainland cities invest across the boundary, now up to three million renminbi each. For the Wongs, Northbound is a tool for later: their home, income and business are all in Hong Kong. For us, Southbound is the market we want to serve: a Hong Kong bank won't solicit or recommend across the boundary unless the client asks, so an adviser's value is a clear, suitable answer.</a:t>
            </a:r>
          </a:p>
          <a:p>
            <a:endParaRPr/>
          </a:p>
          <a:p>
            <a:r>
              <a:t>[Clicks on this slide]</a:t>
            </a:r>
          </a:p>
          <a:p>
            <a:r>
              <a:t>Click 1: Northbound</a:t>
            </a:r>
          </a:p>
          <a:p>
            <a:r>
              <a:t>Click 2: Under the Connect, an adviser's value is a clear, suitabl…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a:p>
            <a:endParaRPr/>
          </a:p>
          <a:p>
            <a:r>
              <a:t>[Clicks on this slide]</a:t>
            </a:r>
          </a:p>
          <a:p>
            <a:r>
              <a:t>Click 1: Fahtai</a:t>
            </a:r>
          </a:p>
          <a:p>
            <a:r>
              <a:t>Click 2: Win</a:t>
            </a:r>
          </a:p>
          <a:p>
            <a:r>
              <a:t>Click 3: Lookbua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image" Target="../media/image7.svg"/><Relationship Id="rId7" Type="http://schemas.openxmlformats.org/officeDocument/2006/relationships/image" Target="../media/image11.svg"/><Relationship Id="rId12" Type="http://schemas.openxmlformats.org/officeDocument/2006/relationships/image" Target="../media/image16.svg"/><Relationship Id="rId2" Type="http://schemas.openxmlformats.org/officeDocument/2006/relationships/notesSlide" Target="../notesSlides/notesSlide4.xml"/><Relationship Id="rId16" Type="http://schemas.openxmlformats.org/officeDocument/2006/relationships/image" Target="../media/image20.svg"/><Relationship Id="rId1" Type="http://schemas.openxmlformats.org/officeDocument/2006/relationships/slideLayout" Target="../slideLayouts/slideLayout7.xml"/><Relationship Id="rId6" Type="http://schemas.openxmlformats.org/officeDocument/2006/relationships/image" Target="../media/image10.svg"/><Relationship Id="rId11" Type="http://schemas.openxmlformats.org/officeDocument/2006/relationships/image" Target="../media/image15.svg"/><Relationship Id="rId5" Type="http://schemas.openxmlformats.org/officeDocument/2006/relationships/image" Target="../media/image9.svg"/><Relationship Id="rId15" Type="http://schemas.openxmlformats.org/officeDocument/2006/relationships/image" Target="../media/image19.sv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svg"/><Relationship Id="rId14" Type="http://schemas.openxmlformats.org/officeDocument/2006/relationships/image" Target="../media/image18.svg"/></Relationships>
</file>

<file path=ppt/slides/_rels/slide5.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svg"/><Relationship Id="rId7" Type="http://schemas.openxmlformats.org/officeDocument/2006/relationships/image" Target="../media/image30.svg"/><Relationship Id="rId12" Type="http://schemas.openxmlformats.org/officeDocument/2006/relationships/image" Target="../media/image35.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9.svg"/><Relationship Id="rId11" Type="http://schemas.openxmlformats.org/officeDocument/2006/relationships/image" Target="../media/image34.svg"/><Relationship Id="rId5" Type="http://schemas.openxmlformats.org/officeDocument/2006/relationships/image" Target="../media/image28.svg"/><Relationship Id="rId10" Type="http://schemas.openxmlformats.org/officeDocument/2006/relationships/image" Target="../media/image33.svg"/><Relationship Id="rId4" Type="http://schemas.openxmlformats.org/officeDocument/2006/relationships/image" Target="../media/image27.svg"/><Relationship Id="rId9" Type="http://schemas.openxmlformats.org/officeDocument/2006/relationships/image" Target="../media/image32.svg"/></Relationships>
</file>

<file path=ppt/slides/_rels/slide7.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6.svg"/><Relationship Id="rId7" Type="http://schemas.openxmlformats.org/officeDocument/2006/relationships/image" Target="../media/image40.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8.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7.svg"/><Relationship Id="rId5" Type="http://schemas.openxmlformats.org/officeDocument/2006/relationships/image" Target="../media/image46.svg"/><Relationship Id="rId4" Type="http://schemas.openxmlformats.org/officeDocument/2006/relationships/image" Target="../media/image45.svg"/></Relationships>
</file>

<file path=ppt/slides/_rels/slide11.xml.rels><?xml version="1.0" encoding="UTF-8" standalone="yes"?>
<Relationships xmlns="http://schemas.openxmlformats.org/package/2006/relationships"><Relationship Id="rId8" Type="http://schemas.openxmlformats.org/officeDocument/2006/relationships/image" Target="../media/image50.svg"/><Relationship Id="rId3" Type="http://schemas.openxmlformats.org/officeDocument/2006/relationships/image" Target="../media/image3.jpg"/><Relationship Id="rId7" Type="http://schemas.openxmlformats.org/officeDocument/2006/relationships/image" Target="../media/image49.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53.svg"/><Relationship Id="rId5" Type="http://schemas.openxmlformats.org/officeDocument/2006/relationships/image" Target="../media/image2.jpg"/><Relationship Id="rId10" Type="http://schemas.openxmlformats.org/officeDocument/2006/relationships/image" Target="../media/image52.svg"/><Relationship Id="rId4" Type="http://schemas.openxmlformats.org/officeDocument/2006/relationships/image" Target="../media/image5.jpg"/><Relationship Id="rId9" Type="http://schemas.openxmlformats.org/officeDocument/2006/relationships/image" Target="../media/image51.svg"/></Relationships>
</file>

<file path=ppt/slides/_rels/slide12.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4.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58.svg"/><Relationship Id="rId4" Type="http://schemas.openxmlformats.org/officeDocument/2006/relationships/image" Target="../media/image57.svg"/></Relationships>
</file>

<file path=ppt/slides/_rels/slide14.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62.svg"/><Relationship Id="rId5" Type="http://schemas.openxmlformats.org/officeDocument/2006/relationships/image" Target="../media/image61.jpg"/><Relationship Id="rId4" Type="http://schemas.openxmlformats.org/officeDocument/2006/relationships/image" Target="../media/image60.jpg"/></Relationships>
</file>

<file path=ppt/slides/_rels/slide15.xml.rels><?xml version="1.0" encoding="UTF-8" standalone="yes"?>
<Relationships xmlns="http://schemas.openxmlformats.org/package/2006/relationships"><Relationship Id="rId3" Type="http://schemas.openxmlformats.org/officeDocument/2006/relationships/image" Target="../media/image63.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Hong Kong Undergraduate Financial Planne"/>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 Built to Las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 Five calls that make the Wong family's w"/>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fdfd9047"/>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5a53ae4d"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 Photograph: Peter Steinhauer, Cocoons"/>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Meet the Wongs"/>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 On paper, the Wongs are secure, for a pl"/>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37dda155"/>
          <p:cNvSpPr/>
          <p:nvPr/>
        </p:nvSpPr>
        <p:spPr>
          <a:xfrm>
            <a:off x="457200" y="1419820"/>
            <a:ext cx="11277600" cy="9525"/>
          </a:xfrm>
          <a:prstGeom prst="rect">
            <a:avLst/>
          </a:prstGeom>
          <a:solidFill>
            <a:srgbClr val="181818">
              <a:alpha val="30000"/>
            </a:srgbClr>
          </a:solidFill>
          <a:ln>
            <a:noFill/>
          </a:ln>
        </p:spPr>
        <p:txBody>
          <a:bodyPr rtlCol="0" anchor="ctr"/>
          <a:lstStyle/>
          <a:p>
            <a:pPr algn="ctr"/>
            <a:endParaRPr/>
          </a:p>
        </p:txBody>
      </p:sp>
      <p:sp>
        <p:nvSpPr>
          <p:cNvPr id="6" name="!!Rule 51e91ad5"/>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7" name="!!T What they have today…"/>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What they have today…</a:t>
            </a:r>
          </a:p>
        </p:txBody>
      </p:sp>
      <p:sp>
        <p:nvSpPr>
          <p:cNvPr id="8" name="!!T What they have today… #2"/>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9" name="!!T What they own"/>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81818">
                    <a:alpha val="30000"/>
                  </a:srgbClr>
                </a:solidFill>
                <a:latin typeface="Plus Jakarta Sans"/>
              </a:rPr>
              <a:t>What they own</a:t>
            </a:r>
          </a:p>
        </p:txBody>
      </p:sp>
      <p:sp>
        <p:nvSpPr>
          <p:cNvPr id="10" name="!!T What they own #2"/>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11" name="!!T HK$27.2M"/>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6B6B6B">
                    <a:alpha val="30000"/>
                  </a:srgbClr>
                </a:solidFill>
                <a:latin typeface="Plus Jakarta Sans SemiBold"/>
              </a:rPr>
              <a:t>HK$27.2M</a:t>
            </a:r>
          </a:p>
        </p:txBody>
      </p:sp>
      <p:sp>
        <p:nvSpPr>
          <p:cNvPr id="12" name="!!T HK$27.2M #2"/>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13" name="!!i 431e053d"/>
          <p:cNvSpPr/>
          <p:nvPr/>
        </p:nvSpPr>
        <p:spPr>
          <a:xfrm>
            <a:off x="1943100" y="1581745"/>
            <a:ext cx="2996803" cy="514350"/>
          </a:xfrm>
          <a:prstGeom prst="rect">
            <a:avLst/>
          </a:prstGeom>
          <a:gradFill rotWithShape="0">
            <a:gsLst>
              <a:gs pos="0">
                <a:srgbClr val="4C4C4C">
                  <a:alpha val="30000"/>
                </a:srgbClr>
              </a:gs>
              <a:gs pos="100000">
                <a:srgbClr val="2D2D2D">
                  <a:alpha val="30000"/>
                </a:srgbClr>
              </a:gs>
            </a:gsLst>
            <a:lin ang="5400000" scaled="0"/>
          </a:gradFill>
          <a:ln>
            <a:noFill/>
          </a:ln>
        </p:spPr>
        <p:txBody>
          <a:bodyPr rtlCol="0" anchor="ctr"/>
          <a:lstStyle/>
          <a:p>
            <a:pPr algn="ctr"/>
            <a:endParaRPr/>
          </a:p>
        </p:txBody>
      </p:sp>
      <p:sp>
        <p:nvSpPr>
          <p:cNvPr id="14" name="!!i 4fb58d2d"/>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5" name="!!T The home"/>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alpha val="30000"/>
                  </a:srgbClr>
                </a:solidFill>
                <a:latin typeface="Plus Jakarta Sans"/>
              </a:rPr>
              <a:t>The home</a:t>
            </a:r>
          </a:p>
        </p:txBody>
      </p:sp>
      <p:sp>
        <p:nvSpPr>
          <p:cNvPr id="16" name="!!T The home #2"/>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7" name="!!T HK$11.5M"/>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alpha val="30000"/>
                  </a:srgbClr>
                </a:solidFill>
                <a:latin typeface="Plus Jakarta Sans"/>
              </a:rPr>
              <a:t>HK$11.5M</a:t>
            </a:r>
          </a:p>
        </p:txBody>
      </p:sp>
      <p:sp>
        <p:nvSpPr>
          <p:cNvPr id="18" name="!!T HK$11.5M #2"/>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9" name="!!i b9fa1160"/>
          <p:cNvSpPr/>
          <p:nvPr/>
        </p:nvSpPr>
        <p:spPr>
          <a:xfrm>
            <a:off x="4939903" y="1581745"/>
            <a:ext cx="1303139" cy="514350"/>
          </a:xfrm>
          <a:prstGeom prst="rect">
            <a:avLst/>
          </a:prstGeom>
          <a:solidFill>
            <a:srgbClr val="717171">
              <a:alpha val="30000"/>
            </a:srgbClr>
          </a:solidFill>
          <a:ln>
            <a:noFill/>
          </a:ln>
        </p:spPr>
        <p:txBody>
          <a:bodyPr rtlCol="0" anchor="ctr"/>
          <a:lstStyle/>
          <a:p>
            <a:pPr algn="ctr"/>
            <a:endParaRPr/>
          </a:p>
        </p:txBody>
      </p:sp>
      <p:sp>
        <p:nvSpPr>
          <p:cNvPr id="20" name="!!Rule 042444ff"/>
          <p:cNvSpPr/>
          <p:nvPr/>
        </p:nvSpPr>
        <p:spPr>
          <a:xfrm>
            <a:off x="4939903" y="1581745"/>
            <a:ext cx="19050" cy="514350"/>
          </a:xfrm>
          <a:prstGeom prst="rect">
            <a:avLst/>
          </a:prstGeom>
          <a:solidFill>
            <a:srgbClr val="FFFFFF">
              <a:alpha val="30000"/>
            </a:srgbClr>
          </a:solidFill>
          <a:ln>
            <a:noFill/>
          </a:ln>
        </p:spPr>
        <p:txBody>
          <a:bodyPr rtlCol="0" anchor="ctr"/>
          <a:lstStyle/>
          <a:p>
            <a:pPr algn="ctr"/>
            <a:endParaRPr/>
          </a:p>
        </p:txBody>
      </p:sp>
      <p:sp>
        <p:nvSpPr>
          <p:cNvPr id="21" name="!!i 08516527"/>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22" name="!!Rule 029e13c9"/>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23" name="!!T The business"/>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alpha val="30000"/>
                  </a:srgbClr>
                </a:solidFill>
                <a:latin typeface="Plus Jakarta Sans"/>
              </a:rPr>
              <a:t>The business</a:t>
            </a:r>
          </a:p>
        </p:txBody>
      </p:sp>
      <p:sp>
        <p:nvSpPr>
          <p:cNvPr id="24" name="!!T The business #2"/>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25" name="!!T HK$5.0M"/>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alpha val="30000"/>
                  </a:srgbClr>
                </a:solidFill>
                <a:latin typeface="Plus Jakarta Sans"/>
              </a:rPr>
              <a:t>HK$5.0M</a:t>
            </a:r>
          </a:p>
        </p:txBody>
      </p:sp>
      <p:sp>
        <p:nvSpPr>
          <p:cNvPr id="26" name="!!T HK$5.0M #2"/>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27" name="!!i 9ad48046"/>
          <p:cNvSpPr/>
          <p:nvPr/>
        </p:nvSpPr>
        <p:spPr>
          <a:xfrm>
            <a:off x="6243042" y="1581745"/>
            <a:ext cx="1595140" cy="514350"/>
          </a:xfrm>
          <a:prstGeom prst="rect">
            <a:avLst/>
          </a:prstGeom>
          <a:solidFill>
            <a:srgbClr val="B4B4B4">
              <a:alpha val="30000"/>
            </a:srgbClr>
          </a:solidFill>
          <a:ln>
            <a:noFill/>
          </a:ln>
        </p:spPr>
        <p:txBody>
          <a:bodyPr rtlCol="0" anchor="ctr"/>
          <a:lstStyle/>
          <a:p>
            <a:pPr algn="ctr"/>
            <a:endParaRPr/>
          </a:p>
        </p:txBody>
      </p:sp>
      <p:sp>
        <p:nvSpPr>
          <p:cNvPr id="28" name="!!Rule 8531ca60"/>
          <p:cNvSpPr/>
          <p:nvPr/>
        </p:nvSpPr>
        <p:spPr>
          <a:xfrm>
            <a:off x="6243042" y="1581745"/>
            <a:ext cx="19050" cy="514350"/>
          </a:xfrm>
          <a:prstGeom prst="rect">
            <a:avLst/>
          </a:prstGeom>
          <a:solidFill>
            <a:srgbClr val="FFFFFF">
              <a:alpha val="30000"/>
            </a:srgbClr>
          </a:solidFill>
          <a:ln>
            <a:noFill/>
          </a:ln>
        </p:spPr>
        <p:txBody>
          <a:bodyPr rtlCol="0" anchor="ctr"/>
          <a:lstStyle/>
          <a:p>
            <a:pPr algn="ctr"/>
            <a:endParaRPr/>
          </a:p>
        </p:txBody>
      </p:sp>
      <p:sp>
        <p:nvSpPr>
          <p:cNvPr id="29" name="!!i 813ebadc"/>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30" name="!!Rule 24d0fa7c"/>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31" name="!!T Investments"/>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81818">
                    <a:alpha val="30000"/>
                  </a:srgbClr>
                </a:solidFill>
                <a:latin typeface="Plus Jakarta Sans"/>
              </a:rPr>
              <a:t>Investments</a:t>
            </a:r>
          </a:p>
        </p:txBody>
      </p:sp>
      <p:sp>
        <p:nvSpPr>
          <p:cNvPr id="32" name="!!T Investments #2"/>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33" name="!!T HK$6.1M"/>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81818">
                    <a:alpha val="30000"/>
                  </a:srgbClr>
                </a:solidFill>
                <a:latin typeface="Plus Jakarta Sans"/>
              </a:rPr>
              <a:t>HK$6.1M</a:t>
            </a:r>
          </a:p>
        </p:txBody>
      </p:sp>
      <p:sp>
        <p:nvSpPr>
          <p:cNvPr id="34" name="!!T HK$6.1M #2"/>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35" name="!!i 1d2d697d"/>
          <p:cNvSpPr/>
          <p:nvPr/>
        </p:nvSpPr>
        <p:spPr>
          <a:xfrm>
            <a:off x="7838182" y="1581745"/>
            <a:ext cx="481757" cy="514350"/>
          </a:xfrm>
          <a:prstGeom prst="rect">
            <a:avLst/>
          </a:prstGeom>
          <a:solidFill>
            <a:srgbClr val="E0E0E0">
              <a:alpha val="30000"/>
            </a:srgbClr>
          </a:solidFill>
          <a:ln>
            <a:noFill/>
          </a:ln>
        </p:spPr>
        <p:txBody>
          <a:bodyPr rtlCol="0" anchor="ctr"/>
          <a:lstStyle/>
          <a:p>
            <a:pPr algn="ctr"/>
            <a:endParaRPr/>
          </a:p>
        </p:txBody>
      </p:sp>
      <p:sp>
        <p:nvSpPr>
          <p:cNvPr id="36" name="!!Rule bf5297a4"/>
          <p:cNvSpPr/>
          <p:nvPr/>
        </p:nvSpPr>
        <p:spPr>
          <a:xfrm>
            <a:off x="7838182" y="1581745"/>
            <a:ext cx="19050" cy="514350"/>
          </a:xfrm>
          <a:prstGeom prst="rect">
            <a:avLst/>
          </a:prstGeom>
          <a:solidFill>
            <a:srgbClr val="FFFFFF">
              <a:alpha val="30000"/>
            </a:srgbClr>
          </a:solidFill>
          <a:ln>
            <a:noFill/>
          </a:ln>
        </p:spPr>
        <p:txBody>
          <a:bodyPr rtlCol="0" anchor="ctr"/>
          <a:lstStyle/>
          <a:p>
            <a:pPr algn="ctr"/>
            <a:endParaRPr/>
          </a:p>
        </p:txBody>
      </p:sp>
      <p:sp>
        <p:nvSpPr>
          <p:cNvPr id="37" name="!!i 41bc7407"/>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38" name="!!Rule 92e62bfc"/>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39" name="!!i b7e8a46d"/>
          <p:cNvSpPr/>
          <p:nvPr/>
        </p:nvSpPr>
        <p:spPr>
          <a:xfrm>
            <a:off x="8319939" y="1581745"/>
            <a:ext cx="651123" cy="514350"/>
          </a:xfrm>
          <a:prstGeom prst="rect">
            <a:avLst/>
          </a:prstGeom>
          <a:solidFill>
            <a:srgbClr val="D5D5D5">
              <a:alpha val="30000"/>
            </a:srgbClr>
          </a:solidFill>
          <a:ln>
            <a:noFill/>
          </a:ln>
        </p:spPr>
        <p:txBody>
          <a:bodyPr rtlCol="0" anchor="ctr"/>
          <a:lstStyle/>
          <a:p>
            <a:pPr algn="ctr"/>
            <a:endParaRPr/>
          </a:p>
        </p:txBody>
      </p:sp>
      <p:sp>
        <p:nvSpPr>
          <p:cNvPr id="40" name="!!Rule f77397ce"/>
          <p:cNvSpPr/>
          <p:nvPr/>
        </p:nvSpPr>
        <p:spPr>
          <a:xfrm>
            <a:off x="8319939" y="1581745"/>
            <a:ext cx="19050" cy="514350"/>
          </a:xfrm>
          <a:prstGeom prst="rect">
            <a:avLst/>
          </a:prstGeom>
          <a:solidFill>
            <a:srgbClr val="FFFFFF">
              <a:alpha val="30000"/>
            </a:srgbClr>
          </a:solidFill>
          <a:ln>
            <a:noFill/>
          </a:ln>
        </p:spPr>
        <p:txBody>
          <a:bodyPr rtlCol="0" anchor="ctr"/>
          <a:lstStyle/>
          <a:p>
            <a:pPr algn="ctr"/>
            <a:endParaRPr/>
          </a:p>
        </p:txBody>
      </p:sp>
      <p:sp>
        <p:nvSpPr>
          <p:cNvPr id="41" name="!!i ec5ec3db"/>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42" name="!!Rule 3b47d71b"/>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43" name="!!i 53417b33"/>
          <p:cNvSpPr/>
          <p:nvPr/>
        </p:nvSpPr>
        <p:spPr>
          <a:xfrm>
            <a:off x="8971062" y="1581745"/>
            <a:ext cx="57299" cy="514350"/>
          </a:xfrm>
          <a:prstGeom prst="rect">
            <a:avLst/>
          </a:prstGeom>
          <a:solidFill>
            <a:srgbClr val="A1A1A1">
              <a:alpha val="30000"/>
            </a:srgbClr>
          </a:solidFill>
          <a:ln>
            <a:noFill/>
          </a:ln>
        </p:spPr>
        <p:txBody>
          <a:bodyPr rtlCol="0" anchor="ctr"/>
          <a:lstStyle/>
          <a:p>
            <a:pPr algn="ctr"/>
            <a:endParaRPr/>
          </a:p>
        </p:txBody>
      </p:sp>
      <p:sp>
        <p:nvSpPr>
          <p:cNvPr id="44" name="!!Rule f355697b"/>
          <p:cNvSpPr/>
          <p:nvPr/>
        </p:nvSpPr>
        <p:spPr>
          <a:xfrm>
            <a:off x="8971062" y="1581745"/>
            <a:ext cx="19050" cy="514350"/>
          </a:xfrm>
          <a:prstGeom prst="rect">
            <a:avLst/>
          </a:prstGeom>
          <a:solidFill>
            <a:srgbClr val="FFFFFF">
              <a:alpha val="30000"/>
            </a:srgbClr>
          </a:solidFill>
          <a:ln>
            <a:noFill/>
          </a:ln>
        </p:spPr>
        <p:txBody>
          <a:bodyPr rtlCol="0" anchor="ctr"/>
          <a:lstStyle/>
          <a:p>
            <a:pPr algn="ctr"/>
            <a:endParaRPr/>
          </a:p>
        </p:txBody>
      </p:sp>
      <p:sp>
        <p:nvSpPr>
          <p:cNvPr id="45" name="!!i 1e5b7260"/>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46" name="!!Rule 15f016e0"/>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47" name="!!Rule 5060de04"/>
          <p:cNvSpPr/>
          <p:nvPr/>
        </p:nvSpPr>
        <p:spPr>
          <a:xfrm>
            <a:off x="7838331" y="2096095"/>
            <a:ext cx="9525" cy="211336"/>
          </a:xfrm>
          <a:prstGeom prst="rect">
            <a:avLst/>
          </a:prstGeom>
          <a:solidFill>
            <a:srgbClr val="A1A1A1">
              <a:alpha val="30000"/>
            </a:srgbClr>
          </a:solidFill>
          <a:ln>
            <a:noFill/>
          </a:ln>
        </p:spPr>
        <p:txBody>
          <a:bodyPr rtlCol="0" anchor="ctr"/>
          <a:lstStyle/>
          <a:p>
            <a:pPr algn="ctr"/>
            <a:endParaRPr/>
          </a:p>
        </p:txBody>
      </p:sp>
      <p:sp>
        <p:nvSpPr>
          <p:cNvPr id="48" name="!!Rule 9c54e67f"/>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49" name="!!T MPF, HK$1.9M"/>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81818">
                    <a:alpha val="30000"/>
                  </a:srgbClr>
                </a:solidFill>
                <a:latin typeface="Plus Jakarta Sans SemiBold"/>
              </a:rPr>
              <a:t>MPF,</a:t>
            </a:r>
            <a:r>
              <a:rPr sz="1050" b="0" i="0" kern="100">
                <a:solidFill>
                  <a:srgbClr val="6B6B6B">
                    <a:alpha val="30000"/>
                  </a:srgbClr>
                </a:solidFill>
                <a:latin typeface="Plus Jakarta Sans"/>
              </a:rPr>
              <a:t> HK$1.9M</a:t>
            </a:r>
          </a:p>
        </p:txBody>
      </p:sp>
      <p:sp>
        <p:nvSpPr>
          <p:cNvPr id="50" name="!!T MPF, HK$1.9M #2"/>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51" name="!!Rule 0079ef4f"/>
          <p:cNvSpPr/>
          <p:nvPr/>
        </p:nvSpPr>
        <p:spPr>
          <a:xfrm>
            <a:off x="8962876" y="2096095"/>
            <a:ext cx="9525" cy="420886"/>
          </a:xfrm>
          <a:prstGeom prst="rect">
            <a:avLst/>
          </a:prstGeom>
          <a:solidFill>
            <a:srgbClr val="A1A1A1">
              <a:alpha val="30000"/>
            </a:srgbClr>
          </a:solidFill>
          <a:ln>
            <a:noFill/>
          </a:ln>
        </p:spPr>
        <p:txBody>
          <a:bodyPr rtlCol="0" anchor="ctr"/>
          <a:lstStyle/>
          <a:p>
            <a:pPr algn="ctr"/>
            <a:endParaRPr/>
          </a:p>
        </p:txBody>
      </p:sp>
      <p:sp>
        <p:nvSpPr>
          <p:cNvPr id="52" name="!!Rule 44c26aef"/>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53" name="!!T Cash, HK$2.5M: 30 months of spending"/>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81818">
                    <a:alpha val="30000"/>
                  </a:srgbClr>
                </a:solidFill>
                <a:latin typeface="Plus Jakarta Sans SemiBold"/>
              </a:rPr>
              <a:t>Cash, HK$2.5M:</a:t>
            </a:r>
            <a:r>
              <a:rPr sz="1050" b="0" i="0" kern="100">
                <a:solidFill>
                  <a:srgbClr val="6B6B6B">
                    <a:alpha val="30000"/>
                  </a:srgbClr>
                </a:solidFill>
                <a:latin typeface="Plus Jakarta Sans"/>
              </a:rPr>
              <a:t> 30 months of spending</a:t>
            </a:r>
          </a:p>
        </p:txBody>
      </p:sp>
      <p:sp>
        <p:nvSpPr>
          <p:cNvPr id="54" name="!!T Cash, HK$2.5M: 30 months of spending #2"/>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55" name="!!Rule 4b5e2ae9"/>
          <p:cNvSpPr/>
          <p:nvPr/>
        </p:nvSpPr>
        <p:spPr>
          <a:xfrm>
            <a:off x="9258300" y="1581745"/>
            <a:ext cx="9525" cy="1575197"/>
          </a:xfrm>
          <a:prstGeom prst="rect">
            <a:avLst/>
          </a:prstGeom>
          <a:solidFill>
            <a:srgbClr val="E0E0E0">
              <a:alpha val="30000"/>
            </a:srgbClr>
          </a:solidFill>
          <a:ln>
            <a:noFill/>
          </a:ln>
        </p:spPr>
        <p:txBody>
          <a:bodyPr rtlCol="0" anchor="ctr"/>
          <a:lstStyle/>
          <a:p>
            <a:pPr algn="ctr"/>
            <a:endParaRPr/>
          </a:p>
        </p:txBody>
      </p:sp>
      <p:sp>
        <p:nvSpPr>
          <p:cNvPr id="56" name="!!Rule ab87bb48"/>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57" name="!!T HK$24.4M"/>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474747">
                    <a:alpha val="30000"/>
                  </a:srgbClr>
                </a:solidFill>
                <a:latin typeface="Plus Jakarta Sans"/>
              </a:rPr>
              <a:t>HK$24.4M</a:t>
            </a:r>
          </a:p>
        </p:txBody>
      </p:sp>
      <p:sp>
        <p:nvSpPr>
          <p:cNvPr id="58" name="!!T HK$24.4M #2"/>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59" name="!!T net worth today"/>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81818">
                    <a:alpha val="30000"/>
                  </a:srgbClr>
                </a:solidFill>
                <a:latin typeface="Plus Jakarta Sans"/>
              </a:rPr>
              <a:t>net worth today</a:t>
            </a:r>
          </a:p>
        </p:txBody>
      </p:sp>
      <p:sp>
        <p:nvSpPr>
          <p:cNvPr id="60" name="!!T net worth today #2"/>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61" name="!!T what they own, less what they owe"/>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6B6B6B">
                    <a:alpha val="30000"/>
                  </a:srgbClr>
                </a:solidFill>
                <a:latin typeface="Plus Jakarta Sans"/>
              </a:rPr>
              <a:t>what they own, less what they owe</a:t>
            </a:r>
          </a:p>
        </p:txBody>
      </p:sp>
      <p:sp>
        <p:nvSpPr>
          <p:cNvPr id="62" name="!!T what they own, less what they owe #2"/>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63" name="!!Rule 9fbe3269"/>
          <p:cNvSpPr/>
          <p:nvPr/>
        </p:nvSpPr>
        <p:spPr>
          <a:xfrm>
            <a:off x="9439275" y="2593181"/>
            <a:ext cx="2295525" cy="9525"/>
          </a:xfrm>
          <a:prstGeom prst="rect">
            <a:avLst/>
          </a:prstGeom>
          <a:solidFill>
            <a:srgbClr val="E0E0E0">
              <a:alpha val="30000"/>
            </a:srgbClr>
          </a:solidFill>
          <a:ln>
            <a:noFill/>
          </a:ln>
        </p:spPr>
        <p:txBody>
          <a:bodyPr rtlCol="0" anchor="ctr"/>
          <a:lstStyle/>
          <a:p>
            <a:pPr algn="ctr"/>
            <a:endParaRPr/>
          </a:p>
        </p:txBody>
      </p:sp>
      <p:sp>
        <p:nvSpPr>
          <p:cNvPr id="64" name="!!Rule e85b9e59"/>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65" name="!!T 41%"/>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81818">
                    <a:alpha val="30000"/>
                  </a:srgbClr>
                </a:solidFill>
                <a:latin typeface="Plus Jakarta Sans"/>
              </a:rPr>
              <a:t>41%</a:t>
            </a:r>
          </a:p>
        </p:txBody>
      </p:sp>
      <p:sp>
        <p:nvSpPr>
          <p:cNvPr id="66" name="!!T 41% #2"/>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67" name="!!T of after-tax income saved each year"/>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6B6B6B">
                    <a:alpha val="30000"/>
                  </a:srgbClr>
                </a:solidFill>
                <a:latin typeface="Plus Jakarta Sans"/>
              </a:rPr>
              <a:t>of after-tax income saved each year</a:t>
            </a:r>
          </a:p>
        </p:txBody>
      </p:sp>
      <p:sp>
        <p:nvSpPr>
          <p:cNvPr id="68" name="!!T of after-tax income saved each year #2"/>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69" name="!!T What they owe"/>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81818">
                    <a:alpha val="30000"/>
                  </a:srgbClr>
                </a:solidFill>
                <a:latin typeface="Plus Jakarta Sans"/>
              </a:rPr>
              <a:t>What they owe</a:t>
            </a:r>
          </a:p>
        </p:txBody>
      </p:sp>
      <p:sp>
        <p:nvSpPr>
          <p:cNvPr id="70" name="!!T What they owe #2"/>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71" name="!!T HK$2.8M"/>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6B6B6B">
                    <a:alpha val="30000"/>
                  </a:srgbClr>
                </a:solidFill>
                <a:latin typeface="Plus Jakarta Sans SemiBold"/>
              </a:rPr>
              <a:t>HK$2.8M</a:t>
            </a:r>
          </a:p>
        </p:txBody>
      </p:sp>
      <p:sp>
        <p:nvSpPr>
          <p:cNvPr id="72" name="!!T HK$2.8M #2"/>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73" name="!!i 6db690b1"/>
          <p:cNvSpPr/>
          <p:nvPr/>
        </p:nvSpPr>
        <p:spPr>
          <a:xfrm>
            <a:off x="1943100" y="2682776"/>
            <a:ext cx="469106" cy="266700"/>
          </a:xfrm>
          <a:prstGeom prst="rect">
            <a:avLst/>
          </a:prstGeom>
          <a:solidFill>
            <a:srgbClr val="6B6B6B">
              <a:alpha val="30000"/>
            </a:srgbClr>
          </a:solidFill>
          <a:ln>
            <a:noFill/>
          </a:ln>
        </p:spPr>
        <p:txBody>
          <a:bodyPr rtlCol="0" anchor="ctr"/>
          <a:lstStyle/>
          <a:p>
            <a:pPr algn="ctr"/>
            <a:endParaRPr/>
          </a:p>
        </p:txBody>
      </p:sp>
      <p:sp>
        <p:nvSpPr>
          <p:cNvPr id="74" name="!!i 10cf17ab"/>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75" name="!!i ba97adf1"/>
          <p:cNvSpPr/>
          <p:nvPr/>
        </p:nvSpPr>
        <p:spPr>
          <a:xfrm>
            <a:off x="2412206" y="2682776"/>
            <a:ext cx="234553" cy="266700"/>
          </a:xfrm>
          <a:prstGeom prst="rect">
            <a:avLst/>
          </a:prstGeom>
          <a:solidFill>
            <a:srgbClr val="6B6B6B">
              <a:alpha val="30000"/>
            </a:srgbClr>
          </a:solidFill>
          <a:ln>
            <a:noFill/>
          </a:ln>
        </p:spPr>
        <p:txBody>
          <a:bodyPr rtlCol="0" anchor="ctr"/>
          <a:lstStyle/>
          <a:p>
            <a:pPr algn="ctr"/>
            <a:endParaRPr/>
          </a:p>
        </p:txBody>
      </p:sp>
      <p:sp>
        <p:nvSpPr>
          <p:cNvPr id="76" name="!!Rule 8b40a4cc"/>
          <p:cNvSpPr/>
          <p:nvPr/>
        </p:nvSpPr>
        <p:spPr>
          <a:xfrm>
            <a:off x="2412206" y="2682776"/>
            <a:ext cx="19050" cy="266700"/>
          </a:xfrm>
          <a:prstGeom prst="rect">
            <a:avLst/>
          </a:prstGeom>
          <a:solidFill>
            <a:srgbClr val="FFFFFF">
              <a:alpha val="30000"/>
            </a:srgbClr>
          </a:solidFill>
          <a:ln>
            <a:noFill/>
          </a:ln>
        </p:spPr>
        <p:txBody>
          <a:bodyPr rtlCol="0" anchor="ctr"/>
          <a:lstStyle/>
          <a:p>
            <a:pPr algn="ctr"/>
            <a:endParaRPr/>
          </a:p>
        </p:txBody>
      </p:sp>
      <p:sp>
        <p:nvSpPr>
          <p:cNvPr id="77" name="!!i 9775f138"/>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78" name="!!Rule 2a2f75f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79" name="!!i f78a4c8a"/>
          <p:cNvSpPr/>
          <p:nvPr/>
        </p:nvSpPr>
        <p:spPr>
          <a:xfrm>
            <a:off x="2646759" y="2682776"/>
            <a:ext cx="21878" cy="266700"/>
          </a:xfrm>
          <a:prstGeom prst="rect">
            <a:avLst/>
          </a:prstGeom>
          <a:solidFill>
            <a:srgbClr val="6B6B6B">
              <a:alpha val="30000"/>
            </a:srgbClr>
          </a:solidFill>
          <a:ln>
            <a:noFill/>
          </a:ln>
        </p:spPr>
        <p:txBody>
          <a:bodyPr rtlCol="0" anchor="ctr"/>
          <a:lstStyle/>
          <a:p>
            <a:pPr algn="ctr"/>
            <a:endParaRPr/>
          </a:p>
        </p:txBody>
      </p:sp>
      <p:sp>
        <p:nvSpPr>
          <p:cNvPr id="80" name="!!Rule 9d1bcfff"/>
          <p:cNvSpPr/>
          <p:nvPr/>
        </p:nvSpPr>
        <p:spPr>
          <a:xfrm>
            <a:off x="2646759" y="2682776"/>
            <a:ext cx="19050" cy="266700"/>
          </a:xfrm>
          <a:prstGeom prst="rect">
            <a:avLst/>
          </a:prstGeom>
          <a:solidFill>
            <a:srgbClr val="FFFFFF">
              <a:alpha val="30000"/>
            </a:srgbClr>
          </a:solidFill>
          <a:ln>
            <a:noFill/>
          </a:ln>
        </p:spPr>
        <p:txBody>
          <a:bodyPr rtlCol="0" anchor="ctr"/>
          <a:lstStyle/>
          <a:p>
            <a:pPr algn="ctr"/>
            <a:endParaRPr/>
          </a:p>
        </p:txBody>
      </p:sp>
      <p:sp>
        <p:nvSpPr>
          <p:cNvPr id="81" name="!!i 34dd1154"/>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82" name="!!Rule 9312a44d"/>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83" name="!!T 10% of what they own: the mortgage, a bu"/>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81818">
                    <a:alpha val="30000"/>
                  </a:srgbClr>
                </a:solidFill>
                <a:latin typeface="Plus Jakarta Sans SemiBold"/>
              </a:rPr>
              <a:t>10% of what they own:</a:t>
            </a:r>
            <a:r>
              <a:rPr sz="1050" b="0" i="0" kern="100">
                <a:solidFill>
                  <a:srgbClr val="6B6B6B">
                    <a:alpha val="30000"/>
                  </a:srgbClr>
                </a:solidFill>
                <a:latin typeface="Plus Jakarta Sans"/>
              </a:rPr>
              <a:t> the mortgage, a business loan, a card balance</a:t>
            </a:r>
          </a:p>
        </p:txBody>
      </p:sp>
      <p:sp>
        <p:nvSpPr>
          <p:cNvPr id="84" name="!!T 10% of what they own: the mortgage, a bu #2"/>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85" name="!!Rule 167e5300"/>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86" name="!!T …and the forty years it has to las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87" name="!!i 22515991"/>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88" name="!!i 91c6b93e"/>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89" name="!!i 699b56e0"/>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90" name="!!T Both retired from 2039: 27 years paid fr"/>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91" name="!!ps-el 8178b22b"/>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92" name="!!span 82bf619f"/>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93" name="!!Picture 7161207e" descr="image.jpg"/>
          <p:cNvPicPr>
            <a:picLocks noChangeAspect="1"/>
          </p:cNvPicPr>
          <p:nvPr/>
        </p:nvPicPr>
        <p:blipFill>
          <a:blip r:embed="rId3"/>
          <a:stretch>
            <a:fillRect/>
          </a:stretch>
        </p:blipFill>
        <p:spPr>
          <a:xfrm>
            <a:off x="457200" y="3695700"/>
            <a:ext cx="495300" cy="495300"/>
          </a:xfrm>
          <a:prstGeom prst="ellipse">
            <a:avLst/>
          </a:prstGeom>
        </p:spPr>
      </p:pic>
      <p:sp>
        <p:nvSpPr>
          <p:cNvPr id="94" name="!!T Ryan, 24"/>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95" name="!!T holds crypto; his own plan"/>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96" name="!!ps-el 2b108506"/>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97" name="!!ps-el fbd59545"/>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98" name="!!span d7eaa2f5"/>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99" name="!!Picture 40d6a68f" descr="image.jpg"/>
          <p:cNvPicPr>
            <a:picLocks noChangeAspect="1"/>
          </p:cNvPicPr>
          <p:nvPr/>
        </p:nvPicPr>
        <p:blipFill>
          <a:blip r:embed="rId4"/>
          <a:stretch>
            <a:fillRect/>
          </a:stretch>
        </p:blipFill>
        <p:spPr>
          <a:xfrm>
            <a:off x="3490317" y="3695700"/>
            <a:ext cx="495300" cy="495300"/>
          </a:xfrm>
          <a:prstGeom prst="ellipse">
            <a:avLst/>
          </a:prstGeom>
        </p:spPr>
      </p:pic>
      <p:sp>
        <p:nvSpPr>
          <p:cNvPr id="100" name="!!T Adrian, 54"/>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101" name="!!T protect capital and health; retires 2037"/>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102" name="!!ps-el bb9503de"/>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103" name="!!ps-el 91281482"/>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104" name="!!span 6f50d65b"/>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105" name="!!Picture fe9643a6" descr="image.jpg"/>
          <p:cNvPicPr>
            <a:picLocks noChangeAspect="1"/>
          </p:cNvPicPr>
          <p:nvPr/>
        </p:nvPicPr>
        <p:blipFill>
          <a:blip r:embed="rId5"/>
          <a:stretch>
            <a:fillRect/>
          </a:stretch>
        </p:blipFill>
        <p:spPr>
          <a:xfrm>
            <a:off x="1008608" y="5181600"/>
            <a:ext cx="495300" cy="495300"/>
          </a:xfrm>
          <a:prstGeom prst="ellipse">
            <a:avLst/>
          </a:prstGeom>
        </p:spPr>
      </p:pic>
      <p:sp>
        <p:nvSpPr>
          <p:cNvPr id="106" name="!!T Chloe, 16"/>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107" name="!!T university, 2028 to 203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108" name="!!ps-el a15ac832"/>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109" name="!!ps-el c53fa193"/>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110" name="!!span ed854b46"/>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111" name="!!Picture 1bc9f370" descr="image.jpg"/>
          <p:cNvPicPr>
            <a:picLocks noChangeAspect="1"/>
          </p:cNvPicPr>
          <p:nvPr/>
        </p:nvPicPr>
        <p:blipFill>
          <a:blip r:embed="rId6"/>
          <a:stretch>
            <a:fillRect/>
          </a:stretch>
        </p:blipFill>
        <p:spPr>
          <a:xfrm>
            <a:off x="4041874" y="5181600"/>
            <a:ext cx="495300" cy="495300"/>
          </a:xfrm>
          <a:prstGeom prst="ellipse">
            <a:avLst/>
          </a:prstGeom>
        </p:spPr>
      </p:pic>
      <p:sp>
        <p:nvSpPr>
          <p:cNvPr id="112" name="!!T Carmen, 49"/>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113" name="!!T her values; retires 2039"/>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114" name="!!ps-el f06f4fd0"/>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115" name="!!T 2066: Carmen is 89"/>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116" name="!!T the money must last to here"/>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117" name="!!Rule 61335b6a"/>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118" name="!!p 141984eb"/>
          <p:cNvSpPr/>
          <p:nvPr/>
        </p:nvSpPr>
        <p:spPr>
          <a:xfrm>
            <a:off x="457200" y="5886450"/>
            <a:ext cx="11277600" cy="476250"/>
          </a:xfrm>
          <a:prstGeom prst="rect">
            <a:avLst/>
          </a:prstGeom>
          <a:solidFill>
            <a:srgbClr val="181818">
              <a:alpha val="30000"/>
            </a:srgbClr>
          </a:solidFill>
          <a:ln>
            <a:noFill/>
          </a:ln>
        </p:spPr>
        <p:txBody>
          <a:bodyPr rtlCol="0" anchor="ctr"/>
          <a:lstStyle/>
          <a:p>
            <a:pPr algn="ctr"/>
            <a:endParaRPr/>
          </a:p>
        </p:txBody>
      </p:sp>
      <p:sp>
        <p:nvSpPr>
          <p:cNvPr id="119"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120" name="!!T But will it last to Carmen's 89? We tes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alpha val="30000"/>
                  </a:srgbClr>
                </a:solidFill>
                <a:latin typeface="Plus Jakarta Sans SemiBold"/>
              </a:rPr>
              <a:t>But will it last to Carmen's 89? We tested it in 10,000 futures.</a:t>
            </a:r>
          </a:p>
        </p:txBody>
      </p:sp>
      <p:sp>
        <p:nvSpPr>
          <p:cNvPr id="121" name="!!T But will it last to Carmen's 89? We test #2"/>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122" name="!!T Case: statement of assets and liabilitie"/>
          <p:cNvSpPr txBox="1"/>
          <p:nvPr/>
        </p:nvSpPr>
        <p:spPr>
          <a:xfrm>
            <a:off x="457200" y="6452104"/>
            <a:ext cx="637491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 last sliver, a</a:t>
            </a:r>
          </a:p>
          <a:p>
            <a:pPr algn="l">
              <a:lnSpc>
                <a:spcPts val="1170"/>
              </a:lnSpc>
              <a:spcBef>
                <a:spcPts val="0"/>
              </a:spcBef>
              <a:spcAft>
                <a:spcPts val="0"/>
              </a:spcAft>
            </a:pPr>
            <a:r>
              <a:rPr sz="900" b="0" i="0" kern="100">
                <a:solidFill>
                  <a:srgbClr val="80606A"/>
                </a:solidFill>
                <a:latin typeface="Plus Jakarta Sans"/>
              </a:rPr>
              <a:t>car, HK$0.2M); savings after tax and MPF (written case §2). Portraits: illustrations, fictional.</a:t>
            </a:r>
          </a:p>
        </p:txBody>
      </p:sp>
      <p:sp>
        <p:nvSpPr>
          <p:cNvPr id="123" name="!!T The problem"/>
          <p:cNvSpPr txBox="1"/>
          <p:nvPr/>
        </p:nvSpPr>
        <p:spPr>
          <a:xfrm>
            <a:off x="668387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124" name="!!T The answer"/>
          <p:cNvSpPr txBox="1"/>
          <p:nvPr/>
        </p:nvSpPr>
        <p:spPr>
          <a:xfrm>
            <a:off x="764113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125" name="!!T The five calls"/>
          <p:cNvSpPr txBox="1"/>
          <p:nvPr/>
        </p:nvSpPr>
        <p:spPr>
          <a:xfrm>
            <a:off x="850136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126" name="!!T Will it hold"/>
          <p:cNvSpPr txBox="1"/>
          <p:nvPr/>
        </p:nvSpPr>
        <p:spPr>
          <a:xfrm>
            <a:off x="94382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127" name="!!T What next"/>
          <p:cNvSpPr txBox="1"/>
          <p:nvPr/>
        </p:nvSpPr>
        <p:spPr>
          <a:xfrm>
            <a:off x="102362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128" name="!!T Us"/>
          <p:cNvSpPr txBox="1"/>
          <p:nvPr/>
        </p:nvSpPr>
        <p:spPr>
          <a:xfrm>
            <a:off x="110315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129" name="!!T 2 / 15"/>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3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300"/>
                                        <p:tgtEl>
                                          <p:spTgt spid="1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300"/>
                                        <p:tgtEl>
                                          <p:spTgt spid="1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300"/>
                                        <p:tgtEl>
                                          <p:spTgt spid="2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300"/>
                                        <p:tgtEl>
                                          <p:spTgt spid="2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3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300"/>
                                        <p:tgtEl>
                                          <p:spTgt spid="2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300"/>
                                        <p:tgtEl>
                                          <p:spTgt spid="2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300"/>
                                        <p:tgtEl>
                                          <p:spTgt spid="3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3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3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3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3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1"/>
                                        </p:tgtEl>
                                        <p:attrNameLst>
                                          <p:attrName>style.visibility</p:attrName>
                                        </p:attrNameLst>
                                      </p:cBhvr>
                                      <p:to>
                                        <p:strVal val="visible"/>
                                      </p:to>
                                    </p:set>
                                    <p:animEffect transition="in" filter="fade">
                                      <p:cBhvr>
                                        <p:cTn id="58" dur="300"/>
                                        <p:tgtEl>
                                          <p:spTgt spid="4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2"/>
                                        </p:tgtEl>
                                        <p:attrNameLst>
                                          <p:attrName>style.visibility</p:attrName>
                                        </p:attrNameLst>
                                      </p:cBhvr>
                                      <p:to>
                                        <p:strVal val="visible"/>
                                      </p:to>
                                    </p:set>
                                    <p:animEffect transition="in" filter="fade">
                                      <p:cBhvr>
                                        <p:cTn id="61" dur="300"/>
                                        <p:tgtEl>
                                          <p:spTgt spid="4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300"/>
                                        <p:tgtEl>
                                          <p:spTgt spid="4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300"/>
                                        <p:tgtEl>
                                          <p:spTgt spid="4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8"/>
                                        </p:tgtEl>
                                        <p:attrNameLst>
                                          <p:attrName>style.visibility</p:attrName>
                                        </p:attrNameLst>
                                      </p:cBhvr>
                                      <p:to>
                                        <p:strVal val="visible"/>
                                      </p:to>
                                    </p:set>
                                    <p:animEffect transition="in" filter="fade">
                                      <p:cBhvr>
                                        <p:cTn id="70" dur="300"/>
                                        <p:tgtEl>
                                          <p:spTgt spid="4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0"/>
                                        </p:tgtEl>
                                        <p:attrNameLst>
                                          <p:attrName>style.visibility</p:attrName>
                                        </p:attrNameLst>
                                      </p:cBhvr>
                                      <p:to>
                                        <p:strVal val="visible"/>
                                      </p:to>
                                    </p:set>
                                    <p:animEffect transition="in" filter="fade">
                                      <p:cBhvr>
                                        <p:cTn id="73" dur="300"/>
                                        <p:tgtEl>
                                          <p:spTgt spid="5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2"/>
                                        </p:tgtEl>
                                        <p:attrNameLst>
                                          <p:attrName>style.visibility</p:attrName>
                                        </p:attrNameLst>
                                      </p:cBhvr>
                                      <p:to>
                                        <p:strVal val="visible"/>
                                      </p:to>
                                    </p:set>
                                    <p:animEffect transition="in" filter="fade">
                                      <p:cBhvr>
                                        <p:cTn id="76" dur="300"/>
                                        <p:tgtEl>
                                          <p:spTgt spid="5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4"/>
                                        </p:tgtEl>
                                        <p:attrNameLst>
                                          <p:attrName>style.visibility</p:attrName>
                                        </p:attrNameLst>
                                      </p:cBhvr>
                                      <p:to>
                                        <p:strVal val="visible"/>
                                      </p:to>
                                    </p:set>
                                    <p:animEffect transition="in" filter="fade">
                                      <p:cBhvr>
                                        <p:cTn id="79" dur="300"/>
                                        <p:tgtEl>
                                          <p:spTgt spid="54"/>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6"/>
                                        </p:tgtEl>
                                        <p:attrNameLst>
                                          <p:attrName>style.visibility</p:attrName>
                                        </p:attrNameLst>
                                      </p:cBhvr>
                                      <p:to>
                                        <p:strVal val="visible"/>
                                      </p:to>
                                    </p:set>
                                    <p:animEffect transition="in" filter="fade">
                                      <p:cBhvr>
                                        <p:cTn id="82" dur="300"/>
                                        <p:tgtEl>
                                          <p:spTgt spid="5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3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0"/>
                                        </p:tgtEl>
                                        <p:attrNameLst>
                                          <p:attrName>style.visibility</p:attrName>
                                        </p:attrNameLst>
                                      </p:cBhvr>
                                      <p:to>
                                        <p:strVal val="visible"/>
                                      </p:to>
                                    </p:set>
                                    <p:animEffect transition="in" filter="fade">
                                      <p:cBhvr>
                                        <p:cTn id="88" dur="300"/>
                                        <p:tgtEl>
                                          <p:spTgt spid="60"/>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2"/>
                                        </p:tgtEl>
                                        <p:attrNameLst>
                                          <p:attrName>style.visibility</p:attrName>
                                        </p:attrNameLst>
                                      </p:cBhvr>
                                      <p:to>
                                        <p:strVal val="visible"/>
                                      </p:to>
                                    </p:set>
                                    <p:animEffect transition="in" filter="fade">
                                      <p:cBhvr>
                                        <p:cTn id="91" dur="300"/>
                                        <p:tgtEl>
                                          <p:spTgt spid="62"/>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3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6"/>
                                        </p:tgtEl>
                                        <p:attrNameLst>
                                          <p:attrName>style.visibility</p:attrName>
                                        </p:attrNameLst>
                                      </p:cBhvr>
                                      <p:to>
                                        <p:strVal val="visible"/>
                                      </p:to>
                                    </p:set>
                                    <p:animEffect transition="in" filter="fade">
                                      <p:cBhvr>
                                        <p:cTn id="97" dur="300"/>
                                        <p:tgtEl>
                                          <p:spTgt spid="6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8"/>
                                        </p:tgtEl>
                                        <p:attrNameLst>
                                          <p:attrName>style.visibility</p:attrName>
                                        </p:attrNameLst>
                                      </p:cBhvr>
                                      <p:to>
                                        <p:strVal val="visible"/>
                                      </p:to>
                                    </p:set>
                                    <p:animEffect transition="in" filter="fade">
                                      <p:cBhvr>
                                        <p:cTn id="100" dur="300"/>
                                        <p:tgtEl>
                                          <p:spTgt spid="68"/>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70"/>
                                        </p:tgtEl>
                                        <p:attrNameLst>
                                          <p:attrName>style.visibility</p:attrName>
                                        </p:attrNameLst>
                                      </p:cBhvr>
                                      <p:to>
                                        <p:strVal val="visible"/>
                                      </p:to>
                                    </p:set>
                                    <p:animEffect transition="in" filter="fade">
                                      <p:cBhvr>
                                        <p:cTn id="103" dur="300"/>
                                        <p:tgtEl>
                                          <p:spTgt spid="7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72"/>
                                        </p:tgtEl>
                                        <p:attrNameLst>
                                          <p:attrName>style.visibility</p:attrName>
                                        </p:attrNameLst>
                                      </p:cBhvr>
                                      <p:to>
                                        <p:strVal val="visible"/>
                                      </p:to>
                                    </p:set>
                                    <p:animEffect transition="in" filter="fade">
                                      <p:cBhvr>
                                        <p:cTn id="106" dur="300"/>
                                        <p:tgtEl>
                                          <p:spTgt spid="72"/>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74"/>
                                        </p:tgtEl>
                                        <p:attrNameLst>
                                          <p:attrName>style.visibility</p:attrName>
                                        </p:attrNameLst>
                                      </p:cBhvr>
                                      <p:to>
                                        <p:strVal val="visible"/>
                                      </p:to>
                                    </p:set>
                                    <p:animEffect transition="in" filter="fade">
                                      <p:cBhvr>
                                        <p:cTn id="109" dur="300"/>
                                        <p:tgtEl>
                                          <p:spTgt spid="74"/>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7"/>
                                        </p:tgtEl>
                                        <p:attrNameLst>
                                          <p:attrName>style.visibility</p:attrName>
                                        </p:attrNameLst>
                                      </p:cBhvr>
                                      <p:to>
                                        <p:strVal val="visible"/>
                                      </p:to>
                                    </p:set>
                                    <p:animEffect transition="in" filter="fade">
                                      <p:cBhvr>
                                        <p:cTn id="112" dur="300"/>
                                        <p:tgtEl>
                                          <p:spTgt spid="7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78"/>
                                        </p:tgtEl>
                                        <p:attrNameLst>
                                          <p:attrName>style.visibility</p:attrName>
                                        </p:attrNameLst>
                                      </p:cBhvr>
                                      <p:to>
                                        <p:strVal val="visible"/>
                                      </p:to>
                                    </p:set>
                                    <p:animEffect transition="in" filter="fade">
                                      <p:cBhvr>
                                        <p:cTn id="115" dur="300"/>
                                        <p:tgtEl>
                                          <p:spTgt spid="7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81"/>
                                        </p:tgtEl>
                                        <p:attrNameLst>
                                          <p:attrName>style.visibility</p:attrName>
                                        </p:attrNameLst>
                                      </p:cBhvr>
                                      <p:to>
                                        <p:strVal val="visible"/>
                                      </p:to>
                                    </p:set>
                                    <p:animEffect transition="in" filter="fade">
                                      <p:cBhvr>
                                        <p:cTn id="118" dur="300"/>
                                        <p:tgtEl>
                                          <p:spTgt spid="81"/>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82"/>
                                        </p:tgtEl>
                                        <p:attrNameLst>
                                          <p:attrName>style.visibility</p:attrName>
                                        </p:attrNameLst>
                                      </p:cBhvr>
                                      <p:to>
                                        <p:strVal val="visible"/>
                                      </p:to>
                                    </p:set>
                                    <p:animEffect transition="in" filter="fade">
                                      <p:cBhvr>
                                        <p:cTn id="121" dur="300"/>
                                        <p:tgtEl>
                                          <p:spTgt spid="82"/>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84"/>
                                        </p:tgtEl>
                                        <p:attrNameLst>
                                          <p:attrName>style.visibility</p:attrName>
                                        </p:attrNameLst>
                                      </p:cBhvr>
                                      <p:to>
                                        <p:strVal val="visible"/>
                                      </p:to>
                                    </p:set>
                                    <p:animEffect transition="in" filter="fade">
                                      <p:cBhvr>
                                        <p:cTn id="124" dur="300"/>
                                        <p:tgtEl>
                                          <p:spTgt spid="84"/>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119"/>
                                        </p:tgtEl>
                                        <p:attrNameLst>
                                          <p:attrName>style.visibility</p:attrName>
                                        </p:attrNameLst>
                                      </p:cBhvr>
                                      <p:to>
                                        <p:strVal val="visible"/>
                                      </p:to>
                                    </p:set>
                                    <p:animEffect transition="in" filter="fade">
                                      <p:cBhvr>
                                        <p:cTn id="127" dur="300"/>
                                        <p:tgtEl>
                                          <p:spTgt spid="119"/>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121"/>
                                        </p:tgtEl>
                                        <p:attrNameLst>
                                          <p:attrName>style.visibility</p:attrName>
                                        </p:attrNameLst>
                                      </p:cBhvr>
                                      <p:to>
                                        <p:strVal val="visible"/>
                                      </p:to>
                                    </p:set>
                                    <p:animEffect transition="in" filter="fade">
                                      <p:cBhvr>
                                        <p:cTn id="130" dur="3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2" grpId="0" animBg="1"/>
      <p:bldP spid="14" grpId="0" animBg="1"/>
      <p:bldP spid="16" grpId="0" animBg="1"/>
      <p:bldP spid="18" grpId="0" animBg="1"/>
      <p:bldP spid="21" grpId="0" animBg="1"/>
      <p:bldP spid="22" grpId="0" animBg="1"/>
      <p:bldP spid="24" grpId="0" animBg="1"/>
      <p:bldP spid="26" grpId="0" animBg="1"/>
      <p:bldP spid="29" grpId="0" animBg="1"/>
      <p:bldP spid="30" grpId="0" animBg="1"/>
      <p:bldP spid="32" grpId="0" animBg="1"/>
      <p:bldP spid="34" grpId="0" animBg="1"/>
      <p:bldP spid="37" grpId="0" animBg="1"/>
      <p:bldP spid="38" grpId="0" animBg="1"/>
      <p:bldP spid="41" grpId="0" animBg="1"/>
      <p:bldP spid="42" grpId="0" animBg="1"/>
      <p:bldP spid="45" grpId="0" animBg="1"/>
      <p:bldP spid="46" grpId="0" animBg="1"/>
      <p:bldP spid="48" grpId="0" animBg="1"/>
      <p:bldP spid="50" grpId="0" animBg="1"/>
      <p:bldP spid="52" grpId="0" animBg="1"/>
      <p:bldP spid="54" grpId="0" animBg="1"/>
      <p:bldP spid="56" grpId="0" animBg="1"/>
      <p:bldP spid="58" grpId="0" animBg="1"/>
      <p:bldP spid="60" grpId="0" animBg="1"/>
      <p:bldP spid="62" grpId="0" animBg="1"/>
      <p:bldP spid="64" grpId="0" animBg="1"/>
      <p:bldP spid="66" grpId="0" animBg="1"/>
      <p:bldP spid="68" grpId="0" animBg="1"/>
      <p:bldP spid="70" grpId="0" animBg="1"/>
      <p:bldP spid="72" grpId="0" animBg="1"/>
      <p:bldP spid="74" grpId="0" animBg="1"/>
      <p:bldP spid="77" grpId="0" animBg="1"/>
      <p:bldP spid="78" grpId="0" animBg="1"/>
      <p:bldP spid="81" grpId="0" animBg="1"/>
      <p:bldP spid="82" grpId="0" animBg="1"/>
      <p:bldP spid="84" grpId="0" animBg="1"/>
      <p:bldP spid="119" grpId="0" animBg="1"/>
      <p:bldP spid="12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ill it las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 Their own way, Carmen is forced to sell "/>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 One typical future, managed their own wa"/>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 Our written case measured investments al"/>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963910ab"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66f615e2"/>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 Carmen 49"/>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 2026"/>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 Adrian retires"/>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 2037"/>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 Carmen 69"/>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 2046"/>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 Adrian dies"/>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 2056"/>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 Carmen 89"/>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 2066"/>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 …and across 10,000 futures"/>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 The same test in every simulated market "/>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 51%"/>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 of futures are forced to sell the home"/>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c65726d5"/>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314b411a"/>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 Sold"/>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 Kep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 when the money runs out, Carmen about 83"/>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f80cebdf"/>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 What Ryan and Chloe inherit, where it is"/>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 Today"/>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5100283d"/>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 HK$24.4M"/>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 Left to them"/>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65ee91bf"/>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 HK$2.3M"/>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 Their wealth will pay for their retireme"/>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 Their own way: the business sold; the fl"/>
          <p:cNvSpPr txBox="1"/>
          <p:nvPr/>
        </p:nvSpPr>
        <p:spPr>
          <a:xfrm>
            <a:off x="457200" y="6452104"/>
            <a:ext cx="606082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 10,000</a:t>
            </a:r>
          </a:p>
          <a:p>
            <a:pPr algn="l">
              <a:lnSpc>
                <a:spcPts val="1170"/>
              </a:lnSpc>
              <a:spcBef>
                <a:spcPts val="0"/>
              </a:spcBef>
              <a:spcAft>
                <a:spcPts val="0"/>
              </a:spcAft>
            </a:pPr>
            <a:r>
              <a:rPr sz="900" b="0" i="0" kern="100">
                <a:solidFill>
                  <a:srgbClr val="80606A"/>
                </a:solidFill>
                <a:latin typeface="Plus Jakarta Sans"/>
              </a:rPr>
              <a:t>simulated markets, in today's money: an illustration, not a forecast.</a:t>
            </a:r>
          </a:p>
        </p:txBody>
      </p:sp>
      <p:sp>
        <p:nvSpPr>
          <p:cNvPr id="41" name="!!T The problem"/>
          <p:cNvSpPr txBox="1"/>
          <p:nvPr/>
        </p:nvSpPr>
        <p:spPr>
          <a:xfrm>
            <a:off x="668208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 The answer"/>
          <p:cNvSpPr txBox="1"/>
          <p:nvPr/>
        </p:nvSpPr>
        <p:spPr>
          <a:xfrm>
            <a:off x="7639348"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 The five calls"/>
          <p:cNvSpPr txBox="1"/>
          <p:nvPr/>
        </p:nvSpPr>
        <p:spPr>
          <a:xfrm>
            <a:off x="8499574"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 Will it hold"/>
          <p:cNvSpPr txBox="1"/>
          <p:nvPr/>
        </p:nvSpPr>
        <p:spPr>
          <a:xfrm>
            <a:off x="943644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 What next"/>
          <p:cNvSpPr txBox="1"/>
          <p:nvPr/>
        </p:nvSpPr>
        <p:spPr>
          <a:xfrm>
            <a:off x="1023446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 Us"/>
          <p:cNvSpPr txBox="1"/>
          <p:nvPr/>
        </p:nvSpPr>
        <p:spPr>
          <a:xfrm>
            <a:off x="110298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7" name="!!T 3 / 15"/>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8" name="!!T Savings, investments and MPF"/>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49" name="!!T since 2015, where Ryan and Chloe grew up"/>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0" name="!!T The home"/>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1" name="!!Rule 77250185"/>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2" name="!!Rule 25973030"/>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3" name="!!T HK$10M"/>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4" name="!!Rule 852397c8"/>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5" name="!!T HK$20M"/>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6" name="!!Rule 5f683f82"/>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7" name="!!T HK$30M"/>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8" name="!!Rule a4756d25"/>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59" name="!!T The flat is sold, Carmen 83 when her sav"/>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0" name="!!ps-el 90d010ca"/>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1" name="!!Rule fa57db72"/>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2" name="!!T Runs out again, Carmen 86 then unpaid bi"/>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3" name="!!ps-el f1f15a2e"/>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3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3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300"/>
                                        <p:tgtEl>
                                          <p:spTgt spid="2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300"/>
                                        <p:tgtEl>
                                          <p:spTgt spid="2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300"/>
                                        <p:tgtEl>
                                          <p:spTgt spid="2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300"/>
                                        <p:tgtEl>
                                          <p:spTgt spid="2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300"/>
                                        <p:tgtEl>
                                          <p:spTgt spid="2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300"/>
                                        <p:tgtEl>
                                          <p:spTgt spid="5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fade">
                                      <p:cBhvr>
                                        <p:cTn id="31" dur="300"/>
                                        <p:tgtEl>
                                          <p:spTgt spid="5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0"/>
                                        </p:tgtEl>
                                        <p:attrNameLst>
                                          <p:attrName>style.visibility</p:attrName>
                                        </p:attrNameLst>
                                      </p:cBhvr>
                                      <p:to>
                                        <p:strVal val="visible"/>
                                      </p:to>
                                    </p:set>
                                    <p:animEffect transition="in" filter="fade">
                                      <p:cBhvr>
                                        <p:cTn id="34" dur="300"/>
                                        <p:tgtEl>
                                          <p:spTgt spid="6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fade">
                                      <p:cBhvr>
                                        <p:cTn id="39" dur="300"/>
                                        <p:tgtEl>
                                          <p:spTgt spid="6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2"/>
                                        </p:tgtEl>
                                        <p:attrNameLst>
                                          <p:attrName>style.visibility</p:attrName>
                                        </p:attrNameLst>
                                      </p:cBhvr>
                                      <p:to>
                                        <p:strVal val="visible"/>
                                      </p:to>
                                    </p:set>
                                    <p:animEffect transition="in" filter="fade">
                                      <p:cBhvr>
                                        <p:cTn id="42" dur="300"/>
                                        <p:tgtEl>
                                          <p:spTgt spid="6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3"/>
                                        </p:tgtEl>
                                        <p:attrNameLst>
                                          <p:attrName>style.visibility</p:attrName>
                                        </p:attrNameLst>
                                      </p:cBhvr>
                                      <p:to>
                                        <p:strVal val="visible"/>
                                      </p:to>
                                    </p:set>
                                    <p:animEffect transition="in" filter="fade">
                                      <p:cBhvr>
                                        <p:cTn id="45" dur="300"/>
                                        <p:tgtEl>
                                          <p:spTgt spid="63"/>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300"/>
                                        <p:tgtEl>
                                          <p:spTgt spid="3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300"/>
                                        <p:tgtEl>
                                          <p:spTgt spid="3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300"/>
                                        <p:tgtEl>
                                          <p:spTgt spid="32"/>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300"/>
                                        <p:tgtEl>
                                          <p:spTgt spid="33"/>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4"/>
                                        </p:tgtEl>
                                        <p:attrNameLst>
                                          <p:attrName>style.visibility</p:attrName>
                                        </p:attrNameLst>
                                      </p:cBhvr>
                                      <p:to>
                                        <p:strVal val="visible"/>
                                      </p:to>
                                    </p:set>
                                    <p:animEffect transition="in" filter="fade">
                                      <p:cBhvr>
                                        <p:cTn id="62" dur="300"/>
                                        <p:tgtEl>
                                          <p:spTgt spid="34"/>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300"/>
                                        <p:tgtEl>
                                          <p:spTgt spid="3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6"/>
                                        </p:tgtEl>
                                        <p:attrNameLst>
                                          <p:attrName>style.visibility</p:attrName>
                                        </p:attrNameLst>
                                      </p:cBhvr>
                                      <p:to>
                                        <p:strVal val="visible"/>
                                      </p:to>
                                    </p:set>
                                    <p:animEffect transition="in" filter="fade">
                                      <p:cBhvr>
                                        <p:cTn id="68" dur="300"/>
                                        <p:tgtEl>
                                          <p:spTgt spid="36"/>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300"/>
                                        <p:tgtEl>
                                          <p:spTgt spid="3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300"/>
                                        <p:tgtEl>
                                          <p:spTgt spid="3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9"/>
                                        </p:tgtEl>
                                        <p:attrNameLst>
                                          <p:attrName>style.visibility</p:attrName>
                                        </p:attrNameLst>
                                      </p:cBhvr>
                                      <p:to>
                                        <p:strVal val="visible"/>
                                      </p:to>
                                    </p:set>
                                    <p:animEffect transition="in" filter="fade">
                                      <p:cBhvr>
                                        <p:cTn id="77" dur="3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58" grpId="0" animBg="1"/>
      <p:bldP spid="59" grpId="0" animBg="1"/>
      <p:bldP spid="60" grpId="0" animBg="1"/>
      <p:bldP spid="61" grpId="0" animBg="1"/>
      <p:bldP spid="62" grpId="0" animBg="1"/>
      <p:bldP spid="6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bg>
      <p:bgPr>
        <a:gradFill rotWithShape="0">
          <a:gsLst>
            <a:gs pos="0">
              <a:srgbClr val="BB1626"/>
            </a:gs>
            <a:gs pos="40000">
              <a:srgbClr val="971320"/>
            </a:gs>
            <a:gs pos="72000">
              <a:srgbClr val="700E19"/>
            </a:gs>
            <a:gs pos="100000">
              <a:srgbClr val="50091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Rule f39879af"/>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3" name="!!T Our answer"/>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4" name="!!T Five calls make their wealth last, on th"/>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5"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pic>
        <p:nvPicPr>
          <p:cNvPr id="6" name="!!Drawing b637dce9"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247626"/>
            <a:ext cx="11277600" cy="4181624"/>
          </a:xfrm>
          <a:prstGeom prst="rect">
            <a:avLst/>
          </a:prstGeom>
        </p:spPr>
      </p:pic>
      <p:pic>
        <p:nvPicPr>
          <p:cNvPr id="7" name="!!Drawing b637dce9 #2" descr="image.png"/>
          <p:cNvPicPr>
            <a:picLocks noChangeAspect="1"/>
          </p:cNvPicPr>
          <p:nvPr/>
        </p:nvPicPr>
        <p:blipFill>
          <a:blip>
            <a:alphaModFix amt="30000"/>
            <a:grayscl/>
            <a:extLst>
              <a:ext uri="{96DAC541-7B7A-43D3-8B79-37D633B846F1}">
                <asvg:svgBlip xmlns:asvg="http://schemas.microsoft.com/office/drawing/2016/SVG/main" r:embed="rId5"/>
              </a:ext>
            </a:extLst>
          </a:blip>
          <a:stretch>
            <a:fillRect/>
          </a:stretch>
        </p:blipFill>
        <p:spPr>
          <a:xfrm>
            <a:off x="457200" y="1247626"/>
            <a:ext cx="11277600" cy="4181624"/>
          </a:xfrm>
          <a:prstGeom prst="rect">
            <a:avLst/>
          </a:prstGeom>
        </p:spPr>
      </p:pic>
      <p:pic>
        <p:nvPicPr>
          <p:cNvPr id="8" name="!!Drawing b637dce9 #3"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 y="1247626"/>
            <a:ext cx="11277600" cy="4181624"/>
          </a:xfrm>
          <a:prstGeom prst="rect">
            <a:avLst/>
          </a:prstGeom>
        </p:spPr>
      </p:pic>
      <p:pic>
        <p:nvPicPr>
          <p:cNvPr id="9" name="!!Drawing b637dce9 #4" descr="image.png"/>
          <p:cNvPicPr>
            <a:picLocks noChangeAspect="1"/>
          </p:cNvPicPr>
          <p:nvPr/>
        </p:nvPicPr>
        <p:blipFill>
          <a:blip>
            <a:alphaModFix amt="30000"/>
            <a:grayscl/>
            <a:extLst>
              <a:ext uri="{96DAC541-7B7A-43D3-8B79-37D633B846F1}">
                <asvg:svgBlip xmlns:asvg="http://schemas.microsoft.com/office/drawing/2016/SVG/main" r:embed="rId6"/>
              </a:ext>
            </a:extLst>
          </a:blip>
          <a:stretch>
            <a:fillRect/>
          </a:stretch>
        </p:blipFill>
        <p:spPr>
          <a:xfrm>
            <a:off x="457200" y="1247626"/>
            <a:ext cx="11277600" cy="4181624"/>
          </a:xfrm>
          <a:prstGeom prst="rect">
            <a:avLst/>
          </a:prstGeom>
        </p:spPr>
      </p:pic>
      <p:pic>
        <p:nvPicPr>
          <p:cNvPr id="10" name="!!Drawing b637dce9 #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7200" y="1247626"/>
            <a:ext cx="11277600" cy="4181624"/>
          </a:xfrm>
          <a:prstGeom prst="rect">
            <a:avLst/>
          </a:prstGeom>
        </p:spPr>
      </p:pic>
      <p:pic>
        <p:nvPicPr>
          <p:cNvPr id="11" name="!!Drawing b637dce9 #6" descr="image.png"/>
          <p:cNvPicPr>
            <a:picLocks noChangeAspect="1"/>
          </p:cNvPicPr>
          <p:nvPr/>
        </p:nvPicPr>
        <p:blipFill>
          <a:blip>
            <a:alphaModFix amt="30000"/>
            <a:grayscl/>
            <a:extLst>
              <a:ext uri="{96DAC541-7B7A-43D3-8B79-37D633B846F1}">
                <asvg:svgBlip xmlns:asvg="http://schemas.microsoft.com/office/drawing/2016/SVG/main" r:embed="rId7"/>
              </a:ext>
            </a:extLst>
          </a:blip>
          <a:stretch>
            <a:fillRect/>
          </a:stretch>
        </p:blipFill>
        <p:spPr>
          <a:xfrm>
            <a:off x="457200" y="1247626"/>
            <a:ext cx="11277600" cy="4181624"/>
          </a:xfrm>
          <a:prstGeom prst="rect">
            <a:avLst/>
          </a:prstGeom>
        </p:spPr>
      </p:pic>
      <p:pic>
        <p:nvPicPr>
          <p:cNvPr id="12" name="!!Drawing b637dce9 #7"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1247626"/>
            <a:ext cx="11277600" cy="4181624"/>
          </a:xfrm>
          <a:prstGeom prst="rect">
            <a:avLst/>
          </a:prstGeom>
        </p:spPr>
      </p:pic>
      <p:pic>
        <p:nvPicPr>
          <p:cNvPr id="13" name="!!Drawing b637dce9 #8" descr="image.png"/>
          <p:cNvPicPr>
            <a:picLocks noChangeAspect="1"/>
          </p:cNvPicPr>
          <p:nvPr/>
        </p:nvPicPr>
        <p:blipFill>
          <a:blip>
            <a:alphaModFix amt="30000"/>
            <a:grayscl/>
            <a:extLst>
              <a:ext uri="{96DAC541-7B7A-43D3-8B79-37D633B846F1}">
                <asvg:svgBlip xmlns:asvg="http://schemas.microsoft.com/office/drawing/2016/SVG/main" r:embed="rId8"/>
              </a:ext>
            </a:extLst>
          </a:blip>
          <a:stretch>
            <a:fillRect/>
          </a:stretch>
        </p:blipFill>
        <p:spPr>
          <a:xfrm>
            <a:off x="457200" y="1247626"/>
            <a:ext cx="11277600" cy="4181624"/>
          </a:xfrm>
          <a:prstGeom prst="rect">
            <a:avLst/>
          </a:prstGeom>
        </p:spPr>
      </p:pic>
      <p:pic>
        <p:nvPicPr>
          <p:cNvPr id="14" name="!!Drawing b637dce9 #9"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7200" y="1247626"/>
            <a:ext cx="11277600" cy="4181624"/>
          </a:xfrm>
          <a:prstGeom prst="rect">
            <a:avLst/>
          </a:prstGeom>
        </p:spPr>
      </p:pic>
      <p:pic>
        <p:nvPicPr>
          <p:cNvPr id="15" name="!!Drawing b637dce9 #10" descr="image.png"/>
          <p:cNvPicPr>
            <a:picLocks noChangeAspect="1"/>
          </p:cNvPicPr>
          <p:nvPr/>
        </p:nvPicPr>
        <p:blipFill>
          <a:blip>
            <a:alphaModFix amt="30000"/>
            <a:grayscl/>
            <a:extLst>
              <a:ext uri="{96DAC541-7B7A-43D3-8B79-37D633B846F1}">
                <asvg:svgBlip xmlns:asvg="http://schemas.microsoft.com/office/drawing/2016/SVG/main" r:embed="rId9"/>
              </a:ext>
            </a:extLst>
          </a:blip>
          <a:stretch>
            <a:fillRect/>
          </a:stretch>
        </p:blipFill>
        <p:spPr>
          <a:xfrm>
            <a:off x="457200" y="1247626"/>
            <a:ext cx="11277600" cy="4181624"/>
          </a:xfrm>
          <a:prstGeom prst="rect">
            <a:avLst/>
          </a:prstGeom>
        </p:spPr>
      </p:pic>
      <p:pic>
        <p:nvPicPr>
          <p:cNvPr id="16" name="!!Drawing b637dce9 #1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7200" y="1247626"/>
            <a:ext cx="11277600" cy="4181624"/>
          </a:xfrm>
          <a:prstGeom prst="rect">
            <a:avLst/>
          </a:prstGeom>
        </p:spPr>
      </p:pic>
      <p:pic>
        <p:nvPicPr>
          <p:cNvPr id="17" name="!!Drawing b637dce9 #12" descr="image.png"/>
          <p:cNvPicPr>
            <a:picLocks noChangeAspect="1"/>
          </p:cNvPicPr>
          <p:nvPr/>
        </p:nvPicPr>
        <p:blipFill>
          <a:blip>
            <a:alphaModFix amt="30000"/>
            <a:grayscl/>
            <a:extLst>
              <a:ext uri="{96DAC541-7B7A-43D3-8B79-37D633B846F1}">
                <asvg:svgBlip xmlns:asvg="http://schemas.microsoft.com/office/drawing/2016/SVG/main" r:embed="rId10"/>
              </a:ext>
            </a:extLst>
          </a:blip>
          <a:stretch>
            <a:fillRect/>
          </a:stretch>
        </p:blipFill>
        <p:spPr>
          <a:xfrm>
            <a:off x="457200" y="1247626"/>
            <a:ext cx="11277600" cy="4181624"/>
          </a:xfrm>
          <a:prstGeom prst="rect">
            <a:avLst/>
          </a:prstGeom>
        </p:spPr>
      </p:pic>
      <p:pic>
        <p:nvPicPr>
          <p:cNvPr id="18" name="!!Drawing b637dce9 #13"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57200" y="1247626"/>
            <a:ext cx="11277600" cy="4181624"/>
          </a:xfrm>
          <a:prstGeom prst="rect">
            <a:avLst/>
          </a:prstGeom>
        </p:spPr>
      </p:pic>
      <p:sp>
        <p:nvSpPr>
          <p:cNvPr id="19" name="!!span 82b951b0"/>
          <p:cNvSpPr/>
          <p:nvPr/>
        </p:nvSpPr>
        <p:spPr>
          <a:xfrm>
            <a:off x="8401050" y="1752451"/>
            <a:ext cx="361950" cy="361950"/>
          </a:xfrm>
          <a:prstGeom prst="ellipse">
            <a:avLst/>
          </a:prstGeom>
          <a:solidFill>
            <a:srgbClr val="FFFFFF">
              <a:alpha val="3600"/>
            </a:srgbClr>
          </a:solidFill>
          <a:ln>
            <a:noFill/>
          </a:ln>
        </p:spPr>
        <p:txBody>
          <a:bodyPr rtlCol="0" anchor="ctr"/>
          <a:lstStyle/>
          <a:p>
            <a:pPr algn="ctr"/>
            <a:endParaRPr/>
          </a:p>
        </p:txBody>
      </p:sp>
      <p:sp>
        <p:nvSpPr>
          <p:cNvPr id="20" name="!!span e0dd8d9d"/>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21" name="!!Drawing c6008aec" descr="image.png"/>
          <p:cNvPicPr>
            <a:picLocks noChangeAspect="1"/>
          </p:cNvPicPr>
          <p:nvPr/>
        </p:nvPicPr>
        <p:blipFill>
          <a:blip>
            <a:alphaModFix amt="30000"/>
            <a:grayscl/>
            <a:extLst>
              <a:ext uri="{96DAC541-7B7A-43D3-8B79-37D633B846F1}">
                <asvg:svgBlip xmlns:asvg="http://schemas.microsoft.com/office/drawing/2016/SVG/main" r:embed="rId11"/>
              </a:ext>
            </a:extLst>
          </a:blip>
          <a:stretch>
            <a:fillRect/>
          </a:stretch>
        </p:blipFill>
        <p:spPr>
          <a:xfrm>
            <a:off x="8486775" y="1838176"/>
            <a:ext cx="190500" cy="190500"/>
          </a:xfrm>
          <a:prstGeom prst="rect">
            <a:avLst/>
          </a:prstGeom>
        </p:spPr>
      </p:pic>
      <p:pic>
        <p:nvPicPr>
          <p:cNvPr id="22" name="!!Drawing c6008aec #2"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6775" y="1838176"/>
            <a:ext cx="190500" cy="190500"/>
          </a:xfrm>
          <a:prstGeom prst="rect">
            <a:avLst/>
          </a:prstGeom>
        </p:spPr>
      </p:pic>
      <p:sp>
        <p:nvSpPr>
          <p:cNvPr id="23" name="!!T What passes on"/>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alpha val="30000"/>
                  </a:srgbClr>
                </a:solidFill>
                <a:latin typeface="Plus Jakarta Sans SemiBold"/>
              </a:rPr>
              <a:t>What passes on</a:t>
            </a:r>
          </a:p>
        </p:txBody>
      </p:sp>
      <p:sp>
        <p:nvSpPr>
          <p:cNvPr id="24" name="!!T What passes on #2"/>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25" name="!!T the inheritance kept, passed on in stage"/>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the inheritance kept, passed on in stages</a:t>
            </a:r>
          </a:p>
        </p:txBody>
      </p:sp>
      <p:sp>
        <p:nvSpPr>
          <p:cNvPr id="26" name="!!T the inheritance kept, passed on in stage #2"/>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27" name="!!span f1efbc41"/>
          <p:cNvSpPr/>
          <p:nvPr/>
        </p:nvSpPr>
        <p:spPr>
          <a:xfrm>
            <a:off x="8401050" y="2743051"/>
            <a:ext cx="361950" cy="361950"/>
          </a:xfrm>
          <a:prstGeom prst="ellipse">
            <a:avLst/>
          </a:prstGeom>
          <a:solidFill>
            <a:srgbClr val="FFFFFF">
              <a:alpha val="3600"/>
            </a:srgbClr>
          </a:solidFill>
          <a:ln>
            <a:noFill/>
          </a:ln>
        </p:spPr>
        <p:txBody>
          <a:bodyPr rtlCol="0" anchor="ctr"/>
          <a:lstStyle/>
          <a:p>
            <a:pPr algn="ctr"/>
            <a:endParaRPr/>
          </a:p>
        </p:txBody>
      </p:sp>
      <p:sp>
        <p:nvSpPr>
          <p:cNvPr id="28" name="!!span 6f83397d"/>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29" name="!!Drawing 74fde013" descr="image.png"/>
          <p:cNvPicPr>
            <a:picLocks noChangeAspect="1"/>
          </p:cNvPicPr>
          <p:nvPr/>
        </p:nvPicPr>
        <p:blipFill>
          <a:blip>
            <a:alphaModFix amt="30000"/>
            <a:grayscl/>
            <a:extLst>
              <a:ext uri="{96DAC541-7B7A-43D3-8B79-37D633B846F1}">
                <asvg:svgBlip xmlns:asvg="http://schemas.microsoft.com/office/drawing/2016/SVG/main" r:embed="rId12"/>
              </a:ext>
            </a:extLst>
          </a:blip>
          <a:stretch>
            <a:fillRect/>
          </a:stretch>
        </p:blipFill>
        <p:spPr>
          <a:xfrm>
            <a:off x="8486775" y="2828776"/>
            <a:ext cx="190500" cy="190500"/>
          </a:xfrm>
          <a:prstGeom prst="rect">
            <a:avLst/>
          </a:prstGeom>
        </p:spPr>
      </p:pic>
      <p:pic>
        <p:nvPicPr>
          <p:cNvPr id="30" name="!!Drawing 74fde013 #2" descr="image.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6775" y="2828776"/>
            <a:ext cx="190500" cy="190500"/>
          </a:xfrm>
          <a:prstGeom prst="rect">
            <a:avLst/>
          </a:prstGeom>
        </p:spPr>
      </p:pic>
      <p:sp>
        <p:nvSpPr>
          <p:cNvPr id="31" name="!!T 5 Values and crypto, with guardrails"/>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C9C9C9">
                    <a:alpha val="30000"/>
                  </a:srgbClr>
                </a:solidFill>
                <a:latin typeface="Plus Jakarta Sans"/>
              </a:rPr>
              <a:t>5</a:t>
            </a:r>
            <a:r>
              <a:rPr sz="1275" b="0" i="0" kern="100">
                <a:solidFill>
                  <a:srgbClr val="FFFFFF">
                    <a:alpha val="30000"/>
                  </a:srgbClr>
                </a:solidFill>
                <a:latin typeface="Plus Jakarta Sans SemiBold"/>
              </a:rPr>
              <a:t>   Values and crypto, with guardrails</a:t>
            </a:r>
          </a:p>
        </p:txBody>
      </p:sp>
      <p:sp>
        <p:nvSpPr>
          <p:cNvPr id="32" name="!!T 5 Values and crypto, with guardrails #2"/>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33" name="!!T ESG at 25%; crypto sized per person"/>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ESG at 25%; crypto sized per person</a:t>
            </a:r>
          </a:p>
        </p:txBody>
      </p:sp>
      <p:sp>
        <p:nvSpPr>
          <p:cNvPr id="34" name="!!T ESG at 25%; crypto sized per person #2"/>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35" name="!!span 1e9f19b8"/>
          <p:cNvSpPr/>
          <p:nvPr/>
        </p:nvSpPr>
        <p:spPr>
          <a:xfrm>
            <a:off x="8401050" y="3638401"/>
            <a:ext cx="361950" cy="361950"/>
          </a:xfrm>
          <a:prstGeom prst="ellipse">
            <a:avLst/>
          </a:prstGeom>
          <a:solidFill>
            <a:srgbClr val="FFFFFF">
              <a:alpha val="3600"/>
            </a:srgbClr>
          </a:solidFill>
          <a:ln>
            <a:noFill/>
          </a:ln>
        </p:spPr>
        <p:txBody>
          <a:bodyPr rtlCol="0" anchor="ctr"/>
          <a:lstStyle/>
          <a:p>
            <a:pPr algn="ctr"/>
            <a:endParaRPr/>
          </a:p>
        </p:txBody>
      </p:sp>
      <p:sp>
        <p:nvSpPr>
          <p:cNvPr id="36" name="!!span f1a92dc0"/>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37" name="!!Drawing 62cade5f" descr="image.png"/>
          <p:cNvPicPr>
            <a:picLocks noChangeAspect="1"/>
          </p:cNvPicPr>
          <p:nvPr/>
        </p:nvPicPr>
        <p:blipFill>
          <a:blip>
            <a:alphaModFix amt="30000"/>
            <a:grayscl/>
            <a:extLst>
              <a:ext uri="{96DAC541-7B7A-43D3-8B79-37D633B846F1}">
                <asvg:svgBlip xmlns:asvg="http://schemas.microsoft.com/office/drawing/2016/SVG/main" r:embed="rId13"/>
              </a:ext>
            </a:extLst>
          </a:blip>
          <a:stretch>
            <a:fillRect/>
          </a:stretch>
        </p:blipFill>
        <p:spPr>
          <a:xfrm>
            <a:off x="8486775" y="3724126"/>
            <a:ext cx="190500" cy="190500"/>
          </a:xfrm>
          <a:prstGeom prst="rect">
            <a:avLst/>
          </a:prstGeom>
        </p:spPr>
      </p:pic>
      <p:pic>
        <p:nvPicPr>
          <p:cNvPr id="38" name="!!Drawing 62cade5f #2" descr="image.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86775" y="3724126"/>
            <a:ext cx="190500" cy="190500"/>
          </a:xfrm>
          <a:prstGeom prst="rect">
            <a:avLst/>
          </a:prstGeom>
        </p:spPr>
      </p:pic>
      <p:sp>
        <p:nvSpPr>
          <p:cNvPr id="39" name="!!T 3 Fix the cost the budget ignores"/>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C9C9C9">
                    <a:alpha val="30000"/>
                  </a:srgbClr>
                </a:solidFill>
                <a:latin typeface="Plus Jakarta Sans"/>
              </a:rPr>
              <a:t>3</a:t>
            </a:r>
            <a:r>
              <a:rPr sz="1275" b="0" i="0" kern="100">
                <a:solidFill>
                  <a:srgbClr val="FFFFFF">
                    <a:alpha val="30000"/>
                  </a:srgbClr>
                </a:solidFill>
                <a:latin typeface="Plus Jakarta Sans SemiBold"/>
              </a:rPr>
              <a:t>   Fix the cost the budget ignores</a:t>
            </a:r>
          </a:p>
        </p:txBody>
      </p:sp>
      <p:sp>
        <p:nvSpPr>
          <p:cNvPr id="40" name="!!T 3 Fix the cost the budget ignores #2"/>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41" name="!!T a medical review at 75; spending rules"/>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a medical review at 75; spending rules</a:t>
            </a:r>
          </a:p>
        </p:txBody>
      </p:sp>
      <p:sp>
        <p:nvSpPr>
          <p:cNvPr id="42" name="!!T a medical review at 75; spending rules #2"/>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43" name="!!T 4 A plan for each person"/>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4</a:t>
            </a:r>
            <a:r>
              <a:rPr sz="1275" b="0" i="0" kern="100">
                <a:solidFill>
                  <a:srgbClr val="FFFFFF">
                    <a:alpha val="30000"/>
                  </a:srgbClr>
                </a:solidFill>
                <a:latin typeface="Plus Jakarta Sans SemiBold"/>
              </a:rPr>
              <a:t>   A plan for each person</a:t>
            </a:r>
          </a:p>
        </p:txBody>
      </p:sp>
      <p:sp>
        <p:nvSpPr>
          <p:cNvPr id="44" name="!!T 4 A plan for each person #2"/>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45" name="!!T Chloe funded; HK$45K a year less in fees"/>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Chloe funded; HK$45K a year less in fees</a:t>
            </a:r>
          </a:p>
        </p:txBody>
      </p:sp>
      <p:sp>
        <p:nvSpPr>
          <p:cNvPr id="46" name="!!T Chloe funded; HK$45K a year less in fees #2"/>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47" name="!!span d292a3d1"/>
          <p:cNvSpPr/>
          <p:nvPr/>
        </p:nvSpPr>
        <p:spPr>
          <a:xfrm>
            <a:off x="3429000" y="2571601"/>
            <a:ext cx="361950" cy="361950"/>
          </a:xfrm>
          <a:prstGeom prst="ellipse">
            <a:avLst/>
          </a:prstGeom>
          <a:solidFill>
            <a:srgbClr val="FFFFFF">
              <a:alpha val="3600"/>
            </a:srgbClr>
          </a:solidFill>
          <a:ln>
            <a:noFill/>
          </a:ln>
        </p:spPr>
        <p:txBody>
          <a:bodyPr rtlCol="0" anchor="ctr"/>
          <a:lstStyle/>
          <a:p>
            <a:pPr algn="ctr"/>
            <a:endParaRPr/>
          </a:p>
        </p:txBody>
      </p:sp>
      <p:sp>
        <p:nvSpPr>
          <p:cNvPr id="48" name="!!span 4b2f7298"/>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49" name="!!Drawing a173ee14" descr="image.png"/>
          <p:cNvPicPr>
            <a:picLocks noChangeAspect="1"/>
          </p:cNvPicPr>
          <p:nvPr/>
        </p:nvPicPr>
        <p:blipFill>
          <a:blip>
            <a:alphaModFix amt="30000"/>
            <a:grayscl/>
            <a:extLst>
              <a:ext uri="{96DAC541-7B7A-43D3-8B79-37D633B846F1}">
                <asvg:svgBlip xmlns:asvg="http://schemas.microsoft.com/office/drawing/2016/SVG/main" r:embed="rId14"/>
              </a:ext>
            </a:extLst>
          </a:blip>
          <a:stretch>
            <a:fillRect/>
          </a:stretch>
        </p:blipFill>
        <p:spPr>
          <a:xfrm>
            <a:off x="3514725" y="2657326"/>
            <a:ext cx="190500" cy="190500"/>
          </a:xfrm>
          <a:prstGeom prst="rect">
            <a:avLst/>
          </a:prstGeom>
        </p:spPr>
      </p:pic>
      <p:pic>
        <p:nvPicPr>
          <p:cNvPr id="50" name="!!Drawing a173ee14 #2" descr="image.png"/>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14725" y="2657326"/>
            <a:ext cx="190500" cy="190500"/>
          </a:xfrm>
          <a:prstGeom prst="rect">
            <a:avLst/>
          </a:prstGeom>
        </p:spPr>
      </p:pic>
      <p:sp>
        <p:nvSpPr>
          <p:cNvPr id="51" name="!!T 2 The home and the business"/>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2</a:t>
            </a:r>
            <a:r>
              <a:rPr sz="1275" b="0" i="0" kern="100">
                <a:solidFill>
                  <a:srgbClr val="FFFFFF">
                    <a:alpha val="30000"/>
                  </a:srgbClr>
                </a:solidFill>
                <a:latin typeface="Plus Jakarta Sans SemiBold"/>
              </a:rPr>
              <a:t>   The home and the business</a:t>
            </a:r>
          </a:p>
        </p:txBody>
      </p:sp>
      <p:sp>
        <p:nvSpPr>
          <p:cNvPr id="52" name="!!T 2 The home and the business #2"/>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53" name="!!T decided at 65, not forced at 83"/>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decided at 65, not forced at 83</a:t>
            </a:r>
          </a:p>
        </p:txBody>
      </p:sp>
      <p:sp>
        <p:nvSpPr>
          <p:cNvPr id="54" name="!!T decided at 65, not forced at 83 #2"/>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55" name="!!span fc6c9dba"/>
          <p:cNvSpPr/>
          <p:nvPr/>
        </p:nvSpPr>
        <p:spPr>
          <a:xfrm>
            <a:off x="3429000" y="3466951"/>
            <a:ext cx="361950" cy="361950"/>
          </a:xfrm>
          <a:prstGeom prst="ellipse">
            <a:avLst/>
          </a:prstGeom>
          <a:solidFill>
            <a:srgbClr val="FFFFFF">
              <a:alpha val="3600"/>
            </a:srgbClr>
          </a:solidFill>
          <a:ln>
            <a:noFill/>
          </a:ln>
        </p:spPr>
        <p:txBody>
          <a:bodyPr rtlCol="0" anchor="ctr"/>
          <a:lstStyle/>
          <a:p>
            <a:pPr algn="ctr"/>
            <a:endParaRPr/>
          </a:p>
        </p:txBody>
      </p:sp>
      <p:sp>
        <p:nvSpPr>
          <p:cNvPr id="56" name="!!span b4dc1599"/>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57" name="!!Drawing 4c54ffc9" descr="image.png"/>
          <p:cNvPicPr>
            <a:picLocks noChangeAspect="1"/>
          </p:cNvPicPr>
          <p:nvPr/>
        </p:nvPicPr>
        <p:blipFill>
          <a:blip>
            <a:alphaModFix amt="30000"/>
            <a:grayscl/>
            <a:extLst>
              <a:ext uri="{96DAC541-7B7A-43D3-8B79-37D633B846F1}">
                <asvg:svgBlip xmlns:asvg="http://schemas.microsoft.com/office/drawing/2016/SVG/main" r:embed="rId15"/>
              </a:ext>
            </a:extLst>
          </a:blip>
          <a:stretch>
            <a:fillRect/>
          </a:stretch>
        </p:blipFill>
        <p:spPr>
          <a:xfrm>
            <a:off x="3514725" y="3552676"/>
            <a:ext cx="190500" cy="190500"/>
          </a:xfrm>
          <a:prstGeom prst="rect">
            <a:avLst/>
          </a:prstGeom>
        </p:spPr>
      </p:pic>
      <p:pic>
        <p:nvPicPr>
          <p:cNvPr id="58" name="!!Drawing 4c54ffc9 #2" descr="image.png"/>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514725" y="3552676"/>
            <a:ext cx="190500" cy="190500"/>
          </a:xfrm>
          <a:prstGeom prst="rect">
            <a:avLst/>
          </a:prstGeom>
        </p:spPr>
      </p:pic>
      <p:sp>
        <p:nvSpPr>
          <p:cNvPr id="59" name="!!T 1 Insure the income, not the life"/>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1</a:t>
            </a:r>
            <a:r>
              <a:rPr sz="1275" b="0" i="0" kern="100">
                <a:solidFill>
                  <a:srgbClr val="FFFFFF">
                    <a:alpha val="30000"/>
                  </a:srgbClr>
                </a:solidFill>
                <a:latin typeface="Plus Jakarta Sans SemiBold"/>
              </a:rPr>
              <a:t>   Insure the income, not the life</a:t>
            </a:r>
          </a:p>
        </p:txBody>
      </p:sp>
      <p:sp>
        <p:nvSpPr>
          <p:cNvPr id="60" name="!!T 1 Insure the income, not the life #2"/>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61" name="!!T about HK$100K a year closes every gap"/>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about HK$100K a year closes every gap</a:t>
            </a:r>
          </a:p>
        </p:txBody>
      </p:sp>
      <p:sp>
        <p:nvSpPr>
          <p:cNvPr id="62" name="!!T about HK$100K a year closes every gap #2"/>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63" name="!!span e388fedc"/>
          <p:cNvSpPr/>
          <p:nvPr/>
        </p:nvSpPr>
        <p:spPr>
          <a:xfrm>
            <a:off x="3429000" y="4171801"/>
            <a:ext cx="361950" cy="361950"/>
          </a:xfrm>
          <a:prstGeom prst="ellipse">
            <a:avLst/>
          </a:prstGeom>
          <a:solidFill>
            <a:srgbClr val="FFFFFF">
              <a:alpha val="3600"/>
            </a:srgbClr>
          </a:solidFill>
          <a:ln>
            <a:noFill/>
          </a:ln>
        </p:spPr>
        <p:txBody>
          <a:bodyPr rtlCol="0" anchor="ctr"/>
          <a:lstStyle/>
          <a:p>
            <a:pPr algn="ctr"/>
            <a:endParaRPr/>
          </a:p>
        </p:txBody>
      </p:sp>
      <p:sp>
        <p:nvSpPr>
          <p:cNvPr id="64" name="!!span e19914a2"/>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65" name="!!Drawing b195c741" descr="image.png"/>
          <p:cNvPicPr>
            <a:picLocks noChangeAspect="1"/>
          </p:cNvPicPr>
          <p:nvPr/>
        </p:nvPicPr>
        <p:blipFill>
          <a:blip>
            <a:alphaModFix amt="30000"/>
            <a:grayscl/>
            <a:extLst>
              <a:ext uri="{96DAC541-7B7A-43D3-8B79-37D633B846F1}">
                <asvg:svgBlip xmlns:asvg="http://schemas.microsoft.com/office/drawing/2016/SVG/main" r:embed="rId16"/>
              </a:ext>
            </a:extLst>
          </a:blip>
          <a:stretch>
            <a:fillRect/>
          </a:stretch>
        </p:blipFill>
        <p:spPr>
          <a:xfrm>
            <a:off x="3514725" y="4257526"/>
            <a:ext cx="190500" cy="190500"/>
          </a:xfrm>
          <a:prstGeom prst="rect">
            <a:avLst/>
          </a:prstGeom>
        </p:spPr>
      </p:pic>
      <p:pic>
        <p:nvPicPr>
          <p:cNvPr id="66" name="!!Drawing b195c741 #2" descr="image.png"/>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514725" y="4257526"/>
            <a:ext cx="190500" cy="190500"/>
          </a:xfrm>
          <a:prstGeom prst="rect">
            <a:avLst/>
          </a:prstGeom>
        </p:spPr>
      </p:pic>
      <p:sp>
        <p:nvSpPr>
          <p:cNvPr id="67" name="!!div f2f9386a"/>
          <p:cNvSpPr/>
          <p:nvPr/>
        </p:nvSpPr>
        <p:spPr>
          <a:xfrm>
            <a:off x="2470398" y="5434012"/>
            <a:ext cx="7251055" cy="809625"/>
          </a:xfrm>
          <a:prstGeom prst="rect">
            <a:avLst/>
          </a:prstGeom>
          <a:solidFill>
            <a:srgbClr val="FFFFFF">
              <a:alpha val="1800"/>
            </a:srgbClr>
          </a:solidFill>
          <a:ln w="9525">
            <a:solidFill>
              <a:srgbClr val="FFFFFF">
                <a:alpha val="11400"/>
              </a:srgbClr>
            </a:solidFill>
          </a:ln>
        </p:spPr>
        <p:txBody>
          <a:bodyPr rtlCol="0" anchor="ctr"/>
          <a:lstStyle/>
          <a:p>
            <a:pPr algn="ctr"/>
            <a:endParaRPr/>
          </a:p>
        </p:txBody>
      </p:sp>
      <p:sp>
        <p:nvSpPr>
          <p:cNvPr id="68" name="!!div eeaa2451"/>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69" name="!!T Chance the money lasts to Carmen's 89"/>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alpha val="30000"/>
                  </a:srgbClr>
                </a:solidFill>
                <a:latin typeface="Plus Jakarta Sans SemiBold"/>
              </a:rPr>
              <a:t>Chance the money</a:t>
            </a:r>
          </a:p>
          <a:p>
            <a:pPr algn="l">
              <a:lnSpc>
                <a:spcPts val="1462"/>
              </a:lnSpc>
              <a:spcBef>
                <a:spcPts val="0"/>
              </a:spcBef>
              <a:spcAft>
                <a:spcPts val="0"/>
              </a:spcAft>
            </a:pPr>
            <a:r>
              <a:rPr sz="1125" b="0" i="0" kern="100">
                <a:solidFill>
                  <a:srgbClr val="FFFFFF">
                    <a:alpha val="30000"/>
                  </a:srgbClr>
                </a:solidFill>
                <a:latin typeface="Plus Jakarta Sans SemiBold"/>
              </a:rPr>
              <a:t>lasts to Carmen's 89</a:t>
            </a:r>
          </a:p>
        </p:txBody>
      </p:sp>
      <p:sp>
        <p:nvSpPr>
          <p:cNvPr id="70" name="!!T Chance the money lasts to Carmen's 89 #2"/>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71" name="!!T 6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AEAEAE">
                    <a:alpha val="30000"/>
                  </a:srgbClr>
                </a:solidFill>
                <a:latin typeface="Plus Jakarta Sans"/>
              </a:rPr>
              <a:t>62%</a:t>
            </a:r>
          </a:p>
        </p:txBody>
      </p:sp>
      <p:sp>
        <p:nvSpPr>
          <p:cNvPr id="72" name="!!T 62% #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73" name="!!T their own way"/>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D1D1D1">
                    <a:alpha val="30000"/>
                  </a:srgbClr>
                </a:solidFill>
                <a:latin typeface="Plus Jakarta Sans"/>
              </a:rPr>
              <a:t>their own way</a:t>
            </a:r>
          </a:p>
        </p:txBody>
      </p:sp>
      <p:sp>
        <p:nvSpPr>
          <p:cNvPr id="74" name="!!T their own way #2"/>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75" name="!!T →"/>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AEAEAE">
                    <a:alpha val="30000"/>
                  </a:srgbClr>
                </a:solidFill>
                <a:latin typeface="Plus Jakarta Sans"/>
              </a:rPr>
              <a:t>→</a:t>
            </a:r>
          </a:p>
        </p:txBody>
      </p:sp>
      <p:sp>
        <p:nvSpPr>
          <p:cNvPr id="76" name="!!T → #2"/>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77" name="!!T 97%"/>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alpha val="30000"/>
                  </a:srgbClr>
                </a:solidFill>
                <a:latin typeface="Plus Jakarta Sans"/>
              </a:rPr>
              <a:t>97%</a:t>
            </a:r>
          </a:p>
        </p:txBody>
      </p:sp>
      <p:sp>
        <p:nvSpPr>
          <p:cNvPr id="78" name="!!T 97% #2"/>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79" name="!!T with the five calls"/>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alpha val="30000"/>
                  </a:srgbClr>
                </a:solidFill>
                <a:latin typeface="Plus Jakarta Sans SemiBold"/>
              </a:rPr>
              <a:t>with the five calls</a:t>
            </a:r>
          </a:p>
        </p:txBody>
      </p:sp>
      <p:sp>
        <p:nvSpPr>
          <p:cNvPr id="80" name="!!T with the five calls #2"/>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81" name="!!T Chance the money lasts to Carmen's 89, 1"/>
          <p:cNvSpPr txBox="1"/>
          <p:nvPr/>
        </p:nvSpPr>
        <p:spPr>
          <a:xfrm>
            <a:off x="457200" y="6452104"/>
            <a:ext cx="64140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 rules, almost</a:t>
            </a:r>
          </a:p>
          <a:p>
            <a:pPr algn="l">
              <a:lnSpc>
                <a:spcPts val="1170"/>
              </a:lnSpc>
              <a:spcBef>
                <a:spcPts val="0"/>
              </a:spcBef>
              <a:spcAft>
                <a:spcPts val="0"/>
              </a:spcAft>
            </a:pPr>
            <a:r>
              <a:rPr sz="900" b="0" i="0" kern="100">
                <a:solidFill>
                  <a:srgbClr val="D9B3B9"/>
                </a:solidFill>
                <a:latin typeface="Plus Jakarta Sans"/>
              </a:rPr>
              <a:t>every future. Their own way: the business sold, the flat sold when the money runs out.</a:t>
            </a:r>
          </a:p>
        </p:txBody>
      </p:sp>
      <p:sp>
        <p:nvSpPr>
          <p:cNvPr id="82" name="!!T The problem"/>
          <p:cNvSpPr txBox="1"/>
          <p:nvPr/>
        </p:nvSpPr>
        <p:spPr>
          <a:xfrm>
            <a:off x="66713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83" name="!!T The answer"/>
          <p:cNvSpPr txBox="1"/>
          <p:nvPr/>
        </p:nvSpPr>
        <p:spPr>
          <a:xfrm>
            <a:off x="7617619"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84" name="!!T The five calls"/>
          <p:cNvSpPr txBox="1"/>
          <p:nvPr/>
        </p:nvSpPr>
        <p:spPr>
          <a:xfrm>
            <a:off x="849496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85" name="!!T Will it hold"/>
          <p:cNvSpPr txBox="1"/>
          <p:nvPr/>
        </p:nvSpPr>
        <p:spPr>
          <a:xfrm>
            <a:off x="943183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86" name="!!T What next"/>
          <p:cNvSpPr txBox="1"/>
          <p:nvPr/>
        </p:nvSpPr>
        <p:spPr>
          <a:xfrm>
            <a:off x="102298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87" name="!!T Us"/>
          <p:cNvSpPr txBox="1"/>
          <p:nvPr/>
        </p:nvSpPr>
        <p:spPr>
          <a:xfrm>
            <a:off x="110251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88" name="!!T 4 / 15"/>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3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300"/>
                                        <p:tgtEl>
                                          <p:spTgt spid="6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4"/>
                                        </p:tgtEl>
                                        <p:attrNameLst>
                                          <p:attrName>style.visibility</p:attrName>
                                        </p:attrNameLst>
                                      </p:cBhvr>
                                      <p:to>
                                        <p:strVal val="visible"/>
                                      </p:to>
                                    </p:set>
                                    <p:animEffect transition="in" filter="fade">
                                      <p:cBhvr>
                                        <p:cTn id="16" dur="300"/>
                                        <p:tgtEl>
                                          <p:spTgt spid="64"/>
                                        </p:tgtEl>
                                      </p:cBhvr>
                                    </p:animEffect>
                                  </p:childTnLst>
                                </p:cTn>
                              </p:par>
                              <p:par>
                                <p:cTn id="17" presetID="10" presetClass="entr" presetSubtype="0" fill="hold" nodeType="withEffect">
                                  <p:stCondLst>
                                    <p:cond delay="0"/>
                                  </p:stCondLst>
                                  <p:childTnLst>
                                    <p:set>
                                      <p:cBhvr>
                                        <p:cTn id="18" dur="1" fill="hold">
                                          <p:stCondLst>
                                            <p:cond delay="0"/>
                                          </p:stCondLst>
                                        </p:cTn>
                                        <p:tgtEl>
                                          <p:spTgt spid="66"/>
                                        </p:tgtEl>
                                        <p:attrNameLst>
                                          <p:attrName>style.visibility</p:attrName>
                                        </p:attrNameLst>
                                      </p:cBhvr>
                                      <p:to>
                                        <p:strVal val="visible"/>
                                      </p:to>
                                    </p:set>
                                    <p:animEffect transition="in" filter="fade">
                                      <p:cBhvr>
                                        <p:cTn id="19" dur="300"/>
                                        <p:tgtEl>
                                          <p:spTgt spid="6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52"/>
                                        </p:tgtEl>
                                        <p:attrNameLst>
                                          <p:attrName>style.visibility</p:attrName>
                                        </p:attrNameLst>
                                      </p:cBhvr>
                                      <p:to>
                                        <p:strVal val="visible"/>
                                      </p:to>
                                    </p:set>
                                    <p:animEffect transition="in" filter="fade">
                                      <p:cBhvr>
                                        <p:cTn id="27" dur="300"/>
                                        <p:tgtEl>
                                          <p:spTgt spid="5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300"/>
                                        <p:tgtEl>
                                          <p:spTgt spid="5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animEffect transition="in" filter="fade">
                                      <p:cBhvr>
                                        <p:cTn id="33" dur="300"/>
                                        <p:tgtEl>
                                          <p:spTgt spid="56"/>
                                        </p:tgtEl>
                                      </p:cBhvr>
                                    </p:animEffect>
                                  </p:childTnLst>
                                </p:cTn>
                              </p:par>
                              <p:par>
                                <p:cTn id="34" presetID="10" presetClass="entr" presetSubtype="0" fill="hold" nodeType="withEffect">
                                  <p:stCondLst>
                                    <p:cond delay="0"/>
                                  </p:stCondLst>
                                  <p:childTnLst>
                                    <p:set>
                                      <p:cBhvr>
                                        <p:cTn id="35" dur="1" fill="hold">
                                          <p:stCondLst>
                                            <p:cond delay="0"/>
                                          </p:stCondLst>
                                        </p:cTn>
                                        <p:tgtEl>
                                          <p:spTgt spid="58"/>
                                        </p:tgtEl>
                                        <p:attrNameLst>
                                          <p:attrName>style.visibility</p:attrName>
                                        </p:attrNameLst>
                                      </p:cBhvr>
                                      <p:to>
                                        <p:strVal val="visible"/>
                                      </p:to>
                                    </p:set>
                                    <p:animEffect transition="in" filter="fade">
                                      <p:cBhvr>
                                        <p:cTn id="36" dur="300"/>
                                        <p:tgtEl>
                                          <p:spTgt spid="5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3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fade">
                                      <p:cBhvr>
                                        <p:cTn id="44" dur="300"/>
                                        <p:tgtEl>
                                          <p:spTgt spid="36"/>
                                        </p:tgtEl>
                                      </p:cBhvr>
                                    </p:animEffect>
                                  </p:childTnLst>
                                </p:cTn>
                              </p:par>
                              <p:par>
                                <p:cTn id="45" presetID="10" presetClass="entr" presetSubtype="0" fill="hold" nodeType="with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300"/>
                                        <p:tgtEl>
                                          <p:spTgt spid="3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3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2"/>
                                        </p:tgtEl>
                                        <p:attrNameLst>
                                          <p:attrName>style.visibility</p:attrName>
                                        </p:attrNameLst>
                                      </p:cBhvr>
                                      <p:to>
                                        <p:strVal val="visible"/>
                                      </p:to>
                                    </p:set>
                                    <p:animEffect transition="in" filter="fade">
                                      <p:cBhvr>
                                        <p:cTn id="53" dur="300"/>
                                        <p:tgtEl>
                                          <p:spTgt spid="42"/>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300"/>
                                        <p:tgtEl>
                                          <p:spTgt spid="1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300"/>
                                        <p:tgtEl>
                                          <p:spTgt spid="4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300"/>
                                        <p:tgtEl>
                                          <p:spTgt spid="46"/>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8"/>
                                        </p:tgtEl>
                                        <p:attrNameLst>
                                          <p:attrName>style.visibility</p:attrName>
                                        </p:attrNameLst>
                                      </p:cBhvr>
                                      <p:to>
                                        <p:strVal val="visible"/>
                                      </p:to>
                                    </p:set>
                                    <p:animEffect transition="in" filter="fade">
                                      <p:cBhvr>
                                        <p:cTn id="67" dur="300"/>
                                        <p:tgtEl>
                                          <p:spTgt spid="48"/>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300"/>
                                        <p:tgtEl>
                                          <p:spTgt spid="5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300"/>
                                        <p:tgtEl>
                                          <p:spTgt spid="1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300"/>
                                        <p:tgtEl>
                                          <p:spTgt spid="28"/>
                                        </p:tgtEl>
                                      </p:cBhvr>
                                    </p:animEffect>
                                  </p:childTnLst>
                                </p:cTn>
                              </p:par>
                              <p:par>
                                <p:cTn id="79" presetID="10" presetClass="entr" presetSubtype="0" fill="hold" nodeType="with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300"/>
                                        <p:tgtEl>
                                          <p:spTgt spid="3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300"/>
                                        <p:tgtEl>
                                          <p:spTgt spid="32"/>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300"/>
                                        <p:tgtEl>
                                          <p:spTgt spid="3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8"/>
                                        </p:tgtEl>
                                        <p:attrNameLst>
                                          <p:attrName>style.visibility</p:attrName>
                                        </p:attrNameLst>
                                      </p:cBhvr>
                                      <p:to>
                                        <p:strVal val="visible"/>
                                      </p:to>
                                    </p:set>
                                    <p:animEffect transition="in" filter="fade">
                                      <p:cBhvr>
                                        <p:cTn id="92" dur="300"/>
                                        <p:tgtEl>
                                          <p:spTgt spid="1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300"/>
                                        <p:tgtEl>
                                          <p:spTgt spid="20"/>
                                        </p:tgtEl>
                                      </p:cBhvr>
                                    </p:animEffect>
                                  </p:childTnLst>
                                </p:cTn>
                              </p:par>
                              <p:par>
                                <p:cTn id="96" presetID="10" presetClass="entr" presetSubtype="0" fill="hold" nodeType="withEffect">
                                  <p:stCondLst>
                                    <p:cond delay="0"/>
                                  </p:stCondLst>
                                  <p:childTnLst>
                                    <p:set>
                                      <p:cBhvr>
                                        <p:cTn id="97" dur="1" fill="hold">
                                          <p:stCondLst>
                                            <p:cond delay="0"/>
                                          </p:stCondLst>
                                        </p:cTn>
                                        <p:tgtEl>
                                          <p:spTgt spid="22"/>
                                        </p:tgtEl>
                                        <p:attrNameLst>
                                          <p:attrName>style.visibility</p:attrName>
                                        </p:attrNameLst>
                                      </p:cBhvr>
                                      <p:to>
                                        <p:strVal val="visible"/>
                                      </p:to>
                                    </p:set>
                                    <p:animEffect transition="in" filter="fade">
                                      <p:cBhvr>
                                        <p:cTn id="98" dur="300"/>
                                        <p:tgtEl>
                                          <p:spTgt spid="2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300"/>
                                        <p:tgtEl>
                                          <p:spTgt spid="2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26"/>
                                        </p:tgtEl>
                                        <p:attrNameLst>
                                          <p:attrName>style.visibility</p:attrName>
                                        </p:attrNameLst>
                                      </p:cBhvr>
                                      <p:to>
                                        <p:strVal val="visible"/>
                                      </p:to>
                                    </p:set>
                                    <p:animEffect transition="in" filter="fade">
                                      <p:cBhvr>
                                        <p:cTn id="104" dur="300"/>
                                        <p:tgtEl>
                                          <p:spTgt spid="2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68"/>
                                        </p:tgtEl>
                                        <p:attrNameLst>
                                          <p:attrName>style.visibility</p:attrName>
                                        </p:attrNameLst>
                                      </p:cBhvr>
                                      <p:to>
                                        <p:strVal val="visible"/>
                                      </p:to>
                                    </p:set>
                                    <p:animEffect transition="in" filter="fade">
                                      <p:cBhvr>
                                        <p:cTn id="107" dur="300"/>
                                        <p:tgtEl>
                                          <p:spTgt spid="6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0"/>
                                        </p:tgtEl>
                                        <p:attrNameLst>
                                          <p:attrName>style.visibility</p:attrName>
                                        </p:attrNameLst>
                                      </p:cBhvr>
                                      <p:to>
                                        <p:strVal val="visible"/>
                                      </p:to>
                                    </p:set>
                                    <p:animEffect transition="in" filter="fade">
                                      <p:cBhvr>
                                        <p:cTn id="110" dur="300"/>
                                        <p:tgtEl>
                                          <p:spTgt spid="7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72"/>
                                        </p:tgtEl>
                                        <p:attrNameLst>
                                          <p:attrName>style.visibility</p:attrName>
                                        </p:attrNameLst>
                                      </p:cBhvr>
                                      <p:to>
                                        <p:strVal val="visible"/>
                                      </p:to>
                                    </p:set>
                                    <p:animEffect transition="in" filter="fade">
                                      <p:cBhvr>
                                        <p:cTn id="113" dur="300"/>
                                        <p:tgtEl>
                                          <p:spTgt spid="7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74"/>
                                        </p:tgtEl>
                                        <p:attrNameLst>
                                          <p:attrName>style.visibility</p:attrName>
                                        </p:attrNameLst>
                                      </p:cBhvr>
                                      <p:to>
                                        <p:strVal val="visible"/>
                                      </p:to>
                                    </p:set>
                                    <p:animEffect transition="in" filter="fade">
                                      <p:cBhvr>
                                        <p:cTn id="116" dur="300"/>
                                        <p:tgtEl>
                                          <p:spTgt spid="74"/>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76"/>
                                        </p:tgtEl>
                                        <p:attrNameLst>
                                          <p:attrName>style.visibility</p:attrName>
                                        </p:attrNameLst>
                                      </p:cBhvr>
                                      <p:to>
                                        <p:strVal val="visible"/>
                                      </p:to>
                                    </p:set>
                                    <p:animEffect transition="in" filter="fade">
                                      <p:cBhvr>
                                        <p:cTn id="119" dur="300"/>
                                        <p:tgtEl>
                                          <p:spTgt spid="76"/>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78"/>
                                        </p:tgtEl>
                                        <p:attrNameLst>
                                          <p:attrName>style.visibility</p:attrName>
                                        </p:attrNameLst>
                                      </p:cBhvr>
                                      <p:to>
                                        <p:strVal val="visible"/>
                                      </p:to>
                                    </p:set>
                                    <p:animEffect transition="in" filter="fade">
                                      <p:cBhvr>
                                        <p:cTn id="122" dur="300"/>
                                        <p:tgtEl>
                                          <p:spTgt spid="78"/>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80"/>
                                        </p:tgtEl>
                                        <p:attrNameLst>
                                          <p:attrName>style.visibility</p:attrName>
                                        </p:attrNameLst>
                                      </p:cBhvr>
                                      <p:to>
                                        <p:strVal val="visible"/>
                                      </p:to>
                                    </p:set>
                                    <p:animEffect transition="in" filter="fade">
                                      <p:cBhvr>
                                        <p:cTn id="125" dur="300"/>
                                        <p:tgtEl>
                                          <p:spTgt spid="80"/>
                                        </p:tgtEl>
                                      </p:cBhvr>
                                    </p:animEffect>
                                  </p:childTnLst>
                                </p:cTn>
                              </p:par>
                              <p:par>
                                <p:cTn id="126" presetID="10" presetClass="entr" presetSubtype="0" fill="hold" nodeType="withEffect">
                                  <p:stCondLst>
                                    <p:cond delay="0"/>
                                  </p:stCondLst>
                                  <p:childTnLst>
                                    <p:set>
                                      <p:cBhvr>
                                        <p:cTn id="127" dur="1" fill="hold">
                                          <p:stCondLst>
                                            <p:cond delay="0"/>
                                          </p:stCondLst>
                                        </p:cTn>
                                        <p:tgtEl>
                                          <p:spTgt spid="5"/>
                                        </p:tgtEl>
                                        <p:attrNameLst>
                                          <p:attrName>style.visibility</p:attrName>
                                        </p:attrNameLst>
                                      </p:cBhvr>
                                      <p:to>
                                        <p:strVal val="visible"/>
                                      </p:to>
                                    </p:set>
                                    <p:animEffect transition="in" filter="fade">
                                      <p:cBhvr>
                                        <p:cTn id="128" dur="300"/>
                                        <p:tgtEl>
                                          <p:spTgt spid="5"/>
                                        </p:tgtEl>
                                      </p:cBhvr>
                                    </p:animEffect>
                                  </p:childTnLst>
                                </p:cTn>
                              </p:par>
                              <p:par>
                                <p:cTn id="129" presetID="1" presetClass="exit" presetSubtype="0" fill="hold" nodeType="withEffect">
                                  <p:stCondLst>
                                    <p:cond delay="320"/>
                                  </p:stCondLst>
                                  <p:childTnLst>
                                    <p:set>
                                      <p:cBhvr>
                                        <p:cTn id="130" dur="1" fill="hold">
                                          <p:stCondLst>
                                            <p:cond delay="0"/>
                                          </p:stCondLst>
                                        </p:cTn>
                                        <p:tgtEl>
                                          <p:spTgt spid="6"/>
                                        </p:tgtEl>
                                        <p:attrNameLst>
                                          <p:attrName>style.visibility</p:attrName>
                                        </p:attrNameLst>
                                      </p:cBhvr>
                                      <p:to>
                                        <p:strVal val="hidden"/>
                                      </p:to>
                                    </p:set>
                                  </p:childTnLst>
                                </p:cTn>
                              </p:par>
                              <p:par>
                                <p:cTn id="131" presetID="1" presetClass="exit" presetSubtype="0" fill="hold" nodeType="withEffect">
                                  <p:stCondLst>
                                    <p:cond delay="320"/>
                                  </p:stCondLst>
                                  <p:childTnLst>
                                    <p:set>
                                      <p:cBhvr>
                                        <p:cTn id="132" dur="1" fill="hold">
                                          <p:stCondLst>
                                            <p:cond delay="0"/>
                                          </p:stCondLst>
                                        </p:cTn>
                                        <p:tgtEl>
                                          <p:spTgt spid="7"/>
                                        </p:tgtEl>
                                        <p:attrNameLst>
                                          <p:attrName>style.visibility</p:attrName>
                                        </p:attrNameLst>
                                      </p:cBhvr>
                                      <p:to>
                                        <p:strVal val="hidden"/>
                                      </p:to>
                                    </p:set>
                                  </p:childTnLst>
                                </p:cTn>
                              </p:par>
                              <p:par>
                                <p:cTn id="133" presetID="1" presetClass="exit" presetSubtype="0" fill="hold" nodeType="withEffect">
                                  <p:stCondLst>
                                    <p:cond delay="320"/>
                                  </p:stCondLst>
                                  <p:childTnLst>
                                    <p:set>
                                      <p:cBhvr>
                                        <p:cTn id="134" dur="1" fill="hold">
                                          <p:stCondLst>
                                            <p:cond delay="0"/>
                                          </p:stCondLst>
                                        </p:cTn>
                                        <p:tgtEl>
                                          <p:spTgt spid="8"/>
                                        </p:tgtEl>
                                        <p:attrNameLst>
                                          <p:attrName>style.visibility</p:attrName>
                                        </p:attrNameLst>
                                      </p:cBhvr>
                                      <p:to>
                                        <p:strVal val="hidden"/>
                                      </p:to>
                                    </p:set>
                                  </p:childTnLst>
                                </p:cTn>
                              </p:par>
                              <p:par>
                                <p:cTn id="135" presetID="1" presetClass="exit" presetSubtype="0" fill="hold" nodeType="withEffect">
                                  <p:stCondLst>
                                    <p:cond delay="320"/>
                                  </p:stCondLst>
                                  <p:childTnLst>
                                    <p:set>
                                      <p:cBhvr>
                                        <p:cTn id="136" dur="1" fill="hold">
                                          <p:stCondLst>
                                            <p:cond delay="0"/>
                                          </p:stCondLst>
                                        </p:cTn>
                                        <p:tgtEl>
                                          <p:spTgt spid="9"/>
                                        </p:tgtEl>
                                        <p:attrNameLst>
                                          <p:attrName>style.visibility</p:attrName>
                                        </p:attrNameLst>
                                      </p:cBhvr>
                                      <p:to>
                                        <p:strVal val="hidden"/>
                                      </p:to>
                                    </p:set>
                                  </p:childTnLst>
                                </p:cTn>
                              </p:par>
                              <p:par>
                                <p:cTn id="137" presetID="1" presetClass="exit" presetSubtype="0" fill="hold" nodeType="withEffect">
                                  <p:stCondLst>
                                    <p:cond delay="320"/>
                                  </p:stCondLst>
                                  <p:childTnLst>
                                    <p:set>
                                      <p:cBhvr>
                                        <p:cTn id="138" dur="1" fill="hold">
                                          <p:stCondLst>
                                            <p:cond delay="0"/>
                                          </p:stCondLst>
                                        </p:cTn>
                                        <p:tgtEl>
                                          <p:spTgt spid="10"/>
                                        </p:tgtEl>
                                        <p:attrNameLst>
                                          <p:attrName>style.visibility</p:attrName>
                                        </p:attrNameLst>
                                      </p:cBhvr>
                                      <p:to>
                                        <p:strVal val="hidden"/>
                                      </p:to>
                                    </p:set>
                                  </p:childTnLst>
                                </p:cTn>
                              </p:par>
                              <p:par>
                                <p:cTn id="139" presetID="1" presetClass="exit" presetSubtype="0" fill="hold" nodeType="withEffect">
                                  <p:stCondLst>
                                    <p:cond delay="320"/>
                                  </p:stCondLst>
                                  <p:childTnLst>
                                    <p:set>
                                      <p:cBhvr>
                                        <p:cTn id="140" dur="1" fill="hold">
                                          <p:stCondLst>
                                            <p:cond delay="0"/>
                                          </p:stCondLst>
                                        </p:cTn>
                                        <p:tgtEl>
                                          <p:spTgt spid="11"/>
                                        </p:tgtEl>
                                        <p:attrNameLst>
                                          <p:attrName>style.visibility</p:attrName>
                                        </p:attrNameLst>
                                      </p:cBhvr>
                                      <p:to>
                                        <p:strVal val="hidden"/>
                                      </p:to>
                                    </p:set>
                                  </p:childTnLst>
                                </p:cTn>
                              </p:par>
                              <p:par>
                                <p:cTn id="141" presetID="1" presetClass="exit" presetSubtype="0" fill="hold" nodeType="withEffect">
                                  <p:stCondLst>
                                    <p:cond delay="320"/>
                                  </p:stCondLst>
                                  <p:childTnLst>
                                    <p:set>
                                      <p:cBhvr>
                                        <p:cTn id="142" dur="1" fill="hold">
                                          <p:stCondLst>
                                            <p:cond delay="0"/>
                                          </p:stCondLst>
                                        </p:cTn>
                                        <p:tgtEl>
                                          <p:spTgt spid="12"/>
                                        </p:tgtEl>
                                        <p:attrNameLst>
                                          <p:attrName>style.visibility</p:attrName>
                                        </p:attrNameLst>
                                      </p:cBhvr>
                                      <p:to>
                                        <p:strVal val="hidden"/>
                                      </p:to>
                                    </p:set>
                                  </p:childTnLst>
                                </p:cTn>
                              </p:par>
                              <p:par>
                                <p:cTn id="143" presetID="1" presetClass="exit" presetSubtype="0" fill="hold" nodeType="withEffect">
                                  <p:stCondLst>
                                    <p:cond delay="320"/>
                                  </p:stCondLst>
                                  <p:childTnLst>
                                    <p:set>
                                      <p:cBhvr>
                                        <p:cTn id="144" dur="1" fill="hold">
                                          <p:stCondLst>
                                            <p:cond delay="0"/>
                                          </p:stCondLst>
                                        </p:cTn>
                                        <p:tgtEl>
                                          <p:spTgt spid="13"/>
                                        </p:tgtEl>
                                        <p:attrNameLst>
                                          <p:attrName>style.visibility</p:attrName>
                                        </p:attrNameLst>
                                      </p:cBhvr>
                                      <p:to>
                                        <p:strVal val="hidden"/>
                                      </p:to>
                                    </p:set>
                                  </p:childTnLst>
                                </p:cTn>
                              </p:par>
                              <p:par>
                                <p:cTn id="145" presetID="1" presetClass="exit" presetSubtype="0" fill="hold" nodeType="withEffect">
                                  <p:stCondLst>
                                    <p:cond delay="320"/>
                                  </p:stCondLst>
                                  <p:childTnLst>
                                    <p:set>
                                      <p:cBhvr>
                                        <p:cTn id="146" dur="1" fill="hold">
                                          <p:stCondLst>
                                            <p:cond delay="0"/>
                                          </p:stCondLst>
                                        </p:cTn>
                                        <p:tgtEl>
                                          <p:spTgt spid="14"/>
                                        </p:tgtEl>
                                        <p:attrNameLst>
                                          <p:attrName>style.visibility</p:attrName>
                                        </p:attrNameLst>
                                      </p:cBhvr>
                                      <p:to>
                                        <p:strVal val="hidden"/>
                                      </p:to>
                                    </p:set>
                                  </p:childTnLst>
                                </p:cTn>
                              </p:par>
                              <p:par>
                                <p:cTn id="147" presetID="1" presetClass="exit" presetSubtype="0" fill="hold" nodeType="withEffect">
                                  <p:stCondLst>
                                    <p:cond delay="320"/>
                                  </p:stCondLst>
                                  <p:childTnLst>
                                    <p:set>
                                      <p:cBhvr>
                                        <p:cTn id="148" dur="1" fill="hold">
                                          <p:stCondLst>
                                            <p:cond delay="0"/>
                                          </p:stCondLst>
                                        </p:cTn>
                                        <p:tgtEl>
                                          <p:spTgt spid="15"/>
                                        </p:tgtEl>
                                        <p:attrNameLst>
                                          <p:attrName>style.visibility</p:attrName>
                                        </p:attrNameLst>
                                      </p:cBhvr>
                                      <p:to>
                                        <p:strVal val="hidden"/>
                                      </p:to>
                                    </p:set>
                                  </p:childTnLst>
                                </p:cTn>
                              </p:par>
                              <p:par>
                                <p:cTn id="149" presetID="1" presetClass="exit" presetSubtype="0" fill="hold" nodeType="withEffect">
                                  <p:stCondLst>
                                    <p:cond delay="320"/>
                                  </p:stCondLst>
                                  <p:childTnLst>
                                    <p:set>
                                      <p:cBhvr>
                                        <p:cTn id="150" dur="1" fill="hold">
                                          <p:stCondLst>
                                            <p:cond delay="0"/>
                                          </p:stCondLst>
                                        </p:cTn>
                                        <p:tgtEl>
                                          <p:spTgt spid="16"/>
                                        </p:tgtEl>
                                        <p:attrNameLst>
                                          <p:attrName>style.visibility</p:attrName>
                                        </p:attrNameLst>
                                      </p:cBhvr>
                                      <p:to>
                                        <p:strVal val="hidden"/>
                                      </p:to>
                                    </p:set>
                                  </p:childTnLst>
                                </p:cTn>
                              </p:par>
                              <p:par>
                                <p:cTn id="151" presetID="1" presetClass="exit" presetSubtype="0" fill="hold" nodeType="withEffect">
                                  <p:stCondLst>
                                    <p:cond delay="320"/>
                                  </p:stCondLst>
                                  <p:childTnLst>
                                    <p:set>
                                      <p:cBhvr>
                                        <p:cTn id="152" dur="1" fill="hold">
                                          <p:stCondLst>
                                            <p:cond delay="0"/>
                                          </p:stCondLst>
                                        </p:cTn>
                                        <p:tgtEl>
                                          <p:spTgt spid="17"/>
                                        </p:tgtEl>
                                        <p:attrNameLst>
                                          <p:attrName>style.visibility</p:attrName>
                                        </p:attrNameLst>
                                      </p:cBhvr>
                                      <p:to>
                                        <p:strVal val="hidden"/>
                                      </p:to>
                                    </p:set>
                                  </p:childTnLst>
                                </p:cTn>
                              </p:par>
                              <p:par>
                                <p:cTn id="153" presetID="1" presetClass="exit" presetSubtype="0" fill="hold" nodeType="withEffect">
                                  <p:stCondLst>
                                    <p:cond delay="320"/>
                                  </p:stCondLst>
                                  <p:childTnLst>
                                    <p:set>
                                      <p:cBhvr>
                                        <p:cTn id="154" dur="1" fill="hold">
                                          <p:stCondLst>
                                            <p:cond delay="0"/>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4" grpId="0" animBg="1"/>
      <p:bldP spid="26" grpId="0" animBg="1"/>
      <p:bldP spid="28" grpId="0" animBg="1"/>
      <p:bldP spid="32" grpId="0" animBg="1"/>
      <p:bldP spid="34" grpId="0" animBg="1"/>
      <p:bldP spid="36" grpId="0" animBg="1"/>
      <p:bldP spid="40" grpId="0" animBg="1"/>
      <p:bldP spid="42" grpId="0" animBg="1"/>
      <p:bldP spid="44" grpId="0" animBg="1"/>
      <p:bldP spid="46" grpId="0" animBg="1"/>
      <p:bldP spid="48" grpId="0" animBg="1"/>
      <p:bldP spid="52" grpId="0" animBg="1"/>
      <p:bldP spid="54" grpId="0" animBg="1"/>
      <p:bldP spid="56" grpId="0" animBg="1"/>
      <p:bldP spid="60" grpId="0" animBg="1"/>
      <p:bldP spid="62" grpId="0" animBg="1"/>
      <p:bldP spid="64" grpId="0" animBg="1"/>
      <p:bldP spid="68" grpId="0" animBg="1"/>
      <p:bldP spid="70" grpId="0" animBg="1"/>
      <p:bldP spid="72" grpId="0" animBg="1"/>
      <p:bldP spid="74" grpId="0" animBg="1"/>
      <p:bldP spid="76" grpId="0" animBg="1"/>
      <p:bldP spid="78" grpId="0" animBg="1"/>
      <p:bldP spid="8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1: Protection"/>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 Insure the income, not the life: about H"/>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1e94dd1f"/>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 If Adrian couldn't work tomorrow…"/>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 The household's money each month, agains"/>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c85e5f45"/>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 Why not more life cover?"/>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 His HK$2.0M whole-life policy pays only "/>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16cb8604"/>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 …so we insure the income firs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 HK$100K"/>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 a year for four new covers, 14% of their"/>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fcca67e8"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 Disability"/>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 65% of pay, to retiremen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 HK$37K"/>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01249f82"/>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44ec0c80"/>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cd5d0bb6"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 Critical illness"/>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 HK$1.5M each"/>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 HK$41K"/>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791b9660"/>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8aa10e2c"/>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7f659e60"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 Medical of their own"/>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 before group cover ends"/>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 HK$15K"/>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95ce908c"/>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128e5ccd"/>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32c15cc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 Term-life top-up"/>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 to 65 and 62"/>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 HK$7K"/>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da278d09"/>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b6d0b23b"/>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0104df3e"/>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 The price: term cover lapses at 65 and 6"/>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597dee39"/>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 And within three months, under HK$25K: w"/>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 Protected first: now the plan can turn w"/>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 Year-1 premiums from 2026 rate cards and"/>
          <p:cNvSpPr txBox="1"/>
          <p:nvPr/>
        </p:nvSpPr>
        <p:spPr>
          <a:xfrm>
            <a:off x="457200" y="6452104"/>
            <a:ext cx="621447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 (estimated</a:t>
            </a:r>
          </a:p>
          <a:p>
            <a:pPr algn="l">
              <a:lnSpc>
                <a:spcPts val="1170"/>
              </a:lnSpc>
              <a:spcBef>
                <a:spcPts val="0"/>
              </a:spcBef>
              <a:spcAft>
                <a:spcPts val="0"/>
              </a:spcAft>
            </a:pPr>
            <a:r>
              <a:rPr sz="900" b="0" i="0" kern="100">
                <a:solidFill>
                  <a:srgbClr val="80606A"/>
                </a:solidFill>
                <a:latin typeface="Plus Jakarta Sans"/>
              </a:rPr>
              <a:t>from market range and rate cards). Surplus: HK$718K a year after tax and MPF (written case §2).</a:t>
            </a:r>
          </a:p>
        </p:txBody>
      </p:sp>
      <p:sp>
        <p:nvSpPr>
          <p:cNvPr id="47" name="!!T The problem"/>
          <p:cNvSpPr txBox="1"/>
          <p:nvPr/>
        </p:nvSpPr>
        <p:spPr>
          <a:xfrm>
            <a:off x="667390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 The answer"/>
          <p:cNvSpPr txBox="1"/>
          <p:nvPr/>
        </p:nvSpPr>
        <p:spPr>
          <a:xfrm>
            <a:off x="762014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 The five calls"/>
          <p:cNvSpPr txBox="1"/>
          <p:nvPr/>
        </p:nvSpPr>
        <p:spPr>
          <a:xfrm>
            <a:off x="8480375"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 Will it hold"/>
          <p:cNvSpPr txBox="1"/>
          <p:nvPr/>
        </p:nvSpPr>
        <p:spPr>
          <a:xfrm>
            <a:off x="943600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 What next"/>
          <p:cNvSpPr txBox="1"/>
          <p:nvPr/>
        </p:nvSpPr>
        <p:spPr>
          <a:xfrm>
            <a:off x="1023401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 Us"/>
          <p:cNvSpPr txBox="1"/>
          <p:nvPr/>
        </p:nvSpPr>
        <p:spPr>
          <a:xfrm>
            <a:off x="110293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3" name="!!T 5 / 15"/>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4" name="!!i b93e70e6"/>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5" name="!!Rule ede3e6c2"/>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6" name="!!Rule a75b2edc"/>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6f3a42d9"/>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8" name="!!T HK$22K shor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59" name="!!T every month"/>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0" name="!!i da042ed0"/>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1" name="!!T Carmen's pay HK$60K"/>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2" name="!!T Today"/>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3" name="!!i 8cb27814"/>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4" name="!!T Adrian's cover HK$65K"/>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5" name="!!i 47b1027d"/>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6" name="!!T Carmen's pay HK$60K #2"/>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7" name="!!T With the plan"/>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8" name="!!Rule a9c7ea31"/>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69" name="!!T HK$82K a month of bills"/>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0" name="!!Rule d22ec9f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1" name="!!Rule dedcf2c7"/>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2" name="!!Rule f549748b"/>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3" name="!!T 65% of his pay, until 65"/>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4" name="!!T Carmen's own cover: HK$39K a month, unti"/>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300"/>
                                        <p:tgtEl>
                                          <p:spTgt spid="6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300"/>
                                        <p:tgtEl>
                                          <p:spTgt spid="6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5"/>
                                        </p:tgtEl>
                                        <p:attrNameLst>
                                          <p:attrName>style.visibility</p:attrName>
                                        </p:attrNameLst>
                                      </p:cBhvr>
                                      <p:to>
                                        <p:strVal val="visible"/>
                                      </p:to>
                                    </p:set>
                                    <p:animEffect transition="in" filter="fade">
                                      <p:cBhvr>
                                        <p:cTn id="22" dur="300"/>
                                        <p:tgtEl>
                                          <p:spTgt spid="6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300"/>
                                        <p:tgtEl>
                                          <p:spTgt spid="6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7"/>
                                        </p:tgtEl>
                                        <p:attrNameLst>
                                          <p:attrName>style.visibility</p:attrName>
                                        </p:attrNameLst>
                                      </p:cBhvr>
                                      <p:to>
                                        <p:strVal val="visible"/>
                                      </p:to>
                                    </p:set>
                                    <p:animEffect transition="in" filter="fade">
                                      <p:cBhvr>
                                        <p:cTn id="28" dur="300"/>
                                        <p:tgtEl>
                                          <p:spTgt spid="6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70"/>
                                        </p:tgtEl>
                                        <p:attrNameLst>
                                          <p:attrName>style.visibility</p:attrName>
                                        </p:attrNameLst>
                                      </p:cBhvr>
                                      <p:to>
                                        <p:strVal val="visible"/>
                                      </p:to>
                                    </p:set>
                                    <p:animEffect transition="in" filter="fade">
                                      <p:cBhvr>
                                        <p:cTn id="31" dur="300"/>
                                        <p:tgtEl>
                                          <p:spTgt spid="7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71"/>
                                        </p:tgtEl>
                                        <p:attrNameLst>
                                          <p:attrName>style.visibility</p:attrName>
                                        </p:attrNameLst>
                                      </p:cBhvr>
                                      <p:to>
                                        <p:strVal val="visible"/>
                                      </p:to>
                                    </p:set>
                                    <p:animEffect transition="in" filter="fade">
                                      <p:cBhvr>
                                        <p:cTn id="34" dur="300"/>
                                        <p:tgtEl>
                                          <p:spTgt spid="7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animEffect transition="in" filter="fade">
                                      <p:cBhvr>
                                        <p:cTn id="37" dur="300"/>
                                        <p:tgtEl>
                                          <p:spTgt spid="7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73"/>
                                        </p:tgtEl>
                                        <p:attrNameLst>
                                          <p:attrName>style.visibility</p:attrName>
                                        </p:attrNameLst>
                                      </p:cBhvr>
                                      <p:to>
                                        <p:strVal val="visible"/>
                                      </p:to>
                                    </p:set>
                                    <p:animEffect transition="in" filter="fade">
                                      <p:cBhvr>
                                        <p:cTn id="40" dur="300"/>
                                        <p:tgtEl>
                                          <p:spTgt spid="7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74"/>
                                        </p:tgtEl>
                                        <p:attrNameLst>
                                          <p:attrName>style.visibility</p:attrName>
                                        </p:attrNameLst>
                                      </p:cBhvr>
                                      <p:to>
                                        <p:strVal val="visible"/>
                                      </p:to>
                                    </p:set>
                                    <p:animEffect transition="in" filter="fade">
                                      <p:cBhvr>
                                        <p:cTn id="43" dur="300"/>
                                        <p:tgtEl>
                                          <p:spTgt spid="7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300"/>
                                        <p:tgtEl>
                                          <p:spTgt spid="1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300"/>
                                        <p:tgtEl>
                                          <p:spTgt spid="1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300"/>
                                        <p:tgtEl>
                                          <p:spTgt spid="1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300"/>
                                        <p:tgtEl>
                                          <p:spTgt spid="15"/>
                                        </p:tgtEl>
                                      </p:cBhvr>
                                    </p:animEffect>
                                  </p:childTnLst>
                                </p:cTn>
                              </p:par>
                              <p:par>
                                <p:cTn id="58" presetID="10"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300"/>
                                        <p:tgtEl>
                                          <p:spTgt spid="1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300"/>
                                        <p:tgtEl>
                                          <p:spTgt spid="1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300"/>
                                        <p:tgtEl>
                                          <p:spTgt spid="1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300"/>
                                        <p:tgtEl>
                                          <p:spTgt spid="1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300"/>
                                        <p:tgtEl>
                                          <p:spTgt spid="2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300"/>
                                        <p:tgtEl>
                                          <p:spTgt spid="21"/>
                                        </p:tgtEl>
                                      </p:cBhvr>
                                    </p:animEffect>
                                  </p:childTnLst>
                                </p:cTn>
                              </p:par>
                              <p:par>
                                <p:cTn id="76" presetID="10" presetClass="entr" presetSubtype="0" fill="hold" nodeType="withEffect">
                                  <p:stCondLst>
                                    <p:cond delay="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300"/>
                                        <p:tgtEl>
                                          <p:spTgt spid="2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300"/>
                                        <p:tgtEl>
                                          <p:spTgt spid="2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4"/>
                                        </p:tgtEl>
                                        <p:attrNameLst>
                                          <p:attrName>style.visibility</p:attrName>
                                        </p:attrNameLst>
                                      </p:cBhvr>
                                      <p:to>
                                        <p:strVal val="visible"/>
                                      </p:to>
                                    </p:set>
                                    <p:animEffect transition="in" filter="fade">
                                      <p:cBhvr>
                                        <p:cTn id="84" dur="300"/>
                                        <p:tgtEl>
                                          <p:spTgt spid="2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300"/>
                                        <p:tgtEl>
                                          <p:spTgt spid="2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300"/>
                                        <p:tgtEl>
                                          <p:spTgt spid="2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7"/>
                                        </p:tgtEl>
                                        <p:attrNameLst>
                                          <p:attrName>style.visibility</p:attrName>
                                        </p:attrNameLst>
                                      </p:cBhvr>
                                      <p:to>
                                        <p:strVal val="visible"/>
                                      </p:to>
                                    </p:set>
                                    <p:animEffect transition="in" filter="fade">
                                      <p:cBhvr>
                                        <p:cTn id="93" dur="300"/>
                                        <p:tgtEl>
                                          <p:spTgt spid="27"/>
                                        </p:tgtEl>
                                      </p:cBhvr>
                                    </p:animEffect>
                                  </p:childTnLst>
                                </p:cTn>
                              </p:par>
                              <p:par>
                                <p:cTn id="94" presetID="10" presetClass="entr" presetSubtype="0" fill="hold" nodeType="withEffect">
                                  <p:stCondLst>
                                    <p:cond delay="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300"/>
                                        <p:tgtEl>
                                          <p:spTgt spid="2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fade">
                                      <p:cBhvr>
                                        <p:cTn id="99" dur="300"/>
                                        <p:tgtEl>
                                          <p:spTgt spid="2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300"/>
                                        <p:tgtEl>
                                          <p:spTgt spid="3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300"/>
                                        <p:tgtEl>
                                          <p:spTgt spid="3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2"/>
                                        </p:tgtEl>
                                        <p:attrNameLst>
                                          <p:attrName>style.visibility</p:attrName>
                                        </p:attrNameLst>
                                      </p:cBhvr>
                                      <p:to>
                                        <p:strVal val="visible"/>
                                      </p:to>
                                    </p:set>
                                    <p:animEffect transition="in" filter="fade">
                                      <p:cBhvr>
                                        <p:cTn id="108" dur="300"/>
                                        <p:tgtEl>
                                          <p:spTgt spid="3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300"/>
                                        <p:tgtEl>
                                          <p:spTgt spid="33"/>
                                        </p:tgtEl>
                                      </p:cBhvr>
                                    </p:animEffect>
                                  </p:childTnLst>
                                </p:cTn>
                              </p:par>
                              <p:par>
                                <p:cTn id="112" presetID="10" presetClass="entr" presetSubtype="0" fill="hold" nodeType="withEffect">
                                  <p:stCondLst>
                                    <p:cond delay="0"/>
                                  </p:stCondLst>
                                  <p:childTnLst>
                                    <p:set>
                                      <p:cBhvr>
                                        <p:cTn id="113" dur="1" fill="hold">
                                          <p:stCondLst>
                                            <p:cond delay="0"/>
                                          </p:stCondLst>
                                        </p:cTn>
                                        <p:tgtEl>
                                          <p:spTgt spid="34"/>
                                        </p:tgtEl>
                                        <p:attrNameLst>
                                          <p:attrName>style.visibility</p:attrName>
                                        </p:attrNameLst>
                                      </p:cBhvr>
                                      <p:to>
                                        <p:strVal val="visible"/>
                                      </p:to>
                                    </p:set>
                                    <p:animEffect transition="in" filter="fade">
                                      <p:cBhvr>
                                        <p:cTn id="114" dur="300"/>
                                        <p:tgtEl>
                                          <p:spTgt spid="3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fade">
                                      <p:cBhvr>
                                        <p:cTn id="117" dur="300"/>
                                        <p:tgtEl>
                                          <p:spTgt spid="3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36"/>
                                        </p:tgtEl>
                                        <p:attrNameLst>
                                          <p:attrName>style.visibility</p:attrName>
                                        </p:attrNameLst>
                                      </p:cBhvr>
                                      <p:to>
                                        <p:strVal val="visible"/>
                                      </p:to>
                                    </p:set>
                                    <p:animEffect transition="in" filter="fade">
                                      <p:cBhvr>
                                        <p:cTn id="120" dur="300"/>
                                        <p:tgtEl>
                                          <p:spTgt spid="36"/>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fade">
                                      <p:cBhvr>
                                        <p:cTn id="123" dur="300"/>
                                        <p:tgtEl>
                                          <p:spTgt spid="37"/>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38"/>
                                        </p:tgtEl>
                                        <p:attrNameLst>
                                          <p:attrName>style.visibility</p:attrName>
                                        </p:attrNameLst>
                                      </p:cBhvr>
                                      <p:to>
                                        <p:strVal val="visible"/>
                                      </p:to>
                                    </p:set>
                                    <p:animEffect transition="in" filter="fade">
                                      <p:cBhvr>
                                        <p:cTn id="126" dur="300"/>
                                        <p:tgtEl>
                                          <p:spTgt spid="38"/>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fade">
                                      <p:cBhvr>
                                        <p:cTn id="129" dur="300"/>
                                        <p:tgtEl>
                                          <p:spTgt spid="39"/>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300"/>
                                        <p:tgtEl>
                                          <p:spTgt spid="40"/>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300"/>
                                        <p:tgtEl>
                                          <p:spTgt spid="41"/>
                                        </p:tgtEl>
                                      </p:cBhvr>
                                    </p:animEffect>
                                  </p:childTnLst>
                                </p:cTn>
                              </p:par>
                            </p:childTnLst>
                          </p:cTn>
                        </p:par>
                      </p:childTnLst>
                    </p:cTn>
                  </p:par>
                  <p:par>
                    <p:cTn id="136" fill="hold">
                      <p:stCondLst>
                        <p:cond delay="indefinite"/>
                      </p:stCondLst>
                      <p:childTnLst>
                        <p:par>
                          <p:cTn id="137" fill="hold">
                            <p:stCondLst>
                              <p:cond delay="0"/>
                            </p:stCondLst>
                            <p:childTnLst>
                              <p:par>
                                <p:cTn id="138" presetID="10" presetClass="entr" presetSubtype="0" fill="hold" grpId="0" nodeType="clickEffect">
                                  <p:stCondLst>
                                    <p:cond delay="0"/>
                                  </p:stCondLst>
                                  <p:childTnLst>
                                    <p:set>
                                      <p:cBhvr>
                                        <p:cTn id="139" dur="1" fill="hold">
                                          <p:stCondLst>
                                            <p:cond delay="0"/>
                                          </p:stCondLst>
                                        </p:cTn>
                                        <p:tgtEl>
                                          <p:spTgt spid="42"/>
                                        </p:tgtEl>
                                        <p:attrNameLst>
                                          <p:attrName>style.visibility</p:attrName>
                                        </p:attrNameLst>
                                      </p:cBhvr>
                                      <p:to>
                                        <p:strVal val="visible"/>
                                      </p:to>
                                    </p:set>
                                    <p:animEffect transition="in" filter="fade">
                                      <p:cBhvr>
                                        <p:cTn id="140" dur="300"/>
                                        <p:tgtEl>
                                          <p:spTgt spid="42"/>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43"/>
                                        </p:tgtEl>
                                        <p:attrNameLst>
                                          <p:attrName>style.visibility</p:attrName>
                                        </p:attrNameLst>
                                      </p:cBhvr>
                                      <p:to>
                                        <p:strVal val="visible"/>
                                      </p:to>
                                    </p:set>
                                    <p:animEffect transition="in" filter="fade">
                                      <p:cBhvr>
                                        <p:cTn id="143" dur="300"/>
                                        <p:tgtEl>
                                          <p:spTgt spid="43"/>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44"/>
                                        </p:tgtEl>
                                        <p:attrNameLst>
                                          <p:attrName>style.visibility</p:attrName>
                                        </p:attrNameLst>
                                      </p:cBhvr>
                                      <p:to>
                                        <p:strVal val="visible"/>
                                      </p:to>
                                    </p:set>
                                    <p:animEffect transition="in" filter="fade">
                                      <p:cBhvr>
                                        <p:cTn id="146" dur="300"/>
                                        <p:tgtEl>
                                          <p:spTgt spid="44"/>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45"/>
                                        </p:tgtEl>
                                        <p:attrNameLst>
                                          <p:attrName>style.visibility</p:attrName>
                                        </p:attrNameLst>
                                      </p:cBhvr>
                                      <p:to>
                                        <p:strVal val="visible"/>
                                      </p:to>
                                    </p:set>
                                    <p:animEffect transition="in" filter="fade">
                                      <p:cBhvr>
                                        <p:cTn id="149" dur="3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63" grpId="0" animBg="1"/>
      <p:bldP spid="64" grpId="0" animBg="1"/>
      <p:bldP spid="65" grpId="0" animBg="1"/>
      <p:bldP spid="66" grpId="0" animBg="1"/>
      <p:bldP spid="67" grpId="0" animBg="1"/>
      <p:bldP spid="70" grpId="0" animBg="1"/>
      <p:bldP spid="71" grpId="0" animBg="1"/>
      <p:bldP spid="72" grpId="0" animBg="1"/>
      <p:bldP spid="73" grpId="0" animBg="1"/>
      <p:bldP spid="7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2: The home and the business"/>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 Decide now, not at 83: four decisions on"/>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 What they own and spend"/>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 What each becomes, decided now"/>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 What it gives them"/>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d791c66"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pic>
        <p:nvPicPr>
          <p:cNvPr id="10" name="!!Drawing dd791c66 #2"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 y="1671042"/>
            <a:ext cx="11277600" cy="2609850"/>
          </a:xfrm>
          <a:prstGeom prst="rect">
            <a:avLst/>
          </a:prstGeom>
        </p:spPr>
      </p:pic>
      <p:pic>
        <p:nvPicPr>
          <p:cNvPr id="11" name="!!Drawing dd791c66 #3"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7200" y="1671042"/>
            <a:ext cx="11277600" cy="2609850"/>
          </a:xfrm>
          <a:prstGeom prst="rect">
            <a:avLst/>
          </a:prstGeom>
        </p:spPr>
      </p:pic>
      <p:pic>
        <p:nvPicPr>
          <p:cNvPr id="12" name="!!Drawing dd791c66 #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1671042"/>
            <a:ext cx="11277600" cy="2609850"/>
          </a:xfrm>
          <a:prstGeom prst="rect">
            <a:avLst/>
          </a:prstGeom>
        </p:spPr>
      </p:pic>
      <p:pic>
        <p:nvPicPr>
          <p:cNvPr id="13" name="!!Drawing dd791c66 #5"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7200" y="1671042"/>
            <a:ext cx="11277600" cy="2609850"/>
          </a:xfrm>
          <a:prstGeom prst="rect">
            <a:avLst/>
          </a:prstGeom>
        </p:spPr>
      </p:pic>
      <p:sp>
        <p:nvSpPr>
          <p:cNvPr id="14" name="!!span 0325418c"/>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5" name="!!Drawing 020f3b0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7688" y="1799630"/>
            <a:ext cx="200025" cy="200025"/>
          </a:xfrm>
          <a:prstGeom prst="rect">
            <a:avLst/>
          </a:prstGeom>
        </p:spPr>
      </p:pic>
      <p:sp>
        <p:nvSpPr>
          <p:cNvPr id="16" name="!!T The fla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7" name="!!T HK$11.5M"/>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8" name="!!span fb5756a0"/>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9" name="!!Drawing ce055081"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7688" y="2409230"/>
            <a:ext cx="200025" cy="200025"/>
          </a:xfrm>
          <a:prstGeom prst="rect">
            <a:avLst/>
          </a:prstGeom>
        </p:spPr>
      </p:pic>
      <p:sp>
        <p:nvSpPr>
          <p:cNvPr id="20" name="!!T The MPF"/>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21" name="!!T HK$1.7M"/>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22" name="!!span 44d22ef7"/>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23" name="!!Drawing 3ad79f74"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7688" y="3018830"/>
            <a:ext cx="200025" cy="200025"/>
          </a:xfrm>
          <a:prstGeom prst="rect">
            <a:avLst/>
          </a:prstGeom>
        </p:spPr>
      </p:pic>
      <p:sp>
        <p:nvSpPr>
          <p:cNvPr id="24" name="!!T The business"/>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5" name="!!T HK$5.0M"/>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6" name="!!span 55acadb4"/>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7" name="!!Drawing 30bf0ab2" descr="image.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7688" y="3628430"/>
            <a:ext cx="200025" cy="200025"/>
          </a:xfrm>
          <a:prstGeom prst="rect">
            <a:avLst/>
          </a:prstGeom>
        </p:spPr>
      </p:pic>
      <p:sp>
        <p:nvSpPr>
          <p:cNvPr id="28" name="!!T Their budge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9" name="!!T HK$780K a year"/>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30" name="!!T HK$230K a year for life, from 2037"/>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31" name="!!T they stay, with a reverse mortgage, or d"/>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32" name="!!T HK$268K a year for life"/>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33" name="!!T two HKMC annuities, bought at 65 and 62"/>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4" name="!!T Sold in stages, 2035–39"/>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5" name="!!T to her co-founder and managers; their ow"/>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6" name="!!T Planned now, for a survivor"/>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7" name="!!T for the years after the first death"/>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8" name="!!div 211d27bd"/>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9" name="!!Rule 155f7c8d"/>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40" name="!!T Guaranteed income, for life"/>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41" name="!!T 116%"/>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42" name="!!T of their essential bills, covered in 203"/>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43" name="!!div 92cc769e"/>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4" name="!!Rule 419b12c9"/>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5" name="!!T HK$3.0M"/>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6" name="!!T into savings"/>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7" name="!!T counted low, of HK$5.0M"/>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8" name="!!div 717b085c"/>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9" name="!!Rule 8c609223"/>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50" name="!!T 70%"/>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51" name="!!T of today's budge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52" name="!!T for the one who survives"/>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53" name="!!Rule 3d09e2fc"/>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4" name="!!T Chance the money lasts to Carmen's 89"/>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5" name="!!i ac1db153"/>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6" name="!!i 997b076d"/>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7" name="!!i 4c2d5999"/>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8" name="!!T four decisions, taken now"/>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9" name="!!T 83%"/>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60" name="!!T their own way 62%"/>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61" name="!!T with Call 3, next 97%"/>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62" name="!!T The price: staying in the home leaves HK"/>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6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4" name="!!T Decided now, four decisions close most o"/>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5" name="!!T Chance the money lasts to Carmen's 89, 1"/>
          <p:cNvSpPr txBox="1"/>
          <p:nvPr/>
        </p:nvSpPr>
        <p:spPr>
          <a:xfrm>
            <a:off x="457200" y="6452104"/>
            <a:ext cx="63495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 premiums</a:t>
            </a:r>
          </a:p>
          <a:p>
            <a:pPr algn="l">
              <a:lnSpc>
                <a:spcPts val="1170"/>
              </a:lnSpc>
              <a:spcBef>
                <a:spcPts val="0"/>
              </a:spcBef>
              <a:spcAft>
                <a:spcPts val="0"/>
              </a:spcAft>
            </a:pPr>
            <a:r>
              <a:rPr sz="900" b="0" i="0" kern="100">
                <a:solidFill>
                  <a:srgbClr val="80606A"/>
                </a:solidFill>
                <a:latin typeface="Plus Jakarta Sans"/>
              </a:rPr>
              <a:t>for life. Assets: case; the business counted at HK$3.0M, as in the written case.</a:t>
            </a:r>
          </a:p>
        </p:txBody>
      </p:sp>
      <p:sp>
        <p:nvSpPr>
          <p:cNvPr id="66"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7"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8"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9"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0"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1"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2" name="!!T 6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3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300"/>
                                        <p:tgtEl>
                                          <p:spTgt spid="3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300"/>
                                        <p:tgtEl>
                                          <p:spTgt spid="3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3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animEffect transition="in" filter="fade">
                                      <p:cBhvr>
                                        <p:cTn id="21" dur="300"/>
                                        <p:tgtEl>
                                          <p:spTgt spid="3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300"/>
                                        <p:tgtEl>
                                          <p:spTgt spid="3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3"/>
                                        </p:tgtEl>
                                        <p:attrNameLst>
                                          <p:attrName>style.visibility</p:attrName>
                                        </p:attrNameLst>
                                      </p:cBhvr>
                                      <p:to>
                                        <p:strVal val="visible"/>
                                      </p:to>
                                    </p:set>
                                    <p:animEffect transition="in" filter="fade">
                                      <p:cBhvr>
                                        <p:cTn id="27" dur="300"/>
                                        <p:tgtEl>
                                          <p:spTgt spid="4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4"/>
                                        </p:tgtEl>
                                        <p:attrNameLst>
                                          <p:attrName>style.visibility</p:attrName>
                                        </p:attrNameLst>
                                      </p:cBhvr>
                                      <p:to>
                                        <p:strVal val="visible"/>
                                      </p:to>
                                    </p:set>
                                    <p:animEffect transition="in" filter="fade">
                                      <p:cBhvr>
                                        <p:cTn id="30" dur="300"/>
                                        <p:tgtEl>
                                          <p:spTgt spid="4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animEffect transition="in" filter="fade">
                                      <p:cBhvr>
                                        <p:cTn id="33" dur="300"/>
                                        <p:tgtEl>
                                          <p:spTgt spid="4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fade">
                                      <p:cBhvr>
                                        <p:cTn id="36" dur="300"/>
                                        <p:tgtEl>
                                          <p:spTgt spid="4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7"/>
                                        </p:tgtEl>
                                        <p:attrNameLst>
                                          <p:attrName>style.visibility</p:attrName>
                                        </p:attrNameLst>
                                      </p:cBhvr>
                                      <p:to>
                                        <p:strVal val="visible"/>
                                      </p:to>
                                    </p:set>
                                    <p:animEffect transition="in" filter="fade">
                                      <p:cBhvr>
                                        <p:cTn id="39" dur="300"/>
                                        <p:tgtEl>
                                          <p:spTgt spid="4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00"/>
                                        <p:tgtEl>
                                          <p:spTgt spid="1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300"/>
                                        <p:tgtEl>
                                          <p:spTgt spid="3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300"/>
                                        <p:tgtEl>
                                          <p:spTgt spid="3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3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3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300"/>
                                        <p:tgtEl>
                                          <p:spTgt spid="5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1"/>
                                        </p:tgtEl>
                                        <p:attrNameLst>
                                          <p:attrName>style.visibility</p:attrName>
                                        </p:attrNameLst>
                                      </p:cBhvr>
                                      <p:to>
                                        <p:strVal val="visible"/>
                                      </p:to>
                                    </p:set>
                                    <p:animEffect transition="in" filter="fade">
                                      <p:cBhvr>
                                        <p:cTn id="62" dur="300"/>
                                        <p:tgtEl>
                                          <p:spTgt spid="5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2"/>
                                        </p:tgtEl>
                                        <p:attrNameLst>
                                          <p:attrName>style.visibility</p:attrName>
                                        </p:attrNameLst>
                                      </p:cBhvr>
                                      <p:to>
                                        <p:strVal val="visible"/>
                                      </p:to>
                                    </p:set>
                                    <p:animEffect transition="in" filter="fade">
                                      <p:cBhvr>
                                        <p:cTn id="65" dur="300"/>
                                        <p:tgtEl>
                                          <p:spTgt spid="52"/>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
                                        </p:tgtEl>
                                        <p:attrNameLst>
                                          <p:attrName>style.visibility</p:attrName>
                                        </p:attrNameLst>
                                      </p:cBhvr>
                                      <p:to>
                                        <p:strVal val="visible"/>
                                      </p:to>
                                    </p:set>
                                    <p:animEffect transition="in" filter="fade">
                                      <p:cBhvr>
                                        <p:cTn id="70" dur="300"/>
                                        <p:tgtEl>
                                          <p:spTgt spid="1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3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3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300"/>
                                        <p:tgtEl>
                                          <p:spTgt spid="38"/>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9"/>
                                        </p:tgtEl>
                                        <p:attrNameLst>
                                          <p:attrName>style.visibility</p:attrName>
                                        </p:attrNameLst>
                                      </p:cBhvr>
                                      <p:to>
                                        <p:strVal val="visible"/>
                                      </p:to>
                                    </p:set>
                                    <p:animEffect transition="in" filter="fade">
                                      <p:cBhvr>
                                        <p:cTn id="82" dur="300"/>
                                        <p:tgtEl>
                                          <p:spTgt spid="39"/>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fade">
                                      <p:cBhvr>
                                        <p:cTn id="85" dur="300"/>
                                        <p:tgtEl>
                                          <p:spTgt spid="4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1"/>
                                        </p:tgtEl>
                                        <p:attrNameLst>
                                          <p:attrName>style.visibility</p:attrName>
                                        </p:attrNameLst>
                                      </p:cBhvr>
                                      <p:to>
                                        <p:strVal val="visible"/>
                                      </p:to>
                                    </p:set>
                                    <p:animEffect transition="in" filter="fade">
                                      <p:cBhvr>
                                        <p:cTn id="88" dur="300"/>
                                        <p:tgtEl>
                                          <p:spTgt spid="41"/>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2"/>
                                        </p:tgtEl>
                                        <p:attrNameLst>
                                          <p:attrName>style.visibility</p:attrName>
                                        </p:attrNameLst>
                                      </p:cBhvr>
                                      <p:to>
                                        <p:strVal val="visible"/>
                                      </p:to>
                                    </p:set>
                                    <p:animEffect transition="in" filter="fade">
                                      <p:cBhvr>
                                        <p:cTn id="91" dur="300"/>
                                        <p:tgtEl>
                                          <p:spTgt spid="42"/>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53"/>
                                        </p:tgtEl>
                                        <p:attrNameLst>
                                          <p:attrName>style.visibility</p:attrName>
                                        </p:attrNameLst>
                                      </p:cBhvr>
                                      <p:to>
                                        <p:strVal val="visible"/>
                                      </p:to>
                                    </p:set>
                                    <p:animEffect transition="in" filter="fade">
                                      <p:cBhvr>
                                        <p:cTn id="96" dur="300"/>
                                        <p:tgtEl>
                                          <p:spTgt spid="5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300"/>
                                        <p:tgtEl>
                                          <p:spTgt spid="5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5"/>
                                        </p:tgtEl>
                                        <p:attrNameLst>
                                          <p:attrName>style.visibility</p:attrName>
                                        </p:attrNameLst>
                                      </p:cBhvr>
                                      <p:to>
                                        <p:strVal val="visible"/>
                                      </p:to>
                                    </p:set>
                                    <p:animEffect transition="in" filter="fade">
                                      <p:cBhvr>
                                        <p:cTn id="102" dur="300"/>
                                        <p:tgtEl>
                                          <p:spTgt spid="5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6"/>
                                        </p:tgtEl>
                                        <p:attrNameLst>
                                          <p:attrName>style.visibility</p:attrName>
                                        </p:attrNameLst>
                                      </p:cBhvr>
                                      <p:to>
                                        <p:strVal val="visible"/>
                                      </p:to>
                                    </p:set>
                                    <p:animEffect transition="in" filter="fade">
                                      <p:cBhvr>
                                        <p:cTn id="105" dur="300"/>
                                        <p:tgtEl>
                                          <p:spTgt spid="5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7"/>
                                        </p:tgtEl>
                                        <p:attrNameLst>
                                          <p:attrName>style.visibility</p:attrName>
                                        </p:attrNameLst>
                                      </p:cBhvr>
                                      <p:to>
                                        <p:strVal val="visible"/>
                                      </p:to>
                                    </p:set>
                                    <p:animEffect transition="in" filter="fade">
                                      <p:cBhvr>
                                        <p:cTn id="108" dur="300"/>
                                        <p:tgtEl>
                                          <p:spTgt spid="5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8"/>
                                        </p:tgtEl>
                                        <p:attrNameLst>
                                          <p:attrName>style.visibility</p:attrName>
                                        </p:attrNameLst>
                                      </p:cBhvr>
                                      <p:to>
                                        <p:strVal val="visible"/>
                                      </p:to>
                                    </p:set>
                                    <p:animEffect transition="in" filter="fade">
                                      <p:cBhvr>
                                        <p:cTn id="111" dur="300"/>
                                        <p:tgtEl>
                                          <p:spTgt spid="5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9"/>
                                        </p:tgtEl>
                                        <p:attrNameLst>
                                          <p:attrName>style.visibility</p:attrName>
                                        </p:attrNameLst>
                                      </p:cBhvr>
                                      <p:to>
                                        <p:strVal val="visible"/>
                                      </p:to>
                                    </p:set>
                                    <p:animEffect transition="in" filter="fade">
                                      <p:cBhvr>
                                        <p:cTn id="114" dur="300"/>
                                        <p:tgtEl>
                                          <p:spTgt spid="5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0"/>
                                        </p:tgtEl>
                                        <p:attrNameLst>
                                          <p:attrName>style.visibility</p:attrName>
                                        </p:attrNameLst>
                                      </p:cBhvr>
                                      <p:to>
                                        <p:strVal val="visible"/>
                                      </p:to>
                                    </p:set>
                                    <p:animEffect transition="in" filter="fade">
                                      <p:cBhvr>
                                        <p:cTn id="117" dur="300"/>
                                        <p:tgtEl>
                                          <p:spTgt spid="6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1"/>
                                        </p:tgtEl>
                                        <p:attrNameLst>
                                          <p:attrName>style.visibility</p:attrName>
                                        </p:attrNameLst>
                                      </p:cBhvr>
                                      <p:to>
                                        <p:strVal val="visible"/>
                                      </p:to>
                                    </p:set>
                                    <p:animEffect transition="in" filter="fade">
                                      <p:cBhvr>
                                        <p:cTn id="120" dur="300"/>
                                        <p:tgtEl>
                                          <p:spTgt spid="6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2"/>
                                        </p:tgtEl>
                                        <p:attrNameLst>
                                          <p:attrName>style.visibility</p:attrName>
                                        </p:attrNameLst>
                                      </p:cBhvr>
                                      <p:to>
                                        <p:strVal val="visible"/>
                                      </p:to>
                                    </p:set>
                                    <p:animEffect transition="in" filter="fade">
                                      <p:cBhvr>
                                        <p:cTn id="123" dur="300"/>
                                        <p:tgtEl>
                                          <p:spTgt spid="6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3"/>
                                        </p:tgtEl>
                                        <p:attrNameLst>
                                          <p:attrName>style.visibility</p:attrName>
                                        </p:attrNameLst>
                                      </p:cBhvr>
                                      <p:to>
                                        <p:strVal val="visible"/>
                                      </p:to>
                                    </p:set>
                                    <p:animEffect transition="in" filter="fade">
                                      <p:cBhvr>
                                        <p:cTn id="126" dur="300"/>
                                        <p:tgtEl>
                                          <p:spTgt spid="6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4"/>
                                        </p:tgtEl>
                                        <p:attrNameLst>
                                          <p:attrName>style.visibility</p:attrName>
                                        </p:attrNameLst>
                                      </p:cBhvr>
                                      <p:to>
                                        <p:strVal val="visible"/>
                                      </p:to>
                                    </p:set>
                                    <p:animEffect transition="in" filter="fade">
                                      <p:cBhvr>
                                        <p:cTn id="129" dur="3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 home stays theirs">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3: Retiremen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 Fix the cost the budget ignores: in that"/>
          <p:cNvSpPr txBox="1"/>
          <p:nvPr/>
        </p:nvSpPr>
        <p:spPr>
          <a:xfrm>
            <a:off x="638175" y="529852"/>
            <a:ext cx="71935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 home stays theirs</a:t>
            </a:r>
          </a:p>
        </p:txBody>
      </p:sp>
      <p:sp>
        <p:nvSpPr>
          <p:cNvPr id="6" name="!!Rule 7f333516"/>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 Two fixes for what the budget leaves ou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4accf51d"/>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 1"/>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 Review the medical plan at Adrian's 75"/>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 Medical premiums a year, above the HK$65"/>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15b4ee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d5bedfbf"/>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 Review at 75"/>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36e5641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 HK$375K"/>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 saves about two-thirds"/>
          <p:cNvSpPr txBox="1"/>
          <p:nvPr/>
        </p:nvSpPr>
        <p:spPr>
          <a:xfrm>
            <a:off x="2181933" y="2910132"/>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 Flexi for life"/>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 Standard, after review"/>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e8553401"/>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 2037"/>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 2047"/>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 Adrian dies"/>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 2066"/>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 The price: lower limits and fewer priva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eb012fc9"/>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e4531eee"/>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 2"/>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 From 2039, spending rules for the bad ye"/>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248105c7"/>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cbb9bc4c"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 No raise after a market fall"/>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9f365eb7"/>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0dd7bd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 A 10% trim if drawing too fas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c26916ad"/>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b2f63dd1"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 Essentials are never cu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 The price: typical spending about HK$41K"/>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48d4bd77"/>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 …so the future that ran out at 86 now re"/>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e269f31d"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 HK$8.9M"/>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 left at 89"/>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519a1fb2"/>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 Carmen 49"/>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 2026"/>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 Adrian retires"/>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 2037 #2"/>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 Carmen 69"/>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 2046"/>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 Adrian dies #2"/>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 2056"/>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 Carmen 89"/>
          <p:cNvSpPr txBox="1"/>
          <p:nvPr/>
        </p:nvSpPr>
        <p:spPr>
          <a:xfrm>
            <a:off x="9726567" y="5063466"/>
            <a:ext cx="8538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89</a:t>
            </a:r>
          </a:p>
        </p:txBody>
      </p:sp>
      <p:sp>
        <p:nvSpPr>
          <p:cNvPr id="55" name="!!T 2066 #2"/>
          <p:cNvSpPr txBox="1"/>
          <p:nvPr/>
        </p:nvSpPr>
        <p:spPr>
          <a:xfrm>
            <a:off x="9917769" y="4896779"/>
            <a:ext cx="471464"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2066</a:t>
            </a:r>
          </a:p>
        </p:txBody>
      </p:sp>
      <p:sp>
        <p:nvSpPr>
          <p:cNvPr id="56" name="!!Rule 1f890f9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 In 10,000 futures: 83% → 97% last to 89 "/>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 Will it last? In almost every future: th"/>
          <p:cNvSpPr txBox="1"/>
          <p:nvPr/>
        </p:nvSpPr>
        <p:spPr>
          <a:xfrm>
            <a:off x="1405981" y="5984558"/>
            <a:ext cx="937989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keep the home.</a:t>
            </a:r>
          </a:p>
        </p:txBody>
      </p:sp>
      <p:sp>
        <p:nvSpPr>
          <p:cNvPr id="60" name="!!T Slide 3's future, same markets, today's "/>
          <p:cNvSpPr txBox="1"/>
          <p:nvPr/>
        </p:nvSpPr>
        <p:spPr>
          <a:xfrm>
            <a:off x="457200" y="6452104"/>
            <a:ext cx="635867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 cover by age</a:t>
            </a:r>
          </a:p>
          <a:p>
            <a:pPr algn="l">
              <a:lnSpc>
                <a:spcPts val="1170"/>
              </a:lnSpc>
              <a:spcBef>
                <a:spcPts val="0"/>
              </a:spcBef>
              <a:spcAft>
                <a:spcPts val="0"/>
              </a:spcAft>
            </a:pPr>
            <a:r>
              <a:rPr sz="900" b="0" i="0" kern="100">
                <a:solidFill>
                  <a:srgbClr val="80606A"/>
                </a:solidFill>
                <a:latin typeface="Plus Jakarta Sans"/>
              </a:rPr>
              <a:t>and medical inflation; one policy from 2057 (Adrian's life expectancy, 84).</a:t>
            </a:r>
          </a:p>
        </p:txBody>
      </p:sp>
      <p:sp>
        <p:nvSpPr>
          <p:cNvPr id="61" name="!!T The problem"/>
          <p:cNvSpPr txBox="1"/>
          <p:nvPr/>
        </p:nvSpPr>
        <p:spPr>
          <a:xfrm>
            <a:off x="668193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 The answer"/>
          <p:cNvSpPr txBox="1"/>
          <p:nvPr/>
        </p:nvSpPr>
        <p:spPr>
          <a:xfrm>
            <a:off x="762818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 The five calls"/>
          <p:cNvSpPr txBox="1"/>
          <p:nvPr/>
        </p:nvSpPr>
        <p:spPr>
          <a:xfrm>
            <a:off x="848841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 Will it hold"/>
          <p:cNvSpPr txBox="1"/>
          <p:nvPr/>
        </p:nvSpPr>
        <p:spPr>
          <a:xfrm>
            <a:off x="944403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 What next"/>
          <p:cNvSpPr txBox="1"/>
          <p:nvPr/>
        </p:nvSpPr>
        <p:spPr>
          <a:xfrm>
            <a:off x="1024205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 Us"/>
          <p:cNvSpPr txBox="1"/>
          <p:nvPr/>
        </p:nvSpPr>
        <p:spPr>
          <a:xfrm>
            <a:off x="110373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7" name="!!T 7 / 15"/>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8" name="!!T Savings with the four decisions"/>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69" name="!!T their own way"/>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0" name="!!T a reverse mortgage pays HK$230K a year f"/>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1" name="!!T The home: still theirs"/>
          <p:cNvSpPr txBox="1"/>
          <p:nvPr/>
        </p:nvSpPr>
        <p:spPr>
          <a:xfrm>
            <a:off x="5918150" y="4365998"/>
            <a:ext cx="149247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 still theirs</a:t>
            </a:r>
          </a:p>
        </p:txBody>
      </p:sp>
      <p:sp>
        <p:nvSpPr>
          <p:cNvPr id="72" name="!!Rule f438ee99"/>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3" name="!!Rule 89edf20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4" name="!!T HK$10M"/>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5" name="!!Rule d540d1aa"/>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6" name="!!T HK$20M"/>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7" name="!!Rule 1b780f79"/>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8" name="!!T HK$30M"/>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79" name="!!Rule 0e3790a1"/>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0" name="!!T Added by Call 3"/>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1" name="!!ps-el b6b14bbc"/>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3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300"/>
                                        <p:tgtEl>
                                          <p:spTgt spid="14"/>
                                        </p:tgtEl>
                                      </p:cBhvr>
                                    </p:animEffect>
                                  </p:childTnLst>
                                </p:cTn>
                              </p:par>
                              <p:par>
                                <p:cTn id="26" presetID="10" presetClass="entr" presetSubtype="0" fill="hold"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3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3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3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3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3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3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30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3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30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300"/>
                                        <p:tgtEl>
                                          <p:spTgt spid="2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300"/>
                                        <p:tgtEl>
                                          <p:spTgt spid="25"/>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30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30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30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300"/>
                                        <p:tgtEl>
                                          <p:spTgt spid="2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300"/>
                                        <p:tgtEl>
                                          <p:spTgt spid="30"/>
                                        </p:tgtEl>
                                      </p:cBhvr>
                                    </p:animEffect>
                                  </p:childTnLst>
                                </p:cTn>
                              </p:par>
                              <p:par>
                                <p:cTn id="76" presetID="10" presetClass="entr" presetSubtype="0" fill="hold"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300"/>
                                        <p:tgtEl>
                                          <p:spTgt spid="31"/>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300"/>
                                        <p:tgtEl>
                                          <p:spTgt spid="3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300"/>
                                        <p:tgtEl>
                                          <p:spTgt spid="33"/>
                                        </p:tgtEl>
                                      </p:cBhvr>
                                    </p:animEffect>
                                  </p:childTnLst>
                                </p:cTn>
                              </p:par>
                              <p:par>
                                <p:cTn id="85" presetID="10" presetClass="entr" presetSubtype="0" fill="hold"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300"/>
                                        <p:tgtEl>
                                          <p:spTgt spid="3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5"/>
                                        </p:tgtEl>
                                        <p:attrNameLst>
                                          <p:attrName>style.visibility</p:attrName>
                                        </p:attrNameLst>
                                      </p:cBhvr>
                                      <p:to>
                                        <p:strVal val="visible"/>
                                      </p:to>
                                    </p:set>
                                    <p:animEffect transition="in" filter="fade">
                                      <p:cBhvr>
                                        <p:cTn id="90" dur="300"/>
                                        <p:tgtEl>
                                          <p:spTgt spid="3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300"/>
                                        <p:tgtEl>
                                          <p:spTgt spid="36"/>
                                        </p:tgtEl>
                                      </p:cBhvr>
                                    </p:animEffect>
                                  </p:childTnLst>
                                </p:cTn>
                              </p:par>
                              <p:par>
                                <p:cTn id="94" presetID="10" presetClass="entr" presetSubtype="0" fill="hold" nodeType="with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300"/>
                                        <p:tgtEl>
                                          <p:spTgt spid="37"/>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300"/>
                                        <p:tgtEl>
                                          <p:spTgt spid="38"/>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300"/>
                                        <p:tgtEl>
                                          <p:spTgt spid="39"/>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7" dur="300"/>
                                        <p:tgtEl>
                                          <p:spTgt spid="40"/>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1"/>
                                        </p:tgtEl>
                                        <p:attrNameLst>
                                          <p:attrName>style.visibility</p:attrName>
                                        </p:attrNameLst>
                                      </p:cBhvr>
                                      <p:to>
                                        <p:strVal val="visible"/>
                                      </p:to>
                                    </p:set>
                                    <p:animEffect transition="in" filter="fade">
                                      <p:cBhvr>
                                        <p:cTn id="110" dur="300"/>
                                        <p:tgtEl>
                                          <p:spTgt spid="41"/>
                                        </p:tgtEl>
                                      </p:cBhvr>
                                    </p:animEffect>
                                  </p:childTnLst>
                                </p:cTn>
                              </p:par>
                              <p:par>
                                <p:cTn id="111" presetID="10" presetClass="entr" presetSubtype="0" fill="hold" nodeType="withEffect">
                                  <p:stCondLst>
                                    <p:cond delay="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300"/>
                                        <p:tgtEl>
                                          <p:spTgt spid="4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300"/>
                                        <p:tgtEl>
                                          <p:spTgt spid="43"/>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300"/>
                                        <p:tgtEl>
                                          <p:spTgt spid="44"/>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5"/>
                                        </p:tgtEl>
                                        <p:attrNameLst>
                                          <p:attrName>style.visibility</p:attrName>
                                        </p:attrNameLst>
                                      </p:cBhvr>
                                      <p:to>
                                        <p:strVal val="visible"/>
                                      </p:to>
                                    </p:set>
                                    <p:animEffect transition="in" filter="fade">
                                      <p:cBhvr>
                                        <p:cTn id="122" dur="300"/>
                                        <p:tgtEl>
                                          <p:spTgt spid="45"/>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6"/>
                                        </p:tgtEl>
                                        <p:attrNameLst>
                                          <p:attrName>style.visibility</p:attrName>
                                        </p:attrNameLst>
                                      </p:cBhvr>
                                      <p:to>
                                        <p:strVal val="visible"/>
                                      </p:to>
                                    </p:set>
                                    <p:animEffect transition="in" filter="fade">
                                      <p:cBhvr>
                                        <p:cTn id="125" dur="300"/>
                                        <p:tgtEl>
                                          <p:spTgt spid="46"/>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7"/>
                                        </p:tgtEl>
                                        <p:attrNameLst>
                                          <p:attrName>style.visibility</p:attrName>
                                        </p:attrNameLst>
                                      </p:cBhvr>
                                      <p:to>
                                        <p:strVal val="visible"/>
                                      </p:to>
                                    </p:set>
                                    <p:animEffect transition="in" filter="fade">
                                      <p:cBhvr>
                                        <p:cTn id="128" dur="300"/>
                                        <p:tgtEl>
                                          <p:spTgt spid="47"/>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8"/>
                                        </p:tgtEl>
                                        <p:attrNameLst>
                                          <p:attrName>style.visibility</p:attrName>
                                        </p:attrNameLst>
                                      </p:cBhvr>
                                      <p:to>
                                        <p:strVal val="visible"/>
                                      </p:to>
                                    </p:set>
                                    <p:animEffect transition="in" filter="fade">
                                      <p:cBhvr>
                                        <p:cTn id="131" dur="300"/>
                                        <p:tgtEl>
                                          <p:spTgt spid="48"/>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9"/>
                                        </p:tgtEl>
                                        <p:attrNameLst>
                                          <p:attrName>style.visibility</p:attrName>
                                        </p:attrNameLst>
                                      </p:cBhvr>
                                      <p:to>
                                        <p:strVal val="visible"/>
                                      </p:to>
                                    </p:set>
                                    <p:animEffect transition="in" filter="fade">
                                      <p:cBhvr>
                                        <p:cTn id="134" dur="300"/>
                                        <p:tgtEl>
                                          <p:spTgt spid="49"/>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0"/>
                                        </p:tgtEl>
                                        <p:attrNameLst>
                                          <p:attrName>style.visibility</p:attrName>
                                        </p:attrNameLst>
                                      </p:cBhvr>
                                      <p:to>
                                        <p:strVal val="visible"/>
                                      </p:to>
                                    </p:set>
                                    <p:animEffect transition="in" filter="fade">
                                      <p:cBhvr>
                                        <p:cTn id="137" dur="300"/>
                                        <p:tgtEl>
                                          <p:spTgt spid="50"/>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1"/>
                                        </p:tgtEl>
                                        <p:attrNameLst>
                                          <p:attrName>style.visibility</p:attrName>
                                        </p:attrNameLst>
                                      </p:cBhvr>
                                      <p:to>
                                        <p:strVal val="visible"/>
                                      </p:to>
                                    </p:set>
                                    <p:animEffect transition="in" filter="fade">
                                      <p:cBhvr>
                                        <p:cTn id="140" dur="300"/>
                                        <p:tgtEl>
                                          <p:spTgt spid="51"/>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2"/>
                                        </p:tgtEl>
                                        <p:attrNameLst>
                                          <p:attrName>style.visibility</p:attrName>
                                        </p:attrNameLst>
                                      </p:cBhvr>
                                      <p:to>
                                        <p:strVal val="visible"/>
                                      </p:to>
                                    </p:set>
                                    <p:animEffect transition="in" filter="fade">
                                      <p:cBhvr>
                                        <p:cTn id="143" dur="300"/>
                                        <p:tgtEl>
                                          <p:spTgt spid="52"/>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3"/>
                                        </p:tgtEl>
                                        <p:attrNameLst>
                                          <p:attrName>style.visibility</p:attrName>
                                        </p:attrNameLst>
                                      </p:cBhvr>
                                      <p:to>
                                        <p:strVal val="visible"/>
                                      </p:to>
                                    </p:set>
                                    <p:animEffect transition="in" filter="fade">
                                      <p:cBhvr>
                                        <p:cTn id="146" dur="300"/>
                                        <p:tgtEl>
                                          <p:spTgt spid="53"/>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4"/>
                                        </p:tgtEl>
                                        <p:attrNameLst>
                                          <p:attrName>style.visibility</p:attrName>
                                        </p:attrNameLst>
                                      </p:cBhvr>
                                      <p:to>
                                        <p:strVal val="visible"/>
                                      </p:to>
                                    </p:set>
                                    <p:animEffect transition="in" filter="fade">
                                      <p:cBhvr>
                                        <p:cTn id="149" dur="300"/>
                                        <p:tgtEl>
                                          <p:spTgt spid="54"/>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5"/>
                                        </p:tgtEl>
                                        <p:attrNameLst>
                                          <p:attrName>style.visibility</p:attrName>
                                        </p:attrNameLst>
                                      </p:cBhvr>
                                      <p:to>
                                        <p:strVal val="visible"/>
                                      </p:to>
                                    </p:set>
                                    <p:animEffect transition="in" filter="fade">
                                      <p:cBhvr>
                                        <p:cTn id="152" dur="300"/>
                                        <p:tgtEl>
                                          <p:spTgt spid="55"/>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6"/>
                                        </p:tgtEl>
                                        <p:attrNameLst>
                                          <p:attrName>style.visibility</p:attrName>
                                        </p:attrNameLst>
                                      </p:cBhvr>
                                      <p:to>
                                        <p:strVal val="visible"/>
                                      </p:to>
                                    </p:set>
                                    <p:animEffect transition="in" filter="fade">
                                      <p:cBhvr>
                                        <p:cTn id="155" dur="300"/>
                                        <p:tgtEl>
                                          <p:spTgt spid="56"/>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7"/>
                                        </p:tgtEl>
                                        <p:attrNameLst>
                                          <p:attrName>style.visibility</p:attrName>
                                        </p:attrNameLst>
                                      </p:cBhvr>
                                      <p:to>
                                        <p:strVal val="visible"/>
                                      </p:to>
                                    </p:set>
                                    <p:animEffect transition="in" filter="fade">
                                      <p:cBhvr>
                                        <p:cTn id="158" dur="300"/>
                                        <p:tgtEl>
                                          <p:spTgt spid="57"/>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8"/>
                                        </p:tgtEl>
                                        <p:attrNameLst>
                                          <p:attrName>style.visibility</p:attrName>
                                        </p:attrNameLst>
                                      </p:cBhvr>
                                      <p:to>
                                        <p:strVal val="visible"/>
                                      </p:to>
                                    </p:set>
                                    <p:animEffect transition="in" filter="fade">
                                      <p:cBhvr>
                                        <p:cTn id="161" dur="300"/>
                                        <p:tgtEl>
                                          <p:spTgt spid="58"/>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9"/>
                                        </p:tgtEl>
                                        <p:attrNameLst>
                                          <p:attrName>style.visibility</p:attrName>
                                        </p:attrNameLst>
                                      </p:cBhvr>
                                      <p:to>
                                        <p:strVal val="visible"/>
                                      </p:to>
                                    </p:set>
                                    <p:animEffect transition="in" filter="fade">
                                      <p:cBhvr>
                                        <p:cTn id="164" dur="300"/>
                                        <p:tgtEl>
                                          <p:spTgt spid="59"/>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68"/>
                                        </p:tgtEl>
                                        <p:attrNameLst>
                                          <p:attrName>style.visibility</p:attrName>
                                        </p:attrNameLst>
                                      </p:cBhvr>
                                      <p:to>
                                        <p:strVal val="visible"/>
                                      </p:to>
                                    </p:set>
                                    <p:animEffect transition="in" filter="fade">
                                      <p:cBhvr>
                                        <p:cTn id="167" dur="300"/>
                                        <p:tgtEl>
                                          <p:spTgt spid="68"/>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69"/>
                                        </p:tgtEl>
                                        <p:attrNameLst>
                                          <p:attrName>style.visibility</p:attrName>
                                        </p:attrNameLst>
                                      </p:cBhvr>
                                      <p:to>
                                        <p:strVal val="visible"/>
                                      </p:to>
                                    </p:set>
                                    <p:animEffect transition="in" filter="fade">
                                      <p:cBhvr>
                                        <p:cTn id="170" dur="300"/>
                                        <p:tgtEl>
                                          <p:spTgt spid="69"/>
                                        </p:tgtEl>
                                      </p:cBhvr>
                                    </p:animEffect>
                                  </p:childTnLst>
                                </p:cTn>
                              </p:par>
                              <p:par>
                                <p:cTn id="171" presetID="10" presetClass="entr" presetSubtype="0" fill="hold" grpId="0" nodeType="withEffect">
                                  <p:stCondLst>
                                    <p:cond delay="0"/>
                                  </p:stCondLst>
                                  <p:childTnLst>
                                    <p:set>
                                      <p:cBhvr>
                                        <p:cTn id="172" dur="1" fill="hold">
                                          <p:stCondLst>
                                            <p:cond delay="0"/>
                                          </p:stCondLst>
                                        </p:cTn>
                                        <p:tgtEl>
                                          <p:spTgt spid="70"/>
                                        </p:tgtEl>
                                        <p:attrNameLst>
                                          <p:attrName>style.visibility</p:attrName>
                                        </p:attrNameLst>
                                      </p:cBhvr>
                                      <p:to>
                                        <p:strVal val="visible"/>
                                      </p:to>
                                    </p:set>
                                    <p:animEffect transition="in" filter="fade">
                                      <p:cBhvr>
                                        <p:cTn id="173" dur="300"/>
                                        <p:tgtEl>
                                          <p:spTgt spid="70"/>
                                        </p:tgtEl>
                                      </p:cBhvr>
                                    </p:animEffect>
                                  </p:childTnLst>
                                </p:cTn>
                              </p:par>
                              <p:par>
                                <p:cTn id="174" presetID="10" presetClass="entr" presetSubtype="0" fill="hold" grpId="0" nodeType="withEffect">
                                  <p:stCondLst>
                                    <p:cond delay="0"/>
                                  </p:stCondLst>
                                  <p:childTnLst>
                                    <p:set>
                                      <p:cBhvr>
                                        <p:cTn id="175" dur="1" fill="hold">
                                          <p:stCondLst>
                                            <p:cond delay="0"/>
                                          </p:stCondLst>
                                        </p:cTn>
                                        <p:tgtEl>
                                          <p:spTgt spid="71"/>
                                        </p:tgtEl>
                                        <p:attrNameLst>
                                          <p:attrName>style.visibility</p:attrName>
                                        </p:attrNameLst>
                                      </p:cBhvr>
                                      <p:to>
                                        <p:strVal val="visible"/>
                                      </p:to>
                                    </p:set>
                                    <p:animEffect transition="in" filter="fade">
                                      <p:cBhvr>
                                        <p:cTn id="176" dur="300"/>
                                        <p:tgtEl>
                                          <p:spTgt spid="71"/>
                                        </p:tgtEl>
                                      </p:cBhvr>
                                    </p:animEffect>
                                  </p:childTnLst>
                                </p:cTn>
                              </p:par>
                              <p:par>
                                <p:cTn id="177" presetID="10" presetClass="entr" presetSubtype="0" fill="hold" grpId="0" nodeType="withEffect">
                                  <p:stCondLst>
                                    <p:cond delay="0"/>
                                  </p:stCondLst>
                                  <p:childTnLst>
                                    <p:set>
                                      <p:cBhvr>
                                        <p:cTn id="178" dur="1" fill="hold">
                                          <p:stCondLst>
                                            <p:cond delay="0"/>
                                          </p:stCondLst>
                                        </p:cTn>
                                        <p:tgtEl>
                                          <p:spTgt spid="72"/>
                                        </p:tgtEl>
                                        <p:attrNameLst>
                                          <p:attrName>style.visibility</p:attrName>
                                        </p:attrNameLst>
                                      </p:cBhvr>
                                      <p:to>
                                        <p:strVal val="visible"/>
                                      </p:to>
                                    </p:set>
                                    <p:animEffect transition="in" filter="fade">
                                      <p:cBhvr>
                                        <p:cTn id="179" dur="300"/>
                                        <p:tgtEl>
                                          <p:spTgt spid="72"/>
                                        </p:tgtEl>
                                      </p:cBhvr>
                                    </p:animEffect>
                                  </p:childTnLst>
                                </p:cTn>
                              </p:par>
                              <p:par>
                                <p:cTn id="180" presetID="10" presetClass="entr" presetSubtype="0" fill="hold" grpId="0" nodeType="withEffect">
                                  <p:stCondLst>
                                    <p:cond delay="0"/>
                                  </p:stCondLst>
                                  <p:childTnLst>
                                    <p:set>
                                      <p:cBhvr>
                                        <p:cTn id="181" dur="1" fill="hold">
                                          <p:stCondLst>
                                            <p:cond delay="0"/>
                                          </p:stCondLst>
                                        </p:cTn>
                                        <p:tgtEl>
                                          <p:spTgt spid="73"/>
                                        </p:tgtEl>
                                        <p:attrNameLst>
                                          <p:attrName>style.visibility</p:attrName>
                                        </p:attrNameLst>
                                      </p:cBhvr>
                                      <p:to>
                                        <p:strVal val="visible"/>
                                      </p:to>
                                    </p:set>
                                    <p:animEffect transition="in" filter="fade">
                                      <p:cBhvr>
                                        <p:cTn id="182" dur="300"/>
                                        <p:tgtEl>
                                          <p:spTgt spid="73"/>
                                        </p:tgtEl>
                                      </p:cBhvr>
                                    </p:animEffect>
                                  </p:childTnLst>
                                </p:cTn>
                              </p:par>
                              <p:par>
                                <p:cTn id="183" presetID="10" presetClass="entr" presetSubtype="0" fill="hold" grpId="0" nodeType="withEffect">
                                  <p:stCondLst>
                                    <p:cond delay="0"/>
                                  </p:stCondLst>
                                  <p:childTnLst>
                                    <p:set>
                                      <p:cBhvr>
                                        <p:cTn id="184" dur="1" fill="hold">
                                          <p:stCondLst>
                                            <p:cond delay="0"/>
                                          </p:stCondLst>
                                        </p:cTn>
                                        <p:tgtEl>
                                          <p:spTgt spid="74"/>
                                        </p:tgtEl>
                                        <p:attrNameLst>
                                          <p:attrName>style.visibility</p:attrName>
                                        </p:attrNameLst>
                                      </p:cBhvr>
                                      <p:to>
                                        <p:strVal val="visible"/>
                                      </p:to>
                                    </p:set>
                                    <p:animEffect transition="in" filter="fade">
                                      <p:cBhvr>
                                        <p:cTn id="185" dur="300"/>
                                        <p:tgtEl>
                                          <p:spTgt spid="74"/>
                                        </p:tgtEl>
                                      </p:cBhvr>
                                    </p:animEffect>
                                  </p:childTnLst>
                                </p:cTn>
                              </p:par>
                              <p:par>
                                <p:cTn id="186" presetID="10" presetClass="entr" presetSubtype="0" fill="hold" grpId="0" nodeType="withEffect">
                                  <p:stCondLst>
                                    <p:cond delay="0"/>
                                  </p:stCondLst>
                                  <p:childTnLst>
                                    <p:set>
                                      <p:cBhvr>
                                        <p:cTn id="187" dur="1" fill="hold">
                                          <p:stCondLst>
                                            <p:cond delay="0"/>
                                          </p:stCondLst>
                                        </p:cTn>
                                        <p:tgtEl>
                                          <p:spTgt spid="75"/>
                                        </p:tgtEl>
                                        <p:attrNameLst>
                                          <p:attrName>style.visibility</p:attrName>
                                        </p:attrNameLst>
                                      </p:cBhvr>
                                      <p:to>
                                        <p:strVal val="visible"/>
                                      </p:to>
                                    </p:set>
                                    <p:animEffect transition="in" filter="fade">
                                      <p:cBhvr>
                                        <p:cTn id="188" dur="300"/>
                                        <p:tgtEl>
                                          <p:spTgt spid="75"/>
                                        </p:tgtEl>
                                      </p:cBhvr>
                                    </p:animEffect>
                                  </p:childTnLst>
                                </p:cTn>
                              </p:par>
                              <p:par>
                                <p:cTn id="189" presetID="10" presetClass="entr" presetSubtype="0" fill="hold" grpId="0" nodeType="withEffect">
                                  <p:stCondLst>
                                    <p:cond delay="0"/>
                                  </p:stCondLst>
                                  <p:childTnLst>
                                    <p:set>
                                      <p:cBhvr>
                                        <p:cTn id="190" dur="1" fill="hold">
                                          <p:stCondLst>
                                            <p:cond delay="0"/>
                                          </p:stCondLst>
                                        </p:cTn>
                                        <p:tgtEl>
                                          <p:spTgt spid="76"/>
                                        </p:tgtEl>
                                        <p:attrNameLst>
                                          <p:attrName>style.visibility</p:attrName>
                                        </p:attrNameLst>
                                      </p:cBhvr>
                                      <p:to>
                                        <p:strVal val="visible"/>
                                      </p:to>
                                    </p:set>
                                    <p:animEffect transition="in" filter="fade">
                                      <p:cBhvr>
                                        <p:cTn id="191" dur="300"/>
                                        <p:tgtEl>
                                          <p:spTgt spid="76"/>
                                        </p:tgtEl>
                                      </p:cBhvr>
                                    </p:animEffect>
                                  </p:childTnLst>
                                </p:cTn>
                              </p:par>
                              <p:par>
                                <p:cTn id="192" presetID="10" presetClass="entr" presetSubtype="0" fill="hold" grpId="0" nodeType="withEffect">
                                  <p:stCondLst>
                                    <p:cond delay="0"/>
                                  </p:stCondLst>
                                  <p:childTnLst>
                                    <p:set>
                                      <p:cBhvr>
                                        <p:cTn id="193" dur="1" fill="hold">
                                          <p:stCondLst>
                                            <p:cond delay="0"/>
                                          </p:stCondLst>
                                        </p:cTn>
                                        <p:tgtEl>
                                          <p:spTgt spid="77"/>
                                        </p:tgtEl>
                                        <p:attrNameLst>
                                          <p:attrName>style.visibility</p:attrName>
                                        </p:attrNameLst>
                                      </p:cBhvr>
                                      <p:to>
                                        <p:strVal val="visible"/>
                                      </p:to>
                                    </p:set>
                                    <p:animEffect transition="in" filter="fade">
                                      <p:cBhvr>
                                        <p:cTn id="194" dur="300"/>
                                        <p:tgtEl>
                                          <p:spTgt spid="77"/>
                                        </p:tgtEl>
                                      </p:cBhvr>
                                    </p:animEffect>
                                  </p:childTnLst>
                                </p:cTn>
                              </p:par>
                              <p:par>
                                <p:cTn id="195" presetID="10" presetClass="entr" presetSubtype="0" fill="hold" grpId="0" nodeType="withEffect">
                                  <p:stCondLst>
                                    <p:cond delay="0"/>
                                  </p:stCondLst>
                                  <p:childTnLst>
                                    <p:set>
                                      <p:cBhvr>
                                        <p:cTn id="196" dur="1" fill="hold">
                                          <p:stCondLst>
                                            <p:cond delay="0"/>
                                          </p:stCondLst>
                                        </p:cTn>
                                        <p:tgtEl>
                                          <p:spTgt spid="78"/>
                                        </p:tgtEl>
                                        <p:attrNameLst>
                                          <p:attrName>style.visibility</p:attrName>
                                        </p:attrNameLst>
                                      </p:cBhvr>
                                      <p:to>
                                        <p:strVal val="visible"/>
                                      </p:to>
                                    </p:set>
                                    <p:animEffect transition="in" filter="fade">
                                      <p:cBhvr>
                                        <p:cTn id="197" dur="300"/>
                                        <p:tgtEl>
                                          <p:spTgt spid="78"/>
                                        </p:tgtEl>
                                      </p:cBhvr>
                                    </p:animEffect>
                                  </p:childTnLst>
                                </p:cTn>
                              </p:par>
                              <p:par>
                                <p:cTn id="198" presetID="10" presetClass="entr" presetSubtype="0" fill="hold" grpId="0" nodeType="withEffect">
                                  <p:stCondLst>
                                    <p:cond delay="0"/>
                                  </p:stCondLst>
                                  <p:childTnLst>
                                    <p:set>
                                      <p:cBhvr>
                                        <p:cTn id="199" dur="1" fill="hold">
                                          <p:stCondLst>
                                            <p:cond delay="0"/>
                                          </p:stCondLst>
                                        </p:cTn>
                                        <p:tgtEl>
                                          <p:spTgt spid="79"/>
                                        </p:tgtEl>
                                        <p:attrNameLst>
                                          <p:attrName>style.visibility</p:attrName>
                                        </p:attrNameLst>
                                      </p:cBhvr>
                                      <p:to>
                                        <p:strVal val="visible"/>
                                      </p:to>
                                    </p:set>
                                    <p:animEffect transition="in" filter="fade">
                                      <p:cBhvr>
                                        <p:cTn id="200" dur="300"/>
                                        <p:tgtEl>
                                          <p:spTgt spid="79"/>
                                        </p:tgtEl>
                                      </p:cBhvr>
                                    </p:animEffect>
                                  </p:childTnLst>
                                </p:cTn>
                              </p:par>
                              <p:par>
                                <p:cTn id="201" presetID="10" presetClass="entr" presetSubtype="0" fill="hold" grpId="0" nodeType="withEffect">
                                  <p:stCondLst>
                                    <p:cond delay="0"/>
                                  </p:stCondLst>
                                  <p:childTnLst>
                                    <p:set>
                                      <p:cBhvr>
                                        <p:cTn id="202" dur="1" fill="hold">
                                          <p:stCondLst>
                                            <p:cond delay="0"/>
                                          </p:stCondLst>
                                        </p:cTn>
                                        <p:tgtEl>
                                          <p:spTgt spid="80"/>
                                        </p:tgtEl>
                                        <p:attrNameLst>
                                          <p:attrName>style.visibility</p:attrName>
                                        </p:attrNameLst>
                                      </p:cBhvr>
                                      <p:to>
                                        <p:strVal val="visible"/>
                                      </p:to>
                                    </p:set>
                                    <p:animEffect transition="in" filter="fade">
                                      <p:cBhvr>
                                        <p:cTn id="203" dur="300"/>
                                        <p:tgtEl>
                                          <p:spTgt spid="80"/>
                                        </p:tgtEl>
                                      </p:cBhvr>
                                    </p:animEffect>
                                  </p:childTnLst>
                                </p:cTn>
                              </p:par>
                              <p:par>
                                <p:cTn id="204" presetID="10" presetClass="entr" presetSubtype="0" fill="hold" grpId="0" nodeType="withEffect">
                                  <p:stCondLst>
                                    <p:cond delay="0"/>
                                  </p:stCondLst>
                                  <p:childTnLst>
                                    <p:set>
                                      <p:cBhvr>
                                        <p:cTn id="205" dur="1" fill="hold">
                                          <p:stCondLst>
                                            <p:cond delay="0"/>
                                          </p:stCondLst>
                                        </p:cTn>
                                        <p:tgtEl>
                                          <p:spTgt spid="81"/>
                                        </p:tgtEl>
                                        <p:attrNameLst>
                                          <p:attrName>style.visibility</p:attrName>
                                        </p:attrNameLst>
                                      </p:cBhvr>
                                      <p:to>
                                        <p:strVal val="visible"/>
                                      </p:to>
                                    </p:set>
                                    <p:animEffect transition="in" filter="fade">
                                      <p:cBhvr>
                                        <p:cTn id="206" dur="3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3" grpId="0" animBg="1"/>
      <p:bldP spid="14"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5" grpId="0" animBg="1"/>
      <p:bldP spid="36"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4: Each person"/>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 One family policy, a plan for each perso"/>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 one pot that fits nobody"/>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 Today"/>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d70dd71c"/>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 HK$2.5M"/>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 Cash and deposits"/>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 30 months of spending, idle"/>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a409e7dc"/>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 HK$1.35M"/>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 Bond funds"/>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6e93a39f"/>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 HK$3.85M"/>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 Equity funds"/>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 about 1.5% a year in fees; more risk tha"/>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69bdd481"/>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 The same HK$7.7M, with a job for each pa"/>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 a job and an owner for each"/>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 With the plan"/>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1609de8e"/>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 HK$1.0M"/>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 Reserve"/>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 12 months"/>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3cbab694"/>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553aebb3"/>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c19efb08"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 HK$2.57M"/>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 Chloe's degree"/>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 funded today, wherever she goes"/>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75edbf39"/>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92b2adcd"/>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877e281b"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 HK$2.07M"/>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 Adrian's portfolio"/>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 40% shares, 55% bonds; Treasuries from 2"/>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94fcd239"/>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8fc03cfa"/>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a6c5f4f8"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 HK$2.07M #2"/>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 Carmen's portfolio"/>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 60% shares, 35% bonds; led by ESG funds"/>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1790d185"/>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404f1cc1"/>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c1787d32"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 Ryan's own plan: he saves 30% of his pay"/>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bbe2cafb"/>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 HK$45K"/>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 a year less in fees: broad index funds i"/>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 The price: Chloe's HK$2.57M stays in dep"/>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 Chloe's degree is funded today, and each"/>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 Today: the case's statement. The plan: w"/>
          <p:cNvSpPr txBox="1"/>
          <p:nvPr/>
        </p:nvSpPr>
        <p:spPr>
          <a:xfrm>
            <a:off x="457200" y="6452104"/>
            <a:ext cx="64175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 Figure 14); fees</a:t>
            </a:r>
          </a:p>
          <a:p>
            <a:pPr algn="l">
              <a:lnSpc>
                <a:spcPts val="1170"/>
              </a:lnSpc>
              <a:spcBef>
                <a:spcPts val="0"/>
              </a:spcBef>
              <a:spcAft>
                <a:spcPts val="0"/>
              </a:spcAft>
            </a:pPr>
            <a:r>
              <a:rPr sz="900" b="0" i="0" kern="100">
                <a:solidFill>
                  <a:srgbClr val="80606A"/>
                </a:solidFill>
                <a:latin typeface="Plus Jakarta Sans"/>
              </a:rPr>
              <a:t>about 1.5% today against about 0.5% in index funds.</a:t>
            </a:r>
          </a:p>
        </p:txBody>
      </p:sp>
      <p:sp>
        <p:nvSpPr>
          <p:cNvPr id="56" name="!!T The problem"/>
          <p:cNvSpPr txBox="1"/>
          <p:nvPr/>
        </p:nvSpPr>
        <p:spPr>
          <a:xfrm>
            <a:off x="667166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 The answer"/>
          <p:cNvSpPr txBox="1"/>
          <p:nvPr/>
        </p:nvSpPr>
        <p:spPr>
          <a:xfrm>
            <a:off x="761791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 The five calls"/>
          <p:cNvSpPr txBox="1"/>
          <p:nvPr/>
        </p:nvSpPr>
        <p:spPr>
          <a:xfrm>
            <a:off x="847814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 Will it hold"/>
          <p:cNvSpPr txBox="1"/>
          <p:nvPr/>
        </p:nvSpPr>
        <p:spPr>
          <a:xfrm>
            <a:off x="943376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 What next"/>
          <p:cNvSpPr txBox="1"/>
          <p:nvPr/>
        </p:nvSpPr>
        <p:spPr>
          <a:xfrm>
            <a:off x="1023178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 Us"/>
          <p:cNvSpPr txBox="1"/>
          <p:nvPr/>
        </p:nvSpPr>
        <p:spPr>
          <a:xfrm>
            <a:off x="110271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2" name="!!T 8 / 15"/>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3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3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3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3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3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3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3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3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3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3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3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3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3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300"/>
                                        <p:tgtEl>
                                          <p:spTgt spid="34"/>
                                        </p:tgtEl>
                                      </p:cBhvr>
                                    </p:animEffect>
                                  </p:childTnLst>
                                </p:cTn>
                              </p:par>
                              <p:par>
                                <p:cTn id="53" presetID="10"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3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300"/>
                                        <p:tgtEl>
                                          <p:spTgt spid="36"/>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3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3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3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300"/>
                                        <p:tgtEl>
                                          <p:spTgt spid="40"/>
                                        </p:tgtEl>
                                      </p:cBhvr>
                                    </p:animEffect>
                                  </p:childTnLst>
                                </p:cTn>
                              </p:par>
                              <p:par>
                                <p:cTn id="71" presetID="10"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3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300"/>
                                        <p:tgtEl>
                                          <p:spTgt spid="4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300"/>
                                        <p:tgtEl>
                                          <p:spTgt spid="4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fade">
                                      <p:cBhvr>
                                        <p:cTn id="82" dur="3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3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300"/>
                                        <p:tgtEl>
                                          <p:spTgt spid="46"/>
                                        </p:tgtEl>
                                      </p:cBhvr>
                                    </p:animEffect>
                                  </p:childTnLst>
                                </p:cTn>
                              </p:par>
                              <p:par>
                                <p:cTn id="91" presetID="10" presetClass="entr" presetSubtype="0"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3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300"/>
                                        <p:tgtEl>
                                          <p:spTgt spid="4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300"/>
                                        <p:tgtEl>
                                          <p:spTgt spid="4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300"/>
                                        <p:tgtEl>
                                          <p:spTgt spid="5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300"/>
                                        <p:tgtEl>
                                          <p:spTgt spid="5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2"/>
                                        </p:tgtEl>
                                        <p:attrNameLst>
                                          <p:attrName>style.visibility</p:attrName>
                                        </p:attrNameLst>
                                      </p:cBhvr>
                                      <p:to>
                                        <p:strVal val="visible"/>
                                      </p:to>
                                    </p:set>
                                    <p:animEffect transition="in" filter="fade">
                                      <p:cBhvr>
                                        <p:cTn id="108" dur="300"/>
                                        <p:tgtEl>
                                          <p:spTgt spid="5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3"/>
                                        </p:tgtEl>
                                        <p:attrNameLst>
                                          <p:attrName>style.visibility</p:attrName>
                                        </p:attrNameLst>
                                      </p:cBhvr>
                                      <p:to>
                                        <p:strVal val="visible"/>
                                      </p:to>
                                    </p:set>
                                    <p:animEffect transition="in" filter="fade">
                                      <p:cBhvr>
                                        <p:cTn id="111" dur="300"/>
                                        <p:tgtEl>
                                          <p:spTgt spid="5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3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P spid="48" grpId="0" animBg="1"/>
      <p:bldP spid="49" grpId="0" animBg="1"/>
      <p:bldP spid="50" grpId="0" animBg="1"/>
      <p:bldP spid="51" grpId="0" animBg="1"/>
      <p:bldP spid="52" grpId="0" animBg="1"/>
      <p:bldP spid="53" grpId="0" animBg="1"/>
      <p:bldP spid="5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5: Values and innovation"/>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 Values and innovation, with guardrails: "/>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173d024c"/>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 Carmen's values: ESG from 11% to 25%…"/>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99ab30da"/>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0be4d14a"/>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38eb5f99"/>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 their goal, 20–25% (case)"/>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cd32b6e5"/>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 World ESG index"/>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 HK$1.49M"/>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 the global shares core"/>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d02be6ea"/>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 MPF low-carbon"/>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 HK$0.84M"/>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 half of each parent's MPF"/>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7dd6fabf"/>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 Green bonds"/>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 HK$0.31M"/>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 part of the bonds"/>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718fc31f"/>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 Like for like, not a new bet: each fund "/>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 The price: slightly higher fees, a narro"/>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4a241af8"/>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 Tested, not trusted: two ESG ratings per"/>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a93b9485"/>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 …and Ryan's conviction: kept, and sized "/>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ed7c4c64"/>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fae6ebcc"/>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fb16abc7"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 Adrian"/>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 none"/>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3a0d92bb"/>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4cfdd03f"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 Carmen"/>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 up to 2% (ETF)"/>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7b9465b8"/>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a8c1f83f"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 Chloe"/>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 none #2"/>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6b6ef7e3"/>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4be40bb6"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 Ryan keeps his HK$500K: nothing sold, no"/>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 His savings go into a world index fund, "/>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 The price: a 70% fall would cost him HK$"/>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 74%"/>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a93c3177"/>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0a7c20da"/>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 HK$500K"/>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 today, 24"/>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 32%"/>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8ffb7adc"/>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a93bfba9"/>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 at 30"/>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 20%"/>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0b45516c"/>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746a5785"/>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 at 35"/>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 The dark block: his HK$500K, the same a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6437bdcf"/>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 Held where a regulator watches: HKEX-lis"/>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 Their values and Ryan's conviction both "/>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 ESG: written case §6, Figure 16; raters:"/>
          <p:cNvSpPr txBox="1"/>
          <p:nvPr/>
        </p:nvSpPr>
        <p:spPr>
          <a:xfrm>
            <a:off x="457200" y="6452104"/>
            <a:ext cx="639385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Ryan's wealth</a:t>
            </a:r>
          </a:p>
          <a:p>
            <a:pPr algn="l">
              <a:lnSpc>
                <a:spcPts val="1170"/>
              </a:lnSpc>
              <a:spcBef>
                <a:spcPts val="0"/>
              </a:spcBef>
              <a:spcAft>
                <a:spcPts val="0"/>
              </a:spcAft>
            </a:pPr>
            <a:r>
              <a:rPr sz="900" b="0" i="0" kern="100">
                <a:solidFill>
                  <a:srgbClr val="80606A"/>
                </a:solidFill>
                <a:latin typeface="Plus Jakarta Sans"/>
              </a:rPr>
              <a:t>sized from his crypto share, if all HK$500K is crypto, prices held flat, saving 30% of his pay.</a:t>
            </a:r>
          </a:p>
        </p:txBody>
      </p:sp>
      <p:sp>
        <p:nvSpPr>
          <p:cNvPr id="68"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4" name="!!T 9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5" name="!!T Today"/>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6" name="!!i 76ed0f65"/>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7" name="!!T 11%"/>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8" name="!!T With the plan"/>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79" name="!!i 2c43a45c"/>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0" name="!!i 44256b8a"/>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1" name="!!i 33b7d3a1"/>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2" name="!!T 25%"/>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3" name="!!Rule 86aa8b7b"/>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4" name="!!Rule 2df83914"/>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5" name="!!T +14 points"/>
          <p:cNvSpPr txBox="1"/>
          <p:nvPr/>
        </p:nvSpPr>
        <p:spPr>
          <a:xfrm>
            <a:off x="3152924"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6" name="!!Arrowhead 823caef2"/>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3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3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3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3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300"/>
                                        <p:tgtEl>
                                          <p:spTgt spid="2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300"/>
                                        <p:tgtEl>
                                          <p:spTgt spid="2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3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3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300"/>
                                        <p:tgtEl>
                                          <p:spTgt spid="32"/>
                                        </p:tgtEl>
                                      </p:cBhvr>
                                    </p:animEffect>
                                  </p:childTnLst>
                                </p:cTn>
                              </p:par>
                              <p:par>
                                <p:cTn id="34" presetID="10" presetClass="entr" presetSubtype="0" fill="hold"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3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300"/>
                                        <p:tgtEl>
                                          <p:spTgt spid="3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300"/>
                                        <p:tgtEl>
                                          <p:spTgt spid="36"/>
                                        </p:tgtEl>
                                      </p:cBhvr>
                                    </p:animEffect>
                                  </p:childTnLst>
                                </p:cTn>
                              </p:par>
                              <p:par>
                                <p:cTn id="46" presetID="10" presetClass="entr" presetSubtype="0" fill="hold"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3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300"/>
                                        <p:tgtEl>
                                          <p:spTgt spid="3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300"/>
                                        <p:tgtEl>
                                          <p:spTgt spid="3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30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1"/>
                                        </p:tgtEl>
                                        <p:attrNameLst>
                                          <p:attrName>style.visibility</p:attrName>
                                        </p:attrNameLst>
                                      </p:cBhvr>
                                      <p:to>
                                        <p:strVal val="visible"/>
                                      </p:to>
                                    </p:set>
                                    <p:animEffect transition="in" filter="fade">
                                      <p:cBhvr>
                                        <p:cTn id="60" dur="300"/>
                                        <p:tgtEl>
                                          <p:spTgt spid="4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animEffect transition="in" filter="fade">
                                      <p:cBhvr>
                                        <p:cTn id="63" dur="300"/>
                                        <p:tgtEl>
                                          <p:spTgt spid="4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3"/>
                                        </p:tgtEl>
                                        <p:attrNameLst>
                                          <p:attrName>style.visibility</p:attrName>
                                        </p:attrNameLst>
                                      </p:cBhvr>
                                      <p:to>
                                        <p:strVal val="visible"/>
                                      </p:to>
                                    </p:set>
                                    <p:animEffect transition="in" filter="fade">
                                      <p:cBhvr>
                                        <p:cTn id="66" dur="300"/>
                                        <p:tgtEl>
                                          <p:spTgt spid="43"/>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3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300"/>
                                        <p:tgtEl>
                                          <p:spTgt spid="4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300"/>
                                        <p:tgtEl>
                                          <p:spTgt spid="4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7"/>
                                        </p:tgtEl>
                                        <p:attrNameLst>
                                          <p:attrName>style.visibility</p:attrName>
                                        </p:attrNameLst>
                                      </p:cBhvr>
                                      <p:to>
                                        <p:strVal val="visible"/>
                                      </p:to>
                                    </p:set>
                                    <p:animEffect transition="in" filter="fade">
                                      <p:cBhvr>
                                        <p:cTn id="80" dur="300"/>
                                        <p:tgtEl>
                                          <p:spTgt spid="4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8"/>
                                        </p:tgtEl>
                                        <p:attrNameLst>
                                          <p:attrName>style.visibility</p:attrName>
                                        </p:attrNameLst>
                                      </p:cBhvr>
                                      <p:to>
                                        <p:strVal val="visible"/>
                                      </p:to>
                                    </p:set>
                                    <p:animEffect transition="in" filter="fade">
                                      <p:cBhvr>
                                        <p:cTn id="83" dur="300"/>
                                        <p:tgtEl>
                                          <p:spTgt spid="4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300"/>
                                        <p:tgtEl>
                                          <p:spTgt spid="4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0"/>
                                        </p:tgtEl>
                                        <p:attrNameLst>
                                          <p:attrName>style.visibility</p:attrName>
                                        </p:attrNameLst>
                                      </p:cBhvr>
                                      <p:to>
                                        <p:strVal val="visible"/>
                                      </p:to>
                                    </p:set>
                                    <p:animEffect transition="in" filter="fade">
                                      <p:cBhvr>
                                        <p:cTn id="89" dur="300"/>
                                        <p:tgtEl>
                                          <p:spTgt spid="5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51"/>
                                        </p:tgtEl>
                                        <p:attrNameLst>
                                          <p:attrName>style.visibility</p:attrName>
                                        </p:attrNameLst>
                                      </p:cBhvr>
                                      <p:to>
                                        <p:strVal val="visible"/>
                                      </p:to>
                                    </p:set>
                                    <p:animEffect transition="in" filter="fade">
                                      <p:cBhvr>
                                        <p:cTn id="92" dur="300"/>
                                        <p:tgtEl>
                                          <p:spTgt spid="5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300"/>
                                        <p:tgtEl>
                                          <p:spTgt spid="52"/>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3"/>
                                        </p:tgtEl>
                                        <p:attrNameLst>
                                          <p:attrName>style.visibility</p:attrName>
                                        </p:attrNameLst>
                                      </p:cBhvr>
                                      <p:to>
                                        <p:strVal val="visible"/>
                                      </p:to>
                                    </p:set>
                                    <p:animEffect transition="in" filter="fade">
                                      <p:cBhvr>
                                        <p:cTn id="98" dur="300"/>
                                        <p:tgtEl>
                                          <p:spTgt spid="5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fade">
                                      <p:cBhvr>
                                        <p:cTn id="101" dur="300"/>
                                        <p:tgtEl>
                                          <p:spTgt spid="5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5"/>
                                        </p:tgtEl>
                                        <p:attrNameLst>
                                          <p:attrName>style.visibility</p:attrName>
                                        </p:attrNameLst>
                                      </p:cBhvr>
                                      <p:to>
                                        <p:strVal val="visible"/>
                                      </p:to>
                                    </p:set>
                                    <p:animEffect transition="in" filter="fade">
                                      <p:cBhvr>
                                        <p:cTn id="104" dur="300"/>
                                        <p:tgtEl>
                                          <p:spTgt spid="55"/>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6"/>
                                        </p:tgtEl>
                                        <p:attrNameLst>
                                          <p:attrName>style.visibility</p:attrName>
                                        </p:attrNameLst>
                                      </p:cBhvr>
                                      <p:to>
                                        <p:strVal val="visible"/>
                                      </p:to>
                                    </p:set>
                                    <p:animEffect transition="in" filter="fade">
                                      <p:cBhvr>
                                        <p:cTn id="107" dur="300"/>
                                        <p:tgtEl>
                                          <p:spTgt spid="5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7"/>
                                        </p:tgtEl>
                                        <p:attrNameLst>
                                          <p:attrName>style.visibility</p:attrName>
                                        </p:attrNameLst>
                                      </p:cBhvr>
                                      <p:to>
                                        <p:strVal val="visible"/>
                                      </p:to>
                                    </p:set>
                                    <p:animEffect transition="in" filter="fade">
                                      <p:cBhvr>
                                        <p:cTn id="110" dur="300"/>
                                        <p:tgtEl>
                                          <p:spTgt spid="5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8"/>
                                        </p:tgtEl>
                                        <p:attrNameLst>
                                          <p:attrName>style.visibility</p:attrName>
                                        </p:attrNameLst>
                                      </p:cBhvr>
                                      <p:to>
                                        <p:strVal val="visible"/>
                                      </p:to>
                                    </p:set>
                                    <p:animEffect transition="in" filter="fade">
                                      <p:cBhvr>
                                        <p:cTn id="113" dur="300"/>
                                        <p:tgtEl>
                                          <p:spTgt spid="58"/>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9"/>
                                        </p:tgtEl>
                                        <p:attrNameLst>
                                          <p:attrName>style.visibility</p:attrName>
                                        </p:attrNameLst>
                                      </p:cBhvr>
                                      <p:to>
                                        <p:strVal val="visible"/>
                                      </p:to>
                                    </p:set>
                                    <p:animEffect transition="in" filter="fade">
                                      <p:cBhvr>
                                        <p:cTn id="116" dur="300"/>
                                        <p:tgtEl>
                                          <p:spTgt spid="59"/>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60"/>
                                        </p:tgtEl>
                                        <p:attrNameLst>
                                          <p:attrName>style.visibility</p:attrName>
                                        </p:attrNameLst>
                                      </p:cBhvr>
                                      <p:to>
                                        <p:strVal val="visible"/>
                                      </p:to>
                                    </p:set>
                                    <p:animEffect transition="in" filter="fade">
                                      <p:cBhvr>
                                        <p:cTn id="119" dur="300"/>
                                        <p:tgtEl>
                                          <p:spTgt spid="60"/>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61"/>
                                        </p:tgtEl>
                                        <p:attrNameLst>
                                          <p:attrName>style.visibility</p:attrName>
                                        </p:attrNameLst>
                                      </p:cBhvr>
                                      <p:to>
                                        <p:strVal val="visible"/>
                                      </p:to>
                                    </p:set>
                                    <p:animEffect transition="in" filter="fade">
                                      <p:cBhvr>
                                        <p:cTn id="122" dur="300"/>
                                        <p:tgtEl>
                                          <p:spTgt spid="61"/>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62"/>
                                        </p:tgtEl>
                                        <p:attrNameLst>
                                          <p:attrName>style.visibility</p:attrName>
                                        </p:attrNameLst>
                                      </p:cBhvr>
                                      <p:to>
                                        <p:strVal val="visible"/>
                                      </p:to>
                                    </p:set>
                                    <p:animEffect transition="in" filter="fade">
                                      <p:cBhvr>
                                        <p:cTn id="125" dur="300"/>
                                        <p:tgtEl>
                                          <p:spTgt spid="6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63"/>
                                        </p:tgtEl>
                                        <p:attrNameLst>
                                          <p:attrName>style.visibility</p:attrName>
                                        </p:attrNameLst>
                                      </p:cBhvr>
                                      <p:to>
                                        <p:strVal val="visible"/>
                                      </p:to>
                                    </p:set>
                                    <p:animEffect transition="in" filter="fade">
                                      <p:cBhvr>
                                        <p:cTn id="128" dur="300"/>
                                        <p:tgtEl>
                                          <p:spTgt spid="63"/>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64"/>
                                        </p:tgtEl>
                                        <p:attrNameLst>
                                          <p:attrName>style.visibility</p:attrName>
                                        </p:attrNameLst>
                                      </p:cBhvr>
                                      <p:to>
                                        <p:strVal val="visible"/>
                                      </p:to>
                                    </p:set>
                                    <p:animEffect transition="in" filter="fade">
                                      <p:cBhvr>
                                        <p:cTn id="131" dur="300"/>
                                        <p:tgtEl>
                                          <p:spTgt spid="64"/>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65"/>
                                        </p:tgtEl>
                                        <p:attrNameLst>
                                          <p:attrName>style.visibility</p:attrName>
                                        </p:attrNameLst>
                                      </p:cBhvr>
                                      <p:to>
                                        <p:strVal val="visible"/>
                                      </p:to>
                                    </p:set>
                                    <p:animEffect transition="in" filter="fade">
                                      <p:cBhvr>
                                        <p:cTn id="134" dur="300"/>
                                        <p:tgtEl>
                                          <p:spTgt spid="65"/>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66"/>
                                        </p:tgtEl>
                                        <p:attrNameLst>
                                          <p:attrName>style.visibility</p:attrName>
                                        </p:attrNameLst>
                                      </p:cBhvr>
                                      <p:to>
                                        <p:strVal val="visible"/>
                                      </p:to>
                                    </p:set>
                                    <p:animEffect transition="in" filter="fade">
                                      <p:cBhvr>
                                        <p:cTn id="137" dur="300"/>
                                        <p:tgtEl>
                                          <p:spTgt spid="66"/>
                                        </p:tgtEl>
                                      </p:cBhvr>
                                    </p:animEffect>
                                  </p:childTnLst>
                                </p:cTn>
                              </p:par>
                              <p:par>
                                <p:cTn id="138" presetID="10" presetClass="entr" presetSubtype="0" fill="hold" nodeType="withEffect">
                                  <p:stCondLst>
                                    <p:cond delay="0"/>
                                  </p:stCondLst>
                                  <p:childTnLst>
                                    <p:set>
                                      <p:cBhvr>
                                        <p:cTn id="139" dur="1" fill="hold">
                                          <p:stCondLst>
                                            <p:cond delay="0"/>
                                          </p:stCondLst>
                                        </p:cTn>
                                        <p:tgtEl>
                                          <p:spTgt spid="83"/>
                                        </p:tgtEl>
                                        <p:attrNameLst>
                                          <p:attrName>style.visibility</p:attrName>
                                        </p:attrNameLst>
                                      </p:cBhvr>
                                      <p:to>
                                        <p:strVal val="visible"/>
                                      </p:to>
                                    </p:set>
                                    <p:animEffect transition="in" filter="fade">
                                      <p:cBhvr>
                                        <p:cTn id="140" dur="3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P spid="35" grpId="0" animBg="1"/>
      <p:bldP spid="36" grpId="0" animBg="1"/>
      <p:bldP spid="38" grpId="0" animBg="1"/>
      <p:bldP spid="39" grpId="0" animBg="1"/>
      <p:bldP spid="40" grpId="0" animBg="1"/>
      <p:bldP spid="42" grpId="0" animBg="1"/>
      <p:bldP spid="43" grpId="0" animBg="1"/>
      <p:bldP spid="44"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ill it hold?"/>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 Tested against the worst: even if Adrian"/>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0e1ccda2"/>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9d61c349"/>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 Four hard tests in the same 10,000 marke"/>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760d7dc2"/>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 The tes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 Chance the money lasts to Carmen's 89"/>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 What holds i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838c27a8"/>
          <p:cNvSpPr/>
          <p:nvPr/>
        </p:nvSpPr>
        <p:spPr>
          <a:xfrm>
            <a:off x="457200" y="2532459"/>
            <a:ext cx="11277600" cy="9525"/>
          </a:xfrm>
          <a:prstGeom prst="rect">
            <a:avLst/>
          </a:prstGeom>
          <a:solidFill>
            <a:srgbClr val="ECDADD"/>
          </a:solidFill>
          <a:ln>
            <a:noFill/>
          </a:ln>
        </p:spPr>
        <p:txBody>
          <a:bodyPr rtlCol="0" anchor="ctr"/>
          <a:lstStyle/>
          <a:p>
            <a:pPr algn="ctr"/>
            <a:endParaRPr/>
          </a:p>
        </p:txBody>
      </p:sp>
      <p:sp>
        <p:nvSpPr>
          <p:cNvPr id="13" name="!!T Adrian's job ends at 60"/>
          <p:cNvSpPr txBox="1"/>
          <p:nvPr/>
        </p:nvSpPr>
        <p:spPr>
          <a:xfrm>
            <a:off x="457200" y="198225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 no pay or MPF to 65, no severance"/>
          <p:cNvSpPr txBox="1"/>
          <p:nvPr/>
        </p:nvSpPr>
        <p:spPr>
          <a:xfrm>
            <a:off x="457200" y="220495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a14cbae3"/>
          <p:cNvSpPr/>
          <p:nvPr/>
        </p:nvSpPr>
        <p:spPr>
          <a:xfrm>
            <a:off x="3390900" y="223391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0a5913c7"/>
          <p:cNvSpPr/>
          <p:nvPr/>
        </p:nvSpPr>
        <p:spPr>
          <a:xfrm rot="16200000">
            <a:off x="4112865" y="151194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a27bee5f"/>
          <p:cNvSpPr/>
          <p:nvPr/>
        </p:nvSpPr>
        <p:spPr>
          <a:xfrm rot="5400000">
            <a:off x="6294760" y="90733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a07366dd"/>
          <p:cNvSpPr/>
          <p:nvPr/>
        </p:nvSpPr>
        <p:spPr>
          <a:xfrm>
            <a:off x="4968180" y="2233910"/>
            <a:ext cx="19050" cy="133350"/>
          </a:xfrm>
          <a:prstGeom prst="rect">
            <a:avLst/>
          </a:prstGeom>
          <a:solidFill>
            <a:srgbClr val="FFFFFF"/>
          </a:solidFill>
          <a:ln>
            <a:noFill/>
          </a:ln>
        </p:spPr>
        <p:txBody>
          <a:bodyPr rtlCol="0" anchor="ctr"/>
          <a:lstStyle/>
          <a:p>
            <a:pPr algn="ctr"/>
            <a:endParaRPr/>
          </a:p>
        </p:txBody>
      </p:sp>
      <p:sp>
        <p:nvSpPr>
          <p:cNvPr id="19" name="!!T 30%"/>
          <p:cNvSpPr txBox="1"/>
          <p:nvPr/>
        </p:nvSpPr>
        <p:spPr>
          <a:xfrm>
            <a:off x="4812655" y="202588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 83%"/>
          <p:cNvSpPr txBox="1"/>
          <p:nvPr/>
        </p:nvSpPr>
        <p:spPr>
          <a:xfrm>
            <a:off x="7333059" y="175861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 Reserve pays a year of bills"/>
          <p:cNvSpPr txBox="1"/>
          <p:nvPr/>
        </p:nvSpPr>
        <p:spPr>
          <a:xfrm>
            <a:off x="9182100" y="188512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 Spending rules trim lean years"/>
          <p:cNvSpPr txBox="1"/>
          <p:nvPr/>
        </p:nvSpPr>
        <p:spPr>
          <a:xfrm>
            <a:off x="9182100" y="209363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 Full review resets the plan"/>
          <p:cNvSpPr txBox="1"/>
          <p:nvPr/>
        </p:nvSpPr>
        <p:spPr>
          <a:xfrm>
            <a:off x="9182100" y="230213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f9dc0d51"/>
          <p:cNvSpPr/>
          <p:nvPr/>
        </p:nvSpPr>
        <p:spPr>
          <a:xfrm>
            <a:off x="457200" y="3189684"/>
            <a:ext cx="11277600" cy="9525"/>
          </a:xfrm>
          <a:prstGeom prst="rect">
            <a:avLst/>
          </a:prstGeom>
          <a:solidFill>
            <a:srgbClr val="ECDADD"/>
          </a:solidFill>
          <a:ln>
            <a:noFill/>
          </a:ln>
        </p:spPr>
        <p:txBody>
          <a:bodyPr rtlCol="0" anchor="ctr"/>
          <a:lstStyle/>
          <a:p>
            <a:pPr algn="ctr"/>
            <a:endParaRPr/>
          </a:p>
        </p:txBody>
      </p:sp>
      <p:sp>
        <p:nvSpPr>
          <p:cNvPr id="25" name="!!T Low returns, every year"/>
          <p:cNvSpPr txBox="1"/>
          <p:nvPr/>
        </p:nvSpPr>
        <p:spPr>
          <a:xfrm>
            <a:off x="457200" y="265910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 shares 4%, bonds 2.5%, to 2066"/>
          <p:cNvSpPr txBox="1"/>
          <p:nvPr/>
        </p:nvSpPr>
        <p:spPr>
          <a:xfrm>
            <a:off x="457200" y="286262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603f9092"/>
          <p:cNvSpPr/>
          <p:nvPr/>
        </p:nvSpPr>
        <p:spPr>
          <a:xfrm>
            <a:off x="3390900" y="290393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be8a703d"/>
          <p:cNvSpPr/>
          <p:nvPr/>
        </p:nvSpPr>
        <p:spPr>
          <a:xfrm rot="16200000">
            <a:off x="4165402" y="212943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f33f1255"/>
          <p:cNvSpPr/>
          <p:nvPr/>
        </p:nvSpPr>
        <p:spPr>
          <a:xfrm rot="5400000">
            <a:off x="6662738" y="131445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e49d9551"/>
          <p:cNvSpPr/>
          <p:nvPr/>
        </p:nvSpPr>
        <p:spPr>
          <a:xfrm>
            <a:off x="5073253" y="2903934"/>
            <a:ext cx="19050" cy="133350"/>
          </a:xfrm>
          <a:prstGeom prst="rect">
            <a:avLst/>
          </a:prstGeom>
          <a:solidFill>
            <a:srgbClr val="FFFFFF"/>
          </a:solidFill>
          <a:ln>
            <a:noFill/>
          </a:ln>
        </p:spPr>
        <p:txBody>
          <a:bodyPr rtlCol="0" anchor="ctr"/>
          <a:lstStyle/>
          <a:p>
            <a:pPr algn="ctr"/>
            <a:endParaRPr/>
          </a:p>
        </p:txBody>
      </p:sp>
      <p:sp>
        <p:nvSpPr>
          <p:cNvPr id="31" name="!!T 32%"/>
          <p:cNvSpPr txBox="1"/>
          <p:nvPr/>
        </p:nvSpPr>
        <p:spPr>
          <a:xfrm>
            <a:off x="4926062" y="269590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 95%"/>
          <p:cNvSpPr txBox="1"/>
          <p:nvPr/>
        </p:nvSpPr>
        <p:spPr>
          <a:xfrm>
            <a:off x="8174385" y="263056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 Spending rules trim lean years #2"/>
          <p:cNvSpPr txBox="1"/>
          <p:nvPr/>
        </p:nvSpPr>
        <p:spPr>
          <a:xfrm>
            <a:off x="9182100" y="265932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 Treasuries mature on schedule"/>
          <p:cNvSpPr txBox="1"/>
          <p:nvPr/>
        </p:nvSpPr>
        <p:spPr>
          <a:xfrm>
            <a:off x="9182100" y="286783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5d953a4b"/>
          <p:cNvSpPr/>
          <p:nvPr/>
        </p:nvSpPr>
        <p:spPr>
          <a:xfrm>
            <a:off x="457200" y="3846909"/>
            <a:ext cx="11277600" cy="9525"/>
          </a:xfrm>
          <a:prstGeom prst="rect">
            <a:avLst/>
          </a:prstGeom>
          <a:solidFill>
            <a:srgbClr val="ECDADD"/>
          </a:solidFill>
          <a:ln>
            <a:noFill/>
          </a:ln>
        </p:spPr>
        <p:txBody>
          <a:bodyPr rtlCol="0" anchor="ctr"/>
          <a:lstStyle/>
          <a:p>
            <a:pPr algn="ctr"/>
            <a:endParaRPr/>
          </a:p>
        </p:txBody>
      </p:sp>
      <p:sp>
        <p:nvSpPr>
          <p:cNvPr id="36" name="!!T Inflation and medical costs"/>
          <p:cNvSpPr txBox="1"/>
          <p:nvPr/>
        </p:nvSpPr>
        <p:spPr>
          <a:xfrm>
            <a:off x="457200" y="331633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 inflation 3.5%, medical 8.5% a year"/>
          <p:cNvSpPr txBox="1"/>
          <p:nvPr/>
        </p:nvSpPr>
        <p:spPr>
          <a:xfrm>
            <a:off x="457200" y="351985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83e6bb3a"/>
          <p:cNvSpPr/>
          <p:nvPr/>
        </p:nvSpPr>
        <p:spPr>
          <a:xfrm>
            <a:off x="3390900" y="356115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c149a3be"/>
          <p:cNvSpPr/>
          <p:nvPr/>
        </p:nvSpPr>
        <p:spPr>
          <a:xfrm rot="16200000">
            <a:off x="4060254" y="289180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f8c76270"/>
          <p:cNvSpPr/>
          <p:nvPr/>
        </p:nvSpPr>
        <p:spPr>
          <a:xfrm rot="5400000">
            <a:off x="6478712" y="194540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bdeb7c5d"/>
          <p:cNvSpPr/>
          <p:nvPr/>
        </p:nvSpPr>
        <p:spPr>
          <a:xfrm>
            <a:off x="4862959" y="3561159"/>
            <a:ext cx="19050" cy="133350"/>
          </a:xfrm>
          <a:prstGeom prst="rect">
            <a:avLst/>
          </a:prstGeom>
          <a:solidFill>
            <a:srgbClr val="FFFFFF"/>
          </a:solidFill>
          <a:ln>
            <a:noFill/>
          </a:ln>
        </p:spPr>
        <p:txBody>
          <a:bodyPr rtlCol="0" anchor="ctr"/>
          <a:lstStyle/>
          <a:p>
            <a:pPr algn="ctr"/>
            <a:endParaRPr/>
          </a:p>
        </p:txBody>
      </p:sp>
      <p:sp>
        <p:nvSpPr>
          <p:cNvPr id="42" name="!!T 28%"/>
          <p:cNvSpPr txBox="1"/>
          <p:nvPr/>
        </p:nvSpPr>
        <p:spPr>
          <a:xfrm>
            <a:off x="4714503" y="335313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 92%"/>
          <p:cNvSpPr txBox="1"/>
          <p:nvPr/>
        </p:nvSpPr>
        <p:spPr>
          <a:xfrm>
            <a:off x="8018338" y="328779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 Review at 75 cuts the premiums"/>
          <p:cNvSpPr txBox="1"/>
          <p:nvPr/>
        </p:nvSpPr>
        <p:spPr>
          <a:xfrm>
            <a:off x="9182100" y="331655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 Spending rules absorb the rest"/>
          <p:cNvSpPr txBox="1"/>
          <p:nvPr/>
        </p:nvSpPr>
        <p:spPr>
          <a:xfrm>
            <a:off x="9182100" y="352506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aa0675ea"/>
          <p:cNvSpPr/>
          <p:nvPr/>
        </p:nvSpPr>
        <p:spPr>
          <a:xfrm>
            <a:off x="457200" y="4504134"/>
            <a:ext cx="11277600" cy="9525"/>
          </a:xfrm>
          <a:prstGeom prst="rect">
            <a:avLst/>
          </a:prstGeom>
          <a:solidFill>
            <a:srgbClr val="ECDADD"/>
          </a:solidFill>
          <a:ln>
            <a:noFill/>
          </a:ln>
        </p:spPr>
        <p:txBody>
          <a:bodyPr rtlCol="0" anchor="ctr"/>
          <a:lstStyle/>
          <a:p>
            <a:pPr algn="ctr"/>
            <a:endParaRPr/>
          </a:p>
        </p:txBody>
      </p:sp>
      <p:sp>
        <p:nvSpPr>
          <p:cNvPr id="47" name="!!T Carmen lives to 95"/>
          <p:cNvSpPr txBox="1"/>
          <p:nvPr/>
        </p:nvSpPr>
        <p:spPr>
          <a:xfrm>
            <a:off x="457200" y="397355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 six years past the plan's 89"/>
          <p:cNvSpPr txBox="1"/>
          <p:nvPr/>
        </p:nvSpPr>
        <p:spPr>
          <a:xfrm>
            <a:off x="457200" y="417707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6c550c84"/>
          <p:cNvSpPr/>
          <p:nvPr/>
        </p:nvSpPr>
        <p:spPr>
          <a:xfrm>
            <a:off x="3390900" y="421838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153aa188"/>
          <p:cNvSpPr/>
          <p:nvPr/>
        </p:nvSpPr>
        <p:spPr>
          <a:xfrm rot="16200000">
            <a:off x="4927848" y="268143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e5f3da39"/>
          <p:cNvSpPr/>
          <p:nvPr/>
        </p:nvSpPr>
        <p:spPr>
          <a:xfrm rot="5400000">
            <a:off x="7530405" y="328612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7a2724c5"/>
          <p:cNvSpPr/>
          <p:nvPr/>
        </p:nvSpPr>
        <p:spPr>
          <a:xfrm>
            <a:off x="6598146" y="4218384"/>
            <a:ext cx="19050" cy="133350"/>
          </a:xfrm>
          <a:prstGeom prst="rect">
            <a:avLst/>
          </a:prstGeom>
          <a:solidFill>
            <a:srgbClr val="FFFFFF"/>
          </a:solidFill>
          <a:ln>
            <a:noFill/>
          </a:ln>
        </p:spPr>
        <p:txBody>
          <a:bodyPr rtlCol="0" anchor="ctr"/>
          <a:lstStyle/>
          <a:p>
            <a:pPr algn="ctr"/>
            <a:endParaRPr/>
          </a:p>
        </p:txBody>
      </p:sp>
      <p:sp>
        <p:nvSpPr>
          <p:cNvPr id="53" name="!!T 61%"/>
          <p:cNvSpPr txBox="1"/>
          <p:nvPr/>
        </p:nvSpPr>
        <p:spPr>
          <a:xfrm>
            <a:off x="6466136" y="401035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 99%"/>
          <p:cNvSpPr txBox="1"/>
          <p:nvPr/>
        </p:nvSpPr>
        <p:spPr>
          <a:xfrm>
            <a:off x="8385944" y="394501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 Annuities pay for life"/>
          <p:cNvSpPr txBox="1"/>
          <p:nvPr/>
        </p:nvSpPr>
        <p:spPr>
          <a:xfrm>
            <a:off x="9182100" y="407795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 0%"/>
          <p:cNvSpPr txBox="1"/>
          <p:nvPr/>
        </p:nvSpPr>
        <p:spPr>
          <a:xfrm>
            <a:off x="3390900" y="456280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 50%"/>
          <p:cNvSpPr txBox="1"/>
          <p:nvPr/>
        </p:nvSpPr>
        <p:spPr>
          <a:xfrm>
            <a:off x="5864944" y="456280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 100%"/>
          <p:cNvSpPr txBox="1"/>
          <p:nvPr/>
        </p:nvSpPr>
        <p:spPr>
          <a:xfrm>
            <a:off x="8274100" y="456280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 The price of holding: in years of low re"/>
          <p:cNvSpPr txBox="1"/>
          <p:nvPr/>
        </p:nvSpPr>
        <p:spPr>
          <a:xfrm>
            <a:off x="457200" y="480283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4482664d"/>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 written case, risk register"/>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 Every other risk has a named defence"/>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eea6115d"/>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c4eaa9b8"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 The business doesn't sell"/>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90014fb4"/>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928d39a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 Three risk appetites"/>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8fdfea72"/>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bc1cd2e"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 Crypto rules or licences change"/>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e391b3d2"/>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509cae1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 Greenwashing"/>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f53af421"/>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ff1cb4bb"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 Model risk"/>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It holds when the hardest things happen,"/>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 Chance the money lasts to Carmen's 89 (9"/>
          <p:cNvSpPr txBox="1"/>
          <p:nvPr/>
        </p:nvSpPr>
        <p:spPr>
          <a:xfrm>
            <a:off x="457200" y="6452104"/>
            <a:ext cx="625202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 decisions</a:t>
            </a:r>
          </a:p>
          <a:p>
            <a:pPr algn="l">
              <a:lnSpc>
                <a:spcPts val="1170"/>
              </a:lnSpc>
              <a:spcBef>
                <a:spcPts val="0"/>
              </a:spcBef>
              <a:spcAft>
                <a:spcPts val="0"/>
              </a:spcAft>
            </a:pPr>
            <a:r>
              <a:rPr sz="900" b="0" i="0" kern="100">
                <a:solidFill>
                  <a:srgbClr val="80606A"/>
                </a:solidFill>
                <a:latin typeface="Plus Jakarta Sans"/>
              </a:rPr>
              <a:t>compared in the same markets, not forecasts. Written case §11, Figure 26, A1.</a:t>
            </a:r>
          </a:p>
        </p:txBody>
      </p:sp>
      <p:sp>
        <p:nvSpPr>
          <p:cNvPr id="81" name="!!T The problem"/>
          <p:cNvSpPr txBox="1"/>
          <p:nvPr/>
        </p:nvSpPr>
        <p:spPr>
          <a:xfrm>
            <a:off x="660886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 The answer"/>
          <p:cNvSpPr txBox="1"/>
          <p:nvPr/>
        </p:nvSpPr>
        <p:spPr>
          <a:xfrm>
            <a:off x="755511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841533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9352211"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 What next"/>
          <p:cNvSpPr txBox="1"/>
          <p:nvPr/>
        </p:nvSpPr>
        <p:spPr>
          <a:xfrm>
            <a:off x="1016823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Us"/>
          <p:cNvSpPr txBox="1"/>
          <p:nvPr/>
        </p:nvSpPr>
        <p:spPr>
          <a:xfrm>
            <a:off x="109635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 10 / 15"/>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3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3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3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3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3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300"/>
                                        <p:tgtEl>
                                          <p:spTgt spid="1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300"/>
                                        <p:tgtEl>
                                          <p:spTgt spid="1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300"/>
                                        <p:tgtEl>
                                          <p:spTgt spid="2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300"/>
                                        <p:tgtEl>
                                          <p:spTgt spid="2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300"/>
                                        <p:tgtEl>
                                          <p:spTgt spid="2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3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300"/>
                                        <p:tgtEl>
                                          <p:spTgt spid="2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300"/>
                                        <p:tgtEl>
                                          <p:spTgt spid="2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300"/>
                                        <p:tgtEl>
                                          <p:spTgt spid="2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300"/>
                                        <p:tgtEl>
                                          <p:spTgt spid="2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300"/>
                                        <p:tgtEl>
                                          <p:spTgt spid="2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300"/>
                                        <p:tgtEl>
                                          <p:spTgt spid="2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300"/>
                                        <p:tgtEl>
                                          <p:spTgt spid="3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300"/>
                                        <p:tgtEl>
                                          <p:spTgt spid="3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300"/>
                                        <p:tgtEl>
                                          <p:spTgt spid="3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300"/>
                                        <p:tgtEl>
                                          <p:spTgt spid="3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300"/>
                                        <p:tgtEl>
                                          <p:spTgt spid="3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300"/>
                                        <p:tgtEl>
                                          <p:spTgt spid="3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300"/>
                                        <p:tgtEl>
                                          <p:spTgt spid="3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300"/>
                                        <p:tgtEl>
                                          <p:spTgt spid="3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300"/>
                                        <p:tgtEl>
                                          <p:spTgt spid="38"/>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300"/>
                                        <p:tgtEl>
                                          <p:spTgt spid="39"/>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0"/>
                                        </p:tgtEl>
                                        <p:attrNameLst>
                                          <p:attrName>style.visibility</p:attrName>
                                        </p:attrNameLst>
                                      </p:cBhvr>
                                      <p:to>
                                        <p:strVal val="visible"/>
                                      </p:to>
                                    </p:set>
                                    <p:animEffect transition="in" filter="fade">
                                      <p:cBhvr>
                                        <p:cTn id="93" dur="300"/>
                                        <p:tgtEl>
                                          <p:spTgt spid="4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1"/>
                                        </p:tgtEl>
                                        <p:attrNameLst>
                                          <p:attrName>style.visibility</p:attrName>
                                        </p:attrNameLst>
                                      </p:cBhvr>
                                      <p:to>
                                        <p:strVal val="visible"/>
                                      </p:to>
                                    </p:set>
                                    <p:animEffect transition="in" filter="fade">
                                      <p:cBhvr>
                                        <p:cTn id="96" dur="300"/>
                                        <p:tgtEl>
                                          <p:spTgt spid="4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300"/>
                                        <p:tgtEl>
                                          <p:spTgt spid="42"/>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3"/>
                                        </p:tgtEl>
                                        <p:attrNameLst>
                                          <p:attrName>style.visibility</p:attrName>
                                        </p:attrNameLst>
                                      </p:cBhvr>
                                      <p:to>
                                        <p:strVal val="visible"/>
                                      </p:to>
                                    </p:set>
                                    <p:animEffect transition="in" filter="fade">
                                      <p:cBhvr>
                                        <p:cTn id="102" dur="300"/>
                                        <p:tgtEl>
                                          <p:spTgt spid="43"/>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44"/>
                                        </p:tgtEl>
                                        <p:attrNameLst>
                                          <p:attrName>style.visibility</p:attrName>
                                        </p:attrNameLst>
                                      </p:cBhvr>
                                      <p:to>
                                        <p:strVal val="visible"/>
                                      </p:to>
                                    </p:set>
                                    <p:animEffect transition="in" filter="fade">
                                      <p:cBhvr>
                                        <p:cTn id="105" dur="300"/>
                                        <p:tgtEl>
                                          <p:spTgt spid="44"/>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5"/>
                                        </p:tgtEl>
                                        <p:attrNameLst>
                                          <p:attrName>style.visibility</p:attrName>
                                        </p:attrNameLst>
                                      </p:cBhvr>
                                      <p:to>
                                        <p:strVal val="visible"/>
                                      </p:to>
                                    </p:set>
                                    <p:animEffect transition="in" filter="fade">
                                      <p:cBhvr>
                                        <p:cTn id="108" dur="300"/>
                                        <p:tgtEl>
                                          <p:spTgt spid="45"/>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presetSubtype="0" fill="hold" grpId="0" nodeType="clickEffect">
                                  <p:stCondLst>
                                    <p:cond delay="0"/>
                                  </p:stCondLst>
                                  <p:childTnLst>
                                    <p:set>
                                      <p:cBhvr>
                                        <p:cTn id="112" dur="1" fill="hold">
                                          <p:stCondLst>
                                            <p:cond delay="0"/>
                                          </p:stCondLst>
                                        </p:cTn>
                                        <p:tgtEl>
                                          <p:spTgt spid="46"/>
                                        </p:tgtEl>
                                        <p:attrNameLst>
                                          <p:attrName>style.visibility</p:attrName>
                                        </p:attrNameLst>
                                      </p:cBhvr>
                                      <p:to>
                                        <p:strVal val="visible"/>
                                      </p:to>
                                    </p:set>
                                    <p:animEffect transition="in" filter="fade">
                                      <p:cBhvr>
                                        <p:cTn id="113" dur="300"/>
                                        <p:tgtEl>
                                          <p:spTgt spid="4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7"/>
                                        </p:tgtEl>
                                        <p:attrNameLst>
                                          <p:attrName>style.visibility</p:attrName>
                                        </p:attrNameLst>
                                      </p:cBhvr>
                                      <p:to>
                                        <p:strVal val="visible"/>
                                      </p:to>
                                    </p:set>
                                    <p:animEffect transition="in" filter="fade">
                                      <p:cBhvr>
                                        <p:cTn id="116" dur="300"/>
                                        <p:tgtEl>
                                          <p:spTgt spid="4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8"/>
                                        </p:tgtEl>
                                        <p:attrNameLst>
                                          <p:attrName>style.visibility</p:attrName>
                                        </p:attrNameLst>
                                      </p:cBhvr>
                                      <p:to>
                                        <p:strVal val="visible"/>
                                      </p:to>
                                    </p:set>
                                    <p:animEffect transition="in" filter="fade">
                                      <p:cBhvr>
                                        <p:cTn id="119" dur="300"/>
                                        <p:tgtEl>
                                          <p:spTgt spid="4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9"/>
                                        </p:tgtEl>
                                        <p:attrNameLst>
                                          <p:attrName>style.visibility</p:attrName>
                                        </p:attrNameLst>
                                      </p:cBhvr>
                                      <p:to>
                                        <p:strVal val="visible"/>
                                      </p:to>
                                    </p:set>
                                    <p:animEffect transition="in" filter="fade">
                                      <p:cBhvr>
                                        <p:cTn id="122" dur="300"/>
                                        <p:tgtEl>
                                          <p:spTgt spid="49"/>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50"/>
                                        </p:tgtEl>
                                        <p:attrNameLst>
                                          <p:attrName>style.visibility</p:attrName>
                                        </p:attrNameLst>
                                      </p:cBhvr>
                                      <p:to>
                                        <p:strVal val="visible"/>
                                      </p:to>
                                    </p:set>
                                    <p:animEffect transition="in" filter="fade">
                                      <p:cBhvr>
                                        <p:cTn id="125" dur="300"/>
                                        <p:tgtEl>
                                          <p:spTgt spid="50"/>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51"/>
                                        </p:tgtEl>
                                        <p:attrNameLst>
                                          <p:attrName>style.visibility</p:attrName>
                                        </p:attrNameLst>
                                      </p:cBhvr>
                                      <p:to>
                                        <p:strVal val="visible"/>
                                      </p:to>
                                    </p:set>
                                    <p:animEffect transition="in" filter="fade">
                                      <p:cBhvr>
                                        <p:cTn id="128" dur="300"/>
                                        <p:tgtEl>
                                          <p:spTgt spid="51"/>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52"/>
                                        </p:tgtEl>
                                        <p:attrNameLst>
                                          <p:attrName>style.visibility</p:attrName>
                                        </p:attrNameLst>
                                      </p:cBhvr>
                                      <p:to>
                                        <p:strVal val="visible"/>
                                      </p:to>
                                    </p:set>
                                    <p:animEffect transition="in" filter="fade">
                                      <p:cBhvr>
                                        <p:cTn id="131" dur="300"/>
                                        <p:tgtEl>
                                          <p:spTgt spid="52"/>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53"/>
                                        </p:tgtEl>
                                        <p:attrNameLst>
                                          <p:attrName>style.visibility</p:attrName>
                                        </p:attrNameLst>
                                      </p:cBhvr>
                                      <p:to>
                                        <p:strVal val="visible"/>
                                      </p:to>
                                    </p:set>
                                    <p:animEffect transition="in" filter="fade">
                                      <p:cBhvr>
                                        <p:cTn id="134" dur="300"/>
                                        <p:tgtEl>
                                          <p:spTgt spid="53"/>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4"/>
                                        </p:tgtEl>
                                        <p:attrNameLst>
                                          <p:attrName>style.visibility</p:attrName>
                                        </p:attrNameLst>
                                      </p:cBhvr>
                                      <p:to>
                                        <p:strVal val="visible"/>
                                      </p:to>
                                    </p:set>
                                    <p:animEffect transition="in" filter="fade">
                                      <p:cBhvr>
                                        <p:cTn id="137" dur="300"/>
                                        <p:tgtEl>
                                          <p:spTgt spid="54"/>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5"/>
                                        </p:tgtEl>
                                        <p:attrNameLst>
                                          <p:attrName>style.visibility</p:attrName>
                                        </p:attrNameLst>
                                      </p:cBhvr>
                                      <p:to>
                                        <p:strVal val="visible"/>
                                      </p:to>
                                    </p:set>
                                    <p:animEffect transition="in" filter="fade">
                                      <p:cBhvr>
                                        <p:cTn id="140" dur="300"/>
                                        <p:tgtEl>
                                          <p:spTgt spid="55"/>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59"/>
                                        </p:tgtEl>
                                        <p:attrNameLst>
                                          <p:attrName>style.visibility</p:attrName>
                                        </p:attrNameLst>
                                      </p:cBhvr>
                                      <p:to>
                                        <p:strVal val="visible"/>
                                      </p:to>
                                    </p:set>
                                    <p:animEffect transition="in" filter="fade">
                                      <p:cBhvr>
                                        <p:cTn id="145" dur="300"/>
                                        <p:tgtEl>
                                          <p:spTgt spid="5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60"/>
                                        </p:tgtEl>
                                        <p:attrNameLst>
                                          <p:attrName>style.visibility</p:attrName>
                                        </p:attrNameLst>
                                      </p:cBhvr>
                                      <p:to>
                                        <p:strVal val="visible"/>
                                      </p:to>
                                    </p:set>
                                    <p:animEffect transition="in" filter="fade">
                                      <p:cBhvr>
                                        <p:cTn id="148" dur="300"/>
                                        <p:tgtEl>
                                          <p:spTgt spid="60"/>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61"/>
                                        </p:tgtEl>
                                        <p:attrNameLst>
                                          <p:attrName>style.visibility</p:attrName>
                                        </p:attrNameLst>
                                      </p:cBhvr>
                                      <p:to>
                                        <p:strVal val="visible"/>
                                      </p:to>
                                    </p:set>
                                    <p:animEffect transition="in" filter="fade">
                                      <p:cBhvr>
                                        <p:cTn id="151" dur="300"/>
                                        <p:tgtEl>
                                          <p:spTgt spid="61"/>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62"/>
                                        </p:tgtEl>
                                        <p:attrNameLst>
                                          <p:attrName>style.visibility</p:attrName>
                                        </p:attrNameLst>
                                      </p:cBhvr>
                                      <p:to>
                                        <p:strVal val="visible"/>
                                      </p:to>
                                    </p:set>
                                    <p:animEffect transition="in" filter="fade">
                                      <p:cBhvr>
                                        <p:cTn id="154" dur="300"/>
                                        <p:tgtEl>
                                          <p:spTgt spid="62"/>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63"/>
                                        </p:tgtEl>
                                        <p:attrNameLst>
                                          <p:attrName>style.visibility</p:attrName>
                                        </p:attrNameLst>
                                      </p:cBhvr>
                                      <p:to>
                                        <p:strVal val="visible"/>
                                      </p:to>
                                    </p:set>
                                    <p:animEffect transition="in" filter="fade">
                                      <p:cBhvr>
                                        <p:cTn id="157" dur="300"/>
                                        <p:tgtEl>
                                          <p:spTgt spid="63"/>
                                        </p:tgtEl>
                                      </p:cBhvr>
                                    </p:animEffect>
                                  </p:childTnLst>
                                </p:cTn>
                              </p:par>
                              <p:par>
                                <p:cTn id="158" presetID="10" presetClass="entr" presetSubtype="0" fill="hold" nodeType="withEffect">
                                  <p:stCondLst>
                                    <p:cond delay="0"/>
                                  </p:stCondLst>
                                  <p:childTnLst>
                                    <p:set>
                                      <p:cBhvr>
                                        <p:cTn id="159" dur="1" fill="hold">
                                          <p:stCondLst>
                                            <p:cond delay="0"/>
                                          </p:stCondLst>
                                        </p:cTn>
                                        <p:tgtEl>
                                          <p:spTgt spid="64"/>
                                        </p:tgtEl>
                                        <p:attrNameLst>
                                          <p:attrName>style.visibility</p:attrName>
                                        </p:attrNameLst>
                                      </p:cBhvr>
                                      <p:to>
                                        <p:strVal val="visible"/>
                                      </p:to>
                                    </p:set>
                                    <p:animEffect transition="in" filter="fade">
                                      <p:cBhvr>
                                        <p:cTn id="160" dur="300"/>
                                        <p:tgtEl>
                                          <p:spTgt spid="64"/>
                                        </p:tgtEl>
                                      </p:cBhvr>
                                    </p:animEffect>
                                  </p:childTnLst>
                                </p:cTn>
                              </p:par>
                              <p:par>
                                <p:cTn id="161" presetID="10" presetClass="entr" presetSubtype="0" fill="hold" grpId="0" nodeType="withEffect">
                                  <p:stCondLst>
                                    <p:cond delay="0"/>
                                  </p:stCondLst>
                                  <p:childTnLst>
                                    <p:set>
                                      <p:cBhvr>
                                        <p:cTn id="162" dur="1" fill="hold">
                                          <p:stCondLst>
                                            <p:cond delay="0"/>
                                          </p:stCondLst>
                                        </p:cTn>
                                        <p:tgtEl>
                                          <p:spTgt spid="65"/>
                                        </p:tgtEl>
                                        <p:attrNameLst>
                                          <p:attrName>style.visibility</p:attrName>
                                        </p:attrNameLst>
                                      </p:cBhvr>
                                      <p:to>
                                        <p:strVal val="visible"/>
                                      </p:to>
                                    </p:set>
                                    <p:animEffect transition="in" filter="fade">
                                      <p:cBhvr>
                                        <p:cTn id="163" dur="300"/>
                                        <p:tgtEl>
                                          <p:spTgt spid="65"/>
                                        </p:tgtEl>
                                      </p:cBhvr>
                                    </p:animEffect>
                                  </p:childTnLst>
                                </p:cTn>
                              </p:par>
                              <p:par>
                                <p:cTn id="164" presetID="10" presetClass="entr" presetSubtype="0" fill="hold" grpId="0" nodeType="withEffect">
                                  <p:stCondLst>
                                    <p:cond delay="0"/>
                                  </p:stCondLst>
                                  <p:childTnLst>
                                    <p:set>
                                      <p:cBhvr>
                                        <p:cTn id="165" dur="1" fill="hold">
                                          <p:stCondLst>
                                            <p:cond delay="0"/>
                                          </p:stCondLst>
                                        </p:cTn>
                                        <p:tgtEl>
                                          <p:spTgt spid="66"/>
                                        </p:tgtEl>
                                        <p:attrNameLst>
                                          <p:attrName>style.visibility</p:attrName>
                                        </p:attrNameLst>
                                      </p:cBhvr>
                                      <p:to>
                                        <p:strVal val="visible"/>
                                      </p:to>
                                    </p:set>
                                    <p:animEffect transition="in" filter="fade">
                                      <p:cBhvr>
                                        <p:cTn id="166" dur="300"/>
                                        <p:tgtEl>
                                          <p:spTgt spid="66"/>
                                        </p:tgtEl>
                                      </p:cBhvr>
                                    </p:animEffect>
                                  </p:childTnLst>
                                </p:cTn>
                              </p:par>
                              <p:par>
                                <p:cTn id="167" presetID="10" presetClass="entr" presetSubtype="0" fill="hold" nodeType="withEffect">
                                  <p:stCondLst>
                                    <p:cond delay="0"/>
                                  </p:stCondLst>
                                  <p:childTnLst>
                                    <p:set>
                                      <p:cBhvr>
                                        <p:cTn id="168" dur="1" fill="hold">
                                          <p:stCondLst>
                                            <p:cond delay="0"/>
                                          </p:stCondLst>
                                        </p:cTn>
                                        <p:tgtEl>
                                          <p:spTgt spid="67"/>
                                        </p:tgtEl>
                                        <p:attrNameLst>
                                          <p:attrName>style.visibility</p:attrName>
                                        </p:attrNameLst>
                                      </p:cBhvr>
                                      <p:to>
                                        <p:strVal val="visible"/>
                                      </p:to>
                                    </p:set>
                                    <p:animEffect transition="in" filter="fade">
                                      <p:cBhvr>
                                        <p:cTn id="169" dur="300"/>
                                        <p:tgtEl>
                                          <p:spTgt spid="67"/>
                                        </p:tgtEl>
                                      </p:cBhvr>
                                    </p:animEffect>
                                  </p:childTnLst>
                                </p:cTn>
                              </p:par>
                              <p:par>
                                <p:cTn id="170" presetID="10" presetClass="entr" presetSubtype="0" fill="hold" grpId="0" nodeType="withEffect">
                                  <p:stCondLst>
                                    <p:cond delay="0"/>
                                  </p:stCondLst>
                                  <p:childTnLst>
                                    <p:set>
                                      <p:cBhvr>
                                        <p:cTn id="171" dur="1" fill="hold">
                                          <p:stCondLst>
                                            <p:cond delay="0"/>
                                          </p:stCondLst>
                                        </p:cTn>
                                        <p:tgtEl>
                                          <p:spTgt spid="68"/>
                                        </p:tgtEl>
                                        <p:attrNameLst>
                                          <p:attrName>style.visibility</p:attrName>
                                        </p:attrNameLst>
                                      </p:cBhvr>
                                      <p:to>
                                        <p:strVal val="visible"/>
                                      </p:to>
                                    </p:set>
                                    <p:animEffect transition="in" filter="fade">
                                      <p:cBhvr>
                                        <p:cTn id="172" dur="300"/>
                                        <p:tgtEl>
                                          <p:spTgt spid="68"/>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animEffect transition="in" filter="fade">
                                      <p:cBhvr>
                                        <p:cTn id="175" dur="300"/>
                                        <p:tgtEl>
                                          <p:spTgt spid="69"/>
                                        </p:tgtEl>
                                      </p:cBhvr>
                                    </p:animEffect>
                                  </p:childTnLst>
                                </p:cTn>
                              </p:par>
                              <p:par>
                                <p:cTn id="176" presetID="10" presetClass="entr" presetSubtype="0" fill="hold" nodeType="withEffect">
                                  <p:stCondLst>
                                    <p:cond delay="0"/>
                                  </p:stCondLst>
                                  <p:childTnLst>
                                    <p:set>
                                      <p:cBhvr>
                                        <p:cTn id="177" dur="1" fill="hold">
                                          <p:stCondLst>
                                            <p:cond delay="0"/>
                                          </p:stCondLst>
                                        </p:cTn>
                                        <p:tgtEl>
                                          <p:spTgt spid="70"/>
                                        </p:tgtEl>
                                        <p:attrNameLst>
                                          <p:attrName>style.visibility</p:attrName>
                                        </p:attrNameLst>
                                      </p:cBhvr>
                                      <p:to>
                                        <p:strVal val="visible"/>
                                      </p:to>
                                    </p:set>
                                    <p:animEffect transition="in" filter="fade">
                                      <p:cBhvr>
                                        <p:cTn id="178" dur="300"/>
                                        <p:tgtEl>
                                          <p:spTgt spid="70"/>
                                        </p:tgtEl>
                                      </p:cBhvr>
                                    </p:animEffect>
                                  </p:childTnLst>
                                </p:cTn>
                              </p:par>
                              <p:par>
                                <p:cTn id="179" presetID="10" presetClass="entr" presetSubtype="0" fill="hold" grpId="0" nodeType="withEffect">
                                  <p:stCondLst>
                                    <p:cond delay="0"/>
                                  </p:stCondLst>
                                  <p:childTnLst>
                                    <p:set>
                                      <p:cBhvr>
                                        <p:cTn id="180" dur="1" fill="hold">
                                          <p:stCondLst>
                                            <p:cond delay="0"/>
                                          </p:stCondLst>
                                        </p:cTn>
                                        <p:tgtEl>
                                          <p:spTgt spid="71"/>
                                        </p:tgtEl>
                                        <p:attrNameLst>
                                          <p:attrName>style.visibility</p:attrName>
                                        </p:attrNameLst>
                                      </p:cBhvr>
                                      <p:to>
                                        <p:strVal val="visible"/>
                                      </p:to>
                                    </p:set>
                                    <p:animEffect transition="in" filter="fade">
                                      <p:cBhvr>
                                        <p:cTn id="181" dur="300"/>
                                        <p:tgtEl>
                                          <p:spTgt spid="71"/>
                                        </p:tgtEl>
                                      </p:cBhvr>
                                    </p:animEffect>
                                  </p:childTnLst>
                                </p:cTn>
                              </p:par>
                              <p:par>
                                <p:cTn id="182" presetID="10" presetClass="entr" presetSubtype="0" fill="hold" grpId="0" nodeType="withEffect">
                                  <p:stCondLst>
                                    <p:cond delay="0"/>
                                  </p:stCondLst>
                                  <p:childTnLst>
                                    <p:set>
                                      <p:cBhvr>
                                        <p:cTn id="183" dur="1" fill="hold">
                                          <p:stCondLst>
                                            <p:cond delay="0"/>
                                          </p:stCondLst>
                                        </p:cTn>
                                        <p:tgtEl>
                                          <p:spTgt spid="72"/>
                                        </p:tgtEl>
                                        <p:attrNameLst>
                                          <p:attrName>style.visibility</p:attrName>
                                        </p:attrNameLst>
                                      </p:cBhvr>
                                      <p:to>
                                        <p:strVal val="visible"/>
                                      </p:to>
                                    </p:set>
                                    <p:animEffect transition="in" filter="fade">
                                      <p:cBhvr>
                                        <p:cTn id="184" dur="300"/>
                                        <p:tgtEl>
                                          <p:spTgt spid="72"/>
                                        </p:tgtEl>
                                      </p:cBhvr>
                                    </p:animEffect>
                                  </p:childTnLst>
                                </p:cTn>
                              </p:par>
                              <p:par>
                                <p:cTn id="185" presetID="10" presetClass="entr" presetSubtype="0" fill="hold" nodeType="withEffect">
                                  <p:stCondLst>
                                    <p:cond delay="0"/>
                                  </p:stCondLst>
                                  <p:childTnLst>
                                    <p:set>
                                      <p:cBhvr>
                                        <p:cTn id="186" dur="1" fill="hold">
                                          <p:stCondLst>
                                            <p:cond delay="0"/>
                                          </p:stCondLst>
                                        </p:cTn>
                                        <p:tgtEl>
                                          <p:spTgt spid="73"/>
                                        </p:tgtEl>
                                        <p:attrNameLst>
                                          <p:attrName>style.visibility</p:attrName>
                                        </p:attrNameLst>
                                      </p:cBhvr>
                                      <p:to>
                                        <p:strVal val="visible"/>
                                      </p:to>
                                    </p:set>
                                    <p:animEffect transition="in" filter="fade">
                                      <p:cBhvr>
                                        <p:cTn id="187" dur="300"/>
                                        <p:tgtEl>
                                          <p:spTgt spid="73"/>
                                        </p:tgtEl>
                                      </p:cBhvr>
                                    </p:animEffect>
                                  </p:childTnLst>
                                </p:cTn>
                              </p:par>
                              <p:par>
                                <p:cTn id="188" presetID="10" presetClass="entr" presetSubtype="0" fill="hold" grpId="0" nodeType="withEffect">
                                  <p:stCondLst>
                                    <p:cond delay="0"/>
                                  </p:stCondLst>
                                  <p:childTnLst>
                                    <p:set>
                                      <p:cBhvr>
                                        <p:cTn id="189" dur="1" fill="hold">
                                          <p:stCondLst>
                                            <p:cond delay="0"/>
                                          </p:stCondLst>
                                        </p:cTn>
                                        <p:tgtEl>
                                          <p:spTgt spid="74"/>
                                        </p:tgtEl>
                                        <p:attrNameLst>
                                          <p:attrName>style.visibility</p:attrName>
                                        </p:attrNameLst>
                                      </p:cBhvr>
                                      <p:to>
                                        <p:strVal val="visible"/>
                                      </p:to>
                                    </p:set>
                                    <p:animEffect transition="in" filter="fade">
                                      <p:cBhvr>
                                        <p:cTn id="190" dur="300"/>
                                        <p:tgtEl>
                                          <p:spTgt spid="74"/>
                                        </p:tgtEl>
                                      </p:cBhvr>
                                    </p:animEffect>
                                  </p:childTnLst>
                                </p:cTn>
                              </p:par>
                              <p:par>
                                <p:cTn id="191" presetID="10" presetClass="entr" presetSubtype="0" fill="hold" grpId="0" nodeType="withEffect">
                                  <p:stCondLst>
                                    <p:cond delay="0"/>
                                  </p:stCondLst>
                                  <p:childTnLst>
                                    <p:set>
                                      <p:cBhvr>
                                        <p:cTn id="192" dur="1" fill="hold">
                                          <p:stCondLst>
                                            <p:cond delay="0"/>
                                          </p:stCondLst>
                                        </p:cTn>
                                        <p:tgtEl>
                                          <p:spTgt spid="75"/>
                                        </p:tgtEl>
                                        <p:attrNameLst>
                                          <p:attrName>style.visibility</p:attrName>
                                        </p:attrNameLst>
                                      </p:cBhvr>
                                      <p:to>
                                        <p:strVal val="visible"/>
                                      </p:to>
                                    </p:set>
                                    <p:animEffect transition="in" filter="fade">
                                      <p:cBhvr>
                                        <p:cTn id="193" dur="300"/>
                                        <p:tgtEl>
                                          <p:spTgt spid="75"/>
                                        </p:tgtEl>
                                      </p:cBhvr>
                                    </p:animEffect>
                                  </p:childTnLst>
                                </p:cTn>
                              </p:par>
                              <p:par>
                                <p:cTn id="194" presetID="10" presetClass="entr" presetSubtype="0" fill="hold" nodeType="withEffect">
                                  <p:stCondLst>
                                    <p:cond delay="0"/>
                                  </p:stCondLst>
                                  <p:childTnLst>
                                    <p:set>
                                      <p:cBhvr>
                                        <p:cTn id="195" dur="1" fill="hold">
                                          <p:stCondLst>
                                            <p:cond delay="0"/>
                                          </p:stCondLst>
                                        </p:cTn>
                                        <p:tgtEl>
                                          <p:spTgt spid="76"/>
                                        </p:tgtEl>
                                        <p:attrNameLst>
                                          <p:attrName>style.visibility</p:attrName>
                                        </p:attrNameLst>
                                      </p:cBhvr>
                                      <p:to>
                                        <p:strVal val="visible"/>
                                      </p:to>
                                    </p:set>
                                    <p:animEffect transition="in" filter="fade">
                                      <p:cBhvr>
                                        <p:cTn id="196" dur="300"/>
                                        <p:tgtEl>
                                          <p:spTgt spid="76"/>
                                        </p:tgtEl>
                                      </p:cBhvr>
                                    </p:animEffect>
                                  </p:childTnLst>
                                </p:cTn>
                              </p:par>
                              <p:par>
                                <p:cTn id="197" presetID="10" presetClass="entr" presetSubtype="0" fill="hold" grpId="0" nodeType="withEffect">
                                  <p:stCondLst>
                                    <p:cond delay="0"/>
                                  </p:stCondLst>
                                  <p:childTnLst>
                                    <p:set>
                                      <p:cBhvr>
                                        <p:cTn id="198" dur="1" fill="hold">
                                          <p:stCondLst>
                                            <p:cond delay="0"/>
                                          </p:stCondLst>
                                        </p:cTn>
                                        <p:tgtEl>
                                          <p:spTgt spid="77"/>
                                        </p:tgtEl>
                                        <p:attrNameLst>
                                          <p:attrName>style.visibility</p:attrName>
                                        </p:attrNameLst>
                                      </p:cBhvr>
                                      <p:to>
                                        <p:strVal val="visible"/>
                                      </p:to>
                                    </p:set>
                                    <p:animEffect transition="in" filter="fade">
                                      <p:cBhvr>
                                        <p:cTn id="199" dur="300"/>
                                        <p:tgtEl>
                                          <p:spTgt spid="77"/>
                                        </p:tgtEl>
                                      </p:cBhvr>
                                    </p:animEffect>
                                  </p:childTnLst>
                                </p:cTn>
                              </p:par>
                              <p:par>
                                <p:cTn id="200" presetID="10" presetClass="entr" presetSubtype="0" fill="hold" grpId="0" nodeType="withEffect">
                                  <p:stCondLst>
                                    <p:cond delay="0"/>
                                  </p:stCondLst>
                                  <p:childTnLst>
                                    <p:set>
                                      <p:cBhvr>
                                        <p:cTn id="201" dur="1" fill="hold">
                                          <p:stCondLst>
                                            <p:cond delay="0"/>
                                          </p:stCondLst>
                                        </p:cTn>
                                        <p:tgtEl>
                                          <p:spTgt spid="78"/>
                                        </p:tgtEl>
                                        <p:attrNameLst>
                                          <p:attrName>style.visibility</p:attrName>
                                        </p:attrNameLst>
                                      </p:cBhvr>
                                      <p:to>
                                        <p:strVal val="visible"/>
                                      </p:to>
                                    </p:set>
                                    <p:animEffect transition="in" filter="fade">
                                      <p:cBhvr>
                                        <p:cTn id="202" dur="300"/>
                                        <p:tgtEl>
                                          <p:spTgt spid="78"/>
                                        </p:tgtEl>
                                      </p:cBhvr>
                                    </p:animEffect>
                                  </p:childTnLst>
                                </p:cTn>
                              </p:par>
                              <p:par>
                                <p:cTn id="203" presetID="10" presetClass="entr" presetSubtype="0" fill="hold" grpId="0" nodeType="withEffect">
                                  <p:stCondLst>
                                    <p:cond delay="0"/>
                                  </p:stCondLst>
                                  <p:childTnLst>
                                    <p:set>
                                      <p:cBhvr>
                                        <p:cTn id="204" dur="1" fill="hold">
                                          <p:stCondLst>
                                            <p:cond delay="0"/>
                                          </p:stCondLst>
                                        </p:cTn>
                                        <p:tgtEl>
                                          <p:spTgt spid="79"/>
                                        </p:tgtEl>
                                        <p:attrNameLst>
                                          <p:attrName>style.visibility</p:attrName>
                                        </p:attrNameLst>
                                      </p:cBhvr>
                                      <p:to>
                                        <p:strVal val="visible"/>
                                      </p:to>
                                    </p:set>
                                    <p:animEffect transition="in" filter="fade">
                                      <p:cBhvr>
                                        <p:cTn id="205" dur="3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9" grpId="0" animBg="1"/>
      <p:bldP spid="60" grpId="0" animBg="1"/>
      <p:bldP spid="61" grpId="0" animBg="1"/>
      <p:bldP spid="62" grpId="0" animBg="1"/>
      <p:bldP spid="63" grpId="0" animBg="1"/>
      <p:bldP spid="65" grpId="0" animBg="1"/>
      <p:bldP spid="66" grpId="0" animBg="1"/>
      <p:bldP spid="68" grpId="0" animBg="1"/>
      <p:bldP spid="69" grpId="0" animBg="1"/>
      <p:bldP spid="71" grpId="0" animBg="1"/>
      <p:bldP spid="72" grpId="0" animBg="1"/>
      <p:bldP spid="74" grpId="0" animBg="1"/>
      <p:bldP spid="75" grpId="0" animBg="1"/>
      <p:bldP spid="77" grpId="0" animBg="1"/>
      <p:bldP spid="78" grpId="0" animBg="1"/>
      <p:bldP spid="7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hat happens when"/>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 It starts this month and closes every ga"/>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c58b1ef9"/>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 This year: close every gap…"/>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5fe1fbff"/>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 Month 1"/>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 Wills and a joint accoun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 a guardian; powers of attorney"/>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6a9345b5"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abd34fdc"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 By month 3"/>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 The cover in place"/>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 about HK$100K a year"/>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ef3cc36d"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2df3b36"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a0880d0"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 By month 6"/>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 A portfolio each"/>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 HK$45K a year less in fees"/>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5415930d"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b5e33b9c"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b2f69ff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 Month 12"/>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 First family meeting"/>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 a charter; Ryan's own plan"/>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c493aaa3"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3e1d8c1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91210872"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a55b9ee3"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b392e74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 …then dates trigger each step"/>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422da07f"/>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a3cb03a1"/>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 2028"/>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 Chloe accepts an offer"/>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 fees converted: no currency risk"/>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10645dc9"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fa66dd2b"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04939d8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b9a39bfd"/>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 2032"/>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 Chloe starts work"/>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 with a plan of her own"/>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3f248ff5"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3717c98e"/>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 2035–39"/>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 Carmen's business"/>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 sold in stages to her team"/>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11c9736"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e76982b8"/>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 2037–39"/>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 They retire"/>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 the home released; an annuity each"/>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6aeb2954"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b62b3fad"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771a37b3"/>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 2047"/>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 The medical review"/>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 at Adrian's 75"/>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bb69afc7"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e76b9a10"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15a2d7a3"/>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b74e5c5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 Reviewed as life changes: the portfolio "/>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 For the Wongs, it starts this month; for"/>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 The roadmap: written case §10, Figure 23"/>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 The problem"/>
          <p:cNvSpPr txBox="1"/>
          <p:nvPr/>
        </p:nvSpPr>
        <p:spPr>
          <a:xfrm>
            <a:off x="665261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 The answer"/>
          <p:cNvSpPr txBox="1"/>
          <p:nvPr/>
        </p:nvSpPr>
        <p:spPr>
          <a:xfrm>
            <a:off x="759886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 The five calls"/>
          <p:cNvSpPr txBox="1"/>
          <p:nvPr/>
        </p:nvSpPr>
        <p:spPr>
          <a:xfrm>
            <a:off x="845909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 Will it hold"/>
          <p:cNvSpPr txBox="1"/>
          <p:nvPr/>
        </p:nvSpPr>
        <p:spPr>
          <a:xfrm>
            <a:off x="939596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 What next"/>
          <p:cNvSpPr txBox="1"/>
          <p:nvPr/>
        </p:nvSpPr>
        <p:spPr>
          <a:xfrm>
            <a:off x="10193982"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 Us"/>
          <p:cNvSpPr txBox="1"/>
          <p:nvPr/>
        </p:nvSpPr>
        <p:spPr>
          <a:xfrm>
            <a:off x="110067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6" name="!!T 11 / 15"/>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7" name="!!Ring 4877fa0e"/>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8" name="!!span 625ab906"/>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79" name="!!Drawing d47f8ea3"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0" name="!!Ring dd7cb4d9"/>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1" name="!!span 2d0c4856"/>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2" name="!!Drawing b078a87f"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3" name="!!Ring 55aecc8e"/>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4" name="!!span cbd59824"/>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5" name="!!Drawing bd0f25c0"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6" name="!!Ring 6d8a1c38"/>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7" name="!!span d0d204da"/>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8" name="!!Drawing 9d1c2717"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3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3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3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300"/>
                                        <p:tgtEl>
                                          <p:spTgt spid="3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300"/>
                                        <p:tgtEl>
                                          <p:spTgt spid="3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300"/>
                                        <p:tgtEl>
                                          <p:spTgt spid="3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8"/>
                                        </p:tgtEl>
                                        <p:attrNameLst>
                                          <p:attrName>style.visibility</p:attrName>
                                        </p:attrNameLst>
                                      </p:cBhvr>
                                      <p:to>
                                        <p:strVal val="visible"/>
                                      </p:to>
                                    </p:set>
                                    <p:animEffect transition="in" filter="fade">
                                      <p:cBhvr>
                                        <p:cTn id="25" dur="300"/>
                                        <p:tgtEl>
                                          <p:spTgt spid="38"/>
                                        </p:tgtEl>
                                      </p:cBhvr>
                                    </p:animEffect>
                                  </p:childTnLst>
                                </p:cTn>
                              </p:par>
                              <p:par>
                                <p:cTn id="26" presetID="10" presetClass="entr" presetSubtype="0" fill="hold" nodeType="withEffect">
                                  <p:stCondLst>
                                    <p:cond delay="0"/>
                                  </p:stCondLst>
                                  <p:childTnLst>
                                    <p:set>
                                      <p:cBhvr>
                                        <p:cTn id="27" dur="1" fill="hold">
                                          <p:stCondLst>
                                            <p:cond delay="0"/>
                                          </p:stCondLst>
                                        </p:cTn>
                                        <p:tgtEl>
                                          <p:spTgt spid="39"/>
                                        </p:tgtEl>
                                        <p:attrNameLst>
                                          <p:attrName>style.visibility</p:attrName>
                                        </p:attrNameLst>
                                      </p:cBhvr>
                                      <p:to>
                                        <p:strVal val="visible"/>
                                      </p:to>
                                    </p:set>
                                    <p:animEffect transition="in" filter="fade">
                                      <p:cBhvr>
                                        <p:cTn id="28" dur="300"/>
                                        <p:tgtEl>
                                          <p:spTgt spid="39"/>
                                        </p:tgtEl>
                                      </p:cBhvr>
                                    </p:animEffect>
                                  </p:childTnLst>
                                </p:cTn>
                              </p:par>
                              <p:par>
                                <p:cTn id="29" presetID="10" presetClass="entr" presetSubtype="0" fill="hold" nodeType="with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3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300"/>
                                        <p:tgtEl>
                                          <p:spTgt spid="4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300"/>
                                        <p:tgtEl>
                                          <p:spTgt spid="4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3"/>
                                        </p:tgtEl>
                                        <p:attrNameLst>
                                          <p:attrName>style.visibility</p:attrName>
                                        </p:attrNameLst>
                                      </p:cBhvr>
                                      <p:to>
                                        <p:strVal val="visible"/>
                                      </p:to>
                                    </p:set>
                                    <p:animEffect transition="in" filter="fade">
                                      <p:cBhvr>
                                        <p:cTn id="40" dur="300"/>
                                        <p:tgtEl>
                                          <p:spTgt spid="4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44"/>
                                        </p:tgtEl>
                                        <p:attrNameLst>
                                          <p:attrName>style.visibility</p:attrName>
                                        </p:attrNameLst>
                                      </p:cBhvr>
                                      <p:to>
                                        <p:strVal val="visible"/>
                                      </p:to>
                                    </p:set>
                                    <p:animEffect transition="in" filter="fade">
                                      <p:cBhvr>
                                        <p:cTn id="43" dur="300"/>
                                        <p:tgtEl>
                                          <p:spTgt spid="4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5"/>
                                        </p:tgtEl>
                                        <p:attrNameLst>
                                          <p:attrName>style.visibility</p:attrName>
                                        </p:attrNameLst>
                                      </p:cBhvr>
                                      <p:to>
                                        <p:strVal val="visible"/>
                                      </p:to>
                                    </p:set>
                                    <p:animEffect transition="in" filter="fade">
                                      <p:cBhvr>
                                        <p:cTn id="46" dur="300"/>
                                        <p:tgtEl>
                                          <p:spTgt spid="45"/>
                                        </p:tgtEl>
                                      </p:cBhvr>
                                    </p:animEffect>
                                  </p:childTnLst>
                                </p:cTn>
                              </p:par>
                              <p:par>
                                <p:cTn id="47" presetID="10" presetClass="entr" presetSubtype="0" fill="hold" nodeType="withEffect">
                                  <p:stCondLst>
                                    <p:cond delay="0"/>
                                  </p:stCondLst>
                                  <p:childTnLst>
                                    <p:set>
                                      <p:cBhvr>
                                        <p:cTn id="48" dur="1" fill="hold">
                                          <p:stCondLst>
                                            <p:cond delay="0"/>
                                          </p:stCondLst>
                                        </p:cTn>
                                        <p:tgtEl>
                                          <p:spTgt spid="46"/>
                                        </p:tgtEl>
                                        <p:attrNameLst>
                                          <p:attrName>style.visibility</p:attrName>
                                        </p:attrNameLst>
                                      </p:cBhvr>
                                      <p:to>
                                        <p:strVal val="visible"/>
                                      </p:to>
                                    </p:set>
                                    <p:animEffect transition="in" filter="fade">
                                      <p:cBhvr>
                                        <p:cTn id="49" dur="300"/>
                                        <p:tgtEl>
                                          <p:spTgt spid="4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7"/>
                                        </p:tgtEl>
                                        <p:attrNameLst>
                                          <p:attrName>style.visibility</p:attrName>
                                        </p:attrNameLst>
                                      </p:cBhvr>
                                      <p:to>
                                        <p:strVal val="visible"/>
                                      </p:to>
                                    </p:set>
                                    <p:animEffect transition="in" filter="fade">
                                      <p:cBhvr>
                                        <p:cTn id="52" dur="300"/>
                                        <p:tgtEl>
                                          <p:spTgt spid="4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animEffect transition="in" filter="fade">
                                      <p:cBhvr>
                                        <p:cTn id="55" dur="300"/>
                                        <p:tgtEl>
                                          <p:spTgt spid="4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9"/>
                                        </p:tgtEl>
                                        <p:attrNameLst>
                                          <p:attrName>style.visibility</p:attrName>
                                        </p:attrNameLst>
                                      </p:cBhvr>
                                      <p:to>
                                        <p:strVal val="visible"/>
                                      </p:to>
                                    </p:set>
                                    <p:animEffect transition="in" filter="fade">
                                      <p:cBhvr>
                                        <p:cTn id="58" dur="300"/>
                                        <p:tgtEl>
                                          <p:spTgt spid="4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0"/>
                                        </p:tgtEl>
                                        <p:attrNameLst>
                                          <p:attrName>style.visibility</p:attrName>
                                        </p:attrNameLst>
                                      </p:cBhvr>
                                      <p:to>
                                        <p:strVal val="visible"/>
                                      </p:to>
                                    </p:set>
                                    <p:animEffect transition="in" filter="fade">
                                      <p:cBhvr>
                                        <p:cTn id="61" dur="300"/>
                                        <p:tgtEl>
                                          <p:spTgt spid="50"/>
                                        </p:tgtEl>
                                      </p:cBhvr>
                                    </p:animEffect>
                                  </p:childTnLst>
                                </p:cTn>
                              </p:par>
                              <p:par>
                                <p:cTn id="62" presetID="10" presetClass="entr" presetSubtype="0" fill="hold" nodeType="with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3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3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3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3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300"/>
                                        <p:tgtEl>
                                          <p:spTgt spid="55"/>
                                        </p:tgtEl>
                                      </p:cBhvr>
                                    </p:animEffect>
                                  </p:childTnLst>
                                </p:cTn>
                              </p:par>
                              <p:par>
                                <p:cTn id="77" presetID="10" presetClass="entr" presetSubtype="0" fill="hold"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300"/>
                                        <p:tgtEl>
                                          <p:spTgt spid="56"/>
                                        </p:tgtEl>
                                      </p:cBhvr>
                                    </p:animEffect>
                                  </p:childTnLst>
                                </p:cTn>
                              </p:par>
                              <p:par>
                                <p:cTn id="80" presetID="10" presetClass="entr" presetSubtype="0" fill="hold"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3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3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3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3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300"/>
                                        <p:tgtEl>
                                          <p:spTgt spid="61"/>
                                        </p:tgtEl>
                                      </p:cBhvr>
                                    </p:animEffect>
                                  </p:childTnLst>
                                </p:cTn>
                              </p:par>
                              <p:par>
                                <p:cTn id="95" presetID="10" presetClass="entr" presetSubtype="0" fill="hold"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300"/>
                                        <p:tgtEl>
                                          <p:spTgt spid="62"/>
                                        </p:tgtEl>
                                      </p:cBhvr>
                                    </p:animEffect>
                                  </p:childTnLst>
                                </p:cTn>
                              </p:par>
                              <p:par>
                                <p:cTn id="98" presetID="10" presetClass="entr" presetSubtype="0" fill="hold"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300"/>
                                        <p:tgtEl>
                                          <p:spTgt spid="63"/>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grpId="0" nodeType="click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30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5"/>
                                        </p:tgtEl>
                                        <p:attrNameLst>
                                          <p:attrName>style.visibility</p:attrName>
                                        </p:attrNameLst>
                                      </p:cBhvr>
                                      <p:to>
                                        <p:strVal val="visible"/>
                                      </p:to>
                                    </p:set>
                                    <p:animEffect transition="in" filter="fade">
                                      <p:cBhvr>
                                        <p:cTn id="108" dur="300"/>
                                        <p:tgtEl>
                                          <p:spTgt spid="65"/>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66"/>
                                        </p:tgtEl>
                                        <p:attrNameLst>
                                          <p:attrName>style.visibility</p:attrName>
                                        </p:attrNameLst>
                                      </p:cBhvr>
                                      <p:to>
                                        <p:strVal val="visible"/>
                                      </p:to>
                                    </p:set>
                                    <p:animEffect transition="in" filter="fade">
                                      <p:cBhvr>
                                        <p:cTn id="111" dur="300"/>
                                        <p:tgtEl>
                                          <p:spTgt spid="66"/>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3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3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42" grpId="0" animBg="1"/>
      <p:bldP spid="43" grpId="0" animBg="1"/>
      <p:bldP spid="44" grpId="0" animBg="1"/>
      <p:bldP spid="45" grpId="0" animBg="1"/>
      <p:bldP spid="47" grpId="0" animBg="1"/>
      <p:bldP spid="48" grpId="0" animBg="1"/>
      <p:bldP spid="49" grpId="0" animBg="1"/>
      <p:bldP spid="50" grpId="0" animBg="1"/>
      <p:bldP spid="52" grpId="0" animBg="1"/>
      <p:bldP spid="53" grpId="0" animBg="1"/>
      <p:bldP spid="54" grpId="0" animBg="1"/>
      <p:bldP spid="55" grpId="0" animBg="1"/>
      <p:bldP spid="58" grpId="0" animBg="1"/>
      <p:bldP spid="59" grpId="0" animBg="1"/>
      <p:bldP spid="60" grpId="0" animBg="1"/>
      <p:bldP spid="61" grpId="0" animBg="1"/>
      <p:bldP spid="64" grpId="0" animBg="1"/>
      <p:bldP spid="66" grpId="0" animBg="1"/>
      <p:bldP spid="67" grpId="0" animBg="1"/>
      <p:bldP spid="6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What passes on"/>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 In the very futures where their own way "/>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 What their wealth does, and what is lef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 HK$24.4M"/>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 Today, their net worth"/>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 with their pay until they retire"/>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92589817"/>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5d09b9b1"/>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 First, it pays for 40 years of the life "/>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e20d4f7a"/>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 Left to Ryan and Chloe at Carmen's 89, i"/>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 Their own way"/>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25051afd"/>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 HK$2.3M"/>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 With the plan"/>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7a5a3a1d"/>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 HK$7.7M"/>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 More than three times as much, and more "/>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 …and if a parent dies early, it still pa"/>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 Wills, a guardian and trusts, signed in "/>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57a85e08"/>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756929ab"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238e4fb2"/>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bc75644c"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 Adrian and Carmen: each to the other fir"/>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 then to Ryan and Chloe"/>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c682b590"/>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6e7f88a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fc56e7a9"/>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90ca56c0"/>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fe056c79"/>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739430f6"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 Ryan, 24"/>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 his share held in trust, paid a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57d8066d"/>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9efda5e3"/>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 2027"/>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 25"/>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eb0ee99b"/>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 2032"/>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 30"/>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6319f708"/>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 2037"/>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 35"/>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dfbc7a02"/>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f8ee2500"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 Chloe, 16"/>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 a guardian until 18; her share paid a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57d427b7"/>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c2c751aa"/>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 2035"/>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 25 #2"/>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f4aea058"/>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 2040"/>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 30 #2"/>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0f01393b"/>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 2045"/>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 35 #2"/>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7d04d5fb"/>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937dc11d"/>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26ae75c"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 A legacy with purpose: about HK$30K a ye"/>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 Built to last: for their lifetimes, and "/>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 Inheritance at Carmen's 89: savings and "/>
          <p:cNvSpPr txBox="1"/>
          <p:nvPr/>
        </p:nvSpPr>
        <p:spPr>
          <a:xfrm>
            <a:off x="457200" y="6452104"/>
            <a:ext cx="597800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 10,000</a:t>
            </a:r>
          </a:p>
          <a:p>
            <a:pPr algn="l">
              <a:lnSpc>
                <a:spcPts val="1170"/>
              </a:lnSpc>
              <a:spcBef>
                <a:spcPts val="0"/>
              </a:spcBef>
              <a:spcAft>
                <a:spcPts val="0"/>
              </a:spcAft>
            </a:pPr>
            <a:r>
              <a:rPr sz="900" b="0" i="0" kern="100">
                <a:solidFill>
                  <a:srgbClr val="80606A"/>
                </a:solidFill>
                <a:latin typeface="Plus Jakarta Sans"/>
              </a:rPr>
              <a:t>markets (measured). Succession: written case §9, Figure 22.</a:t>
            </a:r>
          </a:p>
        </p:txBody>
      </p:sp>
      <p:sp>
        <p:nvSpPr>
          <p:cNvPr id="71" name="!!T The problem"/>
          <p:cNvSpPr txBox="1"/>
          <p:nvPr/>
        </p:nvSpPr>
        <p:spPr>
          <a:xfrm>
            <a:off x="6625233"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 The answer"/>
          <p:cNvSpPr txBox="1"/>
          <p:nvPr/>
        </p:nvSpPr>
        <p:spPr>
          <a:xfrm>
            <a:off x="757148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 The five calls"/>
          <p:cNvSpPr txBox="1"/>
          <p:nvPr/>
        </p:nvSpPr>
        <p:spPr>
          <a:xfrm>
            <a:off x="8431709"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 Will it hold"/>
          <p:cNvSpPr txBox="1"/>
          <p:nvPr/>
        </p:nvSpPr>
        <p:spPr>
          <a:xfrm>
            <a:off x="93685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 What next"/>
          <p:cNvSpPr txBox="1"/>
          <p:nvPr/>
        </p:nvSpPr>
        <p:spPr>
          <a:xfrm>
            <a:off x="10166598"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6" name="!!T Us"/>
          <p:cNvSpPr txBox="1"/>
          <p:nvPr/>
        </p:nvSpPr>
        <p:spPr>
          <a:xfrm>
            <a:off x="109793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 12 / 15"/>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3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3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300"/>
                                        <p:tgtEl>
                                          <p:spTgt spid="2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300"/>
                                        <p:tgtEl>
                                          <p:spTgt spid="2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300"/>
                                        <p:tgtEl>
                                          <p:spTgt spid="2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3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30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300"/>
                                        <p:tgtEl>
                                          <p:spTgt spid="2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300"/>
                                        <p:tgtEl>
                                          <p:spTgt spid="3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3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3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3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3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3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3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3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3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3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3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3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3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3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3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3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3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3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300"/>
                                        <p:tgtEl>
                                          <p:spTgt spid="4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300"/>
                                        <p:tgtEl>
                                          <p:spTgt spid="4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300"/>
                                        <p:tgtEl>
                                          <p:spTgt spid="50"/>
                                        </p:tgtEl>
                                      </p:cBhvr>
                                    </p:animEffect>
                                  </p:childTnLst>
                                </p:cTn>
                              </p:par>
                              <p:par>
                                <p:cTn id="103" presetID="10" presetClass="entr" presetSubtype="0" fill="hold"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300"/>
                                        <p:tgtEl>
                                          <p:spTgt spid="5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2"/>
                                        </p:tgtEl>
                                        <p:attrNameLst>
                                          <p:attrName>style.visibility</p:attrName>
                                        </p:attrNameLst>
                                      </p:cBhvr>
                                      <p:to>
                                        <p:strVal val="visible"/>
                                      </p:to>
                                    </p:set>
                                    <p:animEffect transition="in" filter="fade">
                                      <p:cBhvr>
                                        <p:cTn id="108" dur="300"/>
                                        <p:tgtEl>
                                          <p:spTgt spid="5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3"/>
                                        </p:tgtEl>
                                        <p:attrNameLst>
                                          <p:attrName>style.visibility</p:attrName>
                                        </p:attrNameLst>
                                      </p:cBhvr>
                                      <p:to>
                                        <p:strVal val="visible"/>
                                      </p:to>
                                    </p:set>
                                    <p:animEffect transition="in" filter="fade">
                                      <p:cBhvr>
                                        <p:cTn id="111" dur="300"/>
                                        <p:tgtEl>
                                          <p:spTgt spid="5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300"/>
                                        <p:tgtEl>
                                          <p:spTgt spid="5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5"/>
                                        </p:tgtEl>
                                        <p:attrNameLst>
                                          <p:attrName>style.visibility</p:attrName>
                                        </p:attrNameLst>
                                      </p:cBhvr>
                                      <p:to>
                                        <p:strVal val="visible"/>
                                      </p:to>
                                    </p:set>
                                    <p:animEffect transition="in" filter="fade">
                                      <p:cBhvr>
                                        <p:cTn id="117" dur="300"/>
                                        <p:tgtEl>
                                          <p:spTgt spid="5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6"/>
                                        </p:tgtEl>
                                        <p:attrNameLst>
                                          <p:attrName>style.visibility</p:attrName>
                                        </p:attrNameLst>
                                      </p:cBhvr>
                                      <p:to>
                                        <p:strVal val="visible"/>
                                      </p:to>
                                    </p:set>
                                    <p:animEffect transition="in" filter="fade">
                                      <p:cBhvr>
                                        <p:cTn id="120" dur="300"/>
                                        <p:tgtEl>
                                          <p:spTgt spid="56"/>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57"/>
                                        </p:tgtEl>
                                        <p:attrNameLst>
                                          <p:attrName>style.visibility</p:attrName>
                                        </p:attrNameLst>
                                      </p:cBhvr>
                                      <p:to>
                                        <p:strVal val="visible"/>
                                      </p:to>
                                    </p:set>
                                    <p:animEffect transition="in" filter="fade">
                                      <p:cBhvr>
                                        <p:cTn id="123" dur="300"/>
                                        <p:tgtEl>
                                          <p:spTgt spid="57"/>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58"/>
                                        </p:tgtEl>
                                        <p:attrNameLst>
                                          <p:attrName>style.visibility</p:attrName>
                                        </p:attrNameLst>
                                      </p:cBhvr>
                                      <p:to>
                                        <p:strVal val="visible"/>
                                      </p:to>
                                    </p:set>
                                    <p:animEffect transition="in" filter="fade">
                                      <p:cBhvr>
                                        <p:cTn id="126" dur="300"/>
                                        <p:tgtEl>
                                          <p:spTgt spid="58"/>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59"/>
                                        </p:tgtEl>
                                        <p:attrNameLst>
                                          <p:attrName>style.visibility</p:attrName>
                                        </p:attrNameLst>
                                      </p:cBhvr>
                                      <p:to>
                                        <p:strVal val="visible"/>
                                      </p:to>
                                    </p:set>
                                    <p:animEffect transition="in" filter="fade">
                                      <p:cBhvr>
                                        <p:cTn id="129" dur="300"/>
                                        <p:tgtEl>
                                          <p:spTgt spid="59"/>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0"/>
                                        </p:tgtEl>
                                        <p:attrNameLst>
                                          <p:attrName>style.visibility</p:attrName>
                                        </p:attrNameLst>
                                      </p:cBhvr>
                                      <p:to>
                                        <p:strVal val="visible"/>
                                      </p:to>
                                    </p:set>
                                    <p:animEffect transition="in" filter="fade">
                                      <p:cBhvr>
                                        <p:cTn id="132" dur="300"/>
                                        <p:tgtEl>
                                          <p:spTgt spid="60"/>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1"/>
                                        </p:tgtEl>
                                        <p:attrNameLst>
                                          <p:attrName>style.visibility</p:attrName>
                                        </p:attrNameLst>
                                      </p:cBhvr>
                                      <p:to>
                                        <p:strVal val="visible"/>
                                      </p:to>
                                    </p:set>
                                    <p:animEffect transition="in" filter="fade">
                                      <p:cBhvr>
                                        <p:cTn id="135" dur="300"/>
                                        <p:tgtEl>
                                          <p:spTgt spid="61"/>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2"/>
                                        </p:tgtEl>
                                        <p:attrNameLst>
                                          <p:attrName>style.visibility</p:attrName>
                                        </p:attrNameLst>
                                      </p:cBhvr>
                                      <p:to>
                                        <p:strVal val="visible"/>
                                      </p:to>
                                    </p:set>
                                    <p:animEffect transition="in" filter="fade">
                                      <p:cBhvr>
                                        <p:cTn id="138" dur="300"/>
                                        <p:tgtEl>
                                          <p:spTgt spid="62"/>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63"/>
                                        </p:tgtEl>
                                        <p:attrNameLst>
                                          <p:attrName>style.visibility</p:attrName>
                                        </p:attrNameLst>
                                      </p:cBhvr>
                                      <p:to>
                                        <p:strVal val="visible"/>
                                      </p:to>
                                    </p:set>
                                    <p:animEffect transition="in" filter="fade">
                                      <p:cBhvr>
                                        <p:cTn id="141" dur="300"/>
                                        <p:tgtEl>
                                          <p:spTgt spid="63"/>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64"/>
                                        </p:tgtEl>
                                        <p:attrNameLst>
                                          <p:attrName>style.visibility</p:attrName>
                                        </p:attrNameLst>
                                      </p:cBhvr>
                                      <p:to>
                                        <p:strVal val="visible"/>
                                      </p:to>
                                    </p:set>
                                    <p:animEffect transition="in" filter="fade">
                                      <p:cBhvr>
                                        <p:cTn id="144" dur="300"/>
                                        <p:tgtEl>
                                          <p:spTgt spid="64"/>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65"/>
                                        </p:tgtEl>
                                        <p:attrNameLst>
                                          <p:attrName>style.visibility</p:attrName>
                                        </p:attrNameLst>
                                      </p:cBhvr>
                                      <p:to>
                                        <p:strVal val="visible"/>
                                      </p:to>
                                    </p:set>
                                    <p:animEffect transition="in" filter="fade">
                                      <p:cBhvr>
                                        <p:cTn id="147" dur="300"/>
                                        <p:tgtEl>
                                          <p:spTgt spid="65"/>
                                        </p:tgtEl>
                                      </p:cBhvr>
                                    </p:animEffect>
                                  </p:childTnLst>
                                </p:cTn>
                              </p:par>
                              <p:par>
                                <p:cTn id="148" presetID="10" presetClass="entr" presetSubtype="0" fill="hold" nodeType="withEffect">
                                  <p:stCondLst>
                                    <p:cond delay="0"/>
                                  </p:stCondLst>
                                  <p:childTnLst>
                                    <p:set>
                                      <p:cBhvr>
                                        <p:cTn id="149" dur="1" fill="hold">
                                          <p:stCondLst>
                                            <p:cond delay="0"/>
                                          </p:stCondLst>
                                        </p:cTn>
                                        <p:tgtEl>
                                          <p:spTgt spid="66"/>
                                        </p:tgtEl>
                                        <p:attrNameLst>
                                          <p:attrName>style.visibility</p:attrName>
                                        </p:attrNameLst>
                                      </p:cBhvr>
                                      <p:to>
                                        <p:strVal val="visible"/>
                                      </p:to>
                                    </p:set>
                                    <p:animEffect transition="in" filter="fade">
                                      <p:cBhvr>
                                        <p:cTn id="150" dur="300"/>
                                        <p:tgtEl>
                                          <p:spTgt spid="66"/>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67"/>
                                        </p:tgtEl>
                                        <p:attrNameLst>
                                          <p:attrName>style.visibility</p:attrName>
                                        </p:attrNameLst>
                                      </p:cBhvr>
                                      <p:to>
                                        <p:strVal val="visible"/>
                                      </p:to>
                                    </p:set>
                                    <p:animEffect transition="in" filter="fade">
                                      <p:cBhvr>
                                        <p:cTn id="153" dur="300"/>
                                        <p:tgtEl>
                                          <p:spTgt spid="67"/>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68"/>
                                        </p:tgtEl>
                                        <p:attrNameLst>
                                          <p:attrName>style.visibility</p:attrName>
                                        </p:attrNameLst>
                                      </p:cBhvr>
                                      <p:to>
                                        <p:strVal val="visible"/>
                                      </p:to>
                                    </p:set>
                                    <p:animEffect transition="in" filter="fade">
                                      <p:cBhvr>
                                        <p:cTn id="156" dur="300"/>
                                        <p:tgtEl>
                                          <p:spTgt spid="68"/>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69"/>
                                        </p:tgtEl>
                                        <p:attrNameLst>
                                          <p:attrName>style.visibility</p:attrName>
                                        </p:attrNameLst>
                                      </p:cBhvr>
                                      <p:to>
                                        <p:strVal val="visible"/>
                                      </p:to>
                                    </p:set>
                                    <p:animEffect transition="in" filter="fade">
                                      <p:cBhvr>
                                        <p:cTn id="159" dur="3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8"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7" grpId="0" animBg="1"/>
      <p:bldP spid="68" grpId="0" animBg="1"/>
      <p:bldP spid="6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ealth Management Connec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 The Connect is growing both ways: for th"/>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3c8f3311"/>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 2021"/>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 launched across Hong Kong, Macao and nin"/>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edb157e3"/>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 RMB 3M"/>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 each investor's limit since 2024, up fro"/>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06d10fa9"/>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 2024"/>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 securities firms admitted beside the ban"/>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6e2db72c"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33df08eb"/>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 The nine mainland cities of the Greater "/>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b61877f1"/>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 Hong Kong"/>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dd5c34b3"/>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 Macao"/>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 Under the Connect, an adviser's value is"/>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 HKMA, Wealth Management Connect, Southbo"/>
          <p:cNvSpPr txBox="1"/>
          <p:nvPr/>
        </p:nvSpPr>
        <p:spPr>
          <a:xfrm>
            <a:off x="457200" y="6452104"/>
            <a:ext cx="637886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Wealth Management Connect, Southbound Scheme (page revised 11 May 2026, checked 24 Oct 2026):</a:t>
            </a:r>
          </a:p>
          <a:p>
            <a:pPr algn="l">
              <a:lnSpc>
                <a:spcPts val="1170"/>
              </a:lnSpc>
              <a:spcBef>
                <a:spcPts val="0"/>
              </a:spcBef>
              <a:spcAft>
                <a:spcPts val="0"/>
              </a:spcAft>
            </a:pPr>
            <a:r>
              <a:rPr sz="900" b="0" i="0" kern="100">
                <a:solidFill>
                  <a:srgbClr val="80606A"/>
                </a:solidFill>
                <a:latin typeface="Plus Jakarta Sans"/>
              </a:rPr>
              <a:t>the quota, the eligible funds, the solicitation rule (sourced). Map: geoBoundaries, OCHA/HDX (CC BY 3.0 IGO).</a:t>
            </a:r>
          </a:p>
        </p:txBody>
      </p:sp>
      <p:sp>
        <p:nvSpPr>
          <p:cNvPr id="24" name="!!T The problem"/>
          <p:cNvSpPr txBox="1"/>
          <p:nvPr/>
        </p:nvSpPr>
        <p:spPr>
          <a:xfrm>
            <a:off x="663892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 The answer"/>
          <p:cNvSpPr txBox="1"/>
          <p:nvPr/>
        </p:nvSpPr>
        <p:spPr>
          <a:xfrm>
            <a:off x="758517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 The five calls"/>
          <p:cNvSpPr txBox="1"/>
          <p:nvPr/>
        </p:nvSpPr>
        <p:spPr>
          <a:xfrm>
            <a:off x="844540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 Will it hold"/>
          <p:cNvSpPr txBox="1"/>
          <p:nvPr/>
        </p:nvSpPr>
        <p:spPr>
          <a:xfrm>
            <a:off x="938227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 What next"/>
          <p:cNvSpPr txBox="1"/>
          <p:nvPr/>
        </p:nvSpPr>
        <p:spPr>
          <a:xfrm>
            <a:off x="1018029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 Us"/>
          <p:cNvSpPr txBox="1"/>
          <p:nvPr/>
        </p:nvSpPr>
        <p:spPr>
          <a:xfrm>
            <a:off x="109756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0" name="!!T 13 / 15"/>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1" name="!!Rule 9307caaa"/>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2" name="!!T Northbound"/>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3" name="!!T Hong Kong and Macao residents buy mainla"/>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4" name="!!Rule b23448f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5" name="!!T For the Wongs: a tool for later"/>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6" name="!!T Kept out today: their home, income and b"/>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7" name="!!T Southbound"/>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8" name="!!T Mainland residents buy Hong Kong funds, "/>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39" name="!!Rule e8e771bd"/>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0" name="!!T For us: the market we want to serve"/>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1" name="!!T A Hong Kong bank won't solicit or recomm"/>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2" name="!!Drawing 3173ff20"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3" name="!!Drawing 58632ecf"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300"/>
                                        <p:tgtEl>
                                          <p:spTgt spid="3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3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300"/>
                                        <p:tgtEl>
                                          <p:spTgt spid="3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300"/>
                                        <p:tgtEl>
                                          <p:spTgt spid="3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300"/>
                                        <p:tgtEl>
                                          <p:spTgt spid="3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3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2"/>
                                        </p:tgtEl>
                                        <p:attrNameLst>
                                          <p:attrName>style.visibility</p:attrName>
                                        </p:attrNameLst>
                                      </p:cBhvr>
                                      <p:to>
                                        <p:strVal val="visible"/>
                                      </p:to>
                                    </p:set>
                                    <p:animEffect transition="in" filter="fade">
                                      <p:cBhvr>
                                        <p:cTn id="25" dur="300"/>
                                        <p:tgtEl>
                                          <p:spTgt spid="4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3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3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7"/>
                                        </p:tgtEl>
                                        <p:attrNameLst>
                                          <p:attrName>style.visibility</p:attrName>
                                        </p:attrNameLst>
                                      </p:cBhvr>
                                      <p:to>
                                        <p:strVal val="visible"/>
                                      </p:to>
                                    </p:set>
                                    <p:animEffect transition="in" filter="fade">
                                      <p:cBhvr>
                                        <p:cTn id="36" dur="300"/>
                                        <p:tgtEl>
                                          <p:spTgt spid="3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8"/>
                                        </p:tgtEl>
                                        <p:attrNameLst>
                                          <p:attrName>style.visibility</p:attrName>
                                        </p:attrNameLst>
                                      </p:cBhvr>
                                      <p:to>
                                        <p:strVal val="visible"/>
                                      </p:to>
                                    </p:set>
                                    <p:animEffect transition="in" filter="fade">
                                      <p:cBhvr>
                                        <p:cTn id="39" dur="300"/>
                                        <p:tgtEl>
                                          <p:spTgt spid="3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300"/>
                                        <p:tgtEl>
                                          <p:spTgt spid="3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0"/>
                                        </p:tgtEl>
                                        <p:attrNameLst>
                                          <p:attrName>style.visibility</p:attrName>
                                        </p:attrNameLst>
                                      </p:cBhvr>
                                      <p:to>
                                        <p:strVal val="visible"/>
                                      </p:to>
                                    </p:set>
                                    <p:animEffect transition="in" filter="fade">
                                      <p:cBhvr>
                                        <p:cTn id="45" dur="300"/>
                                        <p:tgtEl>
                                          <p:spTgt spid="4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41"/>
                                        </p:tgtEl>
                                        <p:attrNameLst>
                                          <p:attrName>style.visibility</p:attrName>
                                        </p:attrNameLst>
                                      </p:cBhvr>
                                      <p:to>
                                        <p:strVal val="visible"/>
                                      </p:to>
                                    </p:set>
                                    <p:animEffect transition="in" filter="fade">
                                      <p:cBhvr>
                                        <p:cTn id="48" dur="300"/>
                                        <p:tgtEl>
                                          <p:spTgt spid="41"/>
                                        </p:tgtEl>
                                      </p:cBhvr>
                                    </p:animEffect>
                                  </p:childTnLst>
                                </p:cTn>
                              </p:par>
                              <p:par>
                                <p:cTn id="49" presetID="10" presetClass="entr" presetSubtype="0" fill="hold" nodeType="withEffect">
                                  <p:stCondLst>
                                    <p:cond delay="0"/>
                                  </p:stCondLst>
                                  <p:childTnLst>
                                    <p:set>
                                      <p:cBhvr>
                                        <p:cTn id="50" dur="1" fill="hold">
                                          <p:stCondLst>
                                            <p:cond delay="0"/>
                                          </p:stCondLst>
                                        </p:cTn>
                                        <p:tgtEl>
                                          <p:spTgt spid="43"/>
                                        </p:tgtEl>
                                        <p:attrNameLst>
                                          <p:attrName>style.visibility</p:attrName>
                                        </p:attrNameLst>
                                      </p:cBhvr>
                                      <p:to>
                                        <p:strVal val="visible"/>
                                      </p:to>
                                    </p:set>
                                    <p:animEffect transition="in" filter="fade">
                                      <p:cBhvr>
                                        <p:cTn id="51" dur="3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ho we want to become"/>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 Four planners, one aim: families like th"/>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3c84bd39"/>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6eca2b03"/>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967a1172"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 Pete"/>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 Lead adviser"/>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 In five years"/>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 An investment specialist in a Hong Kong "/>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 matching each Connect client's portfolio"/>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fd31cf9f"/>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 What this plan taught me"/>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 “Fitting the Wongs' three risk profiles "/>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4df0efd2"/>
          <p:cNvSpPr/>
          <p:nvPr/>
        </p:nvSpPr>
        <p:spPr>
          <a:xfrm>
            <a:off x="3333750" y="1141214"/>
            <a:ext cx="2647950" cy="28575"/>
          </a:xfrm>
          <a:prstGeom prst="rect">
            <a:avLst/>
          </a:prstGeom>
          <a:solidFill>
            <a:srgbClr val="3C3C3C">
              <a:alpha val="30000"/>
            </a:srgbClr>
          </a:solidFill>
          <a:ln>
            <a:noFill/>
          </a:ln>
        </p:spPr>
        <p:txBody>
          <a:bodyPr rtlCol="0" anchor="ctr"/>
          <a:lstStyle/>
          <a:p>
            <a:pPr algn="ctr"/>
            <a:endParaRPr/>
          </a:p>
        </p:txBody>
      </p:sp>
      <p:sp>
        <p:nvSpPr>
          <p:cNvPr id="17" name="!!Rule fcd5f05c"/>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8" name="!!span 0f0f8c1c"/>
          <p:cNvSpPr/>
          <p:nvPr/>
        </p:nvSpPr>
        <p:spPr>
          <a:xfrm>
            <a:off x="3348038" y="1336477"/>
            <a:ext cx="695325" cy="695325"/>
          </a:xfrm>
          <a:prstGeom prst="ellipse">
            <a:avLst/>
          </a:prstGeom>
          <a:solidFill>
            <a:srgbClr val="F2F2F2">
              <a:alpha val="30000"/>
            </a:srgbClr>
          </a:soli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19" name="!!span 2424d96d"/>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0" name="!!Picture 59db1258" descr="image.jpg"/>
          <p:cNvPicPr>
            <a:picLocks noChangeAspect="1"/>
          </p:cNvPicPr>
          <p:nvPr/>
        </p:nvPicPr>
        <p:blipFill>
          <a:blip r:embed="rId4">
            <a:alphaModFix amt="30000"/>
            <a:grayscl/>
          </a:blip>
          <a:stretch>
            <a:fillRect/>
          </a:stretch>
        </p:blipFill>
        <p:spPr>
          <a:xfrm>
            <a:off x="3362325" y="1350764"/>
            <a:ext cx="666750" cy="666750"/>
          </a:xfrm>
          <a:prstGeom prst="ellipse">
            <a:avLst/>
          </a:prstGeom>
        </p:spPr>
      </p:pic>
      <p:pic>
        <p:nvPicPr>
          <p:cNvPr id="21" name="!!Picture 59db1258 #2" descr="image.jpg"/>
          <p:cNvPicPr>
            <a:picLocks noChangeAspect="1"/>
          </p:cNvPicPr>
          <p:nvPr/>
        </p:nvPicPr>
        <p:blipFill>
          <a:blip r:embed="rId4"/>
          <a:stretch>
            <a:fillRect/>
          </a:stretch>
        </p:blipFill>
        <p:spPr>
          <a:xfrm>
            <a:off x="3362325" y="1350764"/>
            <a:ext cx="666750" cy="666750"/>
          </a:xfrm>
          <a:prstGeom prst="ellipse">
            <a:avLst/>
          </a:prstGeom>
        </p:spPr>
      </p:pic>
      <p:sp>
        <p:nvSpPr>
          <p:cNvPr id="22" name="!!T Fahtai"/>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Fahtai</a:t>
            </a:r>
          </a:p>
        </p:txBody>
      </p:sp>
      <p:sp>
        <p:nvSpPr>
          <p:cNvPr id="23" name="!!T Fahtai #2"/>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4" name="!!T Retiremen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Retirement</a:t>
            </a:r>
          </a:p>
        </p:txBody>
      </p:sp>
      <p:sp>
        <p:nvSpPr>
          <p:cNvPr id="25" name="!!T Retirement #2"/>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6" name="!!T In five years #2"/>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27" name="!!T In five years #3"/>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8" name="!!T Building the data and risk models wealth"/>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Building the data and risk</a:t>
            </a:r>
          </a:p>
          <a:p>
            <a:pPr algn="l">
              <a:lnSpc>
                <a:spcPts val="1852"/>
              </a:lnSpc>
              <a:spcBef>
                <a:spcPts val="0"/>
              </a:spcBef>
              <a:spcAft>
                <a:spcPts val="0"/>
              </a:spcAft>
            </a:pPr>
            <a:r>
              <a:rPr sz="1425" b="1" i="0" kern="100">
                <a:solidFill>
                  <a:srgbClr val="181818">
                    <a:alpha val="30000"/>
                  </a:srgbClr>
                </a:solidFill>
                <a:latin typeface="Plus Jakarta Sans"/>
              </a:rPr>
              <a:t>models wealth managers use</a:t>
            </a:r>
          </a:p>
          <a:p>
            <a:pPr algn="l">
              <a:lnSpc>
                <a:spcPts val="1852"/>
              </a:lnSpc>
              <a:spcBef>
                <a:spcPts val="0"/>
              </a:spcBef>
              <a:spcAft>
                <a:spcPts val="0"/>
              </a:spcAft>
            </a:pPr>
            <a:r>
              <a:rPr sz="1425" b="1" i="0" kern="100">
                <a:solidFill>
                  <a:srgbClr val="181818">
                    <a:alpha val="30000"/>
                  </a:srgbClr>
                </a:solidFill>
                <a:latin typeface="Plus Jakarta Sans"/>
              </a:rPr>
              <a:t>for families</a:t>
            </a:r>
          </a:p>
        </p:txBody>
      </p:sp>
      <p:sp>
        <p:nvSpPr>
          <p:cNvPr id="29" name="!!T Building the data and risk models wealth #2"/>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30" name="!!T across East and Southeast Asia; next, th"/>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81818">
                    <a:alpha val="30000"/>
                  </a:srgbClr>
                </a:solidFill>
                <a:latin typeface="Plus Jakarta Sans"/>
              </a:rPr>
              <a:t>across East and Southeast Asia; next,</a:t>
            </a:r>
          </a:p>
          <a:p>
            <a:pPr algn="l">
              <a:lnSpc>
                <a:spcPts val="1631"/>
              </a:lnSpc>
              <a:spcBef>
                <a:spcPts val="0"/>
              </a:spcBef>
              <a:spcAft>
                <a:spcPts val="0"/>
              </a:spcAft>
            </a:pPr>
            <a:r>
              <a:rPr sz="1125" b="0" i="0" kern="100">
                <a:solidFill>
                  <a:srgbClr val="181818">
                    <a:alpha val="30000"/>
                  </a:srgbClr>
                </a:solidFill>
                <a:latin typeface="Plus Jakarta Sans"/>
              </a:rPr>
              <a:t>the FRM, with </a:t>
            </a:r>
            <a:r>
              <a:rPr sz="1125" b="1" i="0" kern="100">
                <a:solidFill>
                  <a:srgbClr val="181818">
                    <a:alpha val="30000"/>
                  </a:srgbClr>
                </a:solidFill>
                <a:latin typeface="Plus Jakarta Sans"/>
              </a:rPr>
              <a:t>Connect funds as the</a:t>
            </a:r>
          </a:p>
          <a:p>
            <a:pPr algn="l">
              <a:lnSpc>
                <a:spcPts val="1631"/>
              </a:lnSpc>
              <a:spcBef>
                <a:spcPts val="0"/>
              </a:spcBef>
              <a:spcAft>
                <a:spcPts val="0"/>
              </a:spcAft>
            </a:pPr>
            <a:r>
              <a:rPr sz="1125" b="1" i="0" kern="100">
                <a:solidFill>
                  <a:srgbClr val="181818">
                    <a:alpha val="30000"/>
                  </a:srgbClr>
                </a:solidFill>
                <a:latin typeface="Plus Jakarta Sans"/>
              </a:rPr>
              <a:t>first case</a:t>
            </a:r>
          </a:p>
        </p:txBody>
      </p:sp>
      <p:sp>
        <p:nvSpPr>
          <p:cNvPr id="31" name="!!T across East and Southeast Asia; next, th #2"/>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32" name="!!div fc8545ea"/>
          <p:cNvSpPr/>
          <p:nvPr/>
        </p:nvSpPr>
        <p:spPr>
          <a:xfrm>
            <a:off x="3333750" y="4286250"/>
            <a:ext cx="2647950" cy="1428750"/>
          </a:xfrm>
          <a:prstGeom prst="rect">
            <a:avLst/>
          </a:prstGeom>
          <a:solidFill>
            <a:srgbClr val="F2F2F2">
              <a:alpha val="30000"/>
            </a:srgbClr>
          </a:solidFill>
          <a:ln>
            <a:noFill/>
          </a:ln>
        </p:spPr>
        <p:txBody>
          <a:bodyPr rtlCol="0" anchor="ctr"/>
          <a:lstStyle/>
          <a:p>
            <a:pPr algn="ctr"/>
            <a:endParaRPr/>
          </a:p>
        </p:txBody>
      </p:sp>
      <p:sp>
        <p:nvSpPr>
          <p:cNvPr id="33" name="!!div f5d9e52b"/>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34" name="!!T What this plan taught me #2"/>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35" name="!!T What this plan taught me #3"/>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6" name="!!T “A model's job is to price the trade-off"/>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81818">
                    <a:alpha val="30000"/>
                  </a:srgbClr>
                </a:solidFill>
                <a:latin typeface="Plus Jakarta Sans SemiBold"/>
              </a:rPr>
              <a:t>“A model's job is to</a:t>
            </a:r>
          </a:p>
          <a:p>
            <a:pPr algn="l">
              <a:lnSpc>
                <a:spcPts val="1889"/>
              </a:lnSpc>
              <a:spcBef>
                <a:spcPts val="0"/>
              </a:spcBef>
              <a:spcAft>
                <a:spcPts val="0"/>
              </a:spcAft>
            </a:pPr>
            <a:r>
              <a:rPr sz="1350" b="0" i="0" kern="100">
                <a:solidFill>
                  <a:srgbClr val="181818">
                    <a:alpha val="30000"/>
                  </a:srgbClr>
                </a:solidFill>
                <a:latin typeface="Plus Jakarta Sans SemiBold"/>
              </a:rPr>
              <a:t>price the trade-offs</a:t>
            </a:r>
          </a:p>
          <a:p>
            <a:pPr algn="l">
              <a:lnSpc>
                <a:spcPts val="1889"/>
              </a:lnSpc>
              <a:spcBef>
                <a:spcPts val="0"/>
              </a:spcBef>
              <a:spcAft>
                <a:spcPts val="0"/>
              </a:spcAft>
            </a:pPr>
            <a:r>
              <a:rPr sz="1350" b="0" i="0" kern="100">
                <a:solidFill>
                  <a:srgbClr val="181818">
                    <a:alpha val="30000"/>
                  </a:srgbClr>
                </a:solidFill>
                <a:latin typeface="Plus Jakarta Sans SemiBold"/>
              </a:rPr>
              <a:t>between people.”</a:t>
            </a:r>
          </a:p>
        </p:txBody>
      </p:sp>
      <p:sp>
        <p:nvSpPr>
          <p:cNvPr id="37" name="!!T “A model's job is to price the trade-off #2"/>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38" name="!!Rule 47be3e99"/>
          <p:cNvSpPr/>
          <p:nvPr/>
        </p:nvSpPr>
        <p:spPr>
          <a:xfrm>
            <a:off x="6210300" y="1141214"/>
            <a:ext cx="2647950" cy="28575"/>
          </a:xfrm>
          <a:prstGeom prst="rect">
            <a:avLst/>
          </a:prstGeom>
          <a:solidFill>
            <a:srgbClr val="3C3C3C">
              <a:alpha val="30000"/>
            </a:srgbClr>
          </a:solidFill>
          <a:ln>
            <a:noFill/>
          </a:ln>
        </p:spPr>
        <p:txBody>
          <a:bodyPr rtlCol="0" anchor="ctr"/>
          <a:lstStyle/>
          <a:p>
            <a:pPr algn="ctr"/>
            <a:endParaRPr/>
          </a:p>
        </p:txBody>
      </p:sp>
      <p:sp>
        <p:nvSpPr>
          <p:cNvPr id="39" name="!!Rule ab73177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40" name="!!span 28c9db79"/>
          <p:cNvSpPr/>
          <p:nvPr/>
        </p:nvSpPr>
        <p:spPr>
          <a:xfrm>
            <a:off x="6224588" y="1336477"/>
            <a:ext cx="695325" cy="695325"/>
          </a:xfrm>
          <a:prstGeom prst="ellipse">
            <a:avLst/>
          </a:prstGeom>
          <a:solidFill>
            <a:srgbClr val="F2F2F2">
              <a:alpha val="30000"/>
            </a:srgbClr>
          </a:soli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41" name="!!span 8434223d"/>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2" name="!!Picture d4927092" descr="image.jpg"/>
          <p:cNvPicPr>
            <a:picLocks noChangeAspect="1"/>
          </p:cNvPicPr>
          <p:nvPr/>
        </p:nvPicPr>
        <p:blipFill>
          <a:blip r:embed="rId5">
            <a:alphaModFix amt="30000"/>
            <a:grayscl/>
          </a:blip>
          <a:stretch>
            <a:fillRect/>
          </a:stretch>
        </p:blipFill>
        <p:spPr>
          <a:xfrm>
            <a:off x="6238875" y="1350764"/>
            <a:ext cx="666750" cy="666750"/>
          </a:xfrm>
          <a:prstGeom prst="ellipse">
            <a:avLst/>
          </a:prstGeom>
        </p:spPr>
      </p:pic>
      <p:pic>
        <p:nvPicPr>
          <p:cNvPr id="43" name="!!Picture d4927092 #2" descr="image.jpg"/>
          <p:cNvPicPr>
            <a:picLocks noChangeAspect="1"/>
          </p:cNvPicPr>
          <p:nvPr/>
        </p:nvPicPr>
        <p:blipFill>
          <a:blip r:embed="rId5"/>
          <a:stretch>
            <a:fillRect/>
          </a:stretch>
        </p:blipFill>
        <p:spPr>
          <a:xfrm>
            <a:off x="6238875" y="1350764"/>
            <a:ext cx="666750" cy="666750"/>
          </a:xfrm>
          <a:prstGeom prst="ellipse">
            <a:avLst/>
          </a:prstGeom>
        </p:spPr>
      </p:pic>
      <p:sp>
        <p:nvSpPr>
          <p:cNvPr id="44" name="!!T Win"/>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Win</a:t>
            </a:r>
          </a:p>
        </p:txBody>
      </p:sp>
      <p:sp>
        <p:nvSpPr>
          <p:cNvPr id="45" name="!!T Win #2"/>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46" name="!!T Investmen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Investment</a:t>
            </a:r>
          </a:p>
        </p:txBody>
      </p:sp>
      <p:sp>
        <p:nvSpPr>
          <p:cNvPr id="47" name="!!T Investment #2"/>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48" name="!!T In five years #4"/>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49" name="!!T In five years #5"/>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50" name="!!T An investment strategist for family clie"/>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An investment strategist for</a:t>
            </a:r>
          </a:p>
          <a:p>
            <a:pPr algn="l">
              <a:lnSpc>
                <a:spcPts val="1852"/>
              </a:lnSpc>
              <a:spcBef>
                <a:spcPts val="0"/>
              </a:spcBef>
              <a:spcAft>
                <a:spcPts val="0"/>
              </a:spcAft>
            </a:pPr>
            <a:r>
              <a:rPr sz="1425" b="1" i="0" kern="100">
                <a:solidFill>
                  <a:srgbClr val="181818">
                    <a:alpha val="30000"/>
                  </a:srgbClr>
                </a:solidFill>
                <a:latin typeface="Plus Jakarta Sans"/>
              </a:rPr>
              <a:t>family clients</a:t>
            </a:r>
          </a:p>
        </p:txBody>
      </p:sp>
      <p:sp>
        <p:nvSpPr>
          <p:cNvPr id="51" name="!!T An investment strategist for family clie #2"/>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52" name="!!T across Asia-Pacific, fitting each portfo"/>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81818">
                    <a:alpha val="30000"/>
                  </a:srgbClr>
                </a:solidFill>
                <a:latin typeface="Plus Jakarta Sans"/>
              </a:rPr>
              <a:t>across Asia-Pacific, fitting each</a:t>
            </a:r>
          </a:p>
          <a:p>
            <a:pPr algn="l">
              <a:lnSpc>
                <a:spcPts val="1631"/>
              </a:lnSpc>
              <a:spcBef>
                <a:spcPts val="0"/>
              </a:spcBef>
              <a:spcAft>
                <a:spcPts val="0"/>
              </a:spcAft>
            </a:pPr>
            <a:r>
              <a:rPr sz="1125" b="0" i="0" kern="100">
                <a:solidFill>
                  <a:srgbClr val="181818">
                    <a:alpha val="30000"/>
                  </a:srgbClr>
                </a:solidFill>
                <a:latin typeface="Plus Jakarta Sans"/>
              </a:rPr>
              <a:t>portfolio to its owner </a:t>
            </a:r>
            <a:r>
              <a:rPr sz="1125" b="1" i="0" kern="100">
                <a:solidFill>
                  <a:srgbClr val="181818">
                    <a:alpha val="30000"/>
                  </a:srgbClr>
                </a:solidFill>
                <a:latin typeface="Plus Jakarta Sans"/>
              </a:rPr>
              <a:t>on either side of</a:t>
            </a:r>
          </a:p>
          <a:p>
            <a:pPr algn="l">
              <a:lnSpc>
                <a:spcPts val="1631"/>
              </a:lnSpc>
              <a:spcBef>
                <a:spcPts val="0"/>
              </a:spcBef>
              <a:spcAft>
                <a:spcPts val="0"/>
              </a:spcAft>
            </a:pPr>
            <a:r>
              <a:rPr sz="1125" b="1" i="0" kern="100">
                <a:solidFill>
                  <a:srgbClr val="181818">
                    <a:alpha val="30000"/>
                  </a:srgbClr>
                </a:solidFill>
                <a:latin typeface="Plus Jakarta Sans"/>
              </a:rPr>
              <a:t>the boundary</a:t>
            </a:r>
          </a:p>
        </p:txBody>
      </p:sp>
      <p:sp>
        <p:nvSpPr>
          <p:cNvPr id="53" name="!!T across Asia-Pacific, fitting each portfo #2"/>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54" name="!!div 8a4a4c6a"/>
          <p:cNvSpPr/>
          <p:nvPr/>
        </p:nvSpPr>
        <p:spPr>
          <a:xfrm>
            <a:off x="6215062" y="4291012"/>
            <a:ext cx="2638425" cy="1419225"/>
          </a:xfrm>
          <a:prstGeom prst="rect">
            <a:avLst/>
          </a:prstGeom>
          <a:noFill/>
          <a:ln w="9525">
            <a:solidFill>
              <a:srgbClr val="A1A1A1">
                <a:alpha val="30000"/>
              </a:srgbClr>
            </a:solidFill>
            <a:prstDash val="dash"/>
          </a:ln>
        </p:spPr>
        <p:txBody>
          <a:bodyPr rtlCol="0" anchor="ctr"/>
          <a:lstStyle/>
          <a:p>
            <a:pPr algn="ctr"/>
            <a:endParaRPr/>
          </a:p>
        </p:txBody>
      </p:sp>
      <p:sp>
        <p:nvSpPr>
          <p:cNvPr id="55" name="!!div fb8cba3e"/>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56" name="!!T What this plan taught me #4"/>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57" name="!!T What this plan taught me #5"/>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58" name="!!T Win's line, to confirm"/>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6B6B6B">
                    <a:alpha val="30000"/>
                  </a:srgbClr>
                </a:solidFill>
                <a:latin typeface="Plus Jakarta Sans"/>
              </a:rPr>
              <a:t>Win's line, to confirm</a:t>
            </a:r>
          </a:p>
        </p:txBody>
      </p:sp>
      <p:sp>
        <p:nvSpPr>
          <p:cNvPr id="59" name="!!T Win's line, to confirm #2"/>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60" name="!!Rule c5222483"/>
          <p:cNvSpPr/>
          <p:nvPr/>
        </p:nvSpPr>
        <p:spPr>
          <a:xfrm>
            <a:off x="9086850" y="1141214"/>
            <a:ext cx="2647950" cy="28575"/>
          </a:xfrm>
          <a:prstGeom prst="rect">
            <a:avLst/>
          </a:prstGeom>
          <a:solidFill>
            <a:srgbClr val="3C3C3C">
              <a:alpha val="30000"/>
            </a:srgbClr>
          </a:solidFill>
          <a:ln>
            <a:noFill/>
          </a:ln>
        </p:spPr>
        <p:txBody>
          <a:bodyPr rtlCol="0" anchor="ctr"/>
          <a:lstStyle/>
          <a:p>
            <a:pPr algn="ctr"/>
            <a:endParaRPr/>
          </a:p>
        </p:txBody>
      </p:sp>
      <p:sp>
        <p:nvSpPr>
          <p:cNvPr id="61" name="!!Rule 6863439a"/>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62" name="!!span ca5a50b4"/>
          <p:cNvSpPr/>
          <p:nvPr/>
        </p:nvSpPr>
        <p:spPr>
          <a:xfrm>
            <a:off x="9101138" y="1336477"/>
            <a:ext cx="695325" cy="695325"/>
          </a:xfrm>
          <a:prstGeom prst="ellipse">
            <a:avLst/>
          </a:prstGeom>
          <a:gradFill rotWithShape="0">
            <a:gsLst>
              <a:gs pos="0">
                <a:srgbClr val="4C4C4C">
                  <a:alpha val="30000"/>
                </a:srgbClr>
              </a:gs>
              <a:gs pos="100000">
                <a:srgbClr val="2D2D2D">
                  <a:alpha val="30000"/>
                </a:srgbClr>
              </a:gs>
            </a:gsLst>
            <a:lin ang="5400000" scaled="0"/>
          </a:gra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63" name="!!span 79bc03e5"/>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64" name="!!Drawing 6bdc6dc6" descr="image.png"/>
          <p:cNvPicPr>
            <a:picLocks noChangeAspect="1"/>
          </p:cNvPicPr>
          <p:nvPr/>
        </p:nvPicPr>
        <p:blipFill>
          <a:blip>
            <a:alphaModFix amt="30000"/>
            <a:grayscl/>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pic>
        <p:nvPicPr>
          <p:cNvPr id="65" name="!!Drawing 6bdc6dc6 #2"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66" name="!!T Lookbua"/>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Lookbua</a:t>
            </a:r>
          </a:p>
        </p:txBody>
      </p:sp>
      <p:sp>
        <p:nvSpPr>
          <p:cNvPr id="67" name="!!T Lookbua #2"/>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68" name="!!T Protection and risk"/>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Protection and risk</a:t>
            </a:r>
          </a:p>
        </p:txBody>
      </p:sp>
      <p:sp>
        <p:nvSpPr>
          <p:cNvPr id="69" name="!!T Protection and risk #2"/>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70" name="!!T In five years #6"/>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71" name="!!T In five years #7"/>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72" name="!!T A specialist in systems risk"/>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A specialist in systems risk</a:t>
            </a:r>
          </a:p>
        </p:txBody>
      </p:sp>
      <p:sp>
        <p:nvSpPr>
          <p:cNvPr id="73" name="!!T A specialist in systems risk #2"/>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74" name="!!T the Connect links two markets with diffe"/>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81818">
                    <a:alpha val="30000"/>
                  </a:srgbClr>
                </a:solidFill>
                <a:latin typeface="Plus Jakarta Sans"/>
              </a:rPr>
              <a:t>the Connect links two markets</a:t>
            </a:r>
            <a:r>
              <a:rPr sz="1125" b="0" i="0" kern="100">
                <a:solidFill>
                  <a:srgbClr val="181818">
                    <a:alpha val="30000"/>
                  </a:srgbClr>
                </a:solidFill>
                <a:latin typeface="Plus Jakarta Sans"/>
              </a:rPr>
              <a:t> with</a:t>
            </a:r>
          </a:p>
          <a:p>
            <a:pPr algn="l">
              <a:lnSpc>
                <a:spcPts val="1631"/>
              </a:lnSpc>
              <a:spcBef>
                <a:spcPts val="0"/>
              </a:spcBef>
              <a:spcAft>
                <a:spcPts val="0"/>
              </a:spcAft>
            </a:pPr>
            <a:r>
              <a:rPr sz="1125" b="0" i="0" kern="100">
                <a:solidFill>
                  <a:srgbClr val="181818">
                    <a:alpha val="30000"/>
                  </a:srgbClr>
                </a:solidFill>
                <a:latin typeface="Plus Jakarta Sans"/>
              </a:rPr>
              <a:t>different rules, so a shock in one can</a:t>
            </a:r>
          </a:p>
          <a:p>
            <a:pPr algn="l">
              <a:lnSpc>
                <a:spcPts val="1631"/>
              </a:lnSpc>
              <a:spcBef>
                <a:spcPts val="0"/>
              </a:spcBef>
              <a:spcAft>
                <a:spcPts val="0"/>
              </a:spcAft>
            </a:pPr>
            <a:r>
              <a:rPr sz="1125" b="0" i="0" kern="100">
                <a:solidFill>
                  <a:srgbClr val="181818">
                    <a:alpha val="30000"/>
                  </a:srgbClr>
                </a:solidFill>
                <a:latin typeface="Plus Jakarta Sans"/>
              </a:rPr>
              <a:t>reach the other</a:t>
            </a:r>
          </a:p>
        </p:txBody>
      </p:sp>
      <p:sp>
        <p:nvSpPr>
          <p:cNvPr id="75" name="!!T the Connect links two markets with diffe #2"/>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76" name="!!div dd9e70f6"/>
          <p:cNvSpPr/>
          <p:nvPr/>
        </p:nvSpPr>
        <p:spPr>
          <a:xfrm>
            <a:off x="9086850" y="4286250"/>
            <a:ext cx="2647950" cy="1428750"/>
          </a:xfrm>
          <a:prstGeom prst="rect">
            <a:avLst/>
          </a:prstGeom>
          <a:solidFill>
            <a:srgbClr val="F2F2F2">
              <a:alpha val="30000"/>
            </a:srgbClr>
          </a:solidFill>
          <a:ln>
            <a:noFill/>
          </a:ln>
        </p:spPr>
        <p:txBody>
          <a:bodyPr rtlCol="0" anchor="ctr"/>
          <a:lstStyle/>
          <a:p>
            <a:pPr algn="ctr"/>
            <a:endParaRPr/>
          </a:p>
        </p:txBody>
      </p:sp>
      <p:sp>
        <p:nvSpPr>
          <p:cNvPr id="77" name="!!div b98891b5"/>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78" name="!!T What this plan taught me #6"/>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79" name="!!T What this plan taught me #7"/>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80" name="!!T “Every risk needs a named defence.”"/>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81818">
                    <a:alpha val="30000"/>
                  </a:srgbClr>
                </a:solidFill>
                <a:latin typeface="Plus Jakarta Sans SemiBold"/>
              </a:rPr>
              <a:t>“Every risk needs a named</a:t>
            </a:r>
          </a:p>
          <a:p>
            <a:pPr algn="l">
              <a:lnSpc>
                <a:spcPts val="1889"/>
              </a:lnSpc>
              <a:spcBef>
                <a:spcPts val="0"/>
              </a:spcBef>
              <a:spcAft>
                <a:spcPts val="0"/>
              </a:spcAft>
            </a:pPr>
            <a:r>
              <a:rPr sz="1350" b="0" i="0" kern="100">
                <a:solidFill>
                  <a:srgbClr val="181818">
                    <a:alpha val="30000"/>
                  </a:srgbClr>
                </a:solidFill>
                <a:latin typeface="Plus Jakarta Sans SemiBold"/>
              </a:rPr>
              <a:t>defence.”</a:t>
            </a:r>
          </a:p>
        </p:txBody>
      </p:sp>
      <p:sp>
        <p:nvSpPr>
          <p:cNvPr id="81" name="!!T “Every risk needs a named defence.” #2"/>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82" name="!!p 141984eb"/>
          <p:cNvSpPr/>
          <p:nvPr/>
        </p:nvSpPr>
        <p:spPr>
          <a:xfrm>
            <a:off x="457200" y="5886450"/>
            <a:ext cx="11277600" cy="476250"/>
          </a:xfrm>
          <a:prstGeom prst="rect">
            <a:avLst/>
          </a:prstGeom>
          <a:solidFill>
            <a:srgbClr val="181818">
              <a:alpha val="30000"/>
            </a:srgbClr>
          </a:solidFill>
          <a:ln>
            <a:noFill/>
          </a:ln>
        </p:spPr>
        <p:txBody>
          <a:bodyPr rtlCol="0" anchor="ctr"/>
          <a:lstStyle/>
          <a:p>
            <a:pPr algn="ctr"/>
            <a:endParaRPr/>
          </a:p>
        </p:txBody>
      </p:sp>
      <p:sp>
        <p:nvSpPr>
          <p:cNvPr id="8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84" name="!!T What the Wongs taught all four of us: a "/>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alpha val="30000"/>
                  </a:srgbClr>
                </a:solidFill>
                <a:latin typeface="Plus Jakarta Sans SemiBold"/>
              </a:rPr>
              <a:t>What the Wongs taught all four of us: a plan is a set of choices between people, each made clear.</a:t>
            </a:r>
          </a:p>
        </p:txBody>
      </p:sp>
      <p:sp>
        <p:nvSpPr>
          <p:cNvPr id="85" name="!!T What the Wongs taught all four of us: a  #2"/>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86" name="!!T Personal statements: written case p.14. "/>
          <p:cNvSpPr txBox="1"/>
          <p:nvPr/>
        </p:nvSpPr>
        <p:spPr>
          <a:xfrm>
            <a:off x="457200" y="6452104"/>
            <a:ext cx="6082751"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 needs</a:t>
            </a:r>
          </a:p>
          <a:p>
            <a:pPr algn="l">
              <a:lnSpc>
                <a:spcPts val="1170"/>
              </a:lnSpc>
              <a:spcBef>
                <a:spcPts val="0"/>
              </a:spcBef>
              <a:spcAft>
                <a:spcPts val="0"/>
              </a:spcAft>
            </a:pPr>
            <a:r>
              <a:rPr sz="900" b="0" i="0" kern="100">
                <a:solidFill>
                  <a:srgbClr val="80606A"/>
                </a:solidFill>
                <a:latin typeface="Plus Jakarta Sans"/>
              </a:rPr>
              <a:t>his OK.</a:t>
            </a:r>
          </a:p>
        </p:txBody>
      </p:sp>
      <p:sp>
        <p:nvSpPr>
          <p:cNvPr id="87" name="!!T The problem"/>
          <p:cNvSpPr txBox="1"/>
          <p:nvPr/>
        </p:nvSpPr>
        <p:spPr>
          <a:xfrm>
            <a:off x="663431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8" name="!!T The answer"/>
          <p:cNvSpPr txBox="1"/>
          <p:nvPr/>
        </p:nvSpPr>
        <p:spPr>
          <a:xfrm>
            <a:off x="758056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9" name="!!T The five calls"/>
          <p:cNvSpPr txBox="1"/>
          <p:nvPr/>
        </p:nvSpPr>
        <p:spPr>
          <a:xfrm>
            <a:off x="84407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90" name="!!T Will it hold"/>
          <p:cNvSpPr txBox="1"/>
          <p:nvPr/>
        </p:nvSpPr>
        <p:spPr>
          <a:xfrm>
            <a:off x="9377660"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91" name="!!T What next"/>
          <p:cNvSpPr txBox="1"/>
          <p:nvPr/>
        </p:nvSpPr>
        <p:spPr>
          <a:xfrm>
            <a:off x="1017567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92" name="!!T Us"/>
          <p:cNvSpPr txBox="1"/>
          <p:nvPr/>
        </p:nvSpPr>
        <p:spPr>
          <a:xfrm>
            <a:off x="109710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93" name="!!T 14 / 15"/>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3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3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3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300"/>
                                        <p:tgtEl>
                                          <p:spTgt spid="2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300"/>
                                        <p:tgtEl>
                                          <p:spTgt spid="2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3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3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3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3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300"/>
                                        <p:tgtEl>
                                          <p:spTgt spid="3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animEffect transition="in" filter="fade">
                                      <p:cBhvr>
                                        <p:cTn id="45" dur="300"/>
                                        <p:tgtEl>
                                          <p:spTgt spid="41"/>
                                        </p:tgtEl>
                                      </p:cBhvr>
                                    </p:animEffect>
                                  </p:childTnLst>
                                </p:cTn>
                              </p:par>
                              <p:par>
                                <p:cTn id="46" presetID="10" presetClass="entr" presetSubtype="0" fill="hold" nodeType="withEffect">
                                  <p:stCondLst>
                                    <p:cond delay="0"/>
                                  </p:stCondLst>
                                  <p:childTnLst>
                                    <p:set>
                                      <p:cBhvr>
                                        <p:cTn id="47" dur="1" fill="hold">
                                          <p:stCondLst>
                                            <p:cond delay="0"/>
                                          </p:stCondLst>
                                        </p:cTn>
                                        <p:tgtEl>
                                          <p:spTgt spid="43"/>
                                        </p:tgtEl>
                                        <p:attrNameLst>
                                          <p:attrName>style.visibility</p:attrName>
                                        </p:attrNameLst>
                                      </p:cBhvr>
                                      <p:to>
                                        <p:strVal val="visible"/>
                                      </p:to>
                                    </p:set>
                                    <p:animEffect transition="in" filter="fade">
                                      <p:cBhvr>
                                        <p:cTn id="48" dur="300"/>
                                        <p:tgtEl>
                                          <p:spTgt spid="4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5"/>
                                        </p:tgtEl>
                                        <p:attrNameLst>
                                          <p:attrName>style.visibility</p:attrName>
                                        </p:attrNameLst>
                                      </p:cBhvr>
                                      <p:to>
                                        <p:strVal val="visible"/>
                                      </p:to>
                                    </p:set>
                                    <p:animEffect transition="in" filter="fade">
                                      <p:cBhvr>
                                        <p:cTn id="51" dur="300"/>
                                        <p:tgtEl>
                                          <p:spTgt spid="4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7"/>
                                        </p:tgtEl>
                                        <p:attrNameLst>
                                          <p:attrName>style.visibility</p:attrName>
                                        </p:attrNameLst>
                                      </p:cBhvr>
                                      <p:to>
                                        <p:strVal val="visible"/>
                                      </p:to>
                                    </p:set>
                                    <p:animEffect transition="in" filter="fade">
                                      <p:cBhvr>
                                        <p:cTn id="54" dur="300"/>
                                        <p:tgtEl>
                                          <p:spTgt spid="4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animEffect transition="in" filter="fade">
                                      <p:cBhvr>
                                        <p:cTn id="57" dur="300"/>
                                        <p:tgtEl>
                                          <p:spTgt spid="4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51"/>
                                        </p:tgtEl>
                                        <p:attrNameLst>
                                          <p:attrName>style.visibility</p:attrName>
                                        </p:attrNameLst>
                                      </p:cBhvr>
                                      <p:to>
                                        <p:strVal val="visible"/>
                                      </p:to>
                                    </p:set>
                                    <p:animEffect transition="in" filter="fade">
                                      <p:cBhvr>
                                        <p:cTn id="60" dur="300"/>
                                        <p:tgtEl>
                                          <p:spTgt spid="5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53"/>
                                        </p:tgtEl>
                                        <p:attrNameLst>
                                          <p:attrName>style.visibility</p:attrName>
                                        </p:attrNameLst>
                                      </p:cBhvr>
                                      <p:to>
                                        <p:strVal val="visible"/>
                                      </p:to>
                                    </p:set>
                                    <p:animEffect transition="in" filter="fade">
                                      <p:cBhvr>
                                        <p:cTn id="63" dur="300"/>
                                        <p:tgtEl>
                                          <p:spTgt spid="5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55"/>
                                        </p:tgtEl>
                                        <p:attrNameLst>
                                          <p:attrName>style.visibility</p:attrName>
                                        </p:attrNameLst>
                                      </p:cBhvr>
                                      <p:to>
                                        <p:strVal val="visible"/>
                                      </p:to>
                                    </p:set>
                                    <p:animEffect transition="in" filter="fade">
                                      <p:cBhvr>
                                        <p:cTn id="66" dur="300"/>
                                        <p:tgtEl>
                                          <p:spTgt spid="5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57"/>
                                        </p:tgtEl>
                                        <p:attrNameLst>
                                          <p:attrName>style.visibility</p:attrName>
                                        </p:attrNameLst>
                                      </p:cBhvr>
                                      <p:to>
                                        <p:strVal val="visible"/>
                                      </p:to>
                                    </p:set>
                                    <p:animEffect transition="in" filter="fade">
                                      <p:cBhvr>
                                        <p:cTn id="69" dur="300"/>
                                        <p:tgtEl>
                                          <p:spTgt spid="5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59"/>
                                        </p:tgtEl>
                                        <p:attrNameLst>
                                          <p:attrName>style.visibility</p:attrName>
                                        </p:attrNameLst>
                                      </p:cBhvr>
                                      <p:to>
                                        <p:strVal val="visible"/>
                                      </p:to>
                                    </p:set>
                                    <p:animEffect transition="in" filter="fade">
                                      <p:cBhvr>
                                        <p:cTn id="72" dur="300"/>
                                        <p:tgtEl>
                                          <p:spTgt spid="5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61"/>
                                        </p:tgtEl>
                                        <p:attrNameLst>
                                          <p:attrName>style.visibility</p:attrName>
                                        </p:attrNameLst>
                                      </p:cBhvr>
                                      <p:to>
                                        <p:strVal val="visible"/>
                                      </p:to>
                                    </p:set>
                                    <p:animEffect transition="in" filter="fade">
                                      <p:cBhvr>
                                        <p:cTn id="77" dur="300"/>
                                        <p:tgtEl>
                                          <p:spTgt spid="6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3"/>
                                        </p:tgtEl>
                                        <p:attrNameLst>
                                          <p:attrName>style.visibility</p:attrName>
                                        </p:attrNameLst>
                                      </p:cBhvr>
                                      <p:to>
                                        <p:strVal val="visible"/>
                                      </p:to>
                                    </p:set>
                                    <p:animEffect transition="in" filter="fade">
                                      <p:cBhvr>
                                        <p:cTn id="80" dur="300"/>
                                        <p:tgtEl>
                                          <p:spTgt spid="63"/>
                                        </p:tgtEl>
                                      </p:cBhvr>
                                    </p:animEffect>
                                  </p:childTnLst>
                                </p:cTn>
                              </p:par>
                              <p:par>
                                <p:cTn id="81" presetID="10" presetClass="entr" presetSubtype="0" fill="hold" nodeType="withEffect">
                                  <p:stCondLst>
                                    <p:cond delay="0"/>
                                  </p:stCondLst>
                                  <p:childTnLst>
                                    <p:set>
                                      <p:cBhvr>
                                        <p:cTn id="82" dur="1" fill="hold">
                                          <p:stCondLst>
                                            <p:cond delay="0"/>
                                          </p:stCondLst>
                                        </p:cTn>
                                        <p:tgtEl>
                                          <p:spTgt spid="65"/>
                                        </p:tgtEl>
                                        <p:attrNameLst>
                                          <p:attrName>style.visibility</p:attrName>
                                        </p:attrNameLst>
                                      </p:cBhvr>
                                      <p:to>
                                        <p:strVal val="visible"/>
                                      </p:to>
                                    </p:set>
                                    <p:animEffect transition="in" filter="fade">
                                      <p:cBhvr>
                                        <p:cTn id="83" dur="300"/>
                                        <p:tgtEl>
                                          <p:spTgt spid="65"/>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7"/>
                                        </p:tgtEl>
                                        <p:attrNameLst>
                                          <p:attrName>style.visibility</p:attrName>
                                        </p:attrNameLst>
                                      </p:cBhvr>
                                      <p:to>
                                        <p:strVal val="visible"/>
                                      </p:to>
                                    </p:set>
                                    <p:animEffect transition="in" filter="fade">
                                      <p:cBhvr>
                                        <p:cTn id="86" dur="300"/>
                                        <p:tgtEl>
                                          <p:spTgt spid="6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9"/>
                                        </p:tgtEl>
                                        <p:attrNameLst>
                                          <p:attrName>style.visibility</p:attrName>
                                        </p:attrNameLst>
                                      </p:cBhvr>
                                      <p:to>
                                        <p:strVal val="visible"/>
                                      </p:to>
                                    </p:set>
                                    <p:animEffect transition="in" filter="fade">
                                      <p:cBhvr>
                                        <p:cTn id="89" dur="300"/>
                                        <p:tgtEl>
                                          <p:spTgt spid="69"/>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1"/>
                                        </p:tgtEl>
                                        <p:attrNameLst>
                                          <p:attrName>style.visibility</p:attrName>
                                        </p:attrNameLst>
                                      </p:cBhvr>
                                      <p:to>
                                        <p:strVal val="visible"/>
                                      </p:to>
                                    </p:set>
                                    <p:animEffect transition="in" filter="fade">
                                      <p:cBhvr>
                                        <p:cTn id="92" dur="300"/>
                                        <p:tgtEl>
                                          <p:spTgt spid="7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3"/>
                                        </p:tgtEl>
                                        <p:attrNameLst>
                                          <p:attrName>style.visibility</p:attrName>
                                        </p:attrNameLst>
                                      </p:cBhvr>
                                      <p:to>
                                        <p:strVal val="visible"/>
                                      </p:to>
                                    </p:set>
                                    <p:animEffect transition="in" filter="fade">
                                      <p:cBhvr>
                                        <p:cTn id="95" dur="300"/>
                                        <p:tgtEl>
                                          <p:spTgt spid="7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5"/>
                                        </p:tgtEl>
                                        <p:attrNameLst>
                                          <p:attrName>style.visibility</p:attrName>
                                        </p:attrNameLst>
                                      </p:cBhvr>
                                      <p:to>
                                        <p:strVal val="visible"/>
                                      </p:to>
                                    </p:set>
                                    <p:animEffect transition="in" filter="fade">
                                      <p:cBhvr>
                                        <p:cTn id="98" dur="300"/>
                                        <p:tgtEl>
                                          <p:spTgt spid="7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77"/>
                                        </p:tgtEl>
                                        <p:attrNameLst>
                                          <p:attrName>style.visibility</p:attrName>
                                        </p:attrNameLst>
                                      </p:cBhvr>
                                      <p:to>
                                        <p:strVal val="visible"/>
                                      </p:to>
                                    </p:set>
                                    <p:animEffect transition="in" filter="fade">
                                      <p:cBhvr>
                                        <p:cTn id="101" dur="300"/>
                                        <p:tgtEl>
                                          <p:spTgt spid="77"/>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9"/>
                                        </p:tgtEl>
                                        <p:attrNameLst>
                                          <p:attrName>style.visibility</p:attrName>
                                        </p:attrNameLst>
                                      </p:cBhvr>
                                      <p:to>
                                        <p:strVal val="visible"/>
                                      </p:to>
                                    </p:set>
                                    <p:animEffect transition="in" filter="fade">
                                      <p:cBhvr>
                                        <p:cTn id="104" dur="300"/>
                                        <p:tgtEl>
                                          <p:spTgt spid="79"/>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1"/>
                                        </p:tgtEl>
                                        <p:attrNameLst>
                                          <p:attrName>style.visibility</p:attrName>
                                        </p:attrNameLst>
                                      </p:cBhvr>
                                      <p:to>
                                        <p:strVal val="visible"/>
                                      </p:to>
                                    </p:set>
                                    <p:animEffect transition="in" filter="fade">
                                      <p:cBhvr>
                                        <p:cTn id="107" dur="300"/>
                                        <p:tgtEl>
                                          <p:spTgt spid="8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3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5"/>
                                        </p:tgtEl>
                                        <p:attrNameLst>
                                          <p:attrName>style.visibility</p:attrName>
                                        </p:attrNameLst>
                                      </p:cBhvr>
                                      <p:to>
                                        <p:strVal val="visible"/>
                                      </p:to>
                                    </p:set>
                                    <p:animEffect transition="in" filter="fade">
                                      <p:cBhvr>
                                        <p:cTn id="113" dur="3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3" grpId="0" animBg="1"/>
      <p:bldP spid="25" grpId="0" animBg="1"/>
      <p:bldP spid="27" grpId="0" animBg="1"/>
      <p:bldP spid="29" grpId="0" animBg="1"/>
      <p:bldP spid="31" grpId="0" animBg="1"/>
      <p:bldP spid="33" grpId="0" animBg="1"/>
      <p:bldP spid="35" grpId="0" animBg="1"/>
      <p:bldP spid="37" grpId="0" animBg="1"/>
      <p:bldP spid="39" grpId="0" animBg="1"/>
      <p:bldP spid="41" grpId="0" animBg="1"/>
      <p:bldP spid="45" grpId="0" animBg="1"/>
      <p:bldP spid="47" grpId="0" animBg="1"/>
      <p:bldP spid="49" grpId="0" animBg="1"/>
      <p:bldP spid="51" grpId="0" animBg="1"/>
      <p:bldP spid="53" grpId="0" animBg="1"/>
      <p:bldP spid="55" grpId="0" animBg="1"/>
      <p:bldP spid="57" grpId="0" animBg="1"/>
      <p:bldP spid="59" grpId="0" animBg="1"/>
      <p:bldP spid="61" grpId="0" animBg="1"/>
      <p:bldP spid="63" grpId="0" animBg="1"/>
      <p:bldP spid="67" grpId="0" animBg="1"/>
      <p:bldP spid="69" grpId="0" animBg="1"/>
      <p:bldP spid="71" grpId="0" animBg="1"/>
      <p:bldP spid="73" grpId="0" animBg="1"/>
      <p:bldP spid="75" grpId="0" animBg="1"/>
      <p:bldP spid="77" grpId="0" animBg="1"/>
      <p:bldP spid="79" grpId="0" animBg="1"/>
      <p:bldP spid="81" grpId="0" animBg="1"/>
      <p:bldP spid="83" grpId="0" animBg="1"/>
      <p:bldP spid="8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Built to Las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5b5f95ac"/>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 97%"/>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 chance the money lasts to Carmen's 89, f"/>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d287fa9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 HK$7.7M"/>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 left to Ryan and Chloe where their own w"/>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ea4f3755"/>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 At 65"/>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 the home their choice, to stay or to mov"/>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 Thank you"/>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 Chance and inheritance: 10,000 simulated"/>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4180488b"/>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 What passes on"/>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 the inheritance kep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 A place for every voice"/>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 Calls 4 and 5"/>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 Income for life"/>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 Calls 2 and 3"/>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 Protected firs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 Call 1"/>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2026-10-25T12:02:57Z</dcterms:created>
  <dcterms:modified xsi:type="dcterms:W3CDTF">2026-10-25T12:02:57Z</dcterms:modified>
</cp:coreProperties>
</file>