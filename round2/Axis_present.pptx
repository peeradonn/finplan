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Plus Jakarta Sans" pitchFamily="2" charset="0"/>
      <p:regular r:id="rId18"/>
      <p:bold r:id="rId19"/>
    </p:embeddedFont>
    <p:embeddedFont>
      <p:font typeface="Plus Jakarta Sans Medium" pitchFamily="2" charset="0"/>
      <p:regular r:id="rId20"/>
    </p:embeddedFont>
    <p:embeddedFont>
      <p:font typeface="Plus Jakarta Sans SemiBold" pitchFamily="2" charset="0"/>
      <p:bold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E5AB921-3A71-4340-B6BB-827097246F4A}">
          <p14:sldIdLst>
            <p14:sldId id="256"/>
          </p14:sldIdLst>
        </p14:section>
        <p14:section name="The problem" id="{108116DF-1A14-4846-BFE9-7FE0B1DBF9F3}">
          <p14:sldIdLst>
            <p14:sldId id="257"/>
            <p14:sldId id="258"/>
          </p14:sldIdLst>
        </p14:section>
        <p14:section name="The answer" id="{BAC3BD1D-B31E-4E20-B544-F64C7A992523}">
          <p14:sldIdLst>
            <p14:sldId id="259"/>
          </p14:sldIdLst>
        </p14:section>
        <p14:section name="The five calls" id="{774B8463-2655-4CE6-9D07-4622848EE36E}">
          <p14:sldIdLst>
            <p14:sldId id="260"/>
            <p14:sldId id="261"/>
            <p14:sldId id="262"/>
            <p14:sldId id="263"/>
            <p14:sldId id="264"/>
          </p14:sldIdLst>
        </p14:section>
        <p14:section name="Will it hold" id="{17E1B32C-08CF-4106-94AD-FAD320711E18}">
          <p14:sldIdLst>
            <p14:sldId id="265"/>
          </p14:sldIdLst>
        </p14:section>
        <p14:section name="What next" id="{E36A298C-2C65-4324-AD00-6B2AC8119F2F}">
          <p14:sldIdLst>
            <p14:sldId id="266"/>
            <p14:sldId id="267"/>
          </p14:sldIdLst>
        </p14:section>
        <p14:section name="Us" id="{B18C0841-7E53-4168-B72B-6663D43E6136}">
          <p14:sldIdLst>
            <p14:sldId id="268"/>
            <p14:sldId id="269"/>
          </p14:sldIdLst>
        </p14:section>
        <p14:section name="Close" id="{1EDFB1E2-95F3-4734-AF65-8250A656A1ED}">
          <p14:sldIdLst>
            <p14:sldId id="27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663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Hello, we're Team Axis, and this is Built to Last, our plan for the Wong family. I'm Pete, the lead adviser.</a:t>
            </a:r>
          </a:p>
          <a:p>
            <a:r>
              <a:t>Fahtai: I'm Fahtai: retirement.</a:t>
            </a:r>
          </a:p>
          <a:p>
            <a:r>
              <a:t>Win: I'm Win: investments.</a:t>
            </a:r>
          </a:p>
          <a:p>
            <a:r>
              <a:t>Lookbua: And I'm Lookbua: protection and risk.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Meet the Wongs. On paper, they're secure: HK$24.4 million, but most of it is their home and Carmen's business. And it must last forty years. Ryan, 24, holds crypto and wants his own plan. Chloe, 16, may study here or abroad. Adrian, 54, wants capital and health protected; he retires at 65. Carmen, 49, wants money that reflects her values; she retires at 62. Then 27 years on HK$780K a year. Will it last to Carmen's 89? We tested it in 10,000 futures.</a:t>
            </a:r>
          </a:p>
          <a:p>
            <a:endParaRPr/>
          </a:p>
          <a:p>
            <a:r>
              <a:t>[Clicks on this slide]</a:t>
            </a:r>
          </a:p>
          <a:p>
            <a:r>
              <a:t>Click 1: …and the forty years it has to last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Living on investments alone, as our written case measured, the money lasts in only 33%. The fairer test is their own way: sell the business when Carmen retires, keep the flat, and sell it only if they must. In 51% of futures, they must. In a typical one, Carmen, at 83 and on her own, sells the home where they raised Ryan and Chloe. By 86 the money has run out again, and the wealth meant for their children pays the bills: just HK$2.3M is left to them.</a:t>
            </a:r>
          </a:p>
          <a:p>
            <a:endParaRPr/>
          </a:p>
          <a:p>
            <a:r>
              <a:t>[Clicks on this slide]</a:t>
            </a:r>
          </a:p>
          <a:p>
            <a:r>
              <a:t>Click 1: 51%</a:t>
            </a:r>
          </a:p>
          <a:p>
            <a:r>
              <a:t>Click 2: Runs out again, Carmen 86 then unpaid bills eat into the …</a:t>
            </a:r>
          </a:p>
          <a:p>
            <a:r>
              <a:t>Click 3: What Ryan and Chloe inherit, where it is sold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They asked for a plan that's innovative yet prudent. Our answer: five calls. Insure the income, not the life. Put the home and the business to work, on their terms. Fix the cost the budget ignores. Give each person a plan of their own. And make room for their values and Ryan's crypto, with guardrails. Done their own way, the money lasts to Carmen's 89 in 62%; the five calls lift it to 97%, and the home becomes their choice, not their last resort. Lookbua.</a:t>
            </a:r>
          </a:p>
          <a:p>
            <a:endParaRPr/>
          </a:p>
          <a:p>
            <a:r>
              <a:t>[Clicks on this slide]</a:t>
            </a:r>
          </a:p>
          <a:p>
            <a:r>
              <a:t>Click 1: 1 Insure the income, not the life</a:t>
            </a:r>
          </a:p>
          <a:p>
            <a:r>
              <a:t>Click 2: 2 The home and the business</a:t>
            </a:r>
          </a:p>
          <a:p>
            <a:r>
              <a:t>Click 3: 3 Fix the cost the budget ignores</a:t>
            </a:r>
          </a:p>
          <a:p>
            <a:r>
              <a:t>Click 4: 4 A plan for each person</a:t>
            </a:r>
          </a:p>
          <a:p>
            <a:r>
              <a:t>Click 5: 5 Values and crypto, with guardrails</a:t>
            </a:r>
          </a:p>
          <a:p>
            <a:r>
              <a:t>Click 6: What passes 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Lookbua: Thanks, Pete. Call one: insure the income, not the life. Neither parent has disability cover: if Adrian couldn't work tomorrow, they'd be HK$22K short every month. So disability cover comes first, then critical illness, medical cover of their own, and a term-life top-up: about HK$100K a year. Term, because the need ends at retirement. And a buy-sell agreement, so Carmen's business survives her. Protected first; now Fahtai turns what they own into income.</a:t>
            </a:r>
          </a:p>
          <a:p>
            <a:endParaRPr/>
          </a:p>
          <a:p>
            <a:r>
              <a:t>[Clicks on this slide]</a:t>
            </a:r>
          </a:p>
          <a:p>
            <a:r>
              <a:t>Click 1: Why not more life cover?</a:t>
            </a:r>
          </a:p>
          <a:p>
            <a:r>
              <a:t>Click 2: …so we insure the income first</a:t>
            </a:r>
          </a:p>
          <a:p>
            <a:r>
              <a:t>Click 3: And within three months, under HK$25K: wills, a guardian …</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Fahtai: Call two: the home and the business will pay for their retirement either way. The question is when. At 65 they choose: stay, with a reverse mortgage paying HK$230K a year for life, or downsize. The business is sold in stages to Carmen's team; we count only HK$3 million of its five. After the first death, the survivor plans on 70% of the budget. And the MPF buys annuities, an income each can't outlive. Four decisions, taken now, lift the odds from 62% to 83%. The price: the annuities can't be undone.</a:t>
            </a:r>
          </a:p>
          <a:p>
            <a:endParaRPr/>
          </a:p>
          <a:p>
            <a:r>
              <a:t>[Clicks on this slide]</a:t>
            </a:r>
          </a:p>
          <a:p>
            <a:r>
              <a:t>Click 1: HK$230K a year for life, from 2037</a:t>
            </a:r>
          </a:p>
          <a:p>
            <a:r>
              <a:t>Click 2: Sold in stages, 2035–39</a:t>
            </a:r>
          </a:p>
          <a:p>
            <a:r>
              <a:t>Click 3: Planned now, for a survivor</a:t>
            </a:r>
          </a:p>
          <a:p>
            <a:r>
              <a:t>Click 4: HK$268K a year for life</a:t>
            </a:r>
          </a:p>
          <a:p>
            <a:r>
              <a:t>Click 5: Chance the money lasts to Carmen's 89</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Fahtai: Call three: the cost the budget ignores. Kept on Flexi for life, medical premiums climb to HK$375K a year, close to half the budget. So at Adrian's 75 they review the tier: the Standard plan costs a third as much, with lower limits. And from 2039, two spending rules for the bad years; essentials are never cut. Remember that future? Now the money lasts to 89, and they stay in their home: 97% with the review, almost every future with the rules. Win.</a:t>
            </a:r>
          </a:p>
          <a:p>
            <a:endParaRPr/>
          </a:p>
          <a:p>
            <a:r>
              <a:t>[Clicks on this slide]</a:t>
            </a:r>
          </a:p>
          <a:p>
            <a:r>
              <a:t>Click 1: 1</a:t>
            </a:r>
          </a:p>
          <a:p>
            <a:r>
              <a:t>Click 2: 2</a:t>
            </a:r>
          </a:p>
          <a:p>
            <a:r>
              <a:t>Click 3: …so the future that ran out at 86 now reaches 89</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Win: Thanks, Fahtai. Call four: one family investment policy, a plan for each person. Today HK$2.5 million sits idle in cash, and most of their shares are in funds charging 1.5% a year. We give every dollar a job: a year's reserve; HK$2.57 million for Chloe's degree, wherever she goes; and a portfolio fitted to each parent's risk: Adrian 40% in shares, Carmen 60%. Ryan saves 30% of his pay in a plan of his own. Index funds alone save HK$45K a year.</a:t>
            </a:r>
          </a:p>
          <a:p>
            <a:endParaRPr/>
          </a:p>
          <a:p>
            <a:r>
              <a:t>[Clicks on this slide]</a:t>
            </a:r>
          </a:p>
          <a:p>
            <a:r>
              <a:t>Click 1: The same HK$7.7M, with a job for each part</a:t>
            </a:r>
          </a:p>
          <a:p>
            <a:r>
              <a:t>Click 2: Ryan's own plan: he saves 30% of his pay, in a plan of hi…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Win: Call five: values and innovation, with guardrails. ESG rises from 11% to 25%, only in funds on the SFC's ESG list that pass two ratings, because raters often disagree. Crypto is sized per person, and held only where a regulator watches. Adrian holds none; Carmen up to 2%; Ryan keeps his HK$500K but adds nothing new, so its share falls from 74% of his wealth to 20% by 35. The price: a 70% fall would cost him HK$350K. Lookbua.</a:t>
            </a:r>
          </a:p>
          <a:p>
            <a:endParaRPr/>
          </a:p>
          <a:p>
            <a:r>
              <a:t>[Clicks on this slide]</a:t>
            </a:r>
          </a:p>
          <a:p>
            <a:r>
              <a:t>Click 1: Like for like, not a new bet: each fund replaces what it …</a:t>
            </a:r>
          </a:p>
          <a:p>
            <a:r>
              <a:t>Click 2: …and Ryan's conviction: kept, and sized down as he saves</a:t>
            </a:r>
          </a:p>
          <a:p>
            <a:r>
              <a:t>Click 3: Ryan keeps his HK$500K: nothing sold, nothing added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Lookbua: Then we tried to break the plan. The hardest test: Adrian loses his job at 60. Here the four decisions alone last in 30% of futures; the full plan, with its reserve and spending rules, 83%. Years of low returns, or high inflation with dearer medical care: 92% or better. And if Carmen lives to 95: 99%.</a:t>
            </a:r>
          </a:p>
          <a:p>
            <a:endParaRPr/>
          </a:p>
          <a:p>
            <a:r>
              <a:t>[Clicks on this slide]</a:t>
            </a:r>
          </a:p>
          <a:p>
            <a:r>
              <a:t>Click 1: Adrian's job ends at 60</a:t>
            </a:r>
          </a:p>
          <a:p>
            <a:r>
              <a:t>Click 2: Low returns, every year</a:t>
            </a:r>
          </a:p>
          <a:p>
            <a:r>
              <a:t>Click 3: Carmen lives to 95</a:t>
            </a:r>
          </a:p>
          <a:p>
            <a:r>
              <a:t>Click 4: The price of holding: in years of low returns, the rules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Lookbua: It starts this month: wills in month one, the cover within three months. After that, dates trigger each step, from Chloe's offer in 2028 to the medical review in 2047, and we review the plan whenever life changes. Pete.</a:t>
            </a:r>
          </a:p>
          <a:p>
            <a:endParaRPr/>
          </a:p>
          <a:p>
            <a:r>
              <a:t>[Clicks on this slide]</a:t>
            </a:r>
          </a:p>
          <a:p>
            <a:r>
              <a:t>Click 1: …then dates trigger each step</a:t>
            </a:r>
          </a:p>
          <a:p>
            <a:r>
              <a:t>Click 2: Reviewed as life changes: the portfolio every quarter; a …</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The legacy the case is named for: in the futures where Carmen had to sell, the plan leaves Ryan and Chloe HK$7.7M, not HK$2.3M. If a parent dies early, the wills name Chloe's guardian and hold each child's share in trust, paid at 25, 30 and 35. And a scholarship in sustainable design joins Carmen's mission to Chloe's interest.</a:t>
            </a:r>
          </a:p>
          <a:p>
            <a:endParaRPr/>
          </a:p>
          <a:p>
            <a:r>
              <a:t>[Clicks on this slide]</a:t>
            </a:r>
          </a:p>
          <a:p>
            <a:r>
              <a:t>Click 1: With the plan</a:t>
            </a:r>
          </a:p>
          <a:p>
            <a:r>
              <a:t>Click 2: …and if a parent dies early, it still passes on safely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Since 2021, Wealth Management Connect has let residents of Hong Kong, Macao and nine mainland cities invest across the boundary, now up to three million renminbi each. For the Wongs, Northbound is a tool for later: their home, income and business are all in Hong Kong. For us, Southbound is the market we want to serve: a Hong Kong bank won't solicit or recommend across the boundary unless the client asks, so an adviser's value is a clear, suitable answer.</a:t>
            </a:r>
          </a:p>
          <a:p>
            <a:endParaRPr/>
          </a:p>
          <a:p>
            <a:r>
              <a:t>[Clicks on this slide]</a:t>
            </a:r>
          </a:p>
          <a:p>
            <a:r>
              <a:t>Click 1: Northbound</a:t>
            </a:r>
          </a:p>
          <a:p>
            <a:r>
              <a:t>Click 2: Under the Connect, an adviser's value is a clear, suitabl…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In five years I want to be an investment specialist in a Hong Kong bank's wealth team, matching each Connect client's portfolio to their risk, with the currency risk made clear. Fitting the Wongs' three risk profiles into one plan was that job in miniature.</a:t>
            </a:r>
          </a:p>
          <a:p>
            <a:r>
              <a:t>Fahtai: I want to build the data and risk models that wealth managers across East and Southeast Asia use for families. This plan taught me that a model's job is to price the trade-offs between people. Next is the FRM, with Connect funds as my first case.</a:t>
            </a:r>
          </a:p>
          <a:p>
            <a:r>
              <a:t>Win: I want to be an investment strategist for family clients across Asia-Pacific, fitting each portfolio to its owner on either side of the boundary.</a:t>
            </a:r>
          </a:p>
          <a:p>
            <a:r>
              <a:t>Lookbua: I aim to focus on systems risk. The Connect links two markets with different rules, so a shock in one can cross the boundary and reach the other side. Stress-testing this plan taught me that every risk needs a named defence.</a:t>
            </a:r>
          </a:p>
          <a:p>
            <a:endParaRPr/>
          </a:p>
          <a:p>
            <a:r>
              <a:t>[Clicks on this slide]</a:t>
            </a:r>
          </a:p>
          <a:p>
            <a:r>
              <a:t>Click 1: Fahtai</a:t>
            </a:r>
          </a:p>
          <a:p>
            <a:r>
              <a:t>Click 2: Win</a:t>
            </a:r>
          </a:p>
          <a:p>
            <a:r>
              <a:t>Click 3: Lookbua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Pete: Protected first, income for life, and a place for every voice. The home stays their choice, and the next generation keeps its inheritance: built to last. We are Team Axis.</a:t>
            </a:r>
          </a:p>
          <a:p>
            <a:r>
              <a:t>All: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svg"/><Relationship Id="rId3" Type="http://schemas.openxmlformats.org/officeDocument/2006/relationships/image" Target="../media/image7.svg"/><Relationship Id="rId7" Type="http://schemas.openxmlformats.org/officeDocument/2006/relationships/image" Target="../media/image11.svg"/><Relationship Id="rId12" Type="http://schemas.openxmlformats.org/officeDocument/2006/relationships/image" Target="../media/image16.svg"/><Relationship Id="rId2" Type="http://schemas.openxmlformats.org/officeDocument/2006/relationships/notesSlide" Target="../notesSlides/notesSlide4.xml"/><Relationship Id="rId16" Type="http://schemas.openxmlformats.org/officeDocument/2006/relationships/image" Target="../media/image20.svg"/><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15.svg"/><Relationship Id="rId5" Type="http://schemas.openxmlformats.org/officeDocument/2006/relationships/image" Target="../media/image9.svg"/><Relationship Id="rId15" Type="http://schemas.openxmlformats.org/officeDocument/2006/relationships/image" Target="../media/image19.sv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svg"/><Relationship Id="rId14" Type="http://schemas.openxmlformats.org/officeDocument/2006/relationships/image" Target="../media/image18.svg"/></Relationships>
</file>

<file path=ppt/slides/_rels/slide5.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svg"/><Relationship Id="rId7" Type="http://schemas.openxmlformats.org/officeDocument/2006/relationships/image" Target="../media/image30.svg"/><Relationship Id="rId12" Type="http://schemas.openxmlformats.org/officeDocument/2006/relationships/image" Target="../media/image35.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9.svg"/><Relationship Id="rId11" Type="http://schemas.openxmlformats.org/officeDocument/2006/relationships/image" Target="../media/image34.svg"/><Relationship Id="rId5" Type="http://schemas.openxmlformats.org/officeDocument/2006/relationships/image" Target="../media/image28.sv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svg"/></Relationships>
</file>

<file path=ppt/slides/_rels/slide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svg"/><Relationship Id="rId7" Type="http://schemas.openxmlformats.org/officeDocument/2006/relationships/image" Target="../media/image40.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s>
</file>

<file path=ppt/slides/_rels/slide8.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3.jpg"/><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3" Type="http://schemas.openxmlformats.org/officeDocument/2006/relationships/image" Target="../media/image43.svg"/><Relationship Id="rId7"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jpg"/><Relationship Id="rId5" Type="http://schemas.openxmlformats.org/officeDocument/2006/relationships/image" Target="../media/image5.jp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11.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3.jpg"/><Relationship Id="rId7" Type="http://schemas.openxmlformats.org/officeDocument/2006/relationships/image" Target="../media/image49.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jpg"/><Relationship Id="rId11" Type="http://schemas.openxmlformats.org/officeDocument/2006/relationships/image" Target="../media/image53.svg"/><Relationship Id="rId5" Type="http://schemas.openxmlformats.org/officeDocument/2006/relationships/image" Target="../media/image2.jpg"/><Relationship Id="rId10" Type="http://schemas.openxmlformats.org/officeDocument/2006/relationships/image" Target="../media/image52.svg"/><Relationship Id="rId4" Type="http://schemas.openxmlformats.org/officeDocument/2006/relationships/image" Target="../media/image5.jpg"/><Relationship Id="rId9" Type="http://schemas.openxmlformats.org/officeDocument/2006/relationships/image" Target="../media/image51.svg"/></Relationships>
</file>

<file path=ppt/slides/_rels/slide1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4.svg"/><Relationship Id="rId7"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jpg"/><Relationship Id="rId5" Type="http://schemas.openxmlformats.org/officeDocument/2006/relationships/image" Target="../media/image5.jpg"/><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58.svg"/><Relationship Id="rId4" Type="http://schemas.openxmlformats.org/officeDocument/2006/relationships/image" Target="../media/image57.svg"/></Relationships>
</file>

<file path=ppt/slides/_rels/slide14.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62.svg"/><Relationship Id="rId5" Type="http://schemas.openxmlformats.org/officeDocument/2006/relationships/image" Target="../media/image61.jpg"/><Relationship Id="rId4" Type="http://schemas.openxmlformats.org/officeDocument/2006/relationships/image" Target="../media/image60.jpg"/></Relationships>
</file>

<file path=ppt/slides/_rels/slide15.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Built to Last">
    <p:spTree>
      <p:nvGrpSpPr>
        <p:cNvPr id="1" name=""/>
        <p:cNvGrpSpPr/>
        <p:nvPr/>
      </p:nvGrpSpPr>
      <p:grpSpPr>
        <a:xfrm>
          <a:off x="0" y="0"/>
          <a:ext cx="0" cy="0"/>
          <a:chOff x="0" y="0"/>
          <a:chExt cx="0" cy="0"/>
        </a:xfrm>
      </p:grpSpPr>
      <p:sp>
        <p:nvSpPr>
          <p:cNvPr id="2" name="!!div 86fce566"/>
          <p:cNvSpPr/>
          <p:nvPr/>
        </p:nvSpPr>
        <p:spPr>
          <a:xfrm>
            <a:off x="533400" y="552450"/>
            <a:ext cx="1905000" cy="95250"/>
          </a:xfrm>
          <a:prstGeom prst="rect">
            <a:avLst/>
          </a:prstGeom>
          <a:solidFill>
            <a:srgbClr val="C80E1E"/>
          </a:solidFill>
          <a:ln>
            <a:noFill/>
          </a:ln>
        </p:spPr>
        <p:txBody>
          <a:bodyPr rtlCol="0" anchor="ctr"/>
          <a:lstStyle/>
          <a:p>
            <a:pPr algn="ctr"/>
            <a:endParaRPr/>
          </a:p>
        </p:txBody>
      </p:sp>
      <p:sp>
        <p:nvSpPr>
          <p:cNvPr id="3" name="!!T Hong Kong Undergraduate Financial Planne"/>
          <p:cNvSpPr txBox="1"/>
          <p:nvPr/>
        </p:nvSpPr>
        <p:spPr>
          <a:xfrm>
            <a:off x="533400" y="845106"/>
            <a:ext cx="5004161" cy="414338"/>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80606A"/>
                </a:solidFill>
                <a:latin typeface="Plus Jakarta Sans"/>
              </a:rPr>
              <a:t>Hong Kong Undergraduate Financial Planners of the Year Award 2026</a:t>
            </a:r>
          </a:p>
          <a:p>
            <a:pPr algn="l">
              <a:lnSpc>
                <a:spcPts val="1631"/>
              </a:lnSpc>
              <a:spcBef>
                <a:spcPts val="0"/>
              </a:spcBef>
              <a:spcAft>
                <a:spcPts val="0"/>
              </a:spcAft>
            </a:pPr>
            <a:r>
              <a:rPr sz="1125" b="0" i="0" kern="100">
                <a:solidFill>
                  <a:srgbClr val="80606A"/>
                </a:solidFill>
                <a:latin typeface="Plus Jakarta Sans"/>
              </a:rPr>
              <a:t>Round Two: our financial proposal for the Wong family</a:t>
            </a:r>
          </a:p>
        </p:txBody>
      </p:sp>
      <p:sp>
        <p:nvSpPr>
          <p:cNvPr id="4" name="!!T Built to Last"/>
          <p:cNvSpPr txBox="1"/>
          <p:nvPr/>
        </p:nvSpPr>
        <p:spPr>
          <a:xfrm>
            <a:off x="533400" y="1779842"/>
            <a:ext cx="4478828" cy="2313408"/>
          </a:xfrm>
          <a:prstGeom prst="rect">
            <a:avLst/>
          </a:prstGeom>
          <a:noFill/>
        </p:spPr>
        <p:txBody>
          <a:bodyPr wrap="none" lIns="0" tIns="0" rIns="0" bIns="0" anchor="t">
            <a:noAutofit/>
          </a:bodyPr>
          <a:lstStyle/>
          <a:p>
            <a:pPr algn="l">
              <a:lnSpc>
                <a:spcPts val="9108"/>
              </a:lnSpc>
              <a:spcBef>
                <a:spcPts val="0"/>
              </a:spcBef>
              <a:spcAft>
                <a:spcPts val="0"/>
              </a:spcAft>
            </a:pPr>
            <a:r>
              <a:rPr sz="9900" b="0" i="0" kern="100" spc="-150">
                <a:solidFill>
                  <a:srgbClr val="1B1716"/>
                </a:solidFill>
                <a:latin typeface="Plus Jakarta Sans SemiBold"/>
              </a:rPr>
              <a:t>Built to</a:t>
            </a:r>
          </a:p>
          <a:p>
            <a:pPr algn="l">
              <a:lnSpc>
                <a:spcPts val="9108"/>
              </a:lnSpc>
              <a:spcBef>
                <a:spcPts val="0"/>
              </a:spcBef>
              <a:spcAft>
                <a:spcPts val="0"/>
              </a:spcAft>
            </a:pPr>
            <a:r>
              <a:rPr sz="9900" b="0" i="0" kern="100" spc="-150">
                <a:solidFill>
                  <a:srgbClr val="1B1716"/>
                </a:solidFill>
                <a:latin typeface="Plus Jakarta Sans SemiBold"/>
              </a:rPr>
              <a:t>Last</a:t>
            </a:r>
          </a:p>
        </p:txBody>
      </p:sp>
      <p:sp>
        <p:nvSpPr>
          <p:cNvPr id="5" name="!!T Five calls that make the Wong family's w"/>
          <p:cNvSpPr txBox="1"/>
          <p:nvPr/>
        </p:nvSpPr>
        <p:spPr>
          <a:xfrm>
            <a:off x="533400" y="4385453"/>
            <a:ext cx="5688041" cy="643860"/>
          </a:xfrm>
          <a:prstGeom prst="rect">
            <a:avLst/>
          </a:prstGeom>
          <a:noFill/>
        </p:spPr>
        <p:txBody>
          <a:bodyPr wrap="none" lIns="0" tIns="0" rIns="0" bIns="0" anchor="t">
            <a:noAutofit/>
          </a:bodyPr>
          <a:lstStyle/>
          <a:p>
            <a:pPr algn="l">
              <a:lnSpc>
                <a:spcPts val="2535"/>
              </a:lnSpc>
              <a:spcBef>
                <a:spcPts val="0"/>
              </a:spcBef>
              <a:spcAft>
                <a:spcPts val="0"/>
              </a:spcAft>
            </a:pPr>
            <a:r>
              <a:rPr sz="1950" b="0" i="0" kern="100">
                <a:solidFill>
                  <a:srgbClr val="890816"/>
                </a:solidFill>
                <a:latin typeface="Plus Jakarta Sans Medium"/>
              </a:rPr>
              <a:t>Five calls that make the Wong family's wealth</a:t>
            </a:r>
          </a:p>
          <a:p>
            <a:pPr algn="l">
              <a:lnSpc>
                <a:spcPts val="2535"/>
              </a:lnSpc>
              <a:spcBef>
                <a:spcPts val="0"/>
              </a:spcBef>
              <a:spcAft>
                <a:spcPts val="0"/>
              </a:spcAft>
            </a:pPr>
            <a:r>
              <a:rPr sz="1950" b="0" i="0" kern="100">
                <a:solidFill>
                  <a:srgbClr val="890816"/>
                </a:solidFill>
                <a:latin typeface="Plus Jakarta Sans Medium"/>
              </a:rPr>
              <a:t>last, for every one of them</a:t>
            </a:r>
          </a:p>
        </p:txBody>
      </p:sp>
      <p:sp>
        <p:nvSpPr>
          <p:cNvPr id="6" name="!!T Team Axis"/>
          <p:cNvSpPr txBox="1"/>
          <p:nvPr/>
        </p:nvSpPr>
        <p:spPr>
          <a:xfrm>
            <a:off x="533400" y="6013555"/>
            <a:ext cx="1020934"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Team Axis</a:t>
            </a:r>
          </a:p>
        </p:txBody>
      </p:sp>
      <p:sp>
        <p:nvSpPr>
          <p:cNvPr id="7" name="!!T 2026"/>
          <p:cNvSpPr txBox="1"/>
          <p:nvPr/>
        </p:nvSpPr>
        <p:spPr>
          <a:xfrm>
            <a:off x="533400" y="6246680"/>
            <a:ext cx="471779"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2026</a:t>
            </a:r>
          </a:p>
        </p:txBody>
      </p:sp>
      <p:sp>
        <p:nvSpPr>
          <p:cNvPr id="8" name="!!T Pete"/>
          <p:cNvSpPr txBox="1"/>
          <p:nvPr/>
        </p:nvSpPr>
        <p:spPr>
          <a:xfrm>
            <a:off x="1636365" y="6013555"/>
            <a:ext cx="545452"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Pete</a:t>
            </a:r>
          </a:p>
        </p:txBody>
      </p:sp>
      <p:sp>
        <p:nvSpPr>
          <p:cNvPr id="9" name="!!T Lead adviser"/>
          <p:cNvSpPr txBox="1"/>
          <p:nvPr/>
        </p:nvSpPr>
        <p:spPr>
          <a:xfrm>
            <a:off x="1636365" y="6246680"/>
            <a:ext cx="961302"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Lead adviser</a:t>
            </a:r>
          </a:p>
        </p:txBody>
      </p:sp>
      <p:sp>
        <p:nvSpPr>
          <p:cNvPr id="10" name="!!T Fahtai"/>
          <p:cNvSpPr txBox="1"/>
          <p:nvPr/>
        </p:nvSpPr>
        <p:spPr>
          <a:xfrm>
            <a:off x="2683073" y="6013555"/>
            <a:ext cx="679546"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Fahtai</a:t>
            </a:r>
          </a:p>
        </p:txBody>
      </p:sp>
      <p:sp>
        <p:nvSpPr>
          <p:cNvPr id="11" name="!!T Retirement"/>
          <p:cNvSpPr txBox="1"/>
          <p:nvPr/>
        </p:nvSpPr>
        <p:spPr>
          <a:xfrm>
            <a:off x="2683073" y="6246680"/>
            <a:ext cx="860652"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Retirement</a:t>
            </a:r>
          </a:p>
        </p:txBody>
      </p:sp>
      <p:sp>
        <p:nvSpPr>
          <p:cNvPr id="12" name="!!T Win"/>
          <p:cNvSpPr txBox="1"/>
          <p:nvPr/>
        </p:nvSpPr>
        <p:spPr>
          <a:xfrm>
            <a:off x="3634829" y="6013555"/>
            <a:ext cx="467204"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Win</a:t>
            </a:r>
          </a:p>
        </p:txBody>
      </p:sp>
      <p:sp>
        <p:nvSpPr>
          <p:cNvPr id="13" name="!!T Investment"/>
          <p:cNvSpPr txBox="1"/>
          <p:nvPr/>
        </p:nvSpPr>
        <p:spPr>
          <a:xfrm>
            <a:off x="3634829" y="6246680"/>
            <a:ext cx="866647"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Investment</a:t>
            </a:r>
          </a:p>
        </p:txBody>
      </p:sp>
      <p:sp>
        <p:nvSpPr>
          <p:cNvPr id="14" name="!!T Lookbua"/>
          <p:cNvSpPr txBox="1"/>
          <p:nvPr/>
        </p:nvSpPr>
        <p:spPr>
          <a:xfrm>
            <a:off x="4592241" y="6013555"/>
            <a:ext cx="928961"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Lookbua</a:t>
            </a:r>
          </a:p>
        </p:txBody>
      </p:sp>
      <p:sp>
        <p:nvSpPr>
          <p:cNvPr id="15" name="!!T Protection and risk"/>
          <p:cNvSpPr txBox="1"/>
          <p:nvPr/>
        </p:nvSpPr>
        <p:spPr>
          <a:xfrm>
            <a:off x="4592241" y="6246680"/>
            <a:ext cx="1362480"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Protection and risk</a:t>
            </a:r>
          </a:p>
        </p:txBody>
      </p:sp>
      <p:sp>
        <p:nvSpPr>
          <p:cNvPr id="16" name="!!div fdfd9047"/>
          <p:cNvSpPr/>
          <p:nvPr/>
        </p:nvSpPr>
        <p:spPr>
          <a:xfrm>
            <a:off x="7715250" y="0"/>
            <a:ext cx="4476750" cy="6858000"/>
          </a:xfrm>
          <a:prstGeom prst="rect">
            <a:avLst/>
          </a:prstGeom>
          <a:solidFill>
            <a:srgbClr val="2A2A2A"/>
          </a:solidFill>
          <a:ln>
            <a:noFill/>
          </a:ln>
        </p:spPr>
        <p:txBody>
          <a:bodyPr rtlCol="0" anchor="ctr"/>
          <a:lstStyle/>
          <a:p>
            <a:pPr algn="ctr"/>
            <a:endParaRPr/>
          </a:p>
        </p:txBody>
      </p:sp>
      <p:pic>
        <p:nvPicPr>
          <p:cNvPr id="17" name="!!Picture 5a53ae4d" descr="image.jpg"/>
          <p:cNvPicPr>
            <a:picLocks noChangeAspect="1"/>
          </p:cNvPicPr>
          <p:nvPr/>
        </p:nvPicPr>
        <p:blipFill>
          <a:blip r:embed="rId3"/>
          <a:srcRect l="19396" r="31646"/>
          <a:stretch>
            <a:fillRect/>
          </a:stretch>
        </p:blipFill>
        <p:spPr>
          <a:xfrm>
            <a:off x="7715250" y="0"/>
            <a:ext cx="4476750" cy="6858000"/>
          </a:xfrm>
          <a:prstGeom prst="rect">
            <a:avLst/>
          </a:prstGeom>
        </p:spPr>
      </p:pic>
      <p:sp>
        <p:nvSpPr>
          <p:cNvPr id="18" name="!!T Photograph: Peter Steinhauer, Cocoons"/>
          <p:cNvSpPr txBox="1"/>
          <p:nvPr/>
        </p:nvSpPr>
        <p:spPr>
          <a:xfrm>
            <a:off x="9647119" y="6585454"/>
            <a:ext cx="2392481" cy="148590"/>
          </a:xfrm>
          <a:prstGeom prst="rect">
            <a:avLst/>
          </a:prstGeom>
          <a:noFill/>
        </p:spPr>
        <p:txBody>
          <a:bodyPr wrap="none" lIns="0" tIns="0" rIns="0" bIns="0" anchor="t">
            <a:noAutofit/>
          </a:bodyPr>
          <a:lstStyle/>
          <a:p>
            <a:pPr algn="r">
              <a:lnSpc>
                <a:spcPts val="1170"/>
              </a:lnSpc>
              <a:spcBef>
                <a:spcPts val="0"/>
              </a:spcBef>
              <a:spcAft>
                <a:spcPts val="0"/>
              </a:spcAft>
            </a:pPr>
            <a:r>
              <a:rPr sz="900" b="0" i="0" kern="100">
                <a:solidFill>
                  <a:srgbClr val="FFFFFF">
                    <a:alpha val="85000"/>
                  </a:srgbClr>
                </a:solidFill>
                <a:latin typeface="Plus Jakarta Sans"/>
              </a:rPr>
              <a:t>Photograph: Peter Steinhauer, </a:t>
            </a:r>
            <a:r>
              <a:rPr sz="900" b="0" i="1" kern="100">
                <a:solidFill>
                  <a:srgbClr val="FFFFFF">
                    <a:alpha val="85000"/>
                  </a:srgbClr>
                </a:solidFill>
                <a:latin typeface="Plus Jakarta Sans"/>
              </a:rPr>
              <a:t>Cocoons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On paper, the Wongs are secure, for a plan that must last forty years">
    <p:spTree>
      <p:nvGrpSpPr>
        <p:cNvPr id="1" name=""/>
        <p:cNvGrpSpPr/>
        <p:nvPr/>
      </p:nvGrpSpPr>
      <p:grpSpPr>
        <a:xfrm>
          <a:off x="0" y="0"/>
          <a:ext cx="0" cy="0"/>
          <a:chOff x="0" y="0"/>
          <a:chExt cx="0" cy="0"/>
        </a:xfrm>
      </p:grpSpPr>
      <p:sp>
        <p:nvSpPr>
          <p:cNvPr id="2" name="!!Rule 6ff153ce"/>
          <p:cNvSpPr/>
          <p:nvPr/>
        </p:nvSpPr>
        <p:spPr>
          <a:xfrm>
            <a:off x="457200" y="323850"/>
            <a:ext cx="47625" cy="569714"/>
          </a:xfrm>
          <a:prstGeom prst="rect">
            <a:avLst/>
          </a:prstGeom>
          <a:solidFill>
            <a:srgbClr val="C80E1E"/>
          </a:solidFill>
          <a:ln>
            <a:noFill/>
          </a:ln>
        </p:spPr>
        <p:txBody>
          <a:bodyPr rtlCol="0" anchor="ctr"/>
          <a:lstStyle/>
          <a:p>
            <a:pPr algn="ctr"/>
            <a:endParaRPr/>
          </a:p>
        </p:txBody>
      </p:sp>
      <p:sp>
        <p:nvSpPr>
          <p:cNvPr id="3" name="!!T Meet the Wongs"/>
          <p:cNvSpPr txBox="1"/>
          <p:nvPr/>
        </p:nvSpPr>
        <p:spPr>
          <a:xfrm>
            <a:off x="638175" y="324421"/>
            <a:ext cx="1222233"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Meet the Wongs</a:t>
            </a:r>
          </a:p>
        </p:txBody>
      </p:sp>
      <p:sp>
        <p:nvSpPr>
          <p:cNvPr id="4" name="!!T On paper, the Wongs are secure, for a pl"/>
          <p:cNvSpPr txBox="1"/>
          <p:nvPr/>
        </p:nvSpPr>
        <p:spPr>
          <a:xfrm>
            <a:off x="638175" y="529852"/>
            <a:ext cx="9321835" cy="320421"/>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On paper, the Wongs are secure, for a plan that must last forty years</a:t>
            </a:r>
          </a:p>
        </p:txBody>
      </p:sp>
      <p:sp>
        <p:nvSpPr>
          <p:cNvPr id="5" name="!!Rule 51e91ad5"/>
          <p:cNvSpPr/>
          <p:nvPr/>
        </p:nvSpPr>
        <p:spPr>
          <a:xfrm>
            <a:off x="457200" y="1419820"/>
            <a:ext cx="11277600" cy="9525"/>
          </a:xfrm>
          <a:prstGeom prst="rect">
            <a:avLst/>
          </a:prstGeom>
          <a:solidFill>
            <a:srgbClr val="1B1716"/>
          </a:solidFill>
          <a:ln>
            <a:noFill/>
          </a:ln>
        </p:spPr>
        <p:txBody>
          <a:bodyPr rtlCol="0" anchor="ctr"/>
          <a:lstStyle/>
          <a:p>
            <a:pPr algn="ctr"/>
            <a:endParaRPr/>
          </a:p>
        </p:txBody>
      </p:sp>
      <p:sp>
        <p:nvSpPr>
          <p:cNvPr id="6" name="!!T What they have today…"/>
          <p:cNvSpPr txBox="1"/>
          <p:nvPr/>
        </p:nvSpPr>
        <p:spPr>
          <a:xfrm>
            <a:off x="457200" y="1125545"/>
            <a:ext cx="2027113"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What they have today…</a:t>
            </a:r>
          </a:p>
        </p:txBody>
      </p:sp>
      <p:sp>
        <p:nvSpPr>
          <p:cNvPr id="7" name="!!T What they own"/>
          <p:cNvSpPr txBox="1"/>
          <p:nvPr/>
        </p:nvSpPr>
        <p:spPr>
          <a:xfrm>
            <a:off x="457200" y="1624989"/>
            <a:ext cx="1289438" cy="190500"/>
          </a:xfrm>
          <a:prstGeom prst="rect">
            <a:avLst/>
          </a:prstGeom>
          <a:noFill/>
        </p:spPr>
        <p:txBody>
          <a:bodyPr wrap="none" lIns="0" tIns="0" rIns="0" bIns="0" anchor="t">
            <a:noAutofit/>
          </a:bodyPr>
          <a:lstStyle/>
          <a:p>
            <a:pPr algn="l">
              <a:lnSpc>
                <a:spcPts val="1500"/>
              </a:lnSpc>
              <a:spcBef>
                <a:spcPts val="0"/>
              </a:spcBef>
              <a:spcAft>
                <a:spcPts val="0"/>
              </a:spcAft>
            </a:pPr>
            <a:r>
              <a:rPr sz="1200" b="1" i="0" kern="100">
                <a:solidFill>
                  <a:srgbClr val="1B1716"/>
                </a:solidFill>
                <a:latin typeface="Plus Jakarta Sans"/>
              </a:rPr>
              <a:t>What they own</a:t>
            </a:r>
          </a:p>
        </p:txBody>
      </p:sp>
      <p:sp>
        <p:nvSpPr>
          <p:cNvPr id="8" name="!!T HK$27.2M"/>
          <p:cNvSpPr txBox="1"/>
          <p:nvPr/>
        </p:nvSpPr>
        <p:spPr>
          <a:xfrm>
            <a:off x="457200" y="1820442"/>
            <a:ext cx="815218"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SemiBold"/>
              </a:rPr>
              <a:t>HK$27.2M</a:t>
            </a:r>
          </a:p>
        </p:txBody>
      </p:sp>
      <p:sp>
        <p:nvSpPr>
          <p:cNvPr id="9" name="!!i 4fb58d2d"/>
          <p:cNvSpPr/>
          <p:nvPr/>
        </p:nvSpPr>
        <p:spPr>
          <a:xfrm>
            <a:off x="1943100" y="1581745"/>
            <a:ext cx="2996803" cy="514350"/>
          </a:xfrm>
          <a:prstGeom prst="rect">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10" name="!!T The home"/>
          <p:cNvSpPr txBox="1"/>
          <p:nvPr/>
        </p:nvSpPr>
        <p:spPr>
          <a:xfrm>
            <a:off x="2057400" y="1649373"/>
            <a:ext cx="827050" cy="178594"/>
          </a:xfrm>
          <a:prstGeom prst="rect">
            <a:avLst/>
          </a:prstGeom>
          <a:noFill/>
        </p:spPr>
        <p:txBody>
          <a:bodyPr wrap="none" lIns="0" tIns="0" rIns="0" bIns="0" anchor="t">
            <a:noAutofit/>
          </a:bodyPr>
          <a:lstStyle/>
          <a:p>
            <a:pPr algn="l">
              <a:lnSpc>
                <a:spcPts val="1406"/>
              </a:lnSpc>
              <a:spcBef>
                <a:spcPts val="0"/>
              </a:spcBef>
              <a:spcAft>
                <a:spcPts val="0"/>
              </a:spcAft>
            </a:pPr>
            <a:r>
              <a:rPr sz="1125" b="1" i="0" kern="100">
                <a:solidFill>
                  <a:srgbClr val="FFFFFF"/>
                </a:solidFill>
                <a:latin typeface="Plus Jakarta Sans"/>
              </a:rPr>
              <a:t>The home</a:t>
            </a:r>
          </a:p>
        </p:txBody>
      </p:sp>
      <p:sp>
        <p:nvSpPr>
          <p:cNvPr id="11" name="!!T HK$11.5M"/>
          <p:cNvSpPr txBox="1"/>
          <p:nvPr/>
        </p:nvSpPr>
        <p:spPr>
          <a:xfrm>
            <a:off x="2057400" y="1829729"/>
            <a:ext cx="751326"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FFFFFF"/>
                </a:solidFill>
                <a:latin typeface="Plus Jakarta Sans"/>
              </a:rPr>
              <a:t>HK$11.5M</a:t>
            </a:r>
          </a:p>
        </p:txBody>
      </p:sp>
      <p:sp>
        <p:nvSpPr>
          <p:cNvPr id="12" name="!!i 08516527"/>
          <p:cNvSpPr/>
          <p:nvPr/>
        </p:nvSpPr>
        <p:spPr>
          <a:xfrm>
            <a:off x="4939903" y="1581745"/>
            <a:ext cx="1303139" cy="514350"/>
          </a:xfrm>
          <a:prstGeom prst="rect">
            <a:avLst/>
          </a:prstGeom>
          <a:solidFill>
            <a:srgbClr val="B4535D"/>
          </a:solidFill>
          <a:ln>
            <a:noFill/>
          </a:ln>
        </p:spPr>
        <p:txBody>
          <a:bodyPr rtlCol="0" anchor="ctr"/>
          <a:lstStyle/>
          <a:p>
            <a:pPr algn="ctr"/>
            <a:endParaRPr/>
          </a:p>
        </p:txBody>
      </p:sp>
      <p:sp>
        <p:nvSpPr>
          <p:cNvPr id="13" name="!!Rule 029e13c9"/>
          <p:cNvSpPr/>
          <p:nvPr/>
        </p:nvSpPr>
        <p:spPr>
          <a:xfrm>
            <a:off x="4939903" y="1581745"/>
            <a:ext cx="19050" cy="514350"/>
          </a:xfrm>
          <a:prstGeom prst="rect">
            <a:avLst/>
          </a:prstGeom>
          <a:solidFill>
            <a:srgbClr val="FFFFFF"/>
          </a:solidFill>
          <a:ln>
            <a:noFill/>
          </a:ln>
        </p:spPr>
        <p:txBody>
          <a:bodyPr rtlCol="0" anchor="ctr"/>
          <a:lstStyle/>
          <a:p>
            <a:pPr algn="ctr"/>
            <a:endParaRPr/>
          </a:p>
        </p:txBody>
      </p:sp>
      <p:sp>
        <p:nvSpPr>
          <p:cNvPr id="14" name="!!T The business"/>
          <p:cNvSpPr txBox="1"/>
          <p:nvPr/>
        </p:nvSpPr>
        <p:spPr>
          <a:xfrm>
            <a:off x="5073253" y="1649373"/>
            <a:ext cx="1051697" cy="178594"/>
          </a:xfrm>
          <a:prstGeom prst="rect">
            <a:avLst/>
          </a:prstGeom>
          <a:noFill/>
        </p:spPr>
        <p:txBody>
          <a:bodyPr wrap="none" lIns="0" tIns="0" rIns="0" bIns="0" anchor="t">
            <a:noAutofit/>
          </a:bodyPr>
          <a:lstStyle/>
          <a:p>
            <a:pPr algn="l">
              <a:lnSpc>
                <a:spcPts val="1406"/>
              </a:lnSpc>
              <a:spcBef>
                <a:spcPts val="0"/>
              </a:spcBef>
              <a:spcAft>
                <a:spcPts val="0"/>
              </a:spcAft>
            </a:pPr>
            <a:r>
              <a:rPr sz="1125" b="1" i="0" kern="100">
                <a:solidFill>
                  <a:srgbClr val="FFFFFF"/>
                </a:solidFill>
                <a:latin typeface="Plus Jakarta Sans"/>
              </a:rPr>
              <a:t>The business</a:t>
            </a:r>
          </a:p>
        </p:txBody>
      </p:sp>
      <p:sp>
        <p:nvSpPr>
          <p:cNvPr id="15" name="!!T HK$5.0M"/>
          <p:cNvSpPr txBox="1"/>
          <p:nvPr/>
        </p:nvSpPr>
        <p:spPr>
          <a:xfrm>
            <a:off x="5073253" y="1829729"/>
            <a:ext cx="749906"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FFFFFF"/>
                </a:solidFill>
                <a:latin typeface="Plus Jakarta Sans"/>
              </a:rPr>
              <a:t>HK$5.0M</a:t>
            </a:r>
          </a:p>
        </p:txBody>
      </p:sp>
      <p:sp>
        <p:nvSpPr>
          <p:cNvPr id="16" name="!!i 813ebadc"/>
          <p:cNvSpPr/>
          <p:nvPr/>
        </p:nvSpPr>
        <p:spPr>
          <a:xfrm>
            <a:off x="6243042" y="1581745"/>
            <a:ext cx="1595140" cy="514350"/>
          </a:xfrm>
          <a:prstGeom prst="rect">
            <a:avLst/>
          </a:prstGeom>
          <a:solidFill>
            <a:srgbClr val="D3A6AD"/>
          </a:solidFill>
          <a:ln>
            <a:noFill/>
          </a:ln>
        </p:spPr>
        <p:txBody>
          <a:bodyPr rtlCol="0" anchor="ctr"/>
          <a:lstStyle/>
          <a:p>
            <a:pPr algn="ctr"/>
            <a:endParaRPr/>
          </a:p>
        </p:txBody>
      </p:sp>
      <p:sp>
        <p:nvSpPr>
          <p:cNvPr id="17" name="!!Rule 24d0fa7c"/>
          <p:cNvSpPr/>
          <p:nvPr/>
        </p:nvSpPr>
        <p:spPr>
          <a:xfrm>
            <a:off x="6243042" y="1581745"/>
            <a:ext cx="19050" cy="514350"/>
          </a:xfrm>
          <a:prstGeom prst="rect">
            <a:avLst/>
          </a:prstGeom>
          <a:solidFill>
            <a:srgbClr val="FFFFFF"/>
          </a:solidFill>
          <a:ln>
            <a:noFill/>
          </a:ln>
        </p:spPr>
        <p:txBody>
          <a:bodyPr rtlCol="0" anchor="ctr"/>
          <a:lstStyle/>
          <a:p>
            <a:pPr algn="ctr"/>
            <a:endParaRPr/>
          </a:p>
        </p:txBody>
      </p:sp>
      <p:sp>
        <p:nvSpPr>
          <p:cNvPr id="18" name="!!T Investments"/>
          <p:cNvSpPr txBox="1"/>
          <p:nvPr/>
        </p:nvSpPr>
        <p:spPr>
          <a:xfrm>
            <a:off x="6376392" y="1649373"/>
            <a:ext cx="1025036" cy="178594"/>
          </a:xfrm>
          <a:prstGeom prst="rect">
            <a:avLst/>
          </a:prstGeom>
          <a:noFill/>
        </p:spPr>
        <p:txBody>
          <a:bodyPr wrap="none" lIns="0" tIns="0" rIns="0" bIns="0" anchor="t">
            <a:noAutofit/>
          </a:bodyPr>
          <a:lstStyle/>
          <a:p>
            <a:pPr algn="l">
              <a:lnSpc>
                <a:spcPts val="1406"/>
              </a:lnSpc>
              <a:spcBef>
                <a:spcPts val="0"/>
              </a:spcBef>
              <a:spcAft>
                <a:spcPts val="0"/>
              </a:spcAft>
            </a:pPr>
            <a:r>
              <a:rPr sz="1125" b="1" i="0" kern="100">
                <a:solidFill>
                  <a:srgbClr val="1B1716"/>
                </a:solidFill>
                <a:latin typeface="Plus Jakarta Sans"/>
              </a:rPr>
              <a:t>Investments</a:t>
            </a:r>
          </a:p>
        </p:txBody>
      </p:sp>
      <p:sp>
        <p:nvSpPr>
          <p:cNvPr id="19" name="!!T HK$6.1M"/>
          <p:cNvSpPr txBox="1"/>
          <p:nvPr/>
        </p:nvSpPr>
        <p:spPr>
          <a:xfrm>
            <a:off x="6376392" y="1829729"/>
            <a:ext cx="693429"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a:rPr>
              <a:t>HK$6.1M</a:t>
            </a:r>
          </a:p>
        </p:txBody>
      </p:sp>
      <p:sp>
        <p:nvSpPr>
          <p:cNvPr id="20" name="!!i 41bc7407"/>
          <p:cNvSpPr/>
          <p:nvPr/>
        </p:nvSpPr>
        <p:spPr>
          <a:xfrm>
            <a:off x="7838182" y="1581745"/>
            <a:ext cx="481757" cy="514350"/>
          </a:xfrm>
          <a:prstGeom prst="rect">
            <a:avLst/>
          </a:prstGeom>
          <a:solidFill>
            <a:srgbClr val="EFD9DC"/>
          </a:solidFill>
          <a:ln>
            <a:noFill/>
          </a:ln>
        </p:spPr>
        <p:txBody>
          <a:bodyPr rtlCol="0" anchor="ctr"/>
          <a:lstStyle/>
          <a:p>
            <a:pPr algn="ctr"/>
            <a:endParaRPr/>
          </a:p>
        </p:txBody>
      </p:sp>
      <p:sp>
        <p:nvSpPr>
          <p:cNvPr id="21" name="!!Rule 92e62bfc"/>
          <p:cNvSpPr/>
          <p:nvPr/>
        </p:nvSpPr>
        <p:spPr>
          <a:xfrm>
            <a:off x="7838182" y="1581745"/>
            <a:ext cx="19050" cy="514350"/>
          </a:xfrm>
          <a:prstGeom prst="rect">
            <a:avLst/>
          </a:prstGeom>
          <a:solidFill>
            <a:srgbClr val="FFFFFF"/>
          </a:solidFill>
          <a:ln>
            <a:noFill/>
          </a:ln>
        </p:spPr>
        <p:txBody>
          <a:bodyPr rtlCol="0" anchor="ctr"/>
          <a:lstStyle/>
          <a:p>
            <a:pPr algn="ctr"/>
            <a:endParaRPr/>
          </a:p>
        </p:txBody>
      </p:sp>
      <p:sp>
        <p:nvSpPr>
          <p:cNvPr id="22" name="!!i ec5ec3db"/>
          <p:cNvSpPr/>
          <p:nvPr/>
        </p:nvSpPr>
        <p:spPr>
          <a:xfrm>
            <a:off x="8319939" y="1581745"/>
            <a:ext cx="651123" cy="514350"/>
          </a:xfrm>
          <a:prstGeom prst="rect">
            <a:avLst/>
          </a:prstGeom>
          <a:solidFill>
            <a:srgbClr val="E6CDD1"/>
          </a:solidFill>
          <a:ln>
            <a:noFill/>
          </a:ln>
        </p:spPr>
        <p:txBody>
          <a:bodyPr rtlCol="0" anchor="ctr"/>
          <a:lstStyle/>
          <a:p>
            <a:pPr algn="ctr"/>
            <a:endParaRPr/>
          </a:p>
        </p:txBody>
      </p:sp>
      <p:sp>
        <p:nvSpPr>
          <p:cNvPr id="23" name="!!Rule 3b47d71b"/>
          <p:cNvSpPr/>
          <p:nvPr/>
        </p:nvSpPr>
        <p:spPr>
          <a:xfrm>
            <a:off x="8319939" y="1581745"/>
            <a:ext cx="19050" cy="514350"/>
          </a:xfrm>
          <a:prstGeom prst="rect">
            <a:avLst/>
          </a:prstGeom>
          <a:solidFill>
            <a:srgbClr val="FFFFFF"/>
          </a:solidFill>
          <a:ln>
            <a:noFill/>
          </a:ln>
        </p:spPr>
        <p:txBody>
          <a:bodyPr rtlCol="0" anchor="ctr"/>
          <a:lstStyle/>
          <a:p>
            <a:pPr algn="ctr"/>
            <a:endParaRPr/>
          </a:p>
        </p:txBody>
      </p:sp>
      <p:sp>
        <p:nvSpPr>
          <p:cNvPr id="24" name="!!i 1e5b7260"/>
          <p:cNvSpPr/>
          <p:nvPr/>
        </p:nvSpPr>
        <p:spPr>
          <a:xfrm>
            <a:off x="8971062" y="1581745"/>
            <a:ext cx="57299" cy="514350"/>
          </a:xfrm>
          <a:prstGeom prst="rect">
            <a:avLst/>
          </a:prstGeom>
          <a:solidFill>
            <a:srgbClr val="B5979D"/>
          </a:solidFill>
          <a:ln>
            <a:noFill/>
          </a:ln>
        </p:spPr>
        <p:txBody>
          <a:bodyPr rtlCol="0" anchor="ctr"/>
          <a:lstStyle/>
          <a:p>
            <a:pPr algn="ctr"/>
            <a:endParaRPr/>
          </a:p>
        </p:txBody>
      </p:sp>
      <p:sp>
        <p:nvSpPr>
          <p:cNvPr id="25" name="!!Rule 15f016e0"/>
          <p:cNvSpPr/>
          <p:nvPr/>
        </p:nvSpPr>
        <p:spPr>
          <a:xfrm>
            <a:off x="8971062" y="1581745"/>
            <a:ext cx="19050" cy="514350"/>
          </a:xfrm>
          <a:prstGeom prst="rect">
            <a:avLst/>
          </a:prstGeom>
          <a:solidFill>
            <a:srgbClr val="FFFFFF"/>
          </a:solidFill>
          <a:ln>
            <a:noFill/>
          </a:ln>
        </p:spPr>
        <p:txBody>
          <a:bodyPr rtlCol="0" anchor="ctr"/>
          <a:lstStyle/>
          <a:p>
            <a:pPr algn="ctr"/>
            <a:endParaRPr/>
          </a:p>
        </p:txBody>
      </p:sp>
      <p:sp>
        <p:nvSpPr>
          <p:cNvPr id="26" name="!!Rule 9c54e67f"/>
          <p:cNvSpPr/>
          <p:nvPr/>
        </p:nvSpPr>
        <p:spPr>
          <a:xfrm>
            <a:off x="7838331" y="2096095"/>
            <a:ext cx="9525" cy="211336"/>
          </a:xfrm>
          <a:prstGeom prst="rect">
            <a:avLst/>
          </a:prstGeom>
          <a:solidFill>
            <a:srgbClr val="B5979D"/>
          </a:solidFill>
          <a:ln>
            <a:noFill/>
          </a:ln>
        </p:spPr>
        <p:txBody>
          <a:bodyPr rtlCol="0" anchor="ctr"/>
          <a:lstStyle/>
          <a:p>
            <a:pPr algn="ctr"/>
            <a:endParaRPr/>
          </a:p>
        </p:txBody>
      </p:sp>
      <p:sp>
        <p:nvSpPr>
          <p:cNvPr id="27" name="!!T MPF, HK$1.9M"/>
          <p:cNvSpPr txBox="1"/>
          <p:nvPr/>
        </p:nvSpPr>
        <p:spPr>
          <a:xfrm>
            <a:off x="7914531" y="2125242"/>
            <a:ext cx="1060531"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SemiBold"/>
              </a:rPr>
              <a:t>MPF,</a:t>
            </a:r>
            <a:r>
              <a:rPr sz="1050" b="0" i="0" kern="100">
                <a:solidFill>
                  <a:srgbClr val="80606A"/>
                </a:solidFill>
                <a:latin typeface="Plus Jakarta Sans"/>
              </a:rPr>
              <a:t> HK$1.9M</a:t>
            </a:r>
          </a:p>
        </p:txBody>
      </p:sp>
      <p:sp>
        <p:nvSpPr>
          <p:cNvPr id="28" name="!!Rule 44c26aef"/>
          <p:cNvSpPr/>
          <p:nvPr/>
        </p:nvSpPr>
        <p:spPr>
          <a:xfrm>
            <a:off x="8962876" y="2096095"/>
            <a:ext cx="9525" cy="420886"/>
          </a:xfrm>
          <a:prstGeom prst="rect">
            <a:avLst/>
          </a:prstGeom>
          <a:solidFill>
            <a:srgbClr val="B5979D"/>
          </a:solidFill>
          <a:ln>
            <a:noFill/>
          </a:ln>
        </p:spPr>
        <p:txBody>
          <a:bodyPr rtlCol="0" anchor="ctr"/>
          <a:lstStyle/>
          <a:p>
            <a:pPr algn="ctr"/>
            <a:endParaRPr/>
          </a:p>
        </p:txBody>
      </p:sp>
      <p:sp>
        <p:nvSpPr>
          <p:cNvPr id="29" name="!!T Cash, HK$2.5M: 30 months of spending"/>
          <p:cNvSpPr txBox="1"/>
          <p:nvPr/>
        </p:nvSpPr>
        <p:spPr>
          <a:xfrm>
            <a:off x="6107433" y="2334792"/>
            <a:ext cx="2788768" cy="173355"/>
          </a:xfrm>
          <a:prstGeom prst="rect">
            <a:avLst/>
          </a:prstGeom>
          <a:noFill/>
        </p:spPr>
        <p:txBody>
          <a:bodyPr wrap="none" lIns="0" tIns="0" rIns="0" bIns="0" anchor="t">
            <a:noAutofit/>
          </a:bodyPr>
          <a:lstStyle/>
          <a:p>
            <a:pPr algn="r">
              <a:lnSpc>
                <a:spcPts val="1364"/>
              </a:lnSpc>
              <a:spcBef>
                <a:spcPts val="0"/>
              </a:spcBef>
              <a:spcAft>
                <a:spcPts val="0"/>
              </a:spcAft>
            </a:pPr>
            <a:r>
              <a:rPr sz="1050" b="0" i="0" kern="100">
                <a:solidFill>
                  <a:srgbClr val="1B1716"/>
                </a:solidFill>
                <a:latin typeface="Plus Jakarta Sans SemiBold"/>
              </a:rPr>
              <a:t>Cash, HK$2.5M:</a:t>
            </a:r>
            <a:r>
              <a:rPr sz="1050" b="0" i="0" kern="100">
                <a:solidFill>
                  <a:srgbClr val="80606A"/>
                </a:solidFill>
                <a:latin typeface="Plus Jakarta Sans"/>
              </a:rPr>
              <a:t> 30 months of spending</a:t>
            </a:r>
          </a:p>
        </p:txBody>
      </p:sp>
      <p:sp>
        <p:nvSpPr>
          <p:cNvPr id="30" name="!!Rule ab87bb48"/>
          <p:cNvSpPr/>
          <p:nvPr/>
        </p:nvSpPr>
        <p:spPr>
          <a:xfrm>
            <a:off x="9258300" y="1581745"/>
            <a:ext cx="9525" cy="1575197"/>
          </a:xfrm>
          <a:prstGeom prst="rect">
            <a:avLst/>
          </a:prstGeom>
          <a:solidFill>
            <a:srgbClr val="ECDADD"/>
          </a:solidFill>
          <a:ln>
            <a:noFill/>
          </a:ln>
        </p:spPr>
        <p:txBody>
          <a:bodyPr rtlCol="0" anchor="ctr"/>
          <a:lstStyle/>
          <a:p>
            <a:pPr algn="ctr"/>
            <a:endParaRPr/>
          </a:p>
        </p:txBody>
      </p:sp>
      <p:sp>
        <p:nvSpPr>
          <p:cNvPr id="31" name="!!T HK$24.4M"/>
          <p:cNvSpPr txBox="1"/>
          <p:nvPr/>
        </p:nvSpPr>
        <p:spPr>
          <a:xfrm>
            <a:off x="9439275" y="1568601"/>
            <a:ext cx="2520580" cy="457200"/>
          </a:xfrm>
          <a:prstGeom prst="rect">
            <a:avLst/>
          </a:prstGeom>
          <a:noFill/>
        </p:spPr>
        <p:txBody>
          <a:bodyPr wrap="none" lIns="0" tIns="0" rIns="0" bIns="0" anchor="t">
            <a:noAutofit/>
          </a:bodyPr>
          <a:lstStyle/>
          <a:p>
            <a:pPr algn="l">
              <a:lnSpc>
                <a:spcPts val="3600"/>
              </a:lnSpc>
              <a:spcBef>
                <a:spcPts val="0"/>
              </a:spcBef>
              <a:spcAft>
                <a:spcPts val="0"/>
              </a:spcAft>
            </a:pPr>
            <a:r>
              <a:rPr sz="3600" b="1" i="0" kern="100" spc="-112">
                <a:solidFill>
                  <a:srgbClr val="C80E1E"/>
                </a:solidFill>
                <a:latin typeface="Plus Jakarta Sans"/>
              </a:rPr>
              <a:t>HK$24.4M</a:t>
            </a:r>
          </a:p>
        </p:txBody>
      </p:sp>
      <p:sp>
        <p:nvSpPr>
          <p:cNvPr id="32" name="!!T net worth today"/>
          <p:cNvSpPr txBox="1"/>
          <p:nvPr/>
        </p:nvSpPr>
        <p:spPr>
          <a:xfrm>
            <a:off x="9439275" y="2101239"/>
            <a:ext cx="1373050" cy="190500"/>
          </a:xfrm>
          <a:prstGeom prst="rect">
            <a:avLst/>
          </a:prstGeom>
          <a:noFill/>
        </p:spPr>
        <p:txBody>
          <a:bodyPr wrap="none" lIns="0" tIns="0" rIns="0" bIns="0" anchor="t">
            <a:noAutofit/>
          </a:bodyPr>
          <a:lstStyle/>
          <a:p>
            <a:pPr algn="l">
              <a:lnSpc>
                <a:spcPts val="1500"/>
              </a:lnSpc>
              <a:spcBef>
                <a:spcPts val="0"/>
              </a:spcBef>
              <a:spcAft>
                <a:spcPts val="0"/>
              </a:spcAft>
            </a:pPr>
            <a:r>
              <a:rPr sz="1200" b="1" i="0" kern="100">
                <a:solidFill>
                  <a:srgbClr val="1B1716"/>
                </a:solidFill>
                <a:latin typeface="Plus Jakarta Sans"/>
              </a:rPr>
              <a:t>net worth today</a:t>
            </a:r>
          </a:p>
        </p:txBody>
      </p:sp>
      <p:sp>
        <p:nvSpPr>
          <p:cNvPr id="33" name="!!T what they own, less what they owe"/>
          <p:cNvSpPr txBox="1"/>
          <p:nvPr/>
        </p:nvSpPr>
        <p:spPr>
          <a:xfrm>
            <a:off x="9439275" y="2296692"/>
            <a:ext cx="238695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a:rPr>
              <a:t>what they own, less what they owe</a:t>
            </a:r>
          </a:p>
        </p:txBody>
      </p:sp>
      <p:sp>
        <p:nvSpPr>
          <p:cNvPr id="34" name="!!Rule e85b9e59"/>
          <p:cNvSpPr/>
          <p:nvPr/>
        </p:nvSpPr>
        <p:spPr>
          <a:xfrm>
            <a:off x="9439275" y="2593181"/>
            <a:ext cx="2295525" cy="9525"/>
          </a:xfrm>
          <a:prstGeom prst="rect">
            <a:avLst/>
          </a:prstGeom>
          <a:solidFill>
            <a:srgbClr val="ECDADD"/>
          </a:solidFill>
          <a:ln>
            <a:noFill/>
          </a:ln>
        </p:spPr>
        <p:txBody>
          <a:bodyPr rtlCol="0" anchor="ctr"/>
          <a:lstStyle/>
          <a:p>
            <a:pPr algn="ctr"/>
            <a:endParaRPr/>
          </a:p>
        </p:txBody>
      </p:sp>
      <p:sp>
        <p:nvSpPr>
          <p:cNvPr id="35" name="!!T 41%"/>
          <p:cNvSpPr txBox="1"/>
          <p:nvPr/>
        </p:nvSpPr>
        <p:spPr>
          <a:xfrm>
            <a:off x="9439275" y="2677192"/>
            <a:ext cx="708889" cy="266700"/>
          </a:xfrm>
          <a:prstGeom prst="rect">
            <a:avLst/>
          </a:prstGeom>
          <a:noFill/>
        </p:spPr>
        <p:txBody>
          <a:bodyPr wrap="none" lIns="0" tIns="0" rIns="0" bIns="0" anchor="t">
            <a:noAutofit/>
          </a:bodyPr>
          <a:lstStyle/>
          <a:p>
            <a:pPr algn="l">
              <a:lnSpc>
                <a:spcPts val="2100"/>
              </a:lnSpc>
              <a:spcBef>
                <a:spcPts val="0"/>
              </a:spcBef>
              <a:spcAft>
                <a:spcPts val="0"/>
              </a:spcAft>
            </a:pPr>
            <a:r>
              <a:rPr sz="2100" b="1" i="0" kern="100">
                <a:solidFill>
                  <a:srgbClr val="1B1716"/>
                </a:solidFill>
                <a:latin typeface="Plus Jakarta Sans"/>
              </a:rPr>
              <a:t>41%</a:t>
            </a:r>
          </a:p>
        </p:txBody>
      </p:sp>
      <p:sp>
        <p:nvSpPr>
          <p:cNvPr id="36" name="!!T of after-tax income saved each year"/>
          <p:cNvSpPr txBox="1"/>
          <p:nvPr/>
        </p:nvSpPr>
        <p:spPr>
          <a:xfrm>
            <a:off x="9439275" y="2974753"/>
            <a:ext cx="2508906"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a:rPr>
              <a:t>of after-tax income saved each year</a:t>
            </a:r>
          </a:p>
        </p:txBody>
      </p:sp>
      <p:sp>
        <p:nvSpPr>
          <p:cNvPr id="37" name="!!T What they owe"/>
          <p:cNvSpPr txBox="1"/>
          <p:nvPr/>
        </p:nvSpPr>
        <p:spPr>
          <a:xfrm>
            <a:off x="457200" y="2726019"/>
            <a:ext cx="1290858" cy="190500"/>
          </a:xfrm>
          <a:prstGeom prst="rect">
            <a:avLst/>
          </a:prstGeom>
          <a:noFill/>
        </p:spPr>
        <p:txBody>
          <a:bodyPr wrap="none" lIns="0" tIns="0" rIns="0" bIns="0" anchor="t">
            <a:noAutofit/>
          </a:bodyPr>
          <a:lstStyle/>
          <a:p>
            <a:pPr algn="l">
              <a:lnSpc>
                <a:spcPts val="1500"/>
              </a:lnSpc>
              <a:spcBef>
                <a:spcPts val="0"/>
              </a:spcBef>
              <a:spcAft>
                <a:spcPts val="0"/>
              </a:spcAft>
            </a:pPr>
            <a:r>
              <a:rPr sz="1200" b="1" i="0" kern="100">
                <a:solidFill>
                  <a:srgbClr val="1B1716"/>
                </a:solidFill>
                <a:latin typeface="Plus Jakarta Sans"/>
              </a:rPr>
              <a:t>What they owe</a:t>
            </a:r>
          </a:p>
        </p:txBody>
      </p:sp>
      <p:sp>
        <p:nvSpPr>
          <p:cNvPr id="38" name="!!T HK$2.8M"/>
          <p:cNvSpPr txBox="1"/>
          <p:nvPr/>
        </p:nvSpPr>
        <p:spPr>
          <a:xfrm>
            <a:off x="457200" y="2921472"/>
            <a:ext cx="749275"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SemiBold"/>
              </a:rPr>
              <a:t>HK$2.8M</a:t>
            </a:r>
          </a:p>
        </p:txBody>
      </p:sp>
      <p:sp>
        <p:nvSpPr>
          <p:cNvPr id="39" name="!!i 10cf17ab"/>
          <p:cNvSpPr/>
          <p:nvPr/>
        </p:nvSpPr>
        <p:spPr>
          <a:xfrm>
            <a:off x="1943100" y="2682776"/>
            <a:ext cx="469106" cy="266700"/>
          </a:xfrm>
          <a:prstGeom prst="rect">
            <a:avLst/>
          </a:prstGeom>
          <a:solidFill>
            <a:srgbClr val="80606A"/>
          </a:solidFill>
          <a:ln>
            <a:noFill/>
          </a:ln>
        </p:spPr>
        <p:txBody>
          <a:bodyPr rtlCol="0" anchor="ctr"/>
          <a:lstStyle/>
          <a:p>
            <a:pPr algn="ctr"/>
            <a:endParaRPr/>
          </a:p>
        </p:txBody>
      </p:sp>
      <p:sp>
        <p:nvSpPr>
          <p:cNvPr id="40" name="!!i 9775f138"/>
          <p:cNvSpPr/>
          <p:nvPr/>
        </p:nvSpPr>
        <p:spPr>
          <a:xfrm>
            <a:off x="2412206" y="2682776"/>
            <a:ext cx="234553" cy="266700"/>
          </a:xfrm>
          <a:prstGeom prst="rect">
            <a:avLst/>
          </a:prstGeom>
          <a:solidFill>
            <a:srgbClr val="80606A"/>
          </a:solidFill>
          <a:ln>
            <a:noFill/>
          </a:ln>
        </p:spPr>
        <p:txBody>
          <a:bodyPr rtlCol="0" anchor="ctr"/>
          <a:lstStyle/>
          <a:p>
            <a:pPr algn="ctr"/>
            <a:endParaRPr/>
          </a:p>
        </p:txBody>
      </p:sp>
      <p:sp>
        <p:nvSpPr>
          <p:cNvPr id="41" name="!!Rule 2a2f75fe"/>
          <p:cNvSpPr/>
          <p:nvPr/>
        </p:nvSpPr>
        <p:spPr>
          <a:xfrm>
            <a:off x="2412206" y="2682776"/>
            <a:ext cx="19050" cy="266700"/>
          </a:xfrm>
          <a:prstGeom prst="rect">
            <a:avLst/>
          </a:prstGeom>
          <a:solidFill>
            <a:srgbClr val="FFFFFF"/>
          </a:solidFill>
          <a:ln>
            <a:noFill/>
          </a:ln>
        </p:spPr>
        <p:txBody>
          <a:bodyPr rtlCol="0" anchor="ctr"/>
          <a:lstStyle/>
          <a:p>
            <a:pPr algn="ctr"/>
            <a:endParaRPr/>
          </a:p>
        </p:txBody>
      </p:sp>
      <p:sp>
        <p:nvSpPr>
          <p:cNvPr id="42" name="!!i 34dd1154"/>
          <p:cNvSpPr/>
          <p:nvPr/>
        </p:nvSpPr>
        <p:spPr>
          <a:xfrm>
            <a:off x="2646759" y="2682776"/>
            <a:ext cx="21878" cy="266700"/>
          </a:xfrm>
          <a:prstGeom prst="rect">
            <a:avLst/>
          </a:prstGeom>
          <a:solidFill>
            <a:srgbClr val="80606A"/>
          </a:solidFill>
          <a:ln>
            <a:noFill/>
          </a:ln>
        </p:spPr>
        <p:txBody>
          <a:bodyPr rtlCol="0" anchor="ctr"/>
          <a:lstStyle/>
          <a:p>
            <a:pPr algn="ctr"/>
            <a:endParaRPr/>
          </a:p>
        </p:txBody>
      </p:sp>
      <p:sp>
        <p:nvSpPr>
          <p:cNvPr id="43" name="!!Rule 9312a44d"/>
          <p:cNvSpPr/>
          <p:nvPr/>
        </p:nvSpPr>
        <p:spPr>
          <a:xfrm>
            <a:off x="2646759" y="2682776"/>
            <a:ext cx="19050" cy="266700"/>
          </a:xfrm>
          <a:prstGeom prst="rect">
            <a:avLst/>
          </a:prstGeom>
          <a:solidFill>
            <a:srgbClr val="FFFFFF"/>
          </a:solidFill>
          <a:ln>
            <a:noFill/>
          </a:ln>
        </p:spPr>
        <p:txBody>
          <a:bodyPr rtlCol="0" anchor="ctr"/>
          <a:lstStyle/>
          <a:p>
            <a:pPr algn="ctr"/>
            <a:endParaRPr/>
          </a:p>
        </p:txBody>
      </p:sp>
      <p:sp>
        <p:nvSpPr>
          <p:cNvPr id="44" name="!!T 10% of what they own: the mortgage, a bu"/>
          <p:cNvSpPr txBox="1"/>
          <p:nvPr/>
        </p:nvSpPr>
        <p:spPr>
          <a:xfrm>
            <a:off x="2782937" y="2720554"/>
            <a:ext cx="4707734"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SemiBold"/>
              </a:rPr>
              <a:t>10% of what they own:</a:t>
            </a:r>
            <a:r>
              <a:rPr sz="1050" b="0" i="0" kern="100">
                <a:solidFill>
                  <a:srgbClr val="80606A"/>
                </a:solidFill>
                <a:latin typeface="Plus Jakarta Sans"/>
              </a:rPr>
              <a:t> the mortgage, a business loan, a card balance</a:t>
            </a:r>
          </a:p>
        </p:txBody>
      </p:sp>
      <p:sp>
        <p:nvSpPr>
          <p:cNvPr id="45" name="!!Rule 3bf3fecc"/>
          <p:cNvSpPr/>
          <p:nvPr/>
        </p:nvSpPr>
        <p:spPr>
          <a:xfrm>
            <a:off x="457200" y="3629025"/>
            <a:ext cx="11277600" cy="9525"/>
          </a:xfrm>
          <a:prstGeom prst="rect">
            <a:avLst/>
          </a:prstGeom>
          <a:solidFill>
            <a:srgbClr val="181818">
              <a:alpha val="30000"/>
            </a:srgbClr>
          </a:solidFill>
          <a:ln>
            <a:noFill/>
          </a:ln>
        </p:spPr>
        <p:txBody>
          <a:bodyPr rtlCol="0" anchor="ctr"/>
          <a:lstStyle/>
          <a:p>
            <a:pPr algn="ctr"/>
            <a:endParaRPr/>
          </a:p>
        </p:txBody>
      </p:sp>
      <p:sp>
        <p:nvSpPr>
          <p:cNvPr id="46" name="!!Rule 167e5300"/>
          <p:cNvSpPr/>
          <p:nvPr/>
        </p:nvSpPr>
        <p:spPr>
          <a:xfrm>
            <a:off x="457200" y="3629025"/>
            <a:ext cx="11277600" cy="9525"/>
          </a:xfrm>
          <a:prstGeom prst="rect">
            <a:avLst/>
          </a:prstGeom>
          <a:solidFill>
            <a:srgbClr val="1B1716"/>
          </a:solidFill>
          <a:ln>
            <a:noFill/>
          </a:ln>
        </p:spPr>
        <p:txBody>
          <a:bodyPr rtlCol="0" anchor="ctr"/>
          <a:lstStyle/>
          <a:p>
            <a:pPr algn="ctr"/>
            <a:endParaRPr/>
          </a:p>
        </p:txBody>
      </p:sp>
      <p:sp>
        <p:nvSpPr>
          <p:cNvPr id="47" name="!!T …and the forty years it has to last"/>
          <p:cNvSpPr txBox="1"/>
          <p:nvPr/>
        </p:nvSpPr>
        <p:spPr>
          <a:xfrm>
            <a:off x="457200" y="3334750"/>
            <a:ext cx="2778987"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81818">
                    <a:alpha val="30000"/>
                  </a:srgbClr>
                </a:solidFill>
                <a:latin typeface="Plus Jakarta Sans SemiBold"/>
              </a:rPr>
              <a:t>…and the forty years it has to last</a:t>
            </a:r>
          </a:p>
        </p:txBody>
      </p:sp>
      <p:sp>
        <p:nvSpPr>
          <p:cNvPr id="48" name="!!T …and the forty years it has to last #2"/>
          <p:cNvSpPr txBox="1"/>
          <p:nvPr/>
        </p:nvSpPr>
        <p:spPr>
          <a:xfrm>
            <a:off x="457200" y="3334750"/>
            <a:ext cx="2778987"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…and the forty years it has to last</a:t>
            </a:r>
          </a:p>
        </p:txBody>
      </p:sp>
      <p:sp>
        <p:nvSpPr>
          <p:cNvPr id="49" name="!!i 4c36ba9c"/>
          <p:cNvSpPr/>
          <p:nvPr/>
        </p:nvSpPr>
        <p:spPr>
          <a:xfrm>
            <a:off x="4289524" y="4591050"/>
            <a:ext cx="7445127" cy="190500"/>
          </a:xfrm>
          <a:prstGeom prst="rect">
            <a:avLst/>
          </a:prstGeom>
          <a:solidFill>
            <a:srgbClr val="E0E0E0">
              <a:alpha val="30000"/>
            </a:srgbClr>
          </a:solidFill>
          <a:ln>
            <a:noFill/>
          </a:ln>
        </p:spPr>
        <p:txBody>
          <a:bodyPr rtlCol="0" anchor="ctr"/>
          <a:lstStyle/>
          <a:p>
            <a:pPr algn="ctr"/>
            <a:endParaRPr/>
          </a:p>
        </p:txBody>
      </p:sp>
      <p:sp>
        <p:nvSpPr>
          <p:cNvPr id="50" name="!!i 22515991"/>
          <p:cNvSpPr/>
          <p:nvPr/>
        </p:nvSpPr>
        <p:spPr>
          <a:xfrm>
            <a:off x="4289524" y="4591050"/>
            <a:ext cx="7445127" cy="190500"/>
          </a:xfrm>
          <a:prstGeom prst="rect">
            <a:avLst/>
          </a:prstGeom>
          <a:solidFill>
            <a:srgbClr val="EFD9DC"/>
          </a:solidFill>
          <a:ln>
            <a:noFill/>
          </a:ln>
        </p:spPr>
        <p:txBody>
          <a:bodyPr rtlCol="0" anchor="ctr"/>
          <a:lstStyle/>
          <a:p>
            <a:pPr algn="ctr"/>
            <a:endParaRPr/>
          </a:p>
        </p:txBody>
      </p:sp>
      <p:sp>
        <p:nvSpPr>
          <p:cNvPr id="51" name="!!i 430e609f"/>
          <p:cNvSpPr/>
          <p:nvPr/>
        </p:nvSpPr>
        <p:spPr>
          <a:xfrm>
            <a:off x="704850" y="4672012"/>
            <a:ext cx="11029950" cy="28575"/>
          </a:xfrm>
          <a:prstGeom prst="rect">
            <a:avLst/>
          </a:prstGeom>
          <a:solidFill>
            <a:srgbClr val="181818">
              <a:alpha val="30000"/>
            </a:srgbClr>
          </a:solidFill>
          <a:ln>
            <a:noFill/>
          </a:ln>
        </p:spPr>
        <p:txBody>
          <a:bodyPr rtlCol="0" anchor="ctr"/>
          <a:lstStyle/>
          <a:p>
            <a:pPr algn="ctr"/>
            <a:endParaRPr/>
          </a:p>
        </p:txBody>
      </p:sp>
      <p:sp>
        <p:nvSpPr>
          <p:cNvPr id="52" name="!!i 91c6b93e"/>
          <p:cNvSpPr/>
          <p:nvPr/>
        </p:nvSpPr>
        <p:spPr>
          <a:xfrm>
            <a:off x="704850" y="4672012"/>
            <a:ext cx="11029950" cy="28575"/>
          </a:xfrm>
          <a:prstGeom prst="rect">
            <a:avLst/>
          </a:prstGeom>
          <a:solidFill>
            <a:srgbClr val="1B1716"/>
          </a:solidFill>
          <a:ln>
            <a:noFill/>
          </a:ln>
        </p:spPr>
        <p:txBody>
          <a:bodyPr rtlCol="0" anchor="ctr"/>
          <a:lstStyle/>
          <a:p>
            <a:pPr algn="ctr"/>
            <a:endParaRPr/>
          </a:p>
        </p:txBody>
      </p:sp>
      <p:sp>
        <p:nvSpPr>
          <p:cNvPr id="53" name="!!i 722f3cca"/>
          <p:cNvSpPr/>
          <p:nvPr/>
        </p:nvSpPr>
        <p:spPr>
          <a:xfrm>
            <a:off x="1265783" y="4619625"/>
            <a:ext cx="1083915" cy="133350"/>
          </a:xfrm>
          <a:prstGeom prst="rect">
            <a:avLst/>
          </a:prstGeom>
          <a:solidFill>
            <a:srgbClr val="FFFFFF">
              <a:alpha val="30000"/>
            </a:srgbClr>
          </a:solidFill>
          <a:ln w="19050">
            <a:solidFill>
              <a:srgbClr val="3C3C3C">
                <a:alpha val="30000"/>
              </a:srgbClr>
            </a:solidFill>
          </a:ln>
        </p:spPr>
        <p:txBody>
          <a:bodyPr rtlCol="0" anchor="ctr"/>
          <a:lstStyle/>
          <a:p>
            <a:pPr algn="ctr"/>
            <a:endParaRPr/>
          </a:p>
        </p:txBody>
      </p:sp>
      <p:sp>
        <p:nvSpPr>
          <p:cNvPr id="54" name="!!i 699b56e0"/>
          <p:cNvSpPr/>
          <p:nvPr/>
        </p:nvSpPr>
        <p:spPr>
          <a:xfrm>
            <a:off x="1265783" y="4619625"/>
            <a:ext cx="1083915" cy="133350"/>
          </a:xfrm>
          <a:prstGeom prst="rect">
            <a:avLst/>
          </a:prstGeom>
          <a:solidFill>
            <a:srgbClr val="FFFFFF"/>
          </a:solidFill>
          <a:ln w="19050">
            <a:solidFill>
              <a:srgbClr val="971320"/>
            </a:solidFill>
          </a:ln>
        </p:spPr>
        <p:txBody>
          <a:bodyPr rtlCol="0" anchor="ctr"/>
          <a:lstStyle/>
          <a:p>
            <a:pPr algn="ctr"/>
            <a:endParaRPr/>
          </a:p>
        </p:txBody>
      </p:sp>
      <p:sp>
        <p:nvSpPr>
          <p:cNvPr id="55" name="!!T Both retired from 2039: 27 years paid fr"/>
          <p:cNvSpPr txBox="1"/>
          <p:nvPr/>
        </p:nvSpPr>
        <p:spPr>
          <a:xfrm>
            <a:off x="6498208" y="4330065"/>
            <a:ext cx="4200701" cy="171450"/>
          </a:xfrm>
          <a:prstGeom prst="rect">
            <a:avLst/>
          </a:prstGeom>
          <a:noFill/>
        </p:spPr>
        <p:txBody>
          <a:bodyPr wrap="none" lIns="0" tIns="0" rIns="0" bIns="0" anchor="t">
            <a:noAutofit/>
          </a:bodyPr>
          <a:lstStyle/>
          <a:p>
            <a:pPr algn="l">
              <a:lnSpc>
                <a:spcPts val="1350"/>
              </a:lnSpc>
              <a:spcBef>
                <a:spcPts val="0"/>
              </a:spcBef>
              <a:spcAft>
                <a:spcPts val="0"/>
              </a:spcAft>
            </a:pPr>
            <a:r>
              <a:rPr sz="1125" b="0" i="0" kern="100">
                <a:solidFill>
                  <a:srgbClr val="6B6B6B">
                    <a:alpha val="30000"/>
                  </a:srgbClr>
                </a:solidFill>
                <a:latin typeface="Plus Jakarta Sans"/>
              </a:rPr>
              <a:t>Both retired from 2039: </a:t>
            </a:r>
            <a:r>
              <a:rPr sz="1125" b="1" i="0" kern="100">
                <a:solidFill>
                  <a:srgbClr val="181818">
                    <a:alpha val="30000"/>
                  </a:srgbClr>
                </a:solidFill>
                <a:latin typeface="Plus Jakarta Sans"/>
              </a:rPr>
              <a:t>27 years</a:t>
            </a:r>
            <a:r>
              <a:rPr sz="1125" b="0" i="0" kern="100">
                <a:solidFill>
                  <a:srgbClr val="6B6B6B">
                    <a:alpha val="30000"/>
                  </a:srgbClr>
                </a:solidFill>
                <a:latin typeface="Plus Jakarta Sans"/>
              </a:rPr>
              <a:t> paid from what they own</a:t>
            </a:r>
          </a:p>
        </p:txBody>
      </p:sp>
      <p:sp>
        <p:nvSpPr>
          <p:cNvPr id="56" name="!!T Both retired from 2039: 27 years paid fr #2"/>
          <p:cNvSpPr txBox="1"/>
          <p:nvPr/>
        </p:nvSpPr>
        <p:spPr>
          <a:xfrm>
            <a:off x="6498208" y="4330065"/>
            <a:ext cx="4200701" cy="171450"/>
          </a:xfrm>
          <a:prstGeom prst="rect">
            <a:avLst/>
          </a:prstGeom>
          <a:noFill/>
        </p:spPr>
        <p:txBody>
          <a:bodyPr wrap="none" lIns="0" tIns="0" rIns="0" bIns="0" anchor="t">
            <a:noAutofit/>
          </a:bodyPr>
          <a:lstStyle/>
          <a:p>
            <a:pPr algn="l">
              <a:lnSpc>
                <a:spcPts val="1350"/>
              </a:lnSpc>
              <a:spcBef>
                <a:spcPts val="0"/>
              </a:spcBef>
              <a:spcAft>
                <a:spcPts val="0"/>
              </a:spcAft>
            </a:pPr>
            <a:r>
              <a:rPr sz="1125" b="0" i="0" kern="100">
                <a:solidFill>
                  <a:srgbClr val="80606A"/>
                </a:solidFill>
                <a:latin typeface="Plus Jakarta Sans"/>
              </a:rPr>
              <a:t>Both retired from 2039: </a:t>
            </a:r>
            <a:r>
              <a:rPr sz="1125" b="1" i="0" kern="100">
                <a:solidFill>
                  <a:srgbClr val="1B1716"/>
                </a:solidFill>
                <a:latin typeface="Plus Jakarta Sans"/>
              </a:rPr>
              <a:t>27 years</a:t>
            </a:r>
            <a:r>
              <a:rPr sz="1125" b="0" i="0" kern="100">
                <a:solidFill>
                  <a:srgbClr val="80606A"/>
                </a:solidFill>
                <a:latin typeface="Plus Jakarta Sans"/>
              </a:rPr>
              <a:t> paid from what they own</a:t>
            </a:r>
          </a:p>
        </p:txBody>
      </p:sp>
      <p:sp>
        <p:nvSpPr>
          <p:cNvPr id="57" name="!!ps-el ea8a7f39"/>
          <p:cNvSpPr/>
          <p:nvPr/>
        </p:nvSpPr>
        <p:spPr>
          <a:xfrm>
            <a:off x="695325" y="4191000"/>
            <a:ext cx="19050" cy="438150"/>
          </a:xfrm>
          <a:prstGeom prst="rect">
            <a:avLst/>
          </a:prstGeom>
          <a:solidFill>
            <a:srgbClr val="181818">
              <a:alpha val="30000"/>
            </a:srgbClr>
          </a:solidFill>
          <a:ln>
            <a:noFill/>
          </a:ln>
        </p:spPr>
        <p:txBody>
          <a:bodyPr rtlCol="0" anchor="ctr"/>
          <a:lstStyle/>
          <a:p>
            <a:pPr algn="ctr"/>
            <a:endParaRPr/>
          </a:p>
        </p:txBody>
      </p:sp>
      <p:sp>
        <p:nvSpPr>
          <p:cNvPr id="58" name="!!ps-el 8178b22b"/>
          <p:cNvSpPr/>
          <p:nvPr/>
        </p:nvSpPr>
        <p:spPr>
          <a:xfrm>
            <a:off x="695325" y="4191000"/>
            <a:ext cx="19050" cy="438150"/>
          </a:xfrm>
          <a:prstGeom prst="rect">
            <a:avLst/>
          </a:prstGeom>
          <a:solidFill>
            <a:srgbClr val="1B1716"/>
          </a:solidFill>
          <a:ln>
            <a:noFill/>
          </a:ln>
        </p:spPr>
        <p:txBody>
          <a:bodyPr rtlCol="0" anchor="ctr"/>
          <a:lstStyle/>
          <a:p>
            <a:pPr algn="ctr"/>
            <a:endParaRPr/>
          </a:p>
        </p:txBody>
      </p:sp>
      <p:sp>
        <p:nvSpPr>
          <p:cNvPr id="59" name="!!span ff69c4de"/>
          <p:cNvSpPr/>
          <p:nvPr/>
        </p:nvSpPr>
        <p:spPr>
          <a:xfrm>
            <a:off x="457200" y="3695700"/>
            <a:ext cx="495300" cy="495300"/>
          </a:xfrm>
          <a:prstGeom prst="ellipse">
            <a:avLst/>
          </a:prstGeom>
          <a:solidFill>
            <a:srgbClr val="F2F2F2">
              <a:alpha val="30000"/>
            </a:srgbClr>
          </a:solidFill>
          <a:ln>
            <a:noFill/>
          </a:ln>
          <a:effectLst>
            <a:outerShdw blurRad="171450" dist="57150" dir="5400000" algn="ctr" rotWithShape="0">
              <a:srgbClr val="2B2B2B">
                <a:alpha val="4200"/>
              </a:srgbClr>
            </a:outerShdw>
          </a:effectLst>
        </p:spPr>
        <p:txBody>
          <a:bodyPr rtlCol="0" anchor="ctr"/>
          <a:lstStyle/>
          <a:p>
            <a:pPr algn="ctr"/>
            <a:endParaRPr/>
          </a:p>
        </p:txBody>
      </p:sp>
      <p:sp>
        <p:nvSpPr>
          <p:cNvPr id="60" name="!!span 82bf619f"/>
          <p:cNvSpPr/>
          <p:nvPr/>
        </p:nvSpPr>
        <p:spPr>
          <a:xfrm>
            <a:off x="457200" y="3695700"/>
            <a:ext cx="495300" cy="49530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61" name="!!Picture 7161207e" descr="image.jpg"/>
          <p:cNvPicPr>
            <a:picLocks noChangeAspect="1"/>
          </p:cNvPicPr>
          <p:nvPr/>
        </p:nvPicPr>
        <p:blipFill>
          <a:blip r:embed="rId3">
            <a:alphaModFix amt="30000"/>
            <a:grayscl/>
          </a:blip>
          <a:stretch>
            <a:fillRect/>
          </a:stretch>
        </p:blipFill>
        <p:spPr>
          <a:xfrm>
            <a:off x="457200" y="3695700"/>
            <a:ext cx="495300" cy="495300"/>
          </a:xfrm>
          <a:prstGeom prst="ellipse">
            <a:avLst/>
          </a:prstGeom>
        </p:spPr>
      </p:pic>
      <p:pic>
        <p:nvPicPr>
          <p:cNvPr id="62" name="!!Picture 7161207e #2" descr="image.jpg"/>
          <p:cNvPicPr>
            <a:picLocks noChangeAspect="1"/>
          </p:cNvPicPr>
          <p:nvPr/>
        </p:nvPicPr>
        <p:blipFill>
          <a:blip r:embed="rId3"/>
          <a:stretch>
            <a:fillRect/>
          </a:stretch>
        </p:blipFill>
        <p:spPr>
          <a:xfrm>
            <a:off x="457200" y="3695700"/>
            <a:ext cx="495300" cy="495300"/>
          </a:xfrm>
          <a:prstGeom prst="ellipse">
            <a:avLst/>
          </a:prstGeom>
        </p:spPr>
      </p:pic>
      <p:sp>
        <p:nvSpPr>
          <p:cNvPr id="63" name="!!T Ryan, 24"/>
          <p:cNvSpPr txBox="1"/>
          <p:nvPr/>
        </p:nvSpPr>
        <p:spPr>
          <a:xfrm>
            <a:off x="1066800" y="3733610"/>
            <a:ext cx="817111"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81818">
                    <a:alpha val="30000"/>
                  </a:srgbClr>
                </a:solidFill>
                <a:latin typeface="Plus Jakarta Sans SemiBold"/>
              </a:rPr>
              <a:t>Ryan, 24</a:t>
            </a:r>
          </a:p>
        </p:txBody>
      </p:sp>
      <p:sp>
        <p:nvSpPr>
          <p:cNvPr id="64" name="!!T Ryan, 24 #2"/>
          <p:cNvSpPr txBox="1"/>
          <p:nvPr/>
        </p:nvSpPr>
        <p:spPr>
          <a:xfrm>
            <a:off x="1066800" y="3733610"/>
            <a:ext cx="817111"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Ryan, 24</a:t>
            </a:r>
          </a:p>
        </p:txBody>
      </p:sp>
      <p:sp>
        <p:nvSpPr>
          <p:cNvPr id="65" name="!!T holds crypto; his own plan"/>
          <p:cNvSpPr txBox="1"/>
          <p:nvPr/>
        </p:nvSpPr>
        <p:spPr>
          <a:xfrm>
            <a:off x="1066800" y="3940731"/>
            <a:ext cx="1952967"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6B6B6B">
                    <a:alpha val="30000"/>
                  </a:srgbClr>
                </a:solidFill>
                <a:latin typeface="Plus Jakarta Sans"/>
              </a:rPr>
              <a:t>holds crypto; his own plan</a:t>
            </a:r>
          </a:p>
        </p:txBody>
      </p:sp>
      <p:sp>
        <p:nvSpPr>
          <p:cNvPr id="66" name="!!T holds crypto; his own plan #2"/>
          <p:cNvSpPr txBox="1"/>
          <p:nvPr/>
        </p:nvSpPr>
        <p:spPr>
          <a:xfrm>
            <a:off x="1066800" y="3940731"/>
            <a:ext cx="1952967"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80606A"/>
                </a:solidFill>
                <a:latin typeface="Plus Jakarta Sans"/>
              </a:rPr>
              <a:t>holds crypto; his own plan</a:t>
            </a:r>
          </a:p>
        </p:txBody>
      </p:sp>
      <p:sp>
        <p:nvSpPr>
          <p:cNvPr id="67" name="!!ps-el 0299b627"/>
          <p:cNvSpPr/>
          <p:nvPr/>
        </p:nvSpPr>
        <p:spPr>
          <a:xfrm>
            <a:off x="647700" y="4629150"/>
            <a:ext cx="114300" cy="114300"/>
          </a:xfrm>
          <a:prstGeom prst="ellipse">
            <a:avLst/>
          </a:prstGeom>
          <a:solidFill>
            <a:srgbClr val="181818">
              <a:alpha val="30000"/>
            </a:srgbClr>
          </a:solidFill>
          <a:ln>
            <a:noFill/>
          </a:ln>
        </p:spPr>
        <p:txBody>
          <a:bodyPr rtlCol="0" anchor="ctr"/>
          <a:lstStyle/>
          <a:p>
            <a:pPr algn="ctr"/>
            <a:endParaRPr/>
          </a:p>
        </p:txBody>
      </p:sp>
      <p:sp>
        <p:nvSpPr>
          <p:cNvPr id="68" name="!!ps-el 2b108506"/>
          <p:cNvSpPr/>
          <p:nvPr/>
        </p:nvSpPr>
        <p:spPr>
          <a:xfrm>
            <a:off x="647700" y="4629150"/>
            <a:ext cx="114300" cy="114300"/>
          </a:xfrm>
          <a:prstGeom prst="ellipse">
            <a:avLst/>
          </a:prstGeom>
          <a:solidFill>
            <a:srgbClr val="1B1716"/>
          </a:solidFill>
          <a:ln>
            <a:noFill/>
          </a:ln>
        </p:spPr>
        <p:txBody>
          <a:bodyPr rtlCol="0" anchor="ctr"/>
          <a:lstStyle/>
          <a:p>
            <a:pPr algn="ctr"/>
            <a:endParaRPr/>
          </a:p>
        </p:txBody>
      </p:sp>
      <p:sp>
        <p:nvSpPr>
          <p:cNvPr id="69" name="!!ps-el 55d4362a"/>
          <p:cNvSpPr/>
          <p:nvPr/>
        </p:nvSpPr>
        <p:spPr>
          <a:xfrm>
            <a:off x="3728442" y="4191000"/>
            <a:ext cx="19050" cy="438150"/>
          </a:xfrm>
          <a:prstGeom prst="rect">
            <a:avLst/>
          </a:prstGeom>
          <a:solidFill>
            <a:srgbClr val="181818">
              <a:alpha val="30000"/>
            </a:srgbClr>
          </a:solidFill>
          <a:ln>
            <a:noFill/>
          </a:ln>
        </p:spPr>
        <p:txBody>
          <a:bodyPr rtlCol="0" anchor="ctr"/>
          <a:lstStyle/>
          <a:p>
            <a:pPr algn="ctr"/>
            <a:endParaRPr/>
          </a:p>
        </p:txBody>
      </p:sp>
      <p:sp>
        <p:nvSpPr>
          <p:cNvPr id="70" name="!!ps-el fbd59545"/>
          <p:cNvSpPr/>
          <p:nvPr/>
        </p:nvSpPr>
        <p:spPr>
          <a:xfrm>
            <a:off x="3728442" y="4191000"/>
            <a:ext cx="19050" cy="438150"/>
          </a:xfrm>
          <a:prstGeom prst="rect">
            <a:avLst/>
          </a:prstGeom>
          <a:solidFill>
            <a:srgbClr val="1B1716"/>
          </a:solidFill>
          <a:ln>
            <a:noFill/>
          </a:ln>
        </p:spPr>
        <p:txBody>
          <a:bodyPr rtlCol="0" anchor="ctr"/>
          <a:lstStyle/>
          <a:p>
            <a:pPr algn="ctr"/>
            <a:endParaRPr/>
          </a:p>
        </p:txBody>
      </p:sp>
      <p:sp>
        <p:nvSpPr>
          <p:cNvPr id="71" name="!!span 982fca22"/>
          <p:cNvSpPr/>
          <p:nvPr/>
        </p:nvSpPr>
        <p:spPr>
          <a:xfrm>
            <a:off x="3490317" y="3695700"/>
            <a:ext cx="495300" cy="495300"/>
          </a:xfrm>
          <a:prstGeom prst="ellipse">
            <a:avLst/>
          </a:prstGeom>
          <a:solidFill>
            <a:srgbClr val="F2F2F2">
              <a:alpha val="30000"/>
            </a:srgbClr>
          </a:solidFill>
          <a:ln>
            <a:noFill/>
          </a:ln>
          <a:effectLst>
            <a:outerShdw blurRad="171450" dist="57150" dir="5400000" algn="ctr" rotWithShape="0">
              <a:srgbClr val="2B2B2B">
                <a:alpha val="4200"/>
              </a:srgbClr>
            </a:outerShdw>
          </a:effectLst>
        </p:spPr>
        <p:txBody>
          <a:bodyPr rtlCol="0" anchor="ctr"/>
          <a:lstStyle/>
          <a:p>
            <a:pPr algn="ctr"/>
            <a:endParaRPr/>
          </a:p>
        </p:txBody>
      </p:sp>
      <p:sp>
        <p:nvSpPr>
          <p:cNvPr id="72" name="!!span d7eaa2f5"/>
          <p:cNvSpPr/>
          <p:nvPr/>
        </p:nvSpPr>
        <p:spPr>
          <a:xfrm>
            <a:off x="3490317" y="3695700"/>
            <a:ext cx="495300" cy="49530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73" name="!!Picture 40d6a68f" descr="image.jpg"/>
          <p:cNvPicPr>
            <a:picLocks noChangeAspect="1"/>
          </p:cNvPicPr>
          <p:nvPr/>
        </p:nvPicPr>
        <p:blipFill>
          <a:blip r:embed="rId4">
            <a:alphaModFix amt="30000"/>
            <a:grayscl/>
          </a:blip>
          <a:stretch>
            <a:fillRect/>
          </a:stretch>
        </p:blipFill>
        <p:spPr>
          <a:xfrm>
            <a:off x="3490317" y="3695700"/>
            <a:ext cx="495300" cy="495300"/>
          </a:xfrm>
          <a:prstGeom prst="ellipse">
            <a:avLst/>
          </a:prstGeom>
        </p:spPr>
      </p:pic>
      <p:pic>
        <p:nvPicPr>
          <p:cNvPr id="74" name="!!Picture 40d6a68f #2" descr="image.jpg"/>
          <p:cNvPicPr>
            <a:picLocks noChangeAspect="1"/>
          </p:cNvPicPr>
          <p:nvPr/>
        </p:nvPicPr>
        <p:blipFill>
          <a:blip r:embed="rId4"/>
          <a:stretch>
            <a:fillRect/>
          </a:stretch>
        </p:blipFill>
        <p:spPr>
          <a:xfrm>
            <a:off x="3490317" y="3695700"/>
            <a:ext cx="495300" cy="495300"/>
          </a:xfrm>
          <a:prstGeom prst="ellipse">
            <a:avLst/>
          </a:prstGeom>
        </p:spPr>
      </p:pic>
      <p:sp>
        <p:nvSpPr>
          <p:cNvPr id="75" name="!!T Adrian, 54"/>
          <p:cNvSpPr txBox="1"/>
          <p:nvPr/>
        </p:nvSpPr>
        <p:spPr>
          <a:xfrm>
            <a:off x="4099917" y="3733610"/>
            <a:ext cx="951521"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81818">
                    <a:alpha val="30000"/>
                  </a:srgbClr>
                </a:solidFill>
                <a:latin typeface="Plus Jakarta Sans SemiBold"/>
              </a:rPr>
              <a:t>Adrian, 54</a:t>
            </a:r>
          </a:p>
        </p:txBody>
      </p:sp>
      <p:sp>
        <p:nvSpPr>
          <p:cNvPr id="76" name="!!T Adrian, 54 #2"/>
          <p:cNvSpPr txBox="1"/>
          <p:nvPr/>
        </p:nvSpPr>
        <p:spPr>
          <a:xfrm>
            <a:off x="4099917" y="3733610"/>
            <a:ext cx="951521"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Adrian, 54</a:t>
            </a:r>
          </a:p>
        </p:txBody>
      </p:sp>
      <p:sp>
        <p:nvSpPr>
          <p:cNvPr id="77" name="!!T protect capital and health; retires 2037"/>
          <p:cNvSpPr txBox="1"/>
          <p:nvPr/>
        </p:nvSpPr>
        <p:spPr>
          <a:xfrm>
            <a:off x="4099917" y="3940731"/>
            <a:ext cx="2883107"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6B6B6B">
                    <a:alpha val="30000"/>
                  </a:srgbClr>
                </a:solidFill>
                <a:latin typeface="Plus Jakarta Sans"/>
              </a:rPr>
              <a:t>protect capital and health; retires 2037</a:t>
            </a:r>
          </a:p>
        </p:txBody>
      </p:sp>
      <p:sp>
        <p:nvSpPr>
          <p:cNvPr id="78" name="!!T protect capital and health; retires 2037 #2"/>
          <p:cNvSpPr txBox="1"/>
          <p:nvPr/>
        </p:nvSpPr>
        <p:spPr>
          <a:xfrm>
            <a:off x="4099917" y="3940731"/>
            <a:ext cx="2883107"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80606A"/>
                </a:solidFill>
                <a:latin typeface="Plus Jakarta Sans"/>
              </a:rPr>
              <a:t>protect capital and health; retires 2037</a:t>
            </a:r>
          </a:p>
        </p:txBody>
      </p:sp>
      <p:sp>
        <p:nvSpPr>
          <p:cNvPr id="79" name="!!ps-el 7859a2cc"/>
          <p:cNvSpPr/>
          <p:nvPr/>
        </p:nvSpPr>
        <p:spPr>
          <a:xfrm>
            <a:off x="3680817" y="4629150"/>
            <a:ext cx="114300" cy="114300"/>
          </a:xfrm>
          <a:prstGeom prst="ellipse">
            <a:avLst/>
          </a:prstGeom>
          <a:solidFill>
            <a:srgbClr val="181818">
              <a:alpha val="30000"/>
            </a:srgbClr>
          </a:solidFill>
          <a:ln>
            <a:noFill/>
          </a:ln>
        </p:spPr>
        <p:txBody>
          <a:bodyPr rtlCol="0" anchor="ctr"/>
          <a:lstStyle/>
          <a:p>
            <a:pPr algn="ctr"/>
            <a:endParaRPr/>
          </a:p>
        </p:txBody>
      </p:sp>
      <p:sp>
        <p:nvSpPr>
          <p:cNvPr id="80" name="!!ps-el bb9503de"/>
          <p:cNvSpPr/>
          <p:nvPr/>
        </p:nvSpPr>
        <p:spPr>
          <a:xfrm>
            <a:off x="3680817" y="4629150"/>
            <a:ext cx="114300" cy="114300"/>
          </a:xfrm>
          <a:prstGeom prst="ellipse">
            <a:avLst/>
          </a:prstGeom>
          <a:solidFill>
            <a:srgbClr val="1B1716"/>
          </a:solidFill>
          <a:ln>
            <a:noFill/>
          </a:ln>
        </p:spPr>
        <p:txBody>
          <a:bodyPr rtlCol="0" anchor="ctr"/>
          <a:lstStyle/>
          <a:p>
            <a:pPr algn="ctr"/>
            <a:endParaRPr/>
          </a:p>
        </p:txBody>
      </p:sp>
      <p:sp>
        <p:nvSpPr>
          <p:cNvPr id="81" name="!!ps-el b2e58d19"/>
          <p:cNvSpPr/>
          <p:nvPr/>
        </p:nvSpPr>
        <p:spPr>
          <a:xfrm>
            <a:off x="1246733" y="4743450"/>
            <a:ext cx="19050" cy="438150"/>
          </a:xfrm>
          <a:prstGeom prst="rect">
            <a:avLst/>
          </a:prstGeom>
          <a:solidFill>
            <a:srgbClr val="181818">
              <a:alpha val="30000"/>
            </a:srgbClr>
          </a:solidFill>
          <a:ln>
            <a:noFill/>
          </a:ln>
        </p:spPr>
        <p:txBody>
          <a:bodyPr rtlCol="0" anchor="ctr"/>
          <a:lstStyle/>
          <a:p>
            <a:pPr algn="ctr"/>
            <a:endParaRPr/>
          </a:p>
        </p:txBody>
      </p:sp>
      <p:sp>
        <p:nvSpPr>
          <p:cNvPr id="82" name="!!ps-el 91281482"/>
          <p:cNvSpPr/>
          <p:nvPr/>
        </p:nvSpPr>
        <p:spPr>
          <a:xfrm>
            <a:off x="1246733" y="4743450"/>
            <a:ext cx="19050" cy="438150"/>
          </a:xfrm>
          <a:prstGeom prst="rect">
            <a:avLst/>
          </a:prstGeom>
          <a:solidFill>
            <a:srgbClr val="1B1716"/>
          </a:solidFill>
          <a:ln>
            <a:noFill/>
          </a:ln>
        </p:spPr>
        <p:txBody>
          <a:bodyPr rtlCol="0" anchor="ctr"/>
          <a:lstStyle/>
          <a:p>
            <a:pPr algn="ctr"/>
            <a:endParaRPr/>
          </a:p>
        </p:txBody>
      </p:sp>
      <p:sp>
        <p:nvSpPr>
          <p:cNvPr id="83" name="!!span c1131691"/>
          <p:cNvSpPr/>
          <p:nvPr/>
        </p:nvSpPr>
        <p:spPr>
          <a:xfrm>
            <a:off x="1008608" y="5181600"/>
            <a:ext cx="495300" cy="495300"/>
          </a:xfrm>
          <a:prstGeom prst="ellipse">
            <a:avLst/>
          </a:prstGeom>
          <a:solidFill>
            <a:srgbClr val="F2F2F2">
              <a:alpha val="30000"/>
            </a:srgbClr>
          </a:solidFill>
          <a:ln>
            <a:noFill/>
          </a:ln>
          <a:effectLst>
            <a:outerShdw blurRad="171450" dist="57150" dir="5400000" algn="ctr" rotWithShape="0">
              <a:srgbClr val="2B2B2B">
                <a:alpha val="4200"/>
              </a:srgbClr>
            </a:outerShdw>
          </a:effectLst>
        </p:spPr>
        <p:txBody>
          <a:bodyPr rtlCol="0" anchor="ctr"/>
          <a:lstStyle/>
          <a:p>
            <a:pPr algn="ctr"/>
            <a:endParaRPr/>
          </a:p>
        </p:txBody>
      </p:sp>
      <p:sp>
        <p:nvSpPr>
          <p:cNvPr id="84" name="!!span 6f50d65b"/>
          <p:cNvSpPr/>
          <p:nvPr/>
        </p:nvSpPr>
        <p:spPr>
          <a:xfrm>
            <a:off x="1008608" y="5181600"/>
            <a:ext cx="495300" cy="49530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85" name="!!Picture fe9643a6" descr="image.jpg"/>
          <p:cNvPicPr>
            <a:picLocks noChangeAspect="1"/>
          </p:cNvPicPr>
          <p:nvPr/>
        </p:nvPicPr>
        <p:blipFill>
          <a:blip r:embed="rId5">
            <a:alphaModFix amt="30000"/>
            <a:grayscl/>
          </a:blip>
          <a:stretch>
            <a:fillRect/>
          </a:stretch>
        </p:blipFill>
        <p:spPr>
          <a:xfrm>
            <a:off x="1008608" y="5181600"/>
            <a:ext cx="495300" cy="495300"/>
          </a:xfrm>
          <a:prstGeom prst="ellipse">
            <a:avLst/>
          </a:prstGeom>
        </p:spPr>
      </p:pic>
      <p:pic>
        <p:nvPicPr>
          <p:cNvPr id="86" name="!!Picture fe9643a6 #2" descr="image.jpg"/>
          <p:cNvPicPr>
            <a:picLocks noChangeAspect="1"/>
          </p:cNvPicPr>
          <p:nvPr/>
        </p:nvPicPr>
        <p:blipFill>
          <a:blip r:embed="rId5"/>
          <a:stretch>
            <a:fillRect/>
          </a:stretch>
        </p:blipFill>
        <p:spPr>
          <a:xfrm>
            <a:off x="1008608" y="5181600"/>
            <a:ext cx="495300" cy="495300"/>
          </a:xfrm>
          <a:prstGeom prst="ellipse">
            <a:avLst/>
          </a:prstGeom>
        </p:spPr>
      </p:pic>
      <p:sp>
        <p:nvSpPr>
          <p:cNvPr id="87" name="!!T Chloe, 16"/>
          <p:cNvSpPr txBox="1"/>
          <p:nvPr/>
        </p:nvSpPr>
        <p:spPr>
          <a:xfrm>
            <a:off x="1618208" y="5219510"/>
            <a:ext cx="862703"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81818">
                    <a:alpha val="30000"/>
                  </a:srgbClr>
                </a:solidFill>
                <a:latin typeface="Plus Jakarta Sans SemiBold"/>
              </a:rPr>
              <a:t>Chloe, 16</a:t>
            </a:r>
          </a:p>
        </p:txBody>
      </p:sp>
      <p:sp>
        <p:nvSpPr>
          <p:cNvPr id="88" name="!!T Chloe, 16 #2"/>
          <p:cNvSpPr txBox="1"/>
          <p:nvPr/>
        </p:nvSpPr>
        <p:spPr>
          <a:xfrm>
            <a:off x="1618208" y="5219510"/>
            <a:ext cx="862703"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Chloe, 16</a:t>
            </a:r>
          </a:p>
        </p:txBody>
      </p:sp>
      <p:sp>
        <p:nvSpPr>
          <p:cNvPr id="89" name="!!T university, 2028 to 2032"/>
          <p:cNvSpPr txBox="1"/>
          <p:nvPr/>
        </p:nvSpPr>
        <p:spPr>
          <a:xfrm>
            <a:off x="1618208" y="5426631"/>
            <a:ext cx="1834964"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6B6B6B">
                    <a:alpha val="30000"/>
                  </a:srgbClr>
                </a:solidFill>
                <a:latin typeface="Plus Jakarta Sans"/>
              </a:rPr>
              <a:t>university, 2028 to 2032</a:t>
            </a:r>
          </a:p>
        </p:txBody>
      </p:sp>
      <p:sp>
        <p:nvSpPr>
          <p:cNvPr id="90" name="!!T university, 2028 to 2032 #2"/>
          <p:cNvSpPr txBox="1"/>
          <p:nvPr/>
        </p:nvSpPr>
        <p:spPr>
          <a:xfrm>
            <a:off x="1618208" y="5426631"/>
            <a:ext cx="1834964"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80606A"/>
                </a:solidFill>
                <a:latin typeface="Plus Jakarta Sans"/>
              </a:rPr>
              <a:t>university, 2028 to 2032</a:t>
            </a:r>
          </a:p>
        </p:txBody>
      </p:sp>
      <p:sp>
        <p:nvSpPr>
          <p:cNvPr id="91" name="!!ps-el b3715ce8"/>
          <p:cNvSpPr/>
          <p:nvPr/>
        </p:nvSpPr>
        <p:spPr>
          <a:xfrm>
            <a:off x="1199108" y="4629150"/>
            <a:ext cx="114300" cy="114300"/>
          </a:xfrm>
          <a:prstGeom prst="ellipse">
            <a:avLst/>
          </a:prstGeom>
          <a:solidFill>
            <a:srgbClr val="181818">
              <a:alpha val="30000"/>
            </a:srgbClr>
          </a:solidFill>
          <a:ln>
            <a:noFill/>
          </a:ln>
        </p:spPr>
        <p:txBody>
          <a:bodyPr rtlCol="0" anchor="ctr"/>
          <a:lstStyle/>
          <a:p>
            <a:pPr algn="ctr"/>
            <a:endParaRPr/>
          </a:p>
        </p:txBody>
      </p:sp>
      <p:sp>
        <p:nvSpPr>
          <p:cNvPr id="92" name="!!ps-el a15ac832"/>
          <p:cNvSpPr/>
          <p:nvPr/>
        </p:nvSpPr>
        <p:spPr>
          <a:xfrm>
            <a:off x="1199108" y="4629150"/>
            <a:ext cx="114300" cy="114300"/>
          </a:xfrm>
          <a:prstGeom prst="ellipse">
            <a:avLst/>
          </a:prstGeom>
          <a:solidFill>
            <a:srgbClr val="1B1716"/>
          </a:solidFill>
          <a:ln>
            <a:noFill/>
          </a:ln>
        </p:spPr>
        <p:txBody>
          <a:bodyPr rtlCol="0" anchor="ctr"/>
          <a:lstStyle/>
          <a:p>
            <a:pPr algn="ctr"/>
            <a:endParaRPr/>
          </a:p>
        </p:txBody>
      </p:sp>
      <p:sp>
        <p:nvSpPr>
          <p:cNvPr id="93" name="!!ps-el 0f570679"/>
          <p:cNvSpPr/>
          <p:nvPr/>
        </p:nvSpPr>
        <p:spPr>
          <a:xfrm>
            <a:off x="4279999" y="4743450"/>
            <a:ext cx="19050" cy="438150"/>
          </a:xfrm>
          <a:prstGeom prst="rect">
            <a:avLst/>
          </a:prstGeom>
          <a:solidFill>
            <a:srgbClr val="181818">
              <a:alpha val="30000"/>
            </a:srgbClr>
          </a:solidFill>
          <a:ln>
            <a:noFill/>
          </a:ln>
        </p:spPr>
        <p:txBody>
          <a:bodyPr rtlCol="0" anchor="ctr"/>
          <a:lstStyle/>
          <a:p>
            <a:pPr algn="ctr"/>
            <a:endParaRPr/>
          </a:p>
        </p:txBody>
      </p:sp>
      <p:sp>
        <p:nvSpPr>
          <p:cNvPr id="94" name="!!ps-el c53fa193"/>
          <p:cNvSpPr/>
          <p:nvPr/>
        </p:nvSpPr>
        <p:spPr>
          <a:xfrm>
            <a:off x="4279999" y="4743450"/>
            <a:ext cx="19050" cy="438150"/>
          </a:xfrm>
          <a:prstGeom prst="rect">
            <a:avLst/>
          </a:prstGeom>
          <a:solidFill>
            <a:srgbClr val="1B1716"/>
          </a:solidFill>
          <a:ln>
            <a:noFill/>
          </a:ln>
        </p:spPr>
        <p:txBody>
          <a:bodyPr rtlCol="0" anchor="ctr"/>
          <a:lstStyle/>
          <a:p>
            <a:pPr algn="ctr"/>
            <a:endParaRPr/>
          </a:p>
        </p:txBody>
      </p:sp>
      <p:sp>
        <p:nvSpPr>
          <p:cNvPr id="95" name="!!span 36998eef"/>
          <p:cNvSpPr/>
          <p:nvPr/>
        </p:nvSpPr>
        <p:spPr>
          <a:xfrm>
            <a:off x="4041874" y="5181600"/>
            <a:ext cx="495300" cy="495300"/>
          </a:xfrm>
          <a:prstGeom prst="ellipse">
            <a:avLst/>
          </a:prstGeom>
          <a:solidFill>
            <a:srgbClr val="F2F2F2">
              <a:alpha val="30000"/>
            </a:srgbClr>
          </a:solidFill>
          <a:ln>
            <a:noFill/>
          </a:ln>
          <a:effectLst>
            <a:outerShdw blurRad="171450" dist="57150" dir="5400000" algn="ctr" rotWithShape="0">
              <a:srgbClr val="2B2B2B">
                <a:alpha val="4200"/>
              </a:srgbClr>
            </a:outerShdw>
          </a:effectLst>
        </p:spPr>
        <p:txBody>
          <a:bodyPr rtlCol="0" anchor="ctr"/>
          <a:lstStyle/>
          <a:p>
            <a:pPr algn="ctr"/>
            <a:endParaRPr/>
          </a:p>
        </p:txBody>
      </p:sp>
      <p:sp>
        <p:nvSpPr>
          <p:cNvPr id="96" name="!!span ed854b46"/>
          <p:cNvSpPr/>
          <p:nvPr/>
        </p:nvSpPr>
        <p:spPr>
          <a:xfrm>
            <a:off x="4041874" y="5181600"/>
            <a:ext cx="495300" cy="49530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97" name="!!Picture 1bc9f370" descr="image.jpg"/>
          <p:cNvPicPr>
            <a:picLocks noChangeAspect="1"/>
          </p:cNvPicPr>
          <p:nvPr/>
        </p:nvPicPr>
        <p:blipFill>
          <a:blip r:embed="rId6">
            <a:alphaModFix amt="30000"/>
            <a:grayscl/>
          </a:blip>
          <a:stretch>
            <a:fillRect/>
          </a:stretch>
        </p:blipFill>
        <p:spPr>
          <a:xfrm>
            <a:off x="4041874" y="5181600"/>
            <a:ext cx="495300" cy="495300"/>
          </a:xfrm>
          <a:prstGeom prst="ellipse">
            <a:avLst/>
          </a:prstGeom>
        </p:spPr>
      </p:pic>
      <p:pic>
        <p:nvPicPr>
          <p:cNvPr id="98" name="!!Picture 1bc9f370 #2" descr="image.jpg"/>
          <p:cNvPicPr>
            <a:picLocks noChangeAspect="1"/>
          </p:cNvPicPr>
          <p:nvPr/>
        </p:nvPicPr>
        <p:blipFill>
          <a:blip r:embed="rId6"/>
          <a:stretch>
            <a:fillRect/>
          </a:stretch>
        </p:blipFill>
        <p:spPr>
          <a:xfrm>
            <a:off x="4041874" y="5181600"/>
            <a:ext cx="495300" cy="495300"/>
          </a:xfrm>
          <a:prstGeom prst="ellipse">
            <a:avLst/>
          </a:prstGeom>
        </p:spPr>
      </p:pic>
      <p:sp>
        <p:nvSpPr>
          <p:cNvPr id="99" name="!!T Carmen, 49"/>
          <p:cNvSpPr txBox="1"/>
          <p:nvPr/>
        </p:nvSpPr>
        <p:spPr>
          <a:xfrm>
            <a:off x="4651474" y="5219510"/>
            <a:ext cx="1071259"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81818">
                    <a:alpha val="30000"/>
                  </a:srgbClr>
                </a:solidFill>
                <a:latin typeface="Plus Jakarta Sans SemiBold"/>
              </a:rPr>
              <a:t>Carmen, 49</a:t>
            </a:r>
          </a:p>
        </p:txBody>
      </p:sp>
      <p:sp>
        <p:nvSpPr>
          <p:cNvPr id="100" name="!!T Carmen, 49 #2"/>
          <p:cNvSpPr txBox="1"/>
          <p:nvPr/>
        </p:nvSpPr>
        <p:spPr>
          <a:xfrm>
            <a:off x="4651474" y="5219510"/>
            <a:ext cx="1071259"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Carmen, 49</a:t>
            </a:r>
          </a:p>
        </p:txBody>
      </p:sp>
      <p:sp>
        <p:nvSpPr>
          <p:cNvPr id="101" name="!!T her values; retires 2039"/>
          <p:cNvSpPr txBox="1"/>
          <p:nvPr/>
        </p:nvSpPr>
        <p:spPr>
          <a:xfrm>
            <a:off x="4651474" y="5426631"/>
            <a:ext cx="1766182"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6B6B6B">
                    <a:alpha val="30000"/>
                  </a:srgbClr>
                </a:solidFill>
                <a:latin typeface="Plus Jakarta Sans"/>
              </a:rPr>
              <a:t>her values; retires 2039</a:t>
            </a:r>
          </a:p>
        </p:txBody>
      </p:sp>
      <p:sp>
        <p:nvSpPr>
          <p:cNvPr id="102" name="!!T her values; retires 2039 #2"/>
          <p:cNvSpPr txBox="1"/>
          <p:nvPr/>
        </p:nvSpPr>
        <p:spPr>
          <a:xfrm>
            <a:off x="4651474" y="5426631"/>
            <a:ext cx="1766182"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80606A"/>
                </a:solidFill>
                <a:latin typeface="Plus Jakarta Sans"/>
              </a:rPr>
              <a:t>her values; retires 2039</a:t>
            </a:r>
          </a:p>
        </p:txBody>
      </p:sp>
      <p:sp>
        <p:nvSpPr>
          <p:cNvPr id="103" name="!!ps-el d234425b"/>
          <p:cNvSpPr/>
          <p:nvPr/>
        </p:nvSpPr>
        <p:spPr>
          <a:xfrm>
            <a:off x="4232374" y="4629150"/>
            <a:ext cx="114300" cy="114300"/>
          </a:xfrm>
          <a:prstGeom prst="ellipse">
            <a:avLst/>
          </a:prstGeom>
          <a:solidFill>
            <a:srgbClr val="181818">
              <a:alpha val="30000"/>
            </a:srgbClr>
          </a:solidFill>
          <a:ln>
            <a:noFill/>
          </a:ln>
        </p:spPr>
        <p:txBody>
          <a:bodyPr rtlCol="0" anchor="ctr"/>
          <a:lstStyle/>
          <a:p>
            <a:pPr algn="ctr"/>
            <a:endParaRPr/>
          </a:p>
        </p:txBody>
      </p:sp>
      <p:sp>
        <p:nvSpPr>
          <p:cNvPr id="104" name="!!ps-el f06f4fd0"/>
          <p:cNvSpPr/>
          <p:nvPr/>
        </p:nvSpPr>
        <p:spPr>
          <a:xfrm>
            <a:off x="4232374" y="4629150"/>
            <a:ext cx="114300" cy="114300"/>
          </a:xfrm>
          <a:prstGeom prst="ellipse">
            <a:avLst/>
          </a:prstGeom>
          <a:solidFill>
            <a:srgbClr val="1B1716"/>
          </a:solidFill>
          <a:ln>
            <a:noFill/>
          </a:ln>
        </p:spPr>
        <p:txBody>
          <a:bodyPr rtlCol="0" anchor="ctr"/>
          <a:lstStyle/>
          <a:p>
            <a:pPr algn="ctr"/>
            <a:endParaRPr/>
          </a:p>
        </p:txBody>
      </p:sp>
      <p:sp>
        <p:nvSpPr>
          <p:cNvPr id="105" name="!!T 2066: Carmen is 89"/>
          <p:cNvSpPr txBox="1"/>
          <p:nvPr/>
        </p:nvSpPr>
        <p:spPr>
          <a:xfrm>
            <a:off x="9945779" y="5165931"/>
            <a:ext cx="1693771" cy="202406"/>
          </a:xfrm>
          <a:prstGeom prst="rect">
            <a:avLst/>
          </a:prstGeom>
          <a:noFill/>
        </p:spPr>
        <p:txBody>
          <a:bodyPr wrap="none" lIns="0" tIns="0" rIns="0" bIns="0" anchor="t">
            <a:noAutofit/>
          </a:bodyPr>
          <a:lstStyle/>
          <a:p>
            <a:pPr algn="r">
              <a:lnSpc>
                <a:spcPts val="1593"/>
              </a:lnSpc>
              <a:spcBef>
                <a:spcPts val="0"/>
              </a:spcBef>
              <a:spcAft>
                <a:spcPts val="0"/>
              </a:spcAft>
            </a:pPr>
            <a:r>
              <a:rPr sz="1275" b="0" i="0" kern="100">
                <a:solidFill>
                  <a:srgbClr val="181818">
                    <a:alpha val="30000"/>
                  </a:srgbClr>
                </a:solidFill>
                <a:latin typeface="Plus Jakarta Sans SemiBold"/>
              </a:rPr>
              <a:t>2066: Carmen is 89</a:t>
            </a:r>
          </a:p>
        </p:txBody>
      </p:sp>
      <p:sp>
        <p:nvSpPr>
          <p:cNvPr id="106" name="!!T 2066: Carmen is 89 #2"/>
          <p:cNvSpPr txBox="1"/>
          <p:nvPr/>
        </p:nvSpPr>
        <p:spPr>
          <a:xfrm>
            <a:off x="9945779" y="5165931"/>
            <a:ext cx="1693771" cy="202406"/>
          </a:xfrm>
          <a:prstGeom prst="rect">
            <a:avLst/>
          </a:prstGeom>
          <a:noFill/>
        </p:spPr>
        <p:txBody>
          <a:bodyPr wrap="none" lIns="0" tIns="0" rIns="0" bIns="0" anchor="t">
            <a:noAutofit/>
          </a:bodyPr>
          <a:lstStyle/>
          <a:p>
            <a:pPr algn="r">
              <a:lnSpc>
                <a:spcPts val="1593"/>
              </a:lnSpc>
              <a:spcBef>
                <a:spcPts val="0"/>
              </a:spcBef>
              <a:spcAft>
                <a:spcPts val="0"/>
              </a:spcAft>
            </a:pPr>
            <a:r>
              <a:rPr sz="1275" b="0" i="0" kern="100">
                <a:solidFill>
                  <a:srgbClr val="1B1716"/>
                </a:solidFill>
                <a:latin typeface="Plus Jakarta Sans SemiBold"/>
              </a:rPr>
              <a:t>2066: Carmen is 89</a:t>
            </a:r>
          </a:p>
        </p:txBody>
      </p:sp>
      <p:sp>
        <p:nvSpPr>
          <p:cNvPr id="107" name="!!T the money must last to here"/>
          <p:cNvSpPr txBox="1"/>
          <p:nvPr/>
        </p:nvSpPr>
        <p:spPr>
          <a:xfrm>
            <a:off x="9563532" y="5373052"/>
            <a:ext cx="2076018" cy="185738"/>
          </a:xfrm>
          <a:prstGeom prst="rect">
            <a:avLst/>
          </a:prstGeom>
          <a:noFill/>
        </p:spPr>
        <p:txBody>
          <a:bodyPr wrap="none" lIns="0" tIns="0" rIns="0" bIns="0" anchor="t">
            <a:noAutofit/>
          </a:bodyPr>
          <a:lstStyle/>
          <a:p>
            <a:pPr algn="r">
              <a:lnSpc>
                <a:spcPts val="1462"/>
              </a:lnSpc>
              <a:spcBef>
                <a:spcPts val="0"/>
              </a:spcBef>
              <a:spcAft>
                <a:spcPts val="0"/>
              </a:spcAft>
            </a:pPr>
            <a:r>
              <a:rPr sz="1125" b="0" i="0" kern="100">
                <a:solidFill>
                  <a:srgbClr val="6B6B6B">
                    <a:alpha val="30000"/>
                  </a:srgbClr>
                </a:solidFill>
                <a:latin typeface="Plus Jakarta Sans"/>
              </a:rPr>
              <a:t>the money must last to here</a:t>
            </a:r>
          </a:p>
        </p:txBody>
      </p:sp>
      <p:sp>
        <p:nvSpPr>
          <p:cNvPr id="108" name="!!T the money must last to here #2"/>
          <p:cNvSpPr txBox="1"/>
          <p:nvPr/>
        </p:nvSpPr>
        <p:spPr>
          <a:xfrm>
            <a:off x="9563532" y="5373052"/>
            <a:ext cx="2076018" cy="185738"/>
          </a:xfrm>
          <a:prstGeom prst="rect">
            <a:avLst/>
          </a:prstGeom>
          <a:noFill/>
        </p:spPr>
        <p:txBody>
          <a:bodyPr wrap="none" lIns="0" tIns="0" rIns="0" bIns="0" anchor="t">
            <a:noAutofit/>
          </a:bodyPr>
          <a:lstStyle/>
          <a:p>
            <a:pPr algn="r">
              <a:lnSpc>
                <a:spcPts val="1462"/>
              </a:lnSpc>
              <a:spcBef>
                <a:spcPts val="0"/>
              </a:spcBef>
              <a:spcAft>
                <a:spcPts val="0"/>
              </a:spcAft>
            </a:pPr>
            <a:r>
              <a:rPr sz="1125" b="0" i="0" kern="100">
                <a:solidFill>
                  <a:srgbClr val="80606A"/>
                </a:solidFill>
                <a:latin typeface="Plus Jakarta Sans"/>
              </a:rPr>
              <a:t>the money must last to here</a:t>
            </a:r>
          </a:p>
        </p:txBody>
      </p:sp>
      <p:cxnSp>
        <p:nvCxnSpPr>
          <p:cNvPr id="109" name="!!Rule d3b648d8"/>
          <p:cNvCxnSpPr/>
          <p:nvPr/>
        </p:nvCxnSpPr>
        <p:spPr>
          <a:xfrm>
            <a:off x="11725275" y="4343400"/>
            <a:ext cx="0" cy="685800"/>
          </a:xfrm>
          <a:prstGeom prst="line">
            <a:avLst/>
          </a:prstGeom>
          <a:ln w="19050">
            <a:solidFill>
              <a:srgbClr val="181818"/>
            </a:solidFill>
            <a:prstDash val="dash"/>
          </a:ln>
        </p:spPr>
        <p:style>
          <a:lnRef idx="2">
            <a:schemeClr val="accent1"/>
          </a:lnRef>
          <a:fillRef idx="0">
            <a:schemeClr val="accent1"/>
          </a:fillRef>
          <a:effectRef idx="1">
            <a:schemeClr val="accent1"/>
          </a:effectRef>
          <a:fontRef idx="minor">
            <a:schemeClr val="tx1"/>
          </a:fontRef>
        </p:style>
      </p:cxnSp>
      <p:cxnSp>
        <p:nvCxnSpPr>
          <p:cNvPr id="110" name="!!Rule 61335b6a"/>
          <p:cNvCxnSpPr/>
          <p:nvPr/>
        </p:nvCxnSpPr>
        <p:spPr>
          <a:xfrm>
            <a:off x="11725275" y="4343400"/>
            <a:ext cx="0" cy="685800"/>
          </a:xfrm>
          <a:prstGeom prst="line">
            <a:avLst/>
          </a:prstGeom>
          <a:ln w="19050">
            <a:solidFill>
              <a:srgbClr val="1B1716"/>
            </a:solidFill>
            <a:prstDash val="dash"/>
          </a:ln>
        </p:spPr>
        <p:style>
          <a:lnRef idx="2">
            <a:schemeClr val="accent1"/>
          </a:lnRef>
          <a:fillRef idx="0">
            <a:schemeClr val="accent1"/>
          </a:fillRef>
          <a:effectRef idx="1">
            <a:schemeClr val="accent1"/>
          </a:effectRef>
          <a:fontRef idx="minor">
            <a:schemeClr val="tx1"/>
          </a:fontRef>
        </p:style>
      </p:cxnSp>
      <p:sp>
        <p:nvSpPr>
          <p:cNvPr id="111" name="!!p 141984eb"/>
          <p:cNvSpPr/>
          <p:nvPr/>
        </p:nvSpPr>
        <p:spPr>
          <a:xfrm>
            <a:off x="457200" y="5886450"/>
            <a:ext cx="11277600" cy="476250"/>
          </a:xfrm>
          <a:prstGeom prst="rect">
            <a:avLst/>
          </a:prstGeom>
          <a:solidFill>
            <a:srgbClr val="181818">
              <a:alpha val="30000"/>
            </a:srgbClr>
          </a:solidFill>
          <a:ln>
            <a:noFill/>
          </a:ln>
        </p:spPr>
        <p:txBody>
          <a:bodyPr rtlCol="0" anchor="ctr"/>
          <a:lstStyle/>
          <a:p>
            <a:pPr algn="ctr"/>
            <a:endParaRPr/>
          </a:p>
        </p:txBody>
      </p:sp>
      <p:sp>
        <p:nvSpPr>
          <p:cNvPr id="112"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113" name="!!T But will it last to Carmen's 89? We test"/>
          <p:cNvSpPr txBox="1"/>
          <p:nvPr/>
        </p:nvSpPr>
        <p:spPr>
          <a:xfrm>
            <a:off x="3122228" y="5984558"/>
            <a:ext cx="5947395"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alpha val="30000"/>
                  </a:srgbClr>
                </a:solidFill>
                <a:latin typeface="Plus Jakarta Sans SemiBold"/>
              </a:rPr>
              <a:t>But will it last to Carmen's 89? We tested it in 10,000 futures.</a:t>
            </a:r>
          </a:p>
        </p:txBody>
      </p:sp>
      <p:sp>
        <p:nvSpPr>
          <p:cNvPr id="114" name="!!T But will it last to Carmen's 89? We test #2"/>
          <p:cNvSpPr txBox="1"/>
          <p:nvPr/>
        </p:nvSpPr>
        <p:spPr>
          <a:xfrm>
            <a:off x="3122228" y="5984558"/>
            <a:ext cx="5947395"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But will it last to Carmen's 89? We tested it in 10,000 futures.</a:t>
            </a:r>
          </a:p>
        </p:txBody>
      </p:sp>
      <p:sp>
        <p:nvSpPr>
          <p:cNvPr id="115" name="!!T Case: statement of assets and liabilitie"/>
          <p:cNvSpPr txBox="1"/>
          <p:nvPr/>
        </p:nvSpPr>
        <p:spPr>
          <a:xfrm>
            <a:off x="457200" y="6452104"/>
            <a:ext cx="6374919"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Case: statement of assets and liabilities (investments: funds, stocks, crypto, policy cash values; the last sliver, a</a:t>
            </a:r>
          </a:p>
          <a:p>
            <a:pPr algn="l">
              <a:lnSpc>
                <a:spcPts val="1170"/>
              </a:lnSpc>
              <a:spcBef>
                <a:spcPts val="0"/>
              </a:spcBef>
              <a:spcAft>
                <a:spcPts val="0"/>
              </a:spcAft>
            </a:pPr>
            <a:r>
              <a:rPr sz="900" b="0" i="0" kern="100">
                <a:solidFill>
                  <a:srgbClr val="80606A"/>
                </a:solidFill>
                <a:latin typeface="Plus Jakarta Sans"/>
              </a:rPr>
              <a:t>car, HK$0.2M); savings after tax and MPF (written case §2). Portraits: illustrations, fictional.</a:t>
            </a:r>
          </a:p>
        </p:txBody>
      </p:sp>
      <p:sp>
        <p:nvSpPr>
          <p:cNvPr id="116" name="!!T The problem"/>
          <p:cNvSpPr txBox="1"/>
          <p:nvPr/>
        </p:nvSpPr>
        <p:spPr>
          <a:xfrm>
            <a:off x="6683871" y="6536246"/>
            <a:ext cx="90687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problem</a:t>
            </a:r>
          </a:p>
        </p:txBody>
      </p:sp>
      <p:sp>
        <p:nvSpPr>
          <p:cNvPr id="117" name="!!T The answer"/>
          <p:cNvSpPr txBox="1"/>
          <p:nvPr/>
        </p:nvSpPr>
        <p:spPr>
          <a:xfrm>
            <a:off x="7641134"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118" name="!!T The five calls"/>
          <p:cNvSpPr txBox="1"/>
          <p:nvPr/>
        </p:nvSpPr>
        <p:spPr>
          <a:xfrm>
            <a:off x="8501360"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119" name="!!T Will it hold"/>
          <p:cNvSpPr txBox="1"/>
          <p:nvPr/>
        </p:nvSpPr>
        <p:spPr>
          <a:xfrm>
            <a:off x="9438233"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120" name="!!T What next"/>
          <p:cNvSpPr txBox="1"/>
          <p:nvPr/>
        </p:nvSpPr>
        <p:spPr>
          <a:xfrm>
            <a:off x="10236250"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121" name="!!T Us"/>
          <p:cNvSpPr txBox="1"/>
          <p:nvPr/>
        </p:nvSpPr>
        <p:spPr>
          <a:xfrm>
            <a:off x="11031587"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122" name="!!T 2 / 15"/>
          <p:cNvSpPr txBox="1"/>
          <p:nvPr/>
        </p:nvSpPr>
        <p:spPr>
          <a:xfrm>
            <a:off x="11409908" y="6535674"/>
            <a:ext cx="458685"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2 / 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300"/>
                                        <p:tgtEl>
                                          <p:spTgt spid="4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300"/>
                                        <p:tgtEl>
                                          <p:spTgt spid="4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300"/>
                                        <p:tgtEl>
                                          <p:spTgt spid="5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300"/>
                                        <p:tgtEl>
                                          <p:spTgt spid="5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300"/>
                                        <p:tgtEl>
                                          <p:spTgt spid="5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300"/>
                                        <p:tgtEl>
                                          <p:spTgt spid="5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fade">
                                      <p:cBhvr>
                                        <p:cTn id="25" dur="300"/>
                                        <p:tgtEl>
                                          <p:spTgt spid="5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0"/>
                                        </p:tgtEl>
                                        <p:attrNameLst>
                                          <p:attrName>style.visibility</p:attrName>
                                        </p:attrNameLst>
                                      </p:cBhvr>
                                      <p:to>
                                        <p:strVal val="visible"/>
                                      </p:to>
                                    </p:set>
                                    <p:animEffect transition="in" filter="fade">
                                      <p:cBhvr>
                                        <p:cTn id="28" dur="300"/>
                                        <p:tgtEl>
                                          <p:spTgt spid="60"/>
                                        </p:tgtEl>
                                      </p:cBhvr>
                                    </p:animEffect>
                                  </p:childTnLst>
                                </p:cTn>
                              </p:par>
                              <p:par>
                                <p:cTn id="29" presetID="10" presetClass="entr" presetSubtype="0" fill="hold" nodeType="withEffect">
                                  <p:stCondLst>
                                    <p:cond delay="0"/>
                                  </p:stCondLst>
                                  <p:childTnLst>
                                    <p:set>
                                      <p:cBhvr>
                                        <p:cTn id="30" dur="1" fill="hold">
                                          <p:stCondLst>
                                            <p:cond delay="0"/>
                                          </p:stCondLst>
                                        </p:cTn>
                                        <p:tgtEl>
                                          <p:spTgt spid="62"/>
                                        </p:tgtEl>
                                        <p:attrNameLst>
                                          <p:attrName>style.visibility</p:attrName>
                                        </p:attrNameLst>
                                      </p:cBhvr>
                                      <p:to>
                                        <p:strVal val="visible"/>
                                      </p:to>
                                    </p:set>
                                    <p:animEffect transition="in" filter="fade">
                                      <p:cBhvr>
                                        <p:cTn id="31" dur="300"/>
                                        <p:tgtEl>
                                          <p:spTgt spid="6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4"/>
                                        </p:tgtEl>
                                        <p:attrNameLst>
                                          <p:attrName>style.visibility</p:attrName>
                                        </p:attrNameLst>
                                      </p:cBhvr>
                                      <p:to>
                                        <p:strVal val="visible"/>
                                      </p:to>
                                    </p:set>
                                    <p:animEffect transition="in" filter="fade">
                                      <p:cBhvr>
                                        <p:cTn id="34" dur="300"/>
                                        <p:tgtEl>
                                          <p:spTgt spid="6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fade">
                                      <p:cBhvr>
                                        <p:cTn id="37" dur="300"/>
                                        <p:tgtEl>
                                          <p:spTgt spid="6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8"/>
                                        </p:tgtEl>
                                        <p:attrNameLst>
                                          <p:attrName>style.visibility</p:attrName>
                                        </p:attrNameLst>
                                      </p:cBhvr>
                                      <p:to>
                                        <p:strVal val="visible"/>
                                      </p:to>
                                    </p:set>
                                    <p:animEffect transition="in" filter="fade">
                                      <p:cBhvr>
                                        <p:cTn id="40" dur="300"/>
                                        <p:tgtEl>
                                          <p:spTgt spid="6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0"/>
                                        </p:tgtEl>
                                        <p:attrNameLst>
                                          <p:attrName>style.visibility</p:attrName>
                                        </p:attrNameLst>
                                      </p:cBhvr>
                                      <p:to>
                                        <p:strVal val="visible"/>
                                      </p:to>
                                    </p:set>
                                    <p:animEffect transition="in" filter="fade">
                                      <p:cBhvr>
                                        <p:cTn id="43" dur="300"/>
                                        <p:tgtEl>
                                          <p:spTgt spid="7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2"/>
                                        </p:tgtEl>
                                        <p:attrNameLst>
                                          <p:attrName>style.visibility</p:attrName>
                                        </p:attrNameLst>
                                      </p:cBhvr>
                                      <p:to>
                                        <p:strVal val="visible"/>
                                      </p:to>
                                    </p:set>
                                    <p:animEffect transition="in" filter="fade">
                                      <p:cBhvr>
                                        <p:cTn id="46" dur="300"/>
                                        <p:tgtEl>
                                          <p:spTgt spid="72"/>
                                        </p:tgtEl>
                                      </p:cBhvr>
                                    </p:animEffect>
                                  </p:childTnLst>
                                </p:cTn>
                              </p:par>
                              <p:par>
                                <p:cTn id="47" presetID="10" presetClass="entr" presetSubtype="0" fill="hold" nodeType="withEffect">
                                  <p:stCondLst>
                                    <p:cond delay="0"/>
                                  </p:stCondLst>
                                  <p:childTnLst>
                                    <p:set>
                                      <p:cBhvr>
                                        <p:cTn id="48" dur="1" fill="hold">
                                          <p:stCondLst>
                                            <p:cond delay="0"/>
                                          </p:stCondLst>
                                        </p:cTn>
                                        <p:tgtEl>
                                          <p:spTgt spid="74"/>
                                        </p:tgtEl>
                                        <p:attrNameLst>
                                          <p:attrName>style.visibility</p:attrName>
                                        </p:attrNameLst>
                                      </p:cBhvr>
                                      <p:to>
                                        <p:strVal val="visible"/>
                                      </p:to>
                                    </p:set>
                                    <p:animEffect transition="in" filter="fade">
                                      <p:cBhvr>
                                        <p:cTn id="49" dur="300"/>
                                        <p:tgtEl>
                                          <p:spTgt spid="7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6"/>
                                        </p:tgtEl>
                                        <p:attrNameLst>
                                          <p:attrName>style.visibility</p:attrName>
                                        </p:attrNameLst>
                                      </p:cBhvr>
                                      <p:to>
                                        <p:strVal val="visible"/>
                                      </p:to>
                                    </p:set>
                                    <p:animEffect transition="in" filter="fade">
                                      <p:cBhvr>
                                        <p:cTn id="52" dur="300"/>
                                        <p:tgtEl>
                                          <p:spTgt spid="7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8"/>
                                        </p:tgtEl>
                                        <p:attrNameLst>
                                          <p:attrName>style.visibility</p:attrName>
                                        </p:attrNameLst>
                                      </p:cBhvr>
                                      <p:to>
                                        <p:strVal val="visible"/>
                                      </p:to>
                                    </p:set>
                                    <p:animEffect transition="in" filter="fade">
                                      <p:cBhvr>
                                        <p:cTn id="55" dur="300"/>
                                        <p:tgtEl>
                                          <p:spTgt spid="7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80"/>
                                        </p:tgtEl>
                                        <p:attrNameLst>
                                          <p:attrName>style.visibility</p:attrName>
                                        </p:attrNameLst>
                                      </p:cBhvr>
                                      <p:to>
                                        <p:strVal val="visible"/>
                                      </p:to>
                                    </p:set>
                                    <p:animEffect transition="in" filter="fade">
                                      <p:cBhvr>
                                        <p:cTn id="58" dur="300"/>
                                        <p:tgtEl>
                                          <p:spTgt spid="8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82"/>
                                        </p:tgtEl>
                                        <p:attrNameLst>
                                          <p:attrName>style.visibility</p:attrName>
                                        </p:attrNameLst>
                                      </p:cBhvr>
                                      <p:to>
                                        <p:strVal val="visible"/>
                                      </p:to>
                                    </p:set>
                                    <p:animEffect transition="in" filter="fade">
                                      <p:cBhvr>
                                        <p:cTn id="61" dur="300"/>
                                        <p:tgtEl>
                                          <p:spTgt spid="8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84"/>
                                        </p:tgtEl>
                                        <p:attrNameLst>
                                          <p:attrName>style.visibility</p:attrName>
                                        </p:attrNameLst>
                                      </p:cBhvr>
                                      <p:to>
                                        <p:strVal val="visible"/>
                                      </p:to>
                                    </p:set>
                                    <p:animEffect transition="in" filter="fade">
                                      <p:cBhvr>
                                        <p:cTn id="64" dur="300"/>
                                        <p:tgtEl>
                                          <p:spTgt spid="84"/>
                                        </p:tgtEl>
                                      </p:cBhvr>
                                    </p:animEffect>
                                  </p:childTnLst>
                                </p:cTn>
                              </p:par>
                              <p:par>
                                <p:cTn id="65" presetID="10" presetClass="entr" presetSubtype="0" fill="hold" nodeType="withEffect">
                                  <p:stCondLst>
                                    <p:cond delay="0"/>
                                  </p:stCondLst>
                                  <p:childTnLst>
                                    <p:set>
                                      <p:cBhvr>
                                        <p:cTn id="66" dur="1" fill="hold">
                                          <p:stCondLst>
                                            <p:cond delay="0"/>
                                          </p:stCondLst>
                                        </p:cTn>
                                        <p:tgtEl>
                                          <p:spTgt spid="86"/>
                                        </p:tgtEl>
                                        <p:attrNameLst>
                                          <p:attrName>style.visibility</p:attrName>
                                        </p:attrNameLst>
                                      </p:cBhvr>
                                      <p:to>
                                        <p:strVal val="visible"/>
                                      </p:to>
                                    </p:set>
                                    <p:animEffect transition="in" filter="fade">
                                      <p:cBhvr>
                                        <p:cTn id="67" dur="300"/>
                                        <p:tgtEl>
                                          <p:spTgt spid="8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88"/>
                                        </p:tgtEl>
                                        <p:attrNameLst>
                                          <p:attrName>style.visibility</p:attrName>
                                        </p:attrNameLst>
                                      </p:cBhvr>
                                      <p:to>
                                        <p:strVal val="visible"/>
                                      </p:to>
                                    </p:set>
                                    <p:animEffect transition="in" filter="fade">
                                      <p:cBhvr>
                                        <p:cTn id="70" dur="300"/>
                                        <p:tgtEl>
                                          <p:spTgt spid="8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90"/>
                                        </p:tgtEl>
                                        <p:attrNameLst>
                                          <p:attrName>style.visibility</p:attrName>
                                        </p:attrNameLst>
                                      </p:cBhvr>
                                      <p:to>
                                        <p:strVal val="visible"/>
                                      </p:to>
                                    </p:set>
                                    <p:animEffect transition="in" filter="fade">
                                      <p:cBhvr>
                                        <p:cTn id="73" dur="300"/>
                                        <p:tgtEl>
                                          <p:spTgt spid="9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92"/>
                                        </p:tgtEl>
                                        <p:attrNameLst>
                                          <p:attrName>style.visibility</p:attrName>
                                        </p:attrNameLst>
                                      </p:cBhvr>
                                      <p:to>
                                        <p:strVal val="visible"/>
                                      </p:to>
                                    </p:set>
                                    <p:animEffect transition="in" filter="fade">
                                      <p:cBhvr>
                                        <p:cTn id="76" dur="300"/>
                                        <p:tgtEl>
                                          <p:spTgt spid="9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94"/>
                                        </p:tgtEl>
                                        <p:attrNameLst>
                                          <p:attrName>style.visibility</p:attrName>
                                        </p:attrNameLst>
                                      </p:cBhvr>
                                      <p:to>
                                        <p:strVal val="visible"/>
                                      </p:to>
                                    </p:set>
                                    <p:animEffect transition="in" filter="fade">
                                      <p:cBhvr>
                                        <p:cTn id="79" dur="300"/>
                                        <p:tgtEl>
                                          <p:spTgt spid="9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96"/>
                                        </p:tgtEl>
                                        <p:attrNameLst>
                                          <p:attrName>style.visibility</p:attrName>
                                        </p:attrNameLst>
                                      </p:cBhvr>
                                      <p:to>
                                        <p:strVal val="visible"/>
                                      </p:to>
                                    </p:set>
                                    <p:animEffect transition="in" filter="fade">
                                      <p:cBhvr>
                                        <p:cTn id="82" dur="300"/>
                                        <p:tgtEl>
                                          <p:spTgt spid="96"/>
                                        </p:tgtEl>
                                      </p:cBhvr>
                                    </p:animEffect>
                                  </p:childTnLst>
                                </p:cTn>
                              </p:par>
                              <p:par>
                                <p:cTn id="83" presetID="10" presetClass="entr" presetSubtype="0" fill="hold" nodeType="withEffect">
                                  <p:stCondLst>
                                    <p:cond delay="0"/>
                                  </p:stCondLst>
                                  <p:childTnLst>
                                    <p:set>
                                      <p:cBhvr>
                                        <p:cTn id="84" dur="1" fill="hold">
                                          <p:stCondLst>
                                            <p:cond delay="0"/>
                                          </p:stCondLst>
                                        </p:cTn>
                                        <p:tgtEl>
                                          <p:spTgt spid="98"/>
                                        </p:tgtEl>
                                        <p:attrNameLst>
                                          <p:attrName>style.visibility</p:attrName>
                                        </p:attrNameLst>
                                      </p:cBhvr>
                                      <p:to>
                                        <p:strVal val="visible"/>
                                      </p:to>
                                    </p:set>
                                    <p:animEffect transition="in" filter="fade">
                                      <p:cBhvr>
                                        <p:cTn id="85" dur="300"/>
                                        <p:tgtEl>
                                          <p:spTgt spid="9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100"/>
                                        </p:tgtEl>
                                        <p:attrNameLst>
                                          <p:attrName>style.visibility</p:attrName>
                                        </p:attrNameLst>
                                      </p:cBhvr>
                                      <p:to>
                                        <p:strVal val="visible"/>
                                      </p:to>
                                    </p:set>
                                    <p:animEffect transition="in" filter="fade">
                                      <p:cBhvr>
                                        <p:cTn id="88" dur="300"/>
                                        <p:tgtEl>
                                          <p:spTgt spid="10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02"/>
                                        </p:tgtEl>
                                        <p:attrNameLst>
                                          <p:attrName>style.visibility</p:attrName>
                                        </p:attrNameLst>
                                      </p:cBhvr>
                                      <p:to>
                                        <p:strVal val="visible"/>
                                      </p:to>
                                    </p:set>
                                    <p:animEffect transition="in" filter="fade">
                                      <p:cBhvr>
                                        <p:cTn id="91" dur="300"/>
                                        <p:tgtEl>
                                          <p:spTgt spid="10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104"/>
                                        </p:tgtEl>
                                        <p:attrNameLst>
                                          <p:attrName>style.visibility</p:attrName>
                                        </p:attrNameLst>
                                      </p:cBhvr>
                                      <p:to>
                                        <p:strVal val="visible"/>
                                      </p:to>
                                    </p:set>
                                    <p:animEffect transition="in" filter="fade">
                                      <p:cBhvr>
                                        <p:cTn id="94" dur="300"/>
                                        <p:tgtEl>
                                          <p:spTgt spid="10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06"/>
                                        </p:tgtEl>
                                        <p:attrNameLst>
                                          <p:attrName>style.visibility</p:attrName>
                                        </p:attrNameLst>
                                      </p:cBhvr>
                                      <p:to>
                                        <p:strVal val="visible"/>
                                      </p:to>
                                    </p:set>
                                    <p:animEffect transition="in" filter="fade">
                                      <p:cBhvr>
                                        <p:cTn id="97" dur="300"/>
                                        <p:tgtEl>
                                          <p:spTgt spid="10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08"/>
                                        </p:tgtEl>
                                        <p:attrNameLst>
                                          <p:attrName>style.visibility</p:attrName>
                                        </p:attrNameLst>
                                      </p:cBhvr>
                                      <p:to>
                                        <p:strVal val="visible"/>
                                      </p:to>
                                    </p:set>
                                    <p:animEffect transition="in" filter="fade">
                                      <p:cBhvr>
                                        <p:cTn id="100" dur="300"/>
                                        <p:tgtEl>
                                          <p:spTgt spid="108"/>
                                        </p:tgtEl>
                                      </p:cBhvr>
                                    </p:animEffect>
                                  </p:childTnLst>
                                </p:cTn>
                              </p:par>
                              <p:par>
                                <p:cTn id="101" presetID="10" presetClass="entr" presetSubtype="0" fill="hold" nodeType="withEffect">
                                  <p:stCondLst>
                                    <p:cond delay="0"/>
                                  </p:stCondLst>
                                  <p:childTnLst>
                                    <p:set>
                                      <p:cBhvr>
                                        <p:cTn id="102" dur="1" fill="hold">
                                          <p:stCondLst>
                                            <p:cond delay="0"/>
                                          </p:stCondLst>
                                        </p:cTn>
                                        <p:tgtEl>
                                          <p:spTgt spid="110"/>
                                        </p:tgtEl>
                                        <p:attrNameLst>
                                          <p:attrName>style.visibility</p:attrName>
                                        </p:attrNameLst>
                                      </p:cBhvr>
                                      <p:to>
                                        <p:strVal val="visible"/>
                                      </p:to>
                                    </p:set>
                                    <p:animEffect transition="in" filter="fade">
                                      <p:cBhvr>
                                        <p:cTn id="103" dur="300"/>
                                        <p:tgtEl>
                                          <p:spTgt spid="110"/>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12"/>
                                        </p:tgtEl>
                                        <p:attrNameLst>
                                          <p:attrName>style.visibility</p:attrName>
                                        </p:attrNameLst>
                                      </p:cBhvr>
                                      <p:to>
                                        <p:strVal val="visible"/>
                                      </p:to>
                                    </p:set>
                                    <p:animEffect transition="in" filter="fade">
                                      <p:cBhvr>
                                        <p:cTn id="106" dur="300"/>
                                        <p:tgtEl>
                                          <p:spTgt spid="112"/>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14"/>
                                        </p:tgtEl>
                                        <p:attrNameLst>
                                          <p:attrName>style.visibility</p:attrName>
                                        </p:attrNameLst>
                                      </p:cBhvr>
                                      <p:to>
                                        <p:strVal val="visible"/>
                                      </p:to>
                                    </p:set>
                                    <p:animEffect transition="in" filter="fade">
                                      <p:cBhvr>
                                        <p:cTn id="109" dur="3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8" grpId="0" animBg="1"/>
      <p:bldP spid="50" grpId="0" animBg="1"/>
      <p:bldP spid="52" grpId="0" animBg="1"/>
      <p:bldP spid="54" grpId="0" animBg="1"/>
      <p:bldP spid="56" grpId="0" animBg="1"/>
      <p:bldP spid="58" grpId="0" animBg="1"/>
      <p:bldP spid="60" grpId="0" animBg="1"/>
      <p:bldP spid="64" grpId="0" animBg="1"/>
      <p:bldP spid="66" grpId="0" animBg="1"/>
      <p:bldP spid="68" grpId="0" animBg="1"/>
      <p:bldP spid="70" grpId="0" animBg="1"/>
      <p:bldP spid="72" grpId="0" animBg="1"/>
      <p:bldP spid="76" grpId="0" animBg="1"/>
      <p:bldP spid="78" grpId="0" animBg="1"/>
      <p:bldP spid="80" grpId="0" animBg="1"/>
      <p:bldP spid="82" grpId="0" animBg="1"/>
      <p:bldP spid="84" grpId="0" animBg="1"/>
      <p:bldP spid="88" grpId="0" animBg="1"/>
      <p:bldP spid="90" grpId="0" animBg="1"/>
      <p:bldP spid="92" grpId="0" animBg="1"/>
      <p:bldP spid="94" grpId="0" animBg="1"/>
      <p:bldP spid="96" grpId="0" animBg="1"/>
      <p:bldP spid="100" grpId="0" animBg="1"/>
      <p:bldP spid="102" grpId="0" animBg="1"/>
      <p:bldP spid="104" grpId="0" animBg="1"/>
      <p:bldP spid="106" grpId="0" animBg="1"/>
      <p:bldP spid="108" grpId="0" animBg="1"/>
      <p:bldP spid="112" grpId="0" animBg="1"/>
      <p:bldP spid="1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Their own way, Carmen is forced to sell the home at about 83, too late to save the money or the inheritance">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sp>
        <p:nvSpPr>
          <p:cNvPr id="3" name="!!T Will it last?"/>
          <p:cNvSpPr txBox="1"/>
          <p:nvPr/>
        </p:nvSpPr>
        <p:spPr>
          <a:xfrm>
            <a:off x="638175" y="324421"/>
            <a:ext cx="826577"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Will it last?</a:t>
            </a:r>
          </a:p>
        </p:txBody>
      </p:sp>
      <p:sp>
        <p:nvSpPr>
          <p:cNvPr id="4" name="!!T Their own way, Carmen is forced to sell "/>
          <p:cNvSpPr txBox="1"/>
          <p:nvPr/>
        </p:nvSpPr>
        <p:spPr>
          <a:xfrm>
            <a:off x="638175" y="529852"/>
            <a:ext cx="7527024"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Their own way, Carmen is forced to sell the home at</a:t>
            </a:r>
          </a:p>
          <a:p>
            <a:pPr algn="l">
              <a:lnSpc>
                <a:spcPts val="2523"/>
              </a:lnSpc>
              <a:spcBef>
                <a:spcPts val="0"/>
              </a:spcBef>
              <a:spcAft>
                <a:spcPts val="0"/>
              </a:spcAft>
            </a:pPr>
            <a:r>
              <a:rPr sz="2175" b="1" i="0" kern="100" spc="-38">
                <a:solidFill>
                  <a:srgbClr val="1B1716"/>
                </a:solidFill>
                <a:latin typeface="Plus Jakarta Sans"/>
              </a:rPr>
              <a:t>about 83, too late to save the money or the inheritance</a:t>
            </a:r>
          </a:p>
        </p:txBody>
      </p:sp>
      <p:sp>
        <p:nvSpPr>
          <p:cNvPr id="5" name="!!Rule 9b9ff67d"/>
          <p:cNvSpPr/>
          <p:nvPr/>
        </p:nvSpPr>
        <p:spPr>
          <a:xfrm>
            <a:off x="457200" y="1740098"/>
            <a:ext cx="6483251" cy="9525"/>
          </a:xfrm>
          <a:prstGeom prst="rect">
            <a:avLst/>
          </a:prstGeom>
          <a:solidFill>
            <a:srgbClr val="1B1716"/>
          </a:solidFill>
          <a:ln>
            <a:noFill/>
          </a:ln>
        </p:spPr>
        <p:txBody>
          <a:bodyPr rtlCol="0" anchor="ctr"/>
          <a:lstStyle/>
          <a:p>
            <a:pPr algn="ctr"/>
            <a:endParaRPr/>
          </a:p>
        </p:txBody>
      </p:sp>
      <p:sp>
        <p:nvSpPr>
          <p:cNvPr id="6" name="!!T One typical future, managed their own wa"/>
          <p:cNvSpPr txBox="1"/>
          <p:nvPr/>
        </p:nvSpPr>
        <p:spPr>
          <a:xfrm>
            <a:off x="457200" y="1445824"/>
            <a:ext cx="3728847"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One typical future, managed their own way…</a:t>
            </a:r>
          </a:p>
        </p:txBody>
      </p:sp>
      <p:sp>
        <p:nvSpPr>
          <p:cNvPr id="7" name="!!T Our written case measured investments al"/>
          <p:cNvSpPr txBox="1"/>
          <p:nvPr/>
        </p:nvSpPr>
        <p:spPr>
          <a:xfrm>
            <a:off x="457200" y="1817251"/>
            <a:ext cx="5968377" cy="200025"/>
          </a:xfrm>
          <a:prstGeom prst="rect">
            <a:avLst/>
          </a:prstGeom>
          <a:noFill/>
        </p:spPr>
        <p:txBody>
          <a:bodyPr wrap="none" lIns="0" tIns="0" rIns="0" bIns="0" anchor="t">
            <a:noAutofit/>
          </a:bodyPr>
          <a:lstStyle/>
          <a:p>
            <a:pPr algn="l">
              <a:lnSpc>
                <a:spcPts val="1575"/>
              </a:lnSpc>
              <a:spcBef>
                <a:spcPts val="0"/>
              </a:spcBef>
              <a:spcAft>
                <a:spcPts val="0"/>
              </a:spcAft>
            </a:pPr>
            <a:r>
              <a:rPr sz="1125" b="0" i="0" kern="100">
                <a:solidFill>
                  <a:srgbClr val="80606A"/>
                </a:solidFill>
                <a:latin typeface="Plus Jakarta Sans"/>
              </a:rPr>
              <a:t>Our written case measured investments alone: 33%. The fairer test is their own way.</a:t>
            </a:r>
          </a:p>
        </p:txBody>
      </p:sp>
      <p:pic>
        <p:nvPicPr>
          <p:cNvPr id="8" name="!!Drawing 963910ab"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0600" y="2387798"/>
            <a:ext cx="5949851" cy="2724150"/>
          </a:xfrm>
          <a:prstGeom prst="rect">
            <a:avLst/>
          </a:prstGeom>
        </p:spPr>
      </p:pic>
      <p:sp>
        <p:nvSpPr>
          <p:cNvPr id="9" name="!!Rule 66f615e2"/>
          <p:cNvSpPr/>
          <p:nvPr/>
        </p:nvSpPr>
        <p:spPr>
          <a:xfrm>
            <a:off x="990600" y="5111948"/>
            <a:ext cx="5949851" cy="9525"/>
          </a:xfrm>
          <a:prstGeom prst="rect">
            <a:avLst/>
          </a:prstGeom>
          <a:solidFill>
            <a:srgbClr val="1B1716"/>
          </a:solidFill>
          <a:ln>
            <a:noFill/>
          </a:ln>
        </p:spPr>
        <p:txBody>
          <a:bodyPr rtlCol="0" anchor="ctr"/>
          <a:lstStyle/>
          <a:p>
            <a:pPr algn="ctr"/>
            <a:endParaRPr/>
          </a:p>
        </p:txBody>
      </p:sp>
      <p:sp>
        <p:nvSpPr>
          <p:cNvPr id="10" name="!!T Carmen 49"/>
          <p:cNvSpPr txBox="1"/>
          <p:nvPr/>
        </p:nvSpPr>
        <p:spPr>
          <a:xfrm>
            <a:off x="990600" y="5339691"/>
            <a:ext cx="856077"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SemiBold"/>
              </a:rPr>
              <a:t>Carmen 49</a:t>
            </a:r>
          </a:p>
        </p:txBody>
      </p:sp>
      <p:sp>
        <p:nvSpPr>
          <p:cNvPr id="11" name="!!T 2026"/>
          <p:cNvSpPr txBox="1"/>
          <p:nvPr/>
        </p:nvSpPr>
        <p:spPr>
          <a:xfrm>
            <a:off x="990600" y="5173004"/>
            <a:ext cx="471779"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80606A"/>
                </a:solidFill>
                <a:latin typeface="Plus Jakarta Sans"/>
              </a:rPr>
              <a:t>2026</a:t>
            </a:r>
          </a:p>
        </p:txBody>
      </p:sp>
      <p:sp>
        <p:nvSpPr>
          <p:cNvPr id="12" name="!!T Adrian retires"/>
          <p:cNvSpPr txBox="1"/>
          <p:nvPr/>
        </p:nvSpPr>
        <p:spPr>
          <a:xfrm>
            <a:off x="2117147" y="5339691"/>
            <a:ext cx="1019041"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Adrian retires</a:t>
            </a:r>
          </a:p>
        </p:txBody>
      </p:sp>
      <p:sp>
        <p:nvSpPr>
          <p:cNvPr id="13" name="!!T 2037"/>
          <p:cNvSpPr txBox="1"/>
          <p:nvPr/>
        </p:nvSpPr>
        <p:spPr>
          <a:xfrm>
            <a:off x="2393859" y="5173004"/>
            <a:ext cx="465469"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2037</a:t>
            </a:r>
          </a:p>
        </p:txBody>
      </p:sp>
      <p:sp>
        <p:nvSpPr>
          <p:cNvPr id="14" name="!!T Carmen 69"/>
          <p:cNvSpPr txBox="1"/>
          <p:nvPr/>
        </p:nvSpPr>
        <p:spPr>
          <a:xfrm>
            <a:off x="3541746" y="5339691"/>
            <a:ext cx="847558"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Carmen 69</a:t>
            </a:r>
          </a:p>
        </p:txBody>
      </p:sp>
      <p:sp>
        <p:nvSpPr>
          <p:cNvPr id="15" name="!!T 2046"/>
          <p:cNvSpPr txBox="1"/>
          <p:nvPr/>
        </p:nvSpPr>
        <p:spPr>
          <a:xfrm>
            <a:off x="3727432" y="5173004"/>
            <a:ext cx="476039"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2046</a:t>
            </a:r>
          </a:p>
        </p:txBody>
      </p:sp>
      <p:sp>
        <p:nvSpPr>
          <p:cNvPr id="16" name="!!T Adrian dies"/>
          <p:cNvSpPr txBox="1"/>
          <p:nvPr/>
        </p:nvSpPr>
        <p:spPr>
          <a:xfrm>
            <a:off x="5019196" y="5339691"/>
            <a:ext cx="867436"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Adrian dies</a:t>
            </a:r>
          </a:p>
        </p:txBody>
      </p:sp>
      <p:sp>
        <p:nvSpPr>
          <p:cNvPr id="17" name="!!T 2056"/>
          <p:cNvSpPr txBox="1"/>
          <p:nvPr/>
        </p:nvSpPr>
        <p:spPr>
          <a:xfrm>
            <a:off x="5215766" y="5173004"/>
            <a:ext cx="474146"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2056</a:t>
            </a:r>
          </a:p>
        </p:txBody>
      </p:sp>
      <p:sp>
        <p:nvSpPr>
          <p:cNvPr id="18" name="!!T Carmen 89"/>
          <p:cNvSpPr txBox="1"/>
          <p:nvPr/>
        </p:nvSpPr>
        <p:spPr>
          <a:xfrm>
            <a:off x="6086582" y="5339691"/>
            <a:ext cx="853869" cy="166688"/>
          </a:xfrm>
          <a:prstGeom prst="rect">
            <a:avLst/>
          </a:prstGeom>
          <a:noFill/>
        </p:spPr>
        <p:txBody>
          <a:bodyPr wrap="none" lIns="0" tIns="0" rIns="0" bIns="0" anchor="t">
            <a:noAutofit/>
          </a:bodyPr>
          <a:lstStyle/>
          <a:p>
            <a:pPr algn="r">
              <a:lnSpc>
                <a:spcPts val="1312"/>
              </a:lnSpc>
              <a:spcBef>
                <a:spcPts val="0"/>
              </a:spcBef>
              <a:spcAft>
                <a:spcPts val="0"/>
              </a:spcAft>
            </a:pPr>
            <a:r>
              <a:rPr sz="1050" b="0" i="0" kern="100">
                <a:solidFill>
                  <a:srgbClr val="1B1716"/>
                </a:solidFill>
                <a:latin typeface="Plus Jakarta Sans SemiBold"/>
              </a:rPr>
              <a:t>Carmen 89</a:t>
            </a:r>
          </a:p>
        </p:txBody>
      </p:sp>
      <p:sp>
        <p:nvSpPr>
          <p:cNvPr id="19" name="!!T 2066"/>
          <p:cNvSpPr txBox="1"/>
          <p:nvPr/>
        </p:nvSpPr>
        <p:spPr>
          <a:xfrm>
            <a:off x="6468987" y="5173004"/>
            <a:ext cx="471464" cy="166688"/>
          </a:xfrm>
          <a:prstGeom prst="rect">
            <a:avLst/>
          </a:prstGeom>
          <a:noFill/>
        </p:spPr>
        <p:txBody>
          <a:bodyPr wrap="none" lIns="0" tIns="0" rIns="0" bIns="0" anchor="t">
            <a:noAutofit/>
          </a:bodyPr>
          <a:lstStyle/>
          <a:p>
            <a:pPr algn="r">
              <a:lnSpc>
                <a:spcPts val="1312"/>
              </a:lnSpc>
              <a:spcBef>
                <a:spcPts val="0"/>
              </a:spcBef>
              <a:spcAft>
                <a:spcPts val="0"/>
              </a:spcAft>
            </a:pPr>
            <a:r>
              <a:rPr sz="1050" b="0" i="0" kern="100">
                <a:solidFill>
                  <a:srgbClr val="80606A"/>
                </a:solidFill>
                <a:latin typeface="Plus Jakarta Sans"/>
              </a:rPr>
              <a:t>2066</a:t>
            </a:r>
          </a:p>
        </p:txBody>
      </p:sp>
      <p:sp>
        <p:nvSpPr>
          <p:cNvPr id="20" name="!!Rule d1bf885b"/>
          <p:cNvSpPr/>
          <p:nvPr/>
        </p:nvSpPr>
        <p:spPr>
          <a:xfrm>
            <a:off x="7169051" y="1740098"/>
            <a:ext cx="4565600" cy="9525"/>
          </a:xfrm>
          <a:prstGeom prst="rect">
            <a:avLst/>
          </a:prstGeom>
          <a:solidFill>
            <a:srgbClr val="1B1716"/>
          </a:solidFill>
          <a:ln>
            <a:noFill/>
          </a:ln>
        </p:spPr>
        <p:txBody>
          <a:bodyPr rtlCol="0" anchor="ctr"/>
          <a:lstStyle/>
          <a:p>
            <a:pPr algn="ctr"/>
            <a:endParaRPr/>
          </a:p>
        </p:txBody>
      </p:sp>
      <p:sp>
        <p:nvSpPr>
          <p:cNvPr id="21" name="!!T …and across 10,000 futures"/>
          <p:cNvSpPr txBox="1"/>
          <p:nvPr/>
        </p:nvSpPr>
        <p:spPr>
          <a:xfrm>
            <a:off x="7169051" y="1445824"/>
            <a:ext cx="2384435"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…and across 10,000 futures</a:t>
            </a:r>
          </a:p>
        </p:txBody>
      </p:sp>
      <p:sp>
        <p:nvSpPr>
          <p:cNvPr id="22" name="!!T The same test in every simulated market "/>
          <p:cNvSpPr txBox="1"/>
          <p:nvPr/>
        </p:nvSpPr>
        <p:spPr>
          <a:xfrm>
            <a:off x="7169051" y="1817251"/>
            <a:ext cx="3775386" cy="200025"/>
          </a:xfrm>
          <a:prstGeom prst="rect">
            <a:avLst/>
          </a:prstGeom>
          <a:noFill/>
        </p:spPr>
        <p:txBody>
          <a:bodyPr wrap="none" lIns="0" tIns="0" rIns="0" bIns="0" anchor="t">
            <a:noAutofit/>
          </a:bodyPr>
          <a:lstStyle/>
          <a:p>
            <a:pPr algn="l">
              <a:lnSpc>
                <a:spcPts val="1575"/>
              </a:lnSpc>
              <a:spcBef>
                <a:spcPts val="0"/>
              </a:spcBef>
              <a:spcAft>
                <a:spcPts val="0"/>
              </a:spcAft>
            </a:pPr>
            <a:r>
              <a:rPr sz="1125" b="0" i="0" kern="100">
                <a:solidFill>
                  <a:srgbClr val="80606A"/>
                </a:solidFill>
                <a:latin typeface="Plus Jakarta Sans"/>
              </a:rPr>
              <a:t>The same test in every simulated market (measured)</a:t>
            </a:r>
          </a:p>
        </p:txBody>
      </p:sp>
      <p:sp>
        <p:nvSpPr>
          <p:cNvPr id="23" name="!!T 51%"/>
          <p:cNvSpPr txBox="1"/>
          <p:nvPr/>
        </p:nvSpPr>
        <p:spPr>
          <a:xfrm>
            <a:off x="7169051" y="2184154"/>
            <a:ext cx="1069208" cy="457200"/>
          </a:xfrm>
          <a:prstGeom prst="rect">
            <a:avLst/>
          </a:prstGeom>
          <a:noFill/>
        </p:spPr>
        <p:txBody>
          <a:bodyPr wrap="none" lIns="0" tIns="0" rIns="0" bIns="0" anchor="t">
            <a:noAutofit/>
          </a:bodyPr>
          <a:lstStyle/>
          <a:p>
            <a:pPr algn="l">
              <a:lnSpc>
                <a:spcPts val="3600"/>
              </a:lnSpc>
              <a:spcBef>
                <a:spcPts val="0"/>
              </a:spcBef>
              <a:spcAft>
                <a:spcPts val="0"/>
              </a:spcAft>
            </a:pPr>
            <a:r>
              <a:rPr sz="3600" b="1" i="0" kern="100" spc="-112">
                <a:solidFill>
                  <a:srgbClr val="1B1716"/>
                </a:solidFill>
                <a:latin typeface="Plus Jakarta Sans"/>
              </a:rPr>
              <a:t>51%</a:t>
            </a:r>
          </a:p>
        </p:txBody>
      </p:sp>
      <p:sp>
        <p:nvSpPr>
          <p:cNvPr id="24" name="!!T of futures are forced to sell the home"/>
          <p:cNvSpPr txBox="1"/>
          <p:nvPr/>
        </p:nvSpPr>
        <p:spPr>
          <a:xfrm>
            <a:off x="8165157" y="2455807"/>
            <a:ext cx="295883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of futures are forced to sell the home</a:t>
            </a:r>
          </a:p>
        </p:txBody>
      </p:sp>
      <p:sp>
        <p:nvSpPr>
          <p:cNvPr id="25" name="!!div c65726d5"/>
          <p:cNvSpPr/>
          <p:nvPr/>
        </p:nvSpPr>
        <p:spPr>
          <a:xfrm rot="5400000">
            <a:off x="9270876" y="705073"/>
            <a:ext cx="361950" cy="4565600"/>
          </a:xfrm>
          <a:prstGeom prst="round2SameRect">
            <a:avLst>
              <a:gd name="adj1" fmla="val 15789"/>
              <a:gd name="adj2" fmla="val 0"/>
            </a:avLst>
          </a:prstGeom>
          <a:gradFill rotWithShape="0">
            <a:gsLst>
              <a:gs pos="0">
                <a:srgbClr val="F3E2E4"/>
              </a:gs>
              <a:gs pos="100000">
                <a:srgbClr val="E7CCD1"/>
              </a:gs>
            </a:gsLst>
            <a:lin ang="0" scaled="0"/>
          </a:gra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26" name="!!i 314b411a"/>
          <p:cNvSpPr/>
          <p:nvPr/>
        </p:nvSpPr>
        <p:spPr>
          <a:xfrm>
            <a:off x="7169051" y="2806898"/>
            <a:ext cx="2328416" cy="361950"/>
          </a:xfrm>
          <a:prstGeom prst="rect">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27" name="!!T Sold"/>
          <p:cNvSpPr txBox="1"/>
          <p:nvPr/>
        </p:nvSpPr>
        <p:spPr>
          <a:xfrm>
            <a:off x="7283351" y="2907863"/>
            <a:ext cx="449851" cy="142875"/>
          </a:xfrm>
          <a:prstGeom prst="rect">
            <a:avLst/>
          </a:prstGeom>
          <a:noFill/>
        </p:spPr>
        <p:txBody>
          <a:bodyPr wrap="none" lIns="0" tIns="0" rIns="0" bIns="0" anchor="t">
            <a:noAutofit/>
          </a:bodyPr>
          <a:lstStyle/>
          <a:p>
            <a:pPr algn="l">
              <a:lnSpc>
                <a:spcPts val="1125"/>
              </a:lnSpc>
              <a:spcBef>
                <a:spcPts val="0"/>
              </a:spcBef>
              <a:spcAft>
                <a:spcPts val="0"/>
              </a:spcAft>
            </a:pPr>
            <a:r>
              <a:rPr sz="1125" b="0" i="0" kern="100">
                <a:solidFill>
                  <a:srgbClr val="FFFFFF"/>
                </a:solidFill>
                <a:latin typeface="Plus Jakarta Sans SemiBold"/>
              </a:rPr>
              <a:t>Sold</a:t>
            </a:r>
          </a:p>
        </p:txBody>
      </p:sp>
      <p:sp>
        <p:nvSpPr>
          <p:cNvPr id="28" name="!!T Kept"/>
          <p:cNvSpPr txBox="1"/>
          <p:nvPr/>
        </p:nvSpPr>
        <p:spPr>
          <a:xfrm>
            <a:off x="11287571" y="2907863"/>
            <a:ext cx="467046" cy="142875"/>
          </a:xfrm>
          <a:prstGeom prst="rect">
            <a:avLst/>
          </a:prstGeom>
          <a:noFill/>
        </p:spPr>
        <p:txBody>
          <a:bodyPr wrap="none" lIns="0" tIns="0" rIns="0" bIns="0" anchor="t">
            <a:noAutofit/>
          </a:bodyPr>
          <a:lstStyle/>
          <a:p>
            <a:pPr algn="l">
              <a:lnSpc>
                <a:spcPts val="1125"/>
              </a:lnSpc>
              <a:spcBef>
                <a:spcPts val="0"/>
              </a:spcBef>
              <a:spcAft>
                <a:spcPts val="0"/>
              </a:spcAft>
            </a:pPr>
            <a:r>
              <a:rPr sz="1125" b="0" i="0" kern="100">
                <a:solidFill>
                  <a:srgbClr val="80606A"/>
                </a:solidFill>
                <a:latin typeface="Plus Jakarta Sans SemiBold"/>
              </a:rPr>
              <a:t>Kept</a:t>
            </a:r>
          </a:p>
        </p:txBody>
      </p:sp>
      <p:sp>
        <p:nvSpPr>
          <p:cNvPr id="29" name="!!T when the money runs out, Carmen about 83"/>
          <p:cNvSpPr txBox="1"/>
          <p:nvPr/>
        </p:nvSpPr>
        <p:spPr>
          <a:xfrm>
            <a:off x="7169051" y="3249573"/>
            <a:ext cx="4551712" cy="192881"/>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80606A"/>
                </a:solidFill>
                <a:latin typeface="Plus Jakarta Sans"/>
              </a:rPr>
              <a:t>when the money runs out, Carmen about 83, usually on her own</a:t>
            </a:r>
          </a:p>
        </p:txBody>
      </p:sp>
      <p:sp>
        <p:nvSpPr>
          <p:cNvPr id="30" name="!!Rule f80cebdf"/>
          <p:cNvSpPr/>
          <p:nvPr/>
        </p:nvSpPr>
        <p:spPr>
          <a:xfrm>
            <a:off x="7169051" y="3704630"/>
            <a:ext cx="4565600" cy="9525"/>
          </a:xfrm>
          <a:prstGeom prst="rect">
            <a:avLst/>
          </a:prstGeom>
          <a:solidFill>
            <a:srgbClr val="ECDADD"/>
          </a:solidFill>
          <a:ln>
            <a:noFill/>
          </a:ln>
        </p:spPr>
        <p:txBody>
          <a:bodyPr rtlCol="0" anchor="ctr"/>
          <a:lstStyle/>
          <a:p>
            <a:pPr algn="ctr"/>
            <a:endParaRPr/>
          </a:p>
        </p:txBody>
      </p:sp>
      <p:sp>
        <p:nvSpPr>
          <p:cNvPr id="31" name="!!T What Ryan and Chloe inherit, where it is"/>
          <p:cNvSpPr txBox="1"/>
          <p:nvPr/>
        </p:nvSpPr>
        <p:spPr>
          <a:xfrm>
            <a:off x="7169051" y="3905988"/>
            <a:ext cx="3493630"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What Ryan and Chloe inherit, where it is sold</a:t>
            </a:r>
          </a:p>
        </p:txBody>
      </p:sp>
      <p:sp>
        <p:nvSpPr>
          <p:cNvPr id="32" name="!!T Today"/>
          <p:cNvSpPr txBox="1"/>
          <p:nvPr/>
        </p:nvSpPr>
        <p:spPr>
          <a:xfrm>
            <a:off x="7169051" y="4348966"/>
            <a:ext cx="549396" cy="178594"/>
          </a:xfrm>
          <a:prstGeom prst="rect">
            <a:avLst/>
          </a:prstGeom>
          <a:noFill/>
        </p:spPr>
        <p:txBody>
          <a:bodyPr wrap="none" lIns="0" tIns="0" rIns="0" bIns="0" anchor="t">
            <a:noAutofit/>
          </a:bodyPr>
          <a:lstStyle/>
          <a:p>
            <a:pPr algn="l">
              <a:lnSpc>
                <a:spcPts val="1406"/>
              </a:lnSpc>
              <a:spcBef>
                <a:spcPts val="0"/>
              </a:spcBef>
              <a:spcAft>
                <a:spcPts val="0"/>
              </a:spcAft>
            </a:pPr>
            <a:r>
              <a:rPr sz="1125" b="0" i="0" kern="100">
                <a:solidFill>
                  <a:srgbClr val="80606A"/>
                </a:solidFill>
                <a:latin typeface="Plus Jakarta Sans"/>
              </a:rPr>
              <a:t>Today</a:t>
            </a:r>
          </a:p>
        </p:txBody>
      </p:sp>
      <p:sp>
        <p:nvSpPr>
          <p:cNvPr id="33" name="!!i 5100283d"/>
          <p:cNvSpPr/>
          <p:nvPr/>
        </p:nvSpPr>
        <p:spPr>
          <a:xfrm>
            <a:off x="8235851" y="4274195"/>
            <a:ext cx="3498800" cy="361950"/>
          </a:xfrm>
          <a:prstGeom prst="rect">
            <a:avLst/>
          </a:prstGeom>
          <a:gradFill rotWithShape="0">
            <a:gsLst>
              <a:gs pos="0">
                <a:srgbClr val="F3E2E4"/>
              </a:gs>
              <a:gs pos="100000">
                <a:srgbClr val="E7CCD1"/>
              </a:gs>
            </a:gsLst>
            <a:lin ang="0" scaled="0"/>
          </a:gradFill>
          <a:ln>
            <a:noFill/>
          </a:ln>
        </p:spPr>
        <p:txBody>
          <a:bodyPr rtlCol="0" anchor="ctr"/>
          <a:lstStyle/>
          <a:p>
            <a:pPr algn="ctr"/>
            <a:endParaRPr/>
          </a:p>
        </p:txBody>
      </p:sp>
      <p:sp>
        <p:nvSpPr>
          <p:cNvPr id="34" name="!!T HK$24.4M"/>
          <p:cNvSpPr txBox="1"/>
          <p:nvPr/>
        </p:nvSpPr>
        <p:spPr>
          <a:xfrm>
            <a:off x="10844510" y="4365063"/>
            <a:ext cx="956884" cy="152400"/>
          </a:xfrm>
          <a:prstGeom prst="rect">
            <a:avLst/>
          </a:prstGeom>
          <a:noFill/>
        </p:spPr>
        <p:txBody>
          <a:bodyPr wrap="none" lIns="0" tIns="0" rIns="0" bIns="0" anchor="t">
            <a:noAutofit/>
          </a:bodyPr>
          <a:lstStyle/>
          <a:p>
            <a:pPr algn="l">
              <a:lnSpc>
                <a:spcPts val="1200"/>
              </a:lnSpc>
              <a:spcBef>
                <a:spcPts val="0"/>
              </a:spcBef>
              <a:spcAft>
                <a:spcPts val="0"/>
              </a:spcAft>
            </a:pPr>
            <a:r>
              <a:rPr sz="1200" b="1" i="0" kern="100">
                <a:solidFill>
                  <a:srgbClr val="1B1716"/>
                </a:solidFill>
                <a:latin typeface="Plus Jakarta Sans"/>
              </a:rPr>
              <a:t>HK$24.4M</a:t>
            </a:r>
          </a:p>
        </p:txBody>
      </p:sp>
      <p:sp>
        <p:nvSpPr>
          <p:cNvPr id="35" name="!!T Left to them"/>
          <p:cNvSpPr txBox="1"/>
          <p:nvPr/>
        </p:nvSpPr>
        <p:spPr>
          <a:xfrm>
            <a:off x="7169051" y="4968091"/>
            <a:ext cx="990329" cy="178594"/>
          </a:xfrm>
          <a:prstGeom prst="rect">
            <a:avLst/>
          </a:prstGeom>
          <a:noFill/>
        </p:spPr>
        <p:txBody>
          <a:bodyPr wrap="none" lIns="0" tIns="0" rIns="0" bIns="0" anchor="t">
            <a:noAutofit/>
          </a:bodyPr>
          <a:lstStyle/>
          <a:p>
            <a:pPr algn="l">
              <a:lnSpc>
                <a:spcPts val="1406"/>
              </a:lnSpc>
              <a:spcBef>
                <a:spcPts val="0"/>
              </a:spcBef>
              <a:spcAft>
                <a:spcPts val="0"/>
              </a:spcAft>
            </a:pPr>
            <a:r>
              <a:rPr sz="1125" b="0" i="0" kern="100">
                <a:solidFill>
                  <a:srgbClr val="80606A"/>
                </a:solidFill>
                <a:latin typeface="Plus Jakarta Sans"/>
              </a:rPr>
              <a:t>Left to them</a:t>
            </a:r>
          </a:p>
        </p:txBody>
      </p:sp>
      <p:sp>
        <p:nvSpPr>
          <p:cNvPr id="36" name="!!i 65ee91bf"/>
          <p:cNvSpPr/>
          <p:nvPr/>
        </p:nvSpPr>
        <p:spPr>
          <a:xfrm>
            <a:off x="8235851" y="4893320"/>
            <a:ext cx="328761" cy="361950"/>
          </a:xfrm>
          <a:prstGeom prst="rect">
            <a:avLst/>
          </a:prstGeom>
          <a:gradFill rotWithShape="0">
            <a:gsLst>
              <a:gs pos="0">
                <a:srgbClr val="D40F1F"/>
              </a:gs>
              <a:gs pos="100000">
                <a:srgbClr val="971320"/>
              </a:gs>
            </a:gsLst>
            <a:lin ang="5400000" scaled="0"/>
          </a:gradFill>
          <a:ln>
            <a:noFill/>
          </a:ln>
        </p:spPr>
        <p:txBody>
          <a:bodyPr rtlCol="0" anchor="ctr"/>
          <a:lstStyle/>
          <a:p>
            <a:pPr algn="ctr"/>
            <a:endParaRPr/>
          </a:p>
        </p:txBody>
      </p:sp>
      <p:sp>
        <p:nvSpPr>
          <p:cNvPr id="37" name="!!T HK$2.3M"/>
          <p:cNvSpPr txBox="1"/>
          <p:nvPr/>
        </p:nvSpPr>
        <p:spPr>
          <a:xfrm>
            <a:off x="8697962" y="4749492"/>
            <a:ext cx="2716042" cy="571500"/>
          </a:xfrm>
          <a:prstGeom prst="rect">
            <a:avLst/>
          </a:prstGeom>
          <a:noFill/>
        </p:spPr>
        <p:txBody>
          <a:bodyPr wrap="none" lIns="0" tIns="0" rIns="0" bIns="0" anchor="t">
            <a:noAutofit/>
          </a:bodyPr>
          <a:lstStyle/>
          <a:p>
            <a:pPr algn="l">
              <a:lnSpc>
                <a:spcPts val="4500"/>
              </a:lnSpc>
              <a:spcBef>
                <a:spcPts val="0"/>
              </a:spcBef>
              <a:spcAft>
                <a:spcPts val="0"/>
              </a:spcAft>
            </a:pPr>
            <a:r>
              <a:rPr sz="4500" b="1" i="0" kern="100" spc="-150">
                <a:solidFill>
                  <a:srgbClr val="C80E1E"/>
                </a:solidFill>
                <a:latin typeface="Plus Jakarta Sans"/>
              </a:rPr>
              <a:t>HK$2.3M</a:t>
            </a:r>
          </a:p>
        </p:txBody>
      </p:sp>
      <p:sp>
        <p:nvSpPr>
          <p:cNvPr id="38"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39" name="!!T Their wealth will pay for their retireme"/>
          <p:cNvSpPr txBox="1"/>
          <p:nvPr/>
        </p:nvSpPr>
        <p:spPr>
          <a:xfrm>
            <a:off x="1513256" y="5984558"/>
            <a:ext cx="9165339"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Their wealth will pay for their retirement either way. The question is when, and on whose terms.</a:t>
            </a:r>
          </a:p>
        </p:txBody>
      </p:sp>
      <p:sp>
        <p:nvSpPr>
          <p:cNvPr id="40" name="!!T Their own way: the business sold; the fl"/>
          <p:cNvSpPr txBox="1"/>
          <p:nvPr/>
        </p:nvSpPr>
        <p:spPr>
          <a:xfrm>
            <a:off x="457200" y="6452104"/>
            <a:ext cx="6060823"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Their own way: the business sold; the flat sold only when the money runs out. One typical future of 10,000</a:t>
            </a:r>
          </a:p>
          <a:p>
            <a:pPr algn="l">
              <a:lnSpc>
                <a:spcPts val="1170"/>
              </a:lnSpc>
              <a:spcBef>
                <a:spcPts val="0"/>
              </a:spcBef>
              <a:spcAft>
                <a:spcPts val="0"/>
              </a:spcAft>
            </a:pPr>
            <a:r>
              <a:rPr sz="900" b="0" i="0" kern="100">
                <a:solidFill>
                  <a:srgbClr val="80606A"/>
                </a:solidFill>
                <a:latin typeface="Plus Jakarta Sans"/>
              </a:rPr>
              <a:t>simulated markets, in today's money: an illustration, not a forecast.</a:t>
            </a:r>
          </a:p>
        </p:txBody>
      </p:sp>
      <p:sp>
        <p:nvSpPr>
          <p:cNvPr id="41" name="!!T The problem"/>
          <p:cNvSpPr txBox="1"/>
          <p:nvPr/>
        </p:nvSpPr>
        <p:spPr>
          <a:xfrm>
            <a:off x="6682085" y="6536246"/>
            <a:ext cx="90687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problem</a:t>
            </a:r>
          </a:p>
        </p:txBody>
      </p:sp>
      <p:sp>
        <p:nvSpPr>
          <p:cNvPr id="42" name="!!T The answer"/>
          <p:cNvSpPr txBox="1"/>
          <p:nvPr/>
        </p:nvSpPr>
        <p:spPr>
          <a:xfrm>
            <a:off x="7639348"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43" name="!!T The five calls"/>
          <p:cNvSpPr txBox="1"/>
          <p:nvPr/>
        </p:nvSpPr>
        <p:spPr>
          <a:xfrm>
            <a:off x="8499574"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44" name="!!T Will it hold"/>
          <p:cNvSpPr txBox="1"/>
          <p:nvPr/>
        </p:nvSpPr>
        <p:spPr>
          <a:xfrm>
            <a:off x="9436447"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45" name="!!T What next"/>
          <p:cNvSpPr txBox="1"/>
          <p:nvPr/>
        </p:nvSpPr>
        <p:spPr>
          <a:xfrm>
            <a:off x="10234464"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46" name="!!T Us"/>
          <p:cNvSpPr txBox="1"/>
          <p:nvPr/>
        </p:nvSpPr>
        <p:spPr>
          <a:xfrm>
            <a:off x="11029801"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47" name="!!T 3 / 15"/>
          <p:cNvSpPr txBox="1"/>
          <p:nvPr/>
        </p:nvSpPr>
        <p:spPr>
          <a:xfrm>
            <a:off x="11408122" y="6535674"/>
            <a:ext cx="460578"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3 / 15</a:t>
            </a:r>
          </a:p>
        </p:txBody>
      </p:sp>
      <p:sp>
        <p:nvSpPr>
          <p:cNvPr id="48" name="!!T Savings, investments and MPF"/>
          <p:cNvSpPr txBox="1"/>
          <p:nvPr/>
        </p:nvSpPr>
        <p:spPr>
          <a:xfrm>
            <a:off x="1123950" y="3588818"/>
            <a:ext cx="2112303"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a:rPr>
              <a:t>Savings, investments and MPF</a:t>
            </a:r>
          </a:p>
        </p:txBody>
      </p:sp>
      <p:sp>
        <p:nvSpPr>
          <p:cNvPr id="49" name="!!T since 2015, where Ryan and Chloe grew up"/>
          <p:cNvSpPr txBox="1"/>
          <p:nvPr/>
        </p:nvSpPr>
        <p:spPr>
          <a:xfrm>
            <a:off x="1123950" y="4845675"/>
            <a:ext cx="2451482" cy="144463"/>
          </a:xfrm>
          <a:prstGeom prst="rect">
            <a:avLst/>
          </a:prstGeom>
          <a:noFill/>
        </p:spPr>
        <p:txBody>
          <a:bodyPr wrap="none" lIns="0" tIns="0" rIns="0" bIns="0" anchor="t">
            <a:noAutofit/>
          </a:bodyPr>
          <a:lstStyle/>
          <a:p>
            <a:pPr algn="l">
              <a:lnSpc>
                <a:spcPts val="1137"/>
              </a:lnSpc>
              <a:spcBef>
                <a:spcPts val="0"/>
              </a:spcBef>
              <a:spcAft>
                <a:spcPts val="0"/>
              </a:spcAft>
            </a:pPr>
            <a:r>
              <a:rPr sz="875" b="0" i="0" kern="100">
                <a:solidFill>
                  <a:srgbClr val="FFFFFF">
                    <a:alpha val="90000"/>
                  </a:srgbClr>
                </a:solidFill>
                <a:latin typeface="Plus Jakarta Sans"/>
              </a:rPr>
              <a:t>since 2015, where Ryan and Chloe grew up</a:t>
            </a:r>
          </a:p>
        </p:txBody>
      </p:sp>
      <p:sp>
        <p:nvSpPr>
          <p:cNvPr id="50" name="!!T The home"/>
          <p:cNvSpPr txBox="1"/>
          <p:nvPr/>
        </p:nvSpPr>
        <p:spPr>
          <a:xfrm>
            <a:off x="1123950" y="4670947"/>
            <a:ext cx="775463"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FFFFFF"/>
                </a:solidFill>
                <a:latin typeface="Plus Jakarta Sans SemiBold"/>
              </a:rPr>
              <a:t>The home</a:t>
            </a:r>
          </a:p>
        </p:txBody>
      </p:sp>
      <p:sp>
        <p:nvSpPr>
          <p:cNvPr id="51" name="!!Rule 77250185"/>
          <p:cNvSpPr/>
          <p:nvPr/>
        </p:nvSpPr>
        <p:spPr>
          <a:xfrm>
            <a:off x="990600" y="2387798"/>
            <a:ext cx="9525" cy="2724150"/>
          </a:xfrm>
          <a:prstGeom prst="rect">
            <a:avLst/>
          </a:prstGeom>
          <a:solidFill>
            <a:srgbClr val="1B1716"/>
          </a:solidFill>
          <a:ln>
            <a:noFill/>
          </a:ln>
        </p:spPr>
        <p:txBody>
          <a:bodyPr rtlCol="0" anchor="ctr"/>
          <a:lstStyle/>
          <a:p>
            <a:pPr algn="ctr"/>
            <a:endParaRPr/>
          </a:p>
        </p:txBody>
      </p:sp>
      <p:sp>
        <p:nvSpPr>
          <p:cNvPr id="52" name="!!Rule 25973030"/>
          <p:cNvSpPr/>
          <p:nvPr/>
        </p:nvSpPr>
        <p:spPr>
          <a:xfrm>
            <a:off x="933450" y="4204692"/>
            <a:ext cx="57150" cy="9525"/>
          </a:xfrm>
          <a:prstGeom prst="rect">
            <a:avLst/>
          </a:prstGeom>
          <a:solidFill>
            <a:srgbClr val="1B1716"/>
          </a:solidFill>
          <a:ln>
            <a:noFill/>
          </a:ln>
        </p:spPr>
        <p:txBody>
          <a:bodyPr rtlCol="0" anchor="ctr"/>
          <a:lstStyle/>
          <a:p>
            <a:pPr algn="ctr"/>
            <a:endParaRPr/>
          </a:p>
        </p:txBody>
      </p:sp>
      <p:sp>
        <p:nvSpPr>
          <p:cNvPr id="53" name="!!T HK$10M"/>
          <p:cNvSpPr txBox="1"/>
          <p:nvPr/>
        </p:nvSpPr>
        <p:spPr>
          <a:xfrm>
            <a:off x="385614" y="4120491"/>
            <a:ext cx="67481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HK$10M</a:t>
            </a:r>
          </a:p>
        </p:txBody>
      </p:sp>
      <p:sp>
        <p:nvSpPr>
          <p:cNvPr id="54" name="!!Rule 852397c8"/>
          <p:cNvSpPr/>
          <p:nvPr/>
        </p:nvSpPr>
        <p:spPr>
          <a:xfrm>
            <a:off x="933450" y="3294906"/>
            <a:ext cx="57150" cy="9525"/>
          </a:xfrm>
          <a:prstGeom prst="rect">
            <a:avLst/>
          </a:prstGeom>
          <a:solidFill>
            <a:srgbClr val="1B1716"/>
          </a:solidFill>
          <a:ln>
            <a:noFill/>
          </a:ln>
        </p:spPr>
        <p:txBody>
          <a:bodyPr rtlCol="0" anchor="ctr"/>
          <a:lstStyle/>
          <a:p>
            <a:pPr algn="ctr"/>
            <a:endParaRPr/>
          </a:p>
        </p:txBody>
      </p:sp>
      <p:sp>
        <p:nvSpPr>
          <p:cNvPr id="55" name="!!T HK$20M"/>
          <p:cNvSpPr txBox="1"/>
          <p:nvPr/>
        </p:nvSpPr>
        <p:spPr>
          <a:xfrm>
            <a:off x="355104" y="3210705"/>
            <a:ext cx="70715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HK$20M</a:t>
            </a:r>
          </a:p>
        </p:txBody>
      </p:sp>
      <p:sp>
        <p:nvSpPr>
          <p:cNvPr id="56" name="!!Rule 5f683f82"/>
          <p:cNvSpPr/>
          <p:nvPr/>
        </p:nvSpPr>
        <p:spPr>
          <a:xfrm>
            <a:off x="933450" y="2387798"/>
            <a:ext cx="57150" cy="9525"/>
          </a:xfrm>
          <a:prstGeom prst="rect">
            <a:avLst/>
          </a:prstGeom>
          <a:solidFill>
            <a:srgbClr val="1B1716"/>
          </a:solidFill>
          <a:ln>
            <a:noFill/>
          </a:ln>
        </p:spPr>
        <p:txBody>
          <a:bodyPr rtlCol="0" anchor="ctr"/>
          <a:lstStyle/>
          <a:p>
            <a:pPr algn="ctr"/>
            <a:endParaRPr/>
          </a:p>
        </p:txBody>
      </p:sp>
      <p:sp>
        <p:nvSpPr>
          <p:cNvPr id="57" name="!!T HK$30M"/>
          <p:cNvSpPr txBox="1"/>
          <p:nvPr/>
        </p:nvSpPr>
        <p:spPr>
          <a:xfrm>
            <a:off x="353913" y="2303597"/>
            <a:ext cx="708416"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HK$30M</a:t>
            </a:r>
          </a:p>
        </p:txBody>
      </p:sp>
      <p:sp>
        <p:nvSpPr>
          <p:cNvPr id="58" name="!!Rule a4756d25"/>
          <p:cNvSpPr/>
          <p:nvPr/>
        </p:nvSpPr>
        <p:spPr>
          <a:xfrm>
            <a:off x="6196608" y="2673548"/>
            <a:ext cx="9525" cy="1765399"/>
          </a:xfrm>
          <a:prstGeom prst="rect">
            <a:avLst/>
          </a:prstGeom>
          <a:solidFill>
            <a:srgbClr val="1B1716"/>
          </a:solidFill>
          <a:ln>
            <a:noFill/>
          </a:ln>
        </p:spPr>
        <p:txBody>
          <a:bodyPr rtlCol="0" anchor="ctr"/>
          <a:lstStyle/>
          <a:p>
            <a:pPr algn="ctr"/>
            <a:endParaRPr/>
          </a:p>
        </p:txBody>
      </p:sp>
      <p:sp>
        <p:nvSpPr>
          <p:cNvPr id="59" name="!!T The flat is sold, Carmen 83 when her sav"/>
          <p:cNvSpPr txBox="1"/>
          <p:nvPr/>
        </p:nvSpPr>
        <p:spPr>
          <a:xfrm>
            <a:off x="4237229" y="2664595"/>
            <a:ext cx="1892704" cy="346591"/>
          </a:xfrm>
          <a:prstGeom prst="rect">
            <a:avLst/>
          </a:prstGeom>
          <a:noFill/>
        </p:spPr>
        <p:txBody>
          <a:bodyPr wrap="none" lIns="0" tIns="0" rIns="0" bIns="0" anchor="t">
            <a:noAutofit/>
          </a:bodyPr>
          <a:lstStyle/>
          <a:p>
            <a:pPr algn="r">
              <a:lnSpc>
                <a:spcPts val="1364"/>
              </a:lnSpc>
              <a:spcBef>
                <a:spcPts val="0"/>
              </a:spcBef>
              <a:spcAft>
                <a:spcPts val="0"/>
              </a:spcAft>
            </a:pPr>
            <a:r>
              <a:rPr sz="1050" b="1" i="0" kern="100">
                <a:solidFill>
                  <a:srgbClr val="1B1716"/>
                </a:solidFill>
                <a:latin typeface="Plus Jakarta Sans"/>
              </a:rPr>
              <a:t>The flat is sold, Carmen 83</a:t>
            </a:r>
          </a:p>
          <a:p>
            <a:pPr algn="r">
              <a:lnSpc>
                <a:spcPts val="1364"/>
              </a:lnSpc>
              <a:spcBef>
                <a:spcPts val="0"/>
              </a:spcBef>
              <a:spcAft>
                <a:spcPts val="0"/>
              </a:spcAft>
            </a:pPr>
            <a:r>
              <a:rPr sz="1050" b="0" i="0" kern="100">
                <a:solidFill>
                  <a:srgbClr val="80606A"/>
                </a:solidFill>
                <a:latin typeface="Plus Jakarta Sans"/>
              </a:rPr>
              <a:t>when her savings are gone</a:t>
            </a:r>
          </a:p>
        </p:txBody>
      </p:sp>
      <p:sp>
        <p:nvSpPr>
          <p:cNvPr id="60" name="!!ps-el 90d010ca"/>
          <p:cNvSpPr/>
          <p:nvPr/>
        </p:nvSpPr>
        <p:spPr>
          <a:xfrm>
            <a:off x="6148983" y="4419898"/>
            <a:ext cx="66675" cy="66675"/>
          </a:xfrm>
          <a:prstGeom prst="ellipse">
            <a:avLst/>
          </a:prstGeom>
          <a:solidFill>
            <a:srgbClr val="C80E1E"/>
          </a:solidFill>
          <a:ln w="19050">
            <a:solidFill>
              <a:srgbClr val="FFFFFF"/>
            </a:solidFill>
          </a:ln>
          <a:effectLst>
            <a:outerShdw blurRad="28575" dist="9525" dir="5400000" algn="ctr" rotWithShape="0">
              <a:srgbClr val="3C0A14">
                <a:alpha val="35000"/>
              </a:srgbClr>
            </a:outerShdw>
          </a:effectLst>
        </p:spPr>
        <p:txBody>
          <a:bodyPr rtlCol="0" anchor="ctr"/>
          <a:lstStyle/>
          <a:p>
            <a:pPr algn="ctr"/>
            <a:endParaRPr/>
          </a:p>
        </p:txBody>
      </p:sp>
      <p:sp>
        <p:nvSpPr>
          <p:cNvPr id="61" name="!!Rule fa57db72"/>
          <p:cNvSpPr/>
          <p:nvPr/>
        </p:nvSpPr>
        <p:spPr>
          <a:xfrm>
            <a:off x="6642943" y="2254448"/>
            <a:ext cx="9525" cy="2446139"/>
          </a:xfrm>
          <a:prstGeom prst="rect">
            <a:avLst/>
          </a:prstGeom>
          <a:solidFill>
            <a:srgbClr val="1B1716"/>
          </a:solidFill>
          <a:ln>
            <a:noFill/>
          </a:ln>
        </p:spPr>
        <p:txBody>
          <a:bodyPr rtlCol="0" anchor="ctr"/>
          <a:lstStyle/>
          <a:p>
            <a:pPr algn="ctr"/>
            <a:endParaRPr/>
          </a:p>
        </p:txBody>
      </p:sp>
      <p:sp>
        <p:nvSpPr>
          <p:cNvPr id="62" name="!!T Runs out again, Carmen 86 then unpaid bi"/>
          <p:cNvSpPr txBox="1"/>
          <p:nvPr/>
        </p:nvSpPr>
        <p:spPr>
          <a:xfrm>
            <a:off x="3859438" y="2245495"/>
            <a:ext cx="2716831" cy="346591"/>
          </a:xfrm>
          <a:prstGeom prst="rect">
            <a:avLst/>
          </a:prstGeom>
          <a:noFill/>
        </p:spPr>
        <p:txBody>
          <a:bodyPr wrap="none" lIns="0" tIns="0" rIns="0" bIns="0" anchor="t">
            <a:noAutofit/>
          </a:bodyPr>
          <a:lstStyle/>
          <a:p>
            <a:pPr algn="r">
              <a:lnSpc>
                <a:spcPts val="1364"/>
              </a:lnSpc>
              <a:spcBef>
                <a:spcPts val="0"/>
              </a:spcBef>
              <a:spcAft>
                <a:spcPts val="0"/>
              </a:spcAft>
            </a:pPr>
            <a:r>
              <a:rPr sz="1050" b="1" i="0" kern="100">
                <a:solidFill>
                  <a:srgbClr val="1B1716"/>
                </a:solidFill>
                <a:latin typeface="Plus Jakarta Sans"/>
              </a:rPr>
              <a:t>Runs out again, Carmen 86</a:t>
            </a:r>
          </a:p>
          <a:p>
            <a:pPr algn="r">
              <a:lnSpc>
                <a:spcPts val="1364"/>
              </a:lnSpc>
              <a:spcBef>
                <a:spcPts val="0"/>
              </a:spcBef>
              <a:spcAft>
                <a:spcPts val="0"/>
              </a:spcAft>
            </a:pPr>
            <a:r>
              <a:rPr sz="1050" b="0" i="0" kern="100">
                <a:solidFill>
                  <a:srgbClr val="80606A"/>
                </a:solidFill>
                <a:latin typeface="Plus Jakarta Sans"/>
              </a:rPr>
              <a:t>then unpaid bills eat into the smaller flat</a:t>
            </a:r>
          </a:p>
        </p:txBody>
      </p:sp>
      <p:sp>
        <p:nvSpPr>
          <p:cNvPr id="63" name="!!ps-el f1f15a2e"/>
          <p:cNvSpPr/>
          <p:nvPr/>
        </p:nvSpPr>
        <p:spPr>
          <a:xfrm>
            <a:off x="6595318" y="4681389"/>
            <a:ext cx="66675" cy="66675"/>
          </a:xfrm>
          <a:prstGeom prst="ellipse">
            <a:avLst/>
          </a:prstGeom>
          <a:solidFill>
            <a:srgbClr val="C80E1E"/>
          </a:solidFill>
          <a:ln w="19050">
            <a:solidFill>
              <a:srgbClr val="FFFFFF"/>
            </a:solidFill>
          </a:ln>
          <a:effectLst>
            <a:outerShdw blurRad="28575" dist="9525" dir="5400000" algn="ctr" rotWithShape="0">
              <a:srgbClr val="3C0A14">
                <a:alpha val="35000"/>
              </a:srgbClr>
            </a:outerShdw>
          </a:effectLst>
        </p:spPr>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3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3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3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30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300"/>
                                        <p:tgtEl>
                                          <p:spTgt spid="2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3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30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fade">
                                      <p:cBhvr>
                                        <p:cTn id="28" dur="300"/>
                                        <p:tgtEl>
                                          <p:spTgt spid="5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fade">
                                      <p:cBhvr>
                                        <p:cTn id="31" dur="300"/>
                                        <p:tgtEl>
                                          <p:spTgt spid="5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animEffect transition="in" filter="fade">
                                      <p:cBhvr>
                                        <p:cTn id="34" dur="300"/>
                                        <p:tgtEl>
                                          <p:spTgt spid="6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1"/>
                                        </p:tgtEl>
                                        <p:attrNameLst>
                                          <p:attrName>style.visibility</p:attrName>
                                        </p:attrNameLst>
                                      </p:cBhvr>
                                      <p:to>
                                        <p:strVal val="visible"/>
                                      </p:to>
                                    </p:set>
                                    <p:animEffect transition="in" filter="fade">
                                      <p:cBhvr>
                                        <p:cTn id="39" dur="300"/>
                                        <p:tgtEl>
                                          <p:spTgt spid="6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300"/>
                                        <p:tgtEl>
                                          <p:spTgt spid="6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animEffect transition="in" filter="fade">
                                      <p:cBhvr>
                                        <p:cTn id="45" dur="300"/>
                                        <p:tgtEl>
                                          <p:spTgt spid="6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3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300"/>
                                        <p:tgtEl>
                                          <p:spTgt spid="3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300"/>
                                        <p:tgtEl>
                                          <p:spTgt spid="3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300"/>
                                        <p:tgtEl>
                                          <p:spTgt spid="3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300"/>
                                        <p:tgtEl>
                                          <p:spTgt spid="3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300"/>
                                        <p:tgtEl>
                                          <p:spTgt spid="3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fade">
                                      <p:cBhvr>
                                        <p:cTn id="68" dur="300"/>
                                        <p:tgtEl>
                                          <p:spTgt spid="3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fade">
                                      <p:cBhvr>
                                        <p:cTn id="71" dur="300"/>
                                        <p:tgtEl>
                                          <p:spTgt spid="3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300"/>
                                        <p:tgtEl>
                                          <p:spTgt spid="3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fade">
                                      <p:cBhvr>
                                        <p:cTn id="77" dur="3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58" grpId="0" animBg="1"/>
      <p:bldP spid="59" grpId="0" animBg="1"/>
      <p:bldP spid="60" grpId="0" animBg="1"/>
      <p:bldP spid="61" grpId="0" animBg="1"/>
      <p:bldP spid="62" grpId="0" animBg="1"/>
      <p:bldP spid="6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Five calls make their wealth last, on their terms">
    <p:bg>
      <p:bgPr>
        <a:gradFill rotWithShape="0">
          <a:gsLst>
            <a:gs pos="0">
              <a:srgbClr val="BB1626"/>
            </a:gs>
            <a:gs pos="40000">
              <a:srgbClr val="971320"/>
            </a:gs>
            <a:gs pos="72000">
              <a:srgbClr val="700E19"/>
            </a:gs>
            <a:gs pos="100000">
              <a:srgbClr val="500911"/>
            </a:gs>
          </a:gsLst>
          <a:path path="circle">
            <a:fillToRect l="50000" t="50000" r="50000" b="50000"/>
          </a:path>
        </a:gradFill>
        <a:effectLst/>
      </p:bgPr>
    </p:bg>
    <p:spTree>
      <p:nvGrpSpPr>
        <p:cNvPr id="1" name=""/>
        <p:cNvGrpSpPr/>
        <p:nvPr/>
      </p:nvGrpSpPr>
      <p:grpSpPr>
        <a:xfrm>
          <a:off x="0" y="0"/>
          <a:ext cx="0" cy="0"/>
          <a:chOff x="0" y="0"/>
          <a:chExt cx="0" cy="0"/>
        </a:xfrm>
      </p:grpSpPr>
      <p:sp>
        <p:nvSpPr>
          <p:cNvPr id="2" name="!!Rule f39879af"/>
          <p:cNvSpPr/>
          <p:nvPr/>
        </p:nvSpPr>
        <p:spPr>
          <a:xfrm>
            <a:off x="457200" y="323850"/>
            <a:ext cx="47625" cy="676126"/>
          </a:xfrm>
          <a:prstGeom prst="rect">
            <a:avLst/>
          </a:prstGeom>
          <a:solidFill>
            <a:srgbClr val="C80E1E"/>
          </a:solidFill>
          <a:ln>
            <a:noFill/>
          </a:ln>
        </p:spPr>
        <p:txBody>
          <a:bodyPr rtlCol="0" anchor="ctr"/>
          <a:lstStyle/>
          <a:p>
            <a:pPr algn="ctr"/>
            <a:endParaRPr/>
          </a:p>
        </p:txBody>
      </p:sp>
      <p:sp>
        <p:nvSpPr>
          <p:cNvPr id="3" name="!!T Our answer"/>
          <p:cNvSpPr txBox="1"/>
          <p:nvPr/>
        </p:nvSpPr>
        <p:spPr>
          <a:xfrm>
            <a:off x="638175" y="324421"/>
            <a:ext cx="889995"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F0C9CE"/>
                </a:solidFill>
                <a:latin typeface="Plus Jakarta Sans SemiBold"/>
              </a:rPr>
              <a:t>Our answer</a:t>
            </a:r>
          </a:p>
        </p:txBody>
      </p:sp>
      <p:sp>
        <p:nvSpPr>
          <p:cNvPr id="4" name="!!T Five calls make their wealth last, on th"/>
          <p:cNvSpPr txBox="1"/>
          <p:nvPr/>
        </p:nvSpPr>
        <p:spPr>
          <a:xfrm>
            <a:off x="638175" y="522803"/>
            <a:ext cx="8682916" cy="426720"/>
          </a:xfrm>
          <a:prstGeom prst="rect">
            <a:avLst/>
          </a:prstGeom>
          <a:noFill/>
        </p:spPr>
        <p:txBody>
          <a:bodyPr wrap="none" lIns="0" tIns="0" rIns="0" bIns="0" anchor="t">
            <a:noAutofit/>
          </a:bodyPr>
          <a:lstStyle/>
          <a:p>
            <a:pPr algn="l">
              <a:lnSpc>
                <a:spcPts val="3359"/>
              </a:lnSpc>
              <a:spcBef>
                <a:spcPts val="0"/>
              </a:spcBef>
              <a:spcAft>
                <a:spcPts val="0"/>
              </a:spcAft>
            </a:pPr>
            <a:r>
              <a:rPr sz="3000" b="1" i="0" kern="100" spc="-68">
                <a:solidFill>
                  <a:srgbClr val="FFFFFF"/>
                </a:solidFill>
                <a:latin typeface="Plus Jakarta Sans"/>
              </a:rPr>
              <a:t>Five calls make their wealth last, on their terms</a:t>
            </a:r>
          </a:p>
        </p:txBody>
      </p:sp>
      <p:pic>
        <p:nvPicPr>
          <p:cNvPr id="5"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 y="1247626"/>
            <a:ext cx="11277600" cy="4181624"/>
          </a:xfrm>
          <a:prstGeom prst="rect">
            <a:avLst/>
          </a:prstGeom>
        </p:spPr>
      </p:pic>
      <p:pic>
        <p:nvPicPr>
          <p:cNvPr id="6" name="!!Drawing b637dce9"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 y="1247626"/>
            <a:ext cx="11277600" cy="4181624"/>
          </a:xfrm>
          <a:prstGeom prst="rect">
            <a:avLst/>
          </a:prstGeom>
        </p:spPr>
      </p:pic>
      <p:pic>
        <p:nvPicPr>
          <p:cNvPr id="7" name="!!Drawing b637dce9 #2" descr="image.png"/>
          <p:cNvPicPr>
            <a:picLocks noChangeAspect="1"/>
          </p:cNvPicPr>
          <p:nvPr/>
        </p:nvPicPr>
        <p:blipFill>
          <a:blip>
            <a:alphaModFix amt="30000"/>
            <a:grayscl/>
            <a:extLst>
              <a:ext uri="{96DAC541-7B7A-43D3-8B79-37D633B846F1}">
                <asvg:svgBlip xmlns:asvg="http://schemas.microsoft.com/office/drawing/2016/SVG/main" r:embed="rId5"/>
              </a:ext>
            </a:extLst>
          </a:blip>
          <a:stretch>
            <a:fillRect/>
          </a:stretch>
        </p:blipFill>
        <p:spPr>
          <a:xfrm>
            <a:off x="457200" y="1247626"/>
            <a:ext cx="11277600" cy="4181624"/>
          </a:xfrm>
          <a:prstGeom prst="rect">
            <a:avLst/>
          </a:prstGeom>
        </p:spPr>
      </p:pic>
      <p:pic>
        <p:nvPicPr>
          <p:cNvPr id="8" name="!!Drawing b637dce9 #3"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7200" y="1247626"/>
            <a:ext cx="11277600" cy="4181624"/>
          </a:xfrm>
          <a:prstGeom prst="rect">
            <a:avLst/>
          </a:prstGeom>
        </p:spPr>
      </p:pic>
      <p:pic>
        <p:nvPicPr>
          <p:cNvPr id="9" name="!!Drawing b637dce9 #4" descr="image.png"/>
          <p:cNvPicPr>
            <a:picLocks noChangeAspect="1"/>
          </p:cNvPicPr>
          <p:nvPr/>
        </p:nvPicPr>
        <p:blipFill>
          <a:blip>
            <a:alphaModFix amt="30000"/>
            <a:grayscl/>
            <a:extLst>
              <a:ext uri="{96DAC541-7B7A-43D3-8B79-37D633B846F1}">
                <asvg:svgBlip xmlns:asvg="http://schemas.microsoft.com/office/drawing/2016/SVG/main" r:embed="rId6"/>
              </a:ext>
            </a:extLst>
          </a:blip>
          <a:stretch>
            <a:fillRect/>
          </a:stretch>
        </p:blipFill>
        <p:spPr>
          <a:xfrm>
            <a:off x="457200" y="1247626"/>
            <a:ext cx="11277600" cy="4181624"/>
          </a:xfrm>
          <a:prstGeom prst="rect">
            <a:avLst/>
          </a:prstGeom>
        </p:spPr>
      </p:pic>
      <p:pic>
        <p:nvPicPr>
          <p:cNvPr id="10" name="!!Drawing b637dce9 #5" descr="imag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7200" y="1247626"/>
            <a:ext cx="11277600" cy="4181624"/>
          </a:xfrm>
          <a:prstGeom prst="rect">
            <a:avLst/>
          </a:prstGeom>
        </p:spPr>
      </p:pic>
      <p:pic>
        <p:nvPicPr>
          <p:cNvPr id="11" name="!!Drawing b637dce9 #6" descr="image.png"/>
          <p:cNvPicPr>
            <a:picLocks noChangeAspect="1"/>
          </p:cNvPicPr>
          <p:nvPr/>
        </p:nvPicPr>
        <p:blipFill>
          <a:blip>
            <a:alphaModFix amt="30000"/>
            <a:grayscl/>
            <a:extLst>
              <a:ext uri="{96DAC541-7B7A-43D3-8B79-37D633B846F1}">
                <asvg:svgBlip xmlns:asvg="http://schemas.microsoft.com/office/drawing/2016/SVG/main" r:embed="rId7"/>
              </a:ext>
            </a:extLst>
          </a:blip>
          <a:stretch>
            <a:fillRect/>
          </a:stretch>
        </p:blipFill>
        <p:spPr>
          <a:xfrm>
            <a:off x="457200" y="1247626"/>
            <a:ext cx="11277600" cy="4181624"/>
          </a:xfrm>
          <a:prstGeom prst="rect">
            <a:avLst/>
          </a:prstGeom>
        </p:spPr>
      </p:pic>
      <p:pic>
        <p:nvPicPr>
          <p:cNvPr id="12" name="!!Drawing b637dce9 #7" descr="imag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7200" y="1247626"/>
            <a:ext cx="11277600" cy="4181624"/>
          </a:xfrm>
          <a:prstGeom prst="rect">
            <a:avLst/>
          </a:prstGeom>
        </p:spPr>
      </p:pic>
      <p:pic>
        <p:nvPicPr>
          <p:cNvPr id="13" name="!!Drawing b637dce9 #8" descr="image.png"/>
          <p:cNvPicPr>
            <a:picLocks noChangeAspect="1"/>
          </p:cNvPicPr>
          <p:nvPr/>
        </p:nvPicPr>
        <p:blipFill>
          <a:blip>
            <a:alphaModFix amt="30000"/>
            <a:grayscl/>
            <a:extLst>
              <a:ext uri="{96DAC541-7B7A-43D3-8B79-37D633B846F1}">
                <asvg:svgBlip xmlns:asvg="http://schemas.microsoft.com/office/drawing/2016/SVG/main" r:embed="rId8"/>
              </a:ext>
            </a:extLst>
          </a:blip>
          <a:stretch>
            <a:fillRect/>
          </a:stretch>
        </p:blipFill>
        <p:spPr>
          <a:xfrm>
            <a:off x="457200" y="1247626"/>
            <a:ext cx="11277600" cy="4181624"/>
          </a:xfrm>
          <a:prstGeom prst="rect">
            <a:avLst/>
          </a:prstGeom>
        </p:spPr>
      </p:pic>
      <p:pic>
        <p:nvPicPr>
          <p:cNvPr id="14" name="!!Drawing b637dce9 #9" descr="image.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7200" y="1247626"/>
            <a:ext cx="11277600" cy="4181624"/>
          </a:xfrm>
          <a:prstGeom prst="rect">
            <a:avLst/>
          </a:prstGeom>
        </p:spPr>
      </p:pic>
      <p:pic>
        <p:nvPicPr>
          <p:cNvPr id="15" name="!!Drawing b637dce9 #10" descr="image.png"/>
          <p:cNvPicPr>
            <a:picLocks noChangeAspect="1"/>
          </p:cNvPicPr>
          <p:nvPr/>
        </p:nvPicPr>
        <p:blipFill>
          <a:blip>
            <a:alphaModFix amt="30000"/>
            <a:grayscl/>
            <a:extLst>
              <a:ext uri="{96DAC541-7B7A-43D3-8B79-37D633B846F1}">
                <asvg:svgBlip xmlns:asvg="http://schemas.microsoft.com/office/drawing/2016/SVG/main" r:embed="rId9"/>
              </a:ext>
            </a:extLst>
          </a:blip>
          <a:stretch>
            <a:fillRect/>
          </a:stretch>
        </p:blipFill>
        <p:spPr>
          <a:xfrm>
            <a:off x="457200" y="1247626"/>
            <a:ext cx="11277600" cy="4181624"/>
          </a:xfrm>
          <a:prstGeom prst="rect">
            <a:avLst/>
          </a:prstGeom>
        </p:spPr>
      </p:pic>
      <p:pic>
        <p:nvPicPr>
          <p:cNvPr id="16" name="!!Drawing b637dce9 #11" descr="image.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7200" y="1247626"/>
            <a:ext cx="11277600" cy="4181624"/>
          </a:xfrm>
          <a:prstGeom prst="rect">
            <a:avLst/>
          </a:prstGeom>
        </p:spPr>
      </p:pic>
      <p:pic>
        <p:nvPicPr>
          <p:cNvPr id="17" name="!!Drawing b637dce9 #12" descr="image.png"/>
          <p:cNvPicPr>
            <a:picLocks noChangeAspect="1"/>
          </p:cNvPicPr>
          <p:nvPr/>
        </p:nvPicPr>
        <p:blipFill>
          <a:blip>
            <a:alphaModFix amt="30000"/>
            <a:grayscl/>
            <a:extLst>
              <a:ext uri="{96DAC541-7B7A-43D3-8B79-37D633B846F1}">
                <asvg:svgBlip xmlns:asvg="http://schemas.microsoft.com/office/drawing/2016/SVG/main" r:embed="rId10"/>
              </a:ext>
            </a:extLst>
          </a:blip>
          <a:stretch>
            <a:fillRect/>
          </a:stretch>
        </p:blipFill>
        <p:spPr>
          <a:xfrm>
            <a:off x="457200" y="1247626"/>
            <a:ext cx="11277600" cy="4181624"/>
          </a:xfrm>
          <a:prstGeom prst="rect">
            <a:avLst/>
          </a:prstGeom>
        </p:spPr>
      </p:pic>
      <p:pic>
        <p:nvPicPr>
          <p:cNvPr id="18" name="!!Drawing b637dce9 #13" descr="image.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57200" y="1247626"/>
            <a:ext cx="11277600" cy="4181624"/>
          </a:xfrm>
          <a:prstGeom prst="rect">
            <a:avLst/>
          </a:prstGeom>
        </p:spPr>
      </p:pic>
      <p:sp>
        <p:nvSpPr>
          <p:cNvPr id="19" name="!!span 82b951b0"/>
          <p:cNvSpPr/>
          <p:nvPr/>
        </p:nvSpPr>
        <p:spPr>
          <a:xfrm>
            <a:off x="8401050" y="1752451"/>
            <a:ext cx="361950" cy="361950"/>
          </a:xfrm>
          <a:prstGeom prst="ellipse">
            <a:avLst/>
          </a:prstGeom>
          <a:solidFill>
            <a:srgbClr val="FFFFFF">
              <a:alpha val="3600"/>
            </a:srgbClr>
          </a:solidFill>
          <a:ln>
            <a:noFill/>
          </a:ln>
        </p:spPr>
        <p:txBody>
          <a:bodyPr rtlCol="0" anchor="ctr"/>
          <a:lstStyle/>
          <a:p>
            <a:pPr algn="ctr"/>
            <a:endParaRPr/>
          </a:p>
        </p:txBody>
      </p:sp>
      <p:sp>
        <p:nvSpPr>
          <p:cNvPr id="20" name="!!span e0dd8d9d"/>
          <p:cNvSpPr/>
          <p:nvPr/>
        </p:nvSpPr>
        <p:spPr>
          <a:xfrm>
            <a:off x="8401050" y="1752451"/>
            <a:ext cx="361950" cy="361950"/>
          </a:xfrm>
          <a:prstGeom prst="ellipse">
            <a:avLst/>
          </a:prstGeom>
          <a:solidFill>
            <a:srgbClr val="FFFFFF">
              <a:alpha val="12000"/>
            </a:srgbClr>
          </a:solidFill>
          <a:ln>
            <a:noFill/>
          </a:ln>
        </p:spPr>
        <p:txBody>
          <a:bodyPr rtlCol="0" anchor="ctr"/>
          <a:lstStyle/>
          <a:p>
            <a:pPr algn="ctr"/>
            <a:endParaRPr/>
          </a:p>
        </p:txBody>
      </p:sp>
      <p:pic>
        <p:nvPicPr>
          <p:cNvPr id="21" name="!!Drawing c6008aec" descr="image.png"/>
          <p:cNvPicPr>
            <a:picLocks noChangeAspect="1"/>
          </p:cNvPicPr>
          <p:nvPr/>
        </p:nvPicPr>
        <p:blipFill>
          <a:blip>
            <a:alphaModFix amt="30000"/>
            <a:grayscl/>
            <a:extLst>
              <a:ext uri="{96DAC541-7B7A-43D3-8B79-37D633B846F1}">
                <asvg:svgBlip xmlns:asvg="http://schemas.microsoft.com/office/drawing/2016/SVG/main" r:embed="rId11"/>
              </a:ext>
            </a:extLst>
          </a:blip>
          <a:stretch>
            <a:fillRect/>
          </a:stretch>
        </p:blipFill>
        <p:spPr>
          <a:xfrm>
            <a:off x="8486775" y="1838176"/>
            <a:ext cx="190500" cy="190500"/>
          </a:xfrm>
          <a:prstGeom prst="rect">
            <a:avLst/>
          </a:prstGeom>
        </p:spPr>
      </p:pic>
      <p:pic>
        <p:nvPicPr>
          <p:cNvPr id="22" name="!!Drawing c6008aec #2" descr="image.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486775" y="1838176"/>
            <a:ext cx="190500" cy="190500"/>
          </a:xfrm>
          <a:prstGeom prst="rect">
            <a:avLst/>
          </a:prstGeom>
        </p:spPr>
      </p:pic>
      <p:sp>
        <p:nvSpPr>
          <p:cNvPr id="23" name="!!T What passes on"/>
          <p:cNvSpPr txBox="1"/>
          <p:nvPr/>
        </p:nvSpPr>
        <p:spPr>
          <a:xfrm>
            <a:off x="8877300" y="1812983"/>
            <a:ext cx="1410754"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FFFFFF">
                    <a:alpha val="30000"/>
                  </a:srgbClr>
                </a:solidFill>
                <a:latin typeface="Plus Jakarta Sans SemiBold"/>
              </a:rPr>
              <a:t>What passes on</a:t>
            </a:r>
          </a:p>
        </p:txBody>
      </p:sp>
      <p:sp>
        <p:nvSpPr>
          <p:cNvPr id="24" name="!!T What passes on #2"/>
          <p:cNvSpPr txBox="1"/>
          <p:nvPr/>
        </p:nvSpPr>
        <p:spPr>
          <a:xfrm>
            <a:off x="8877300" y="1812983"/>
            <a:ext cx="1410754"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FFFFFF"/>
                </a:solidFill>
                <a:latin typeface="Plus Jakarta Sans SemiBold"/>
              </a:rPr>
              <a:t>What passes on</a:t>
            </a:r>
          </a:p>
        </p:txBody>
      </p:sp>
      <p:sp>
        <p:nvSpPr>
          <p:cNvPr id="25" name="!!T the inheritance kept, passed on in stage"/>
          <p:cNvSpPr txBox="1"/>
          <p:nvPr/>
        </p:nvSpPr>
        <p:spPr>
          <a:xfrm>
            <a:off x="8877300" y="2037820"/>
            <a:ext cx="2824421"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D1D1D1">
                    <a:alpha val="30000"/>
                  </a:srgbClr>
                </a:solidFill>
                <a:latin typeface="Plus Jakarta Sans"/>
              </a:rPr>
              <a:t>the inheritance kept, passed on in stages</a:t>
            </a:r>
          </a:p>
        </p:txBody>
      </p:sp>
      <p:sp>
        <p:nvSpPr>
          <p:cNvPr id="26" name="!!T the inheritance kept, passed on in stage #2"/>
          <p:cNvSpPr txBox="1"/>
          <p:nvPr/>
        </p:nvSpPr>
        <p:spPr>
          <a:xfrm>
            <a:off x="8877300" y="2037820"/>
            <a:ext cx="2824421"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E8C6CB"/>
                </a:solidFill>
                <a:latin typeface="Plus Jakarta Sans"/>
              </a:rPr>
              <a:t>the inheritance kept, passed on in stages</a:t>
            </a:r>
          </a:p>
        </p:txBody>
      </p:sp>
      <p:sp>
        <p:nvSpPr>
          <p:cNvPr id="27" name="!!span f1efbc41"/>
          <p:cNvSpPr/>
          <p:nvPr/>
        </p:nvSpPr>
        <p:spPr>
          <a:xfrm>
            <a:off x="8401050" y="2743051"/>
            <a:ext cx="361950" cy="361950"/>
          </a:xfrm>
          <a:prstGeom prst="ellipse">
            <a:avLst/>
          </a:prstGeom>
          <a:solidFill>
            <a:srgbClr val="FFFFFF">
              <a:alpha val="3600"/>
            </a:srgbClr>
          </a:solidFill>
          <a:ln>
            <a:noFill/>
          </a:ln>
        </p:spPr>
        <p:txBody>
          <a:bodyPr rtlCol="0" anchor="ctr"/>
          <a:lstStyle/>
          <a:p>
            <a:pPr algn="ctr"/>
            <a:endParaRPr/>
          </a:p>
        </p:txBody>
      </p:sp>
      <p:sp>
        <p:nvSpPr>
          <p:cNvPr id="28" name="!!span 6f83397d"/>
          <p:cNvSpPr/>
          <p:nvPr/>
        </p:nvSpPr>
        <p:spPr>
          <a:xfrm>
            <a:off x="8401050" y="2743051"/>
            <a:ext cx="361950" cy="361950"/>
          </a:xfrm>
          <a:prstGeom prst="ellipse">
            <a:avLst/>
          </a:prstGeom>
          <a:solidFill>
            <a:srgbClr val="FFFFFF">
              <a:alpha val="12000"/>
            </a:srgbClr>
          </a:solidFill>
          <a:ln>
            <a:noFill/>
          </a:ln>
        </p:spPr>
        <p:txBody>
          <a:bodyPr rtlCol="0" anchor="ctr"/>
          <a:lstStyle/>
          <a:p>
            <a:pPr algn="ctr"/>
            <a:endParaRPr/>
          </a:p>
        </p:txBody>
      </p:sp>
      <p:pic>
        <p:nvPicPr>
          <p:cNvPr id="29" name="!!Drawing 74fde013" descr="image.png"/>
          <p:cNvPicPr>
            <a:picLocks noChangeAspect="1"/>
          </p:cNvPicPr>
          <p:nvPr/>
        </p:nvPicPr>
        <p:blipFill>
          <a:blip>
            <a:alphaModFix amt="30000"/>
            <a:grayscl/>
            <a:extLst>
              <a:ext uri="{96DAC541-7B7A-43D3-8B79-37D633B846F1}">
                <asvg:svgBlip xmlns:asvg="http://schemas.microsoft.com/office/drawing/2016/SVG/main" r:embed="rId12"/>
              </a:ext>
            </a:extLst>
          </a:blip>
          <a:stretch>
            <a:fillRect/>
          </a:stretch>
        </p:blipFill>
        <p:spPr>
          <a:xfrm>
            <a:off x="8486775" y="2828776"/>
            <a:ext cx="190500" cy="190500"/>
          </a:xfrm>
          <a:prstGeom prst="rect">
            <a:avLst/>
          </a:prstGeom>
        </p:spPr>
      </p:pic>
      <p:pic>
        <p:nvPicPr>
          <p:cNvPr id="30" name="!!Drawing 74fde013 #2" descr="image.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486775" y="2828776"/>
            <a:ext cx="190500" cy="190500"/>
          </a:xfrm>
          <a:prstGeom prst="rect">
            <a:avLst/>
          </a:prstGeom>
        </p:spPr>
      </p:pic>
      <p:sp>
        <p:nvSpPr>
          <p:cNvPr id="31" name="!!T 5 Values and crypto, with guardrails"/>
          <p:cNvSpPr txBox="1"/>
          <p:nvPr/>
        </p:nvSpPr>
        <p:spPr>
          <a:xfrm>
            <a:off x="8877300" y="2803583"/>
            <a:ext cx="3075730" cy="202406"/>
          </a:xfrm>
          <a:prstGeom prst="rect">
            <a:avLst/>
          </a:prstGeom>
          <a:noFill/>
        </p:spPr>
        <p:txBody>
          <a:bodyPr wrap="none" lIns="0" tIns="0" rIns="0" bIns="0" anchor="t">
            <a:noAutofit/>
          </a:bodyPr>
          <a:lstStyle/>
          <a:p>
            <a:pPr algn="l">
              <a:lnSpc>
                <a:spcPts val="1593"/>
              </a:lnSpc>
              <a:spcBef>
                <a:spcPts val="0"/>
              </a:spcBef>
              <a:spcAft>
                <a:spcPts val="0"/>
              </a:spcAft>
            </a:pPr>
            <a:r>
              <a:rPr sz="1275" b="1" i="0" kern="100">
                <a:solidFill>
                  <a:srgbClr val="C9C9C9">
                    <a:alpha val="30000"/>
                  </a:srgbClr>
                </a:solidFill>
                <a:latin typeface="Plus Jakarta Sans"/>
              </a:rPr>
              <a:t>5</a:t>
            </a:r>
            <a:r>
              <a:rPr sz="1275" b="0" i="0" kern="100">
                <a:solidFill>
                  <a:srgbClr val="FFFFFF">
                    <a:alpha val="30000"/>
                  </a:srgbClr>
                </a:solidFill>
                <a:latin typeface="Plus Jakarta Sans SemiBold"/>
              </a:rPr>
              <a:t>   Values and crypto, with guardrails</a:t>
            </a:r>
          </a:p>
        </p:txBody>
      </p:sp>
      <p:sp>
        <p:nvSpPr>
          <p:cNvPr id="32" name="!!T 5 Values and crypto, with guardrails #2"/>
          <p:cNvSpPr txBox="1"/>
          <p:nvPr/>
        </p:nvSpPr>
        <p:spPr>
          <a:xfrm>
            <a:off x="8877300" y="2803583"/>
            <a:ext cx="3075730" cy="202406"/>
          </a:xfrm>
          <a:prstGeom prst="rect">
            <a:avLst/>
          </a:prstGeom>
          <a:noFill/>
        </p:spPr>
        <p:txBody>
          <a:bodyPr wrap="none" lIns="0" tIns="0" rIns="0" bIns="0" anchor="t">
            <a:noAutofit/>
          </a:bodyPr>
          <a:lstStyle/>
          <a:p>
            <a:pPr algn="l">
              <a:lnSpc>
                <a:spcPts val="1593"/>
              </a:lnSpc>
              <a:spcBef>
                <a:spcPts val="0"/>
              </a:spcBef>
              <a:spcAft>
                <a:spcPts val="0"/>
              </a:spcAft>
            </a:pPr>
            <a:r>
              <a:rPr sz="1275" b="1" i="0" kern="100">
                <a:solidFill>
                  <a:srgbClr val="F3B5BE"/>
                </a:solidFill>
                <a:latin typeface="Plus Jakarta Sans"/>
              </a:rPr>
              <a:t>5</a:t>
            </a:r>
            <a:r>
              <a:rPr sz="1275" b="0" i="0" kern="100">
                <a:solidFill>
                  <a:srgbClr val="FFFFFF"/>
                </a:solidFill>
                <a:latin typeface="Plus Jakarta Sans SemiBold"/>
              </a:rPr>
              <a:t>   Values and crypto, with guardrails</a:t>
            </a:r>
          </a:p>
        </p:txBody>
      </p:sp>
      <p:sp>
        <p:nvSpPr>
          <p:cNvPr id="33" name="!!T ESG at 25%; crypto sized per person"/>
          <p:cNvSpPr txBox="1"/>
          <p:nvPr/>
        </p:nvSpPr>
        <p:spPr>
          <a:xfrm>
            <a:off x="8877300" y="3028420"/>
            <a:ext cx="2537776"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D1D1D1">
                    <a:alpha val="30000"/>
                  </a:srgbClr>
                </a:solidFill>
                <a:latin typeface="Plus Jakarta Sans"/>
              </a:rPr>
              <a:t>ESG at 25%; crypto sized per person</a:t>
            </a:r>
          </a:p>
        </p:txBody>
      </p:sp>
      <p:sp>
        <p:nvSpPr>
          <p:cNvPr id="34" name="!!T ESG at 25%; crypto sized per person #2"/>
          <p:cNvSpPr txBox="1"/>
          <p:nvPr/>
        </p:nvSpPr>
        <p:spPr>
          <a:xfrm>
            <a:off x="8877300" y="3028420"/>
            <a:ext cx="2537776"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E8C6CB"/>
                </a:solidFill>
                <a:latin typeface="Plus Jakarta Sans"/>
              </a:rPr>
              <a:t>ESG at 25%; crypto sized per person</a:t>
            </a:r>
          </a:p>
        </p:txBody>
      </p:sp>
      <p:sp>
        <p:nvSpPr>
          <p:cNvPr id="35" name="!!span 1e9f19b8"/>
          <p:cNvSpPr/>
          <p:nvPr/>
        </p:nvSpPr>
        <p:spPr>
          <a:xfrm>
            <a:off x="8401050" y="3638401"/>
            <a:ext cx="361950" cy="361950"/>
          </a:xfrm>
          <a:prstGeom prst="ellipse">
            <a:avLst/>
          </a:prstGeom>
          <a:solidFill>
            <a:srgbClr val="FFFFFF">
              <a:alpha val="3600"/>
            </a:srgbClr>
          </a:solidFill>
          <a:ln>
            <a:noFill/>
          </a:ln>
        </p:spPr>
        <p:txBody>
          <a:bodyPr rtlCol="0" anchor="ctr"/>
          <a:lstStyle/>
          <a:p>
            <a:pPr algn="ctr"/>
            <a:endParaRPr/>
          </a:p>
        </p:txBody>
      </p:sp>
      <p:sp>
        <p:nvSpPr>
          <p:cNvPr id="36" name="!!span f1a92dc0"/>
          <p:cNvSpPr/>
          <p:nvPr/>
        </p:nvSpPr>
        <p:spPr>
          <a:xfrm>
            <a:off x="8401050" y="3638401"/>
            <a:ext cx="361950" cy="361950"/>
          </a:xfrm>
          <a:prstGeom prst="ellipse">
            <a:avLst/>
          </a:prstGeom>
          <a:solidFill>
            <a:srgbClr val="FFFFFF">
              <a:alpha val="12000"/>
            </a:srgbClr>
          </a:solidFill>
          <a:ln>
            <a:noFill/>
          </a:ln>
        </p:spPr>
        <p:txBody>
          <a:bodyPr rtlCol="0" anchor="ctr"/>
          <a:lstStyle/>
          <a:p>
            <a:pPr algn="ctr"/>
            <a:endParaRPr/>
          </a:p>
        </p:txBody>
      </p:sp>
      <p:pic>
        <p:nvPicPr>
          <p:cNvPr id="37" name="!!Drawing 62cade5f" descr="image.png"/>
          <p:cNvPicPr>
            <a:picLocks noChangeAspect="1"/>
          </p:cNvPicPr>
          <p:nvPr/>
        </p:nvPicPr>
        <p:blipFill>
          <a:blip>
            <a:alphaModFix amt="30000"/>
            <a:grayscl/>
            <a:extLst>
              <a:ext uri="{96DAC541-7B7A-43D3-8B79-37D633B846F1}">
                <asvg:svgBlip xmlns:asvg="http://schemas.microsoft.com/office/drawing/2016/SVG/main" r:embed="rId13"/>
              </a:ext>
            </a:extLst>
          </a:blip>
          <a:stretch>
            <a:fillRect/>
          </a:stretch>
        </p:blipFill>
        <p:spPr>
          <a:xfrm>
            <a:off x="8486775" y="3724126"/>
            <a:ext cx="190500" cy="190500"/>
          </a:xfrm>
          <a:prstGeom prst="rect">
            <a:avLst/>
          </a:prstGeom>
        </p:spPr>
      </p:pic>
      <p:pic>
        <p:nvPicPr>
          <p:cNvPr id="38" name="!!Drawing 62cade5f #2" descr="image.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486775" y="3724126"/>
            <a:ext cx="190500" cy="190500"/>
          </a:xfrm>
          <a:prstGeom prst="rect">
            <a:avLst/>
          </a:prstGeom>
        </p:spPr>
      </p:pic>
      <p:sp>
        <p:nvSpPr>
          <p:cNvPr id="39" name="!!T 3 Fix the cost the budget ignores"/>
          <p:cNvSpPr txBox="1"/>
          <p:nvPr/>
        </p:nvSpPr>
        <p:spPr>
          <a:xfrm>
            <a:off x="8877300" y="3698933"/>
            <a:ext cx="2848558" cy="202406"/>
          </a:xfrm>
          <a:prstGeom prst="rect">
            <a:avLst/>
          </a:prstGeom>
          <a:noFill/>
        </p:spPr>
        <p:txBody>
          <a:bodyPr wrap="none" lIns="0" tIns="0" rIns="0" bIns="0" anchor="t">
            <a:noAutofit/>
          </a:bodyPr>
          <a:lstStyle/>
          <a:p>
            <a:pPr algn="l">
              <a:lnSpc>
                <a:spcPts val="1593"/>
              </a:lnSpc>
              <a:spcBef>
                <a:spcPts val="0"/>
              </a:spcBef>
              <a:spcAft>
                <a:spcPts val="0"/>
              </a:spcAft>
            </a:pPr>
            <a:r>
              <a:rPr sz="1275" b="1" i="0" kern="100">
                <a:solidFill>
                  <a:srgbClr val="C9C9C9">
                    <a:alpha val="30000"/>
                  </a:srgbClr>
                </a:solidFill>
                <a:latin typeface="Plus Jakarta Sans"/>
              </a:rPr>
              <a:t>3</a:t>
            </a:r>
            <a:r>
              <a:rPr sz="1275" b="0" i="0" kern="100">
                <a:solidFill>
                  <a:srgbClr val="FFFFFF">
                    <a:alpha val="30000"/>
                  </a:srgbClr>
                </a:solidFill>
                <a:latin typeface="Plus Jakarta Sans SemiBold"/>
              </a:rPr>
              <a:t>   Fix the cost the budget ignores</a:t>
            </a:r>
          </a:p>
        </p:txBody>
      </p:sp>
      <p:sp>
        <p:nvSpPr>
          <p:cNvPr id="40" name="!!T 3 Fix the cost the budget ignores #2"/>
          <p:cNvSpPr txBox="1"/>
          <p:nvPr/>
        </p:nvSpPr>
        <p:spPr>
          <a:xfrm>
            <a:off x="8877300" y="3698933"/>
            <a:ext cx="2848558" cy="202406"/>
          </a:xfrm>
          <a:prstGeom prst="rect">
            <a:avLst/>
          </a:prstGeom>
          <a:noFill/>
        </p:spPr>
        <p:txBody>
          <a:bodyPr wrap="none" lIns="0" tIns="0" rIns="0" bIns="0" anchor="t">
            <a:noAutofit/>
          </a:bodyPr>
          <a:lstStyle/>
          <a:p>
            <a:pPr algn="l">
              <a:lnSpc>
                <a:spcPts val="1593"/>
              </a:lnSpc>
              <a:spcBef>
                <a:spcPts val="0"/>
              </a:spcBef>
              <a:spcAft>
                <a:spcPts val="0"/>
              </a:spcAft>
            </a:pPr>
            <a:r>
              <a:rPr sz="1275" b="1" i="0" kern="100">
                <a:solidFill>
                  <a:srgbClr val="F3B5BE"/>
                </a:solidFill>
                <a:latin typeface="Plus Jakarta Sans"/>
              </a:rPr>
              <a:t>3</a:t>
            </a:r>
            <a:r>
              <a:rPr sz="1275" b="0" i="0" kern="100">
                <a:solidFill>
                  <a:srgbClr val="FFFFFF"/>
                </a:solidFill>
                <a:latin typeface="Plus Jakarta Sans SemiBold"/>
              </a:rPr>
              <a:t>   Fix the cost the budget ignores</a:t>
            </a:r>
          </a:p>
        </p:txBody>
      </p:sp>
      <p:sp>
        <p:nvSpPr>
          <p:cNvPr id="41" name="!!T a medical review at 75; spending rules"/>
          <p:cNvSpPr txBox="1"/>
          <p:nvPr/>
        </p:nvSpPr>
        <p:spPr>
          <a:xfrm>
            <a:off x="8877300" y="3923770"/>
            <a:ext cx="2610186"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D1D1D1">
                    <a:alpha val="30000"/>
                  </a:srgbClr>
                </a:solidFill>
                <a:latin typeface="Plus Jakarta Sans"/>
              </a:rPr>
              <a:t>a medical review at 75; spending rules</a:t>
            </a:r>
          </a:p>
        </p:txBody>
      </p:sp>
      <p:sp>
        <p:nvSpPr>
          <p:cNvPr id="42" name="!!T a medical review at 75; spending rules #2"/>
          <p:cNvSpPr txBox="1"/>
          <p:nvPr/>
        </p:nvSpPr>
        <p:spPr>
          <a:xfrm>
            <a:off x="8877300" y="3923770"/>
            <a:ext cx="2610186"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E8C6CB"/>
                </a:solidFill>
                <a:latin typeface="Plus Jakarta Sans"/>
              </a:rPr>
              <a:t>a medical review at 75; spending rules</a:t>
            </a:r>
          </a:p>
        </p:txBody>
      </p:sp>
      <p:sp>
        <p:nvSpPr>
          <p:cNvPr id="43" name="!!T 4 A plan for each person"/>
          <p:cNvSpPr txBox="1"/>
          <p:nvPr/>
        </p:nvSpPr>
        <p:spPr>
          <a:xfrm>
            <a:off x="1180627" y="2632133"/>
            <a:ext cx="2134073" cy="202406"/>
          </a:xfrm>
          <a:prstGeom prst="rect">
            <a:avLst/>
          </a:prstGeom>
          <a:noFill/>
        </p:spPr>
        <p:txBody>
          <a:bodyPr wrap="none" lIns="0" tIns="0" rIns="0" bIns="0" anchor="t">
            <a:noAutofit/>
          </a:bodyPr>
          <a:lstStyle/>
          <a:p>
            <a:pPr algn="r">
              <a:lnSpc>
                <a:spcPts val="1593"/>
              </a:lnSpc>
              <a:spcBef>
                <a:spcPts val="0"/>
              </a:spcBef>
              <a:spcAft>
                <a:spcPts val="0"/>
              </a:spcAft>
            </a:pPr>
            <a:r>
              <a:rPr sz="1275" b="1" i="0" kern="100">
                <a:solidFill>
                  <a:srgbClr val="C9C9C9">
                    <a:alpha val="30000"/>
                  </a:srgbClr>
                </a:solidFill>
                <a:latin typeface="Plus Jakarta Sans"/>
              </a:rPr>
              <a:t>4</a:t>
            </a:r>
            <a:r>
              <a:rPr sz="1275" b="0" i="0" kern="100">
                <a:solidFill>
                  <a:srgbClr val="FFFFFF">
                    <a:alpha val="30000"/>
                  </a:srgbClr>
                </a:solidFill>
                <a:latin typeface="Plus Jakarta Sans SemiBold"/>
              </a:rPr>
              <a:t>   A plan for each person</a:t>
            </a:r>
          </a:p>
        </p:txBody>
      </p:sp>
      <p:sp>
        <p:nvSpPr>
          <p:cNvPr id="44" name="!!T 4 A plan for each person #2"/>
          <p:cNvSpPr txBox="1"/>
          <p:nvPr/>
        </p:nvSpPr>
        <p:spPr>
          <a:xfrm>
            <a:off x="1180627" y="2632133"/>
            <a:ext cx="2134073" cy="202406"/>
          </a:xfrm>
          <a:prstGeom prst="rect">
            <a:avLst/>
          </a:prstGeom>
          <a:noFill/>
        </p:spPr>
        <p:txBody>
          <a:bodyPr wrap="none" lIns="0" tIns="0" rIns="0" bIns="0" anchor="t">
            <a:noAutofit/>
          </a:bodyPr>
          <a:lstStyle/>
          <a:p>
            <a:pPr algn="r">
              <a:lnSpc>
                <a:spcPts val="1593"/>
              </a:lnSpc>
              <a:spcBef>
                <a:spcPts val="0"/>
              </a:spcBef>
              <a:spcAft>
                <a:spcPts val="0"/>
              </a:spcAft>
            </a:pPr>
            <a:r>
              <a:rPr sz="1275" b="1" i="0" kern="100">
                <a:solidFill>
                  <a:srgbClr val="F3B5BE"/>
                </a:solidFill>
                <a:latin typeface="Plus Jakarta Sans"/>
              </a:rPr>
              <a:t>4</a:t>
            </a:r>
            <a:r>
              <a:rPr sz="1275" b="0" i="0" kern="100">
                <a:solidFill>
                  <a:srgbClr val="FFFFFF"/>
                </a:solidFill>
                <a:latin typeface="Plus Jakarta Sans SemiBold"/>
              </a:rPr>
              <a:t>   A plan for each person</a:t>
            </a:r>
          </a:p>
        </p:txBody>
      </p:sp>
      <p:sp>
        <p:nvSpPr>
          <p:cNvPr id="45" name="!!T Chloe funded; HK$45K a year less in fees"/>
          <p:cNvSpPr txBox="1"/>
          <p:nvPr/>
        </p:nvSpPr>
        <p:spPr>
          <a:xfrm>
            <a:off x="494538" y="2856970"/>
            <a:ext cx="2820162" cy="180022"/>
          </a:xfrm>
          <a:prstGeom prst="rect">
            <a:avLst/>
          </a:prstGeom>
          <a:noFill/>
        </p:spPr>
        <p:txBody>
          <a:bodyPr wrap="none" lIns="0" tIns="0" rIns="0" bIns="0" anchor="t">
            <a:noAutofit/>
          </a:bodyPr>
          <a:lstStyle/>
          <a:p>
            <a:pPr algn="r">
              <a:lnSpc>
                <a:spcPts val="1417"/>
              </a:lnSpc>
              <a:spcBef>
                <a:spcPts val="0"/>
              </a:spcBef>
              <a:spcAft>
                <a:spcPts val="0"/>
              </a:spcAft>
            </a:pPr>
            <a:r>
              <a:rPr sz="1050" b="0" i="0" kern="100">
                <a:solidFill>
                  <a:srgbClr val="D1D1D1">
                    <a:alpha val="30000"/>
                  </a:srgbClr>
                </a:solidFill>
                <a:latin typeface="Plus Jakarta Sans"/>
              </a:rPr>
              <a:t>Chloe funded; HK$45K a year less in fees</a:t>
            </a:r>
          </a:p>
        </p:txBody>
      </p:sp>
      <p:sp>
        <p:nvSpPr>
          <p:cNvPr id="46" name="!!T Chloe funded; HK$45K a year less in fees #2"/>
          <p:cNvSpPr txBox="1"/>
          <p:nvPr/>
        </p:nvSpPr>
        <p:spPr>
          <a:xfrm>
            <a:off x="494538" y="2856970"/>
            <a:ext cx="2820162" cy="180022"/>
          </a:xfrm>
          <a:prstGeom prst="rect">
            <a:avLst/>
          </a:prstGeom>
          <a:noFill/>
        </p:spPr>
        <p:txBody>
          <a:bodyPr wrap="none" lIns="0" tIns="0" rIns="0" bIns="0" anchor="t">
            <a:noAutofit/>
          </a:bodyPr>
          <a:lstStyle/>
          <a:p>
            <a:pPr algn="r">
              <a:lnSpc>
                <a:spcPts val="1417"/>
              </a:lnSpc>
              <a:spcBef>
                <a:spcPts val="0"/>
              </a:spcBef>
              <a:spcAft>
                <a:spcPts val="0"/>
              </a:spcAft>
            </a:pPr>
            <a:r>
              <a:rPr sz="1050" b="0" i="0" kern="100">
                <a:solidFill>
                  <a:srgbClr val="E8C6CB"/>
                </a:solidFill>
                <a:latin typeface="Plus Jakarta Sans"/>
              </a:rPr>
              <a:t>Chloe funded; HK$45K a year less in fees</a:t>
            </a:r>
          </a:p>
        </p:txBody>
      </p:sp>
      <p:sp>
        <p:nvSpPr>
          <p:cNvPr id="47" name="!!span d292a3d1"/>
          <p:cNvSpPr/>
          <p:nvPr/>
        </p:nvSpPr>
        <p:spPr>
          <a:xfrm>
            <a:off x="3429000" y="2571601"/>
            <a:ext cx="361950" cy="361950"/>
          </a:xfrm>
          <a:prstGeom prst="ellipse">
            <a:avLst/>
          </a:prstGeom>
          <a:solidFill>
            <a:srgbClr val="FFFFFF">
              <a:alpha val="3600"/>
            </a:srgbClr>
          </a:solidFill>
          <a:ln>
            <a:noFill/>
          </a:ln>
        </p:spPr>
        <p:txBody>
          <a:bodyPr rtlCol="0" anchor="ctr"/>
          <a:lstStyle/>
          <a:p>
            <a:pPr algn="ctr"/>
            <a:endParaRPr/>
          </a:p>
        </p:txBody>
      </p:sp>
      <p:sp>
        <p:nvSpPr>
          <p:cNvPr id="48" name="!!span 4b2f7298"/>
          <p:cNvSpPr/>
          <p:nvPr/>
        </p:nvSpPr>
        <p:spPr>
          <a:xfrm>
            <a:off x="3429000" y="2571601"/>
            <a:ext cx="361950" cy="361950"/>
          </a:xfrm>
          <a:prstGeom prst="ellipse">
            <a:avLst/>
          </a:prstGeom>
          <a:solidFill>
            <a:srgbClr val="FFFFFF">
              <a:alpha val="12000"/>
            </a:srgbClr>
          </a:solidFill>
          <a:ln>
            <a:noFill/>
          </a:ln>
        </p:spPr>
        <p:txBody>
          <a:bodyPr rtlCol="0" anchor="ctr"/>
          <a:lstStyle/>
          <a:p>
            <a:pPr algn="ctr"/>
            <a:endParaRPr/>
          </a:p>
        </p:txBody>
      </p:sp>
      <p:pic>
        <p:nvPicPr>
          <p:cNvPr id="49" name="!!Drawing a173ee14" descr="image.png"/>
          <p:cNvPicPr>
            <a:picLocks noChangeAspect="1"/>
          </p:cNvPicPr>
          <p:nvPr/>
        </p:nvPicPr>
        <p:blipFill>
          <a:blip>
            <a:alphaModFix amt="30000"/>
            <a:grayscl/>
            <a:extLst>
              <a:ext uri="{96DAC541-7B7A-43D3-8B79-37D633B846F1}">
                <asvg:svgBlip xmlns:asvg="http://schemas.microsoft.com/office/drawing/2016/SVG/main" r:embed="rId14"/>
              </a:ext>
            </a:extLst>
          </a:blip>
          <a:stretch>
            <a:fillRect/>
          </a:stretch>
        </p:blipFill>
        <p:spPr>
          <a:xfrm>
            <a:off x="3514725" y="2657326"/>
            <a:ext cx="190500" cy="190500"/>
          </a:xfrm>
          <a:prstGeom prst="rect">
            <a:avLst/>
          </a:prstGeom>
        </p:spPr>
      </p:pic>
      <p:pic>
        <p:nvPicPr>
          <p:cNvPr id="50" name="!!Drawing a173ee14 #2" descr="image.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514725" y="2657326"/>
            <a:ext cx="190500" cy="190500"/>
          </a:xfrm>
          <a:prstGeom prst="rect">
            <a:avLst/>
          </a:prstGeom>
        </p:spPr>
      </p:pic>
      <p:sp>
        <p:nvSpPr>
          <p:cNvPr id="51" name="!!T 2 The home and the business"/>
          <p:cNvSpPr txBox="1"/>
          <p:nvPr/>
        </p:nvSpPr>
        <p:spPr>
          <a:xfrm>
            <a:off x="806898" y="3527483"/>
            <a:ext cx="2507802" cy="202406"/>
          </a:xfrm>
          <a:prstGeom prst="rect">
            <a:avLst/>
          </a:prstGeom>
          <a:noFill/>
        </p:spPr>
        <p:txBody>
          <a:bodyPr wrap="none" lIns="0" tIns="0" rIns="0" bIns="0" anchor="t">
            <a:noAutofit/>
          </a:bodyPr>
          <a:lstStyle/>
          <a:p>
            <a:pPr algn="r">
              <a:lnSpc>
                <a:spcPts val="1593"/>
              </a:lnSpc>
              <a:spcBef>
                <a:spcPts val="0"/>
              </a:spcBef>
              <a:spcAft>
                <a:spcPts val="0"/>
              </a:spcAft>
            </a:pPr>
            <a:r>
              <a:rPr sz="1275" b="1" i="0" kern="100">
                <a:solidFill>
                  <a:srgbClr val="C9C9C9">
                    <a:alpha val="30000"/>
                  </a:srgbClr>
                </a:solidFill>
                <a:latin typeface="Plus Jakarta Sans"/>
              </a:rPr>
              <a:t>2</a:t>
            </a:r>
            <a:r>
              <a:rPr sz="1275" b="0" i="0" kern="100">
                <a:solidFill>
                  <a:srgbClr val="FFFFFF">
                    <a:alpha val="30000"/>
                  </a:srgbClr>
                </a:solidFill>
                <a:latin typeface="Plus Jakarta Sans SemiBold"/>
              </a:rPr>
              <a:t>   The home and the business</a:t>
            </a:r>
          </a:p>
        </p:txBody>
      </p:sp>
      <p:sp>
        <p:nvSpPr>
          <p:cNvPr id="52" name="!!T 2 The home and the business #2"/>
          <p:cNvSpPr txBox="1"/>
          <p:nvPr/>
        </p:nvSpPr>
        <p:spPr>
          <a:xfrm>
            <a:off x="806898" y="3527483"/>
            <a:ext cx="2507802" cy="202406"/>
          </a:xfrm>
          <a:prstGeom prst="rect">
            <a:avLst/>
          </a:prstGeom>
          <a:noFill/>
        </p:spPr>
        <p:txBody>
          <a:bodyPr wrap="none" lIns="0" tIns="0" rIns="0" bIns="0" anchor="t">
            <a:noAutofit/>
          </a:bodyPr>
          <a:lstStyle/>
          <a:p>
            <a:pPr algn="r">
              <a:lnSpc>
                <a:spcPts val="1593"/>
              </a:lnSpc>
              <a:spcBef>
                <a:spcPts val="0"/>
              </a:spcBef>
              <a:spcAft>
                <a:spcPts val="0"/>
              </a:spcAft>
            </a:pPr>
            <a:r>
              <a:rPr sz="1275" b="1" i="0" kern="100">
                <a:solidFill>
                  <a:srgbClr val="F3B5BE"/>
                </a:solidFill>
                <a:latin typeface="Plus Jakarta Sans"/>
              </a:rPr>
              <a:t>2</a:t>
            </a:r>
            <a:r>
              <a:rPr sz="1275" b="0" i="0" kern="100">
                <a:solidFill>
                  <a:srgbClr val="FFFFFF"/>
                </a:solidFill>
                <a:latin typeface="Plus Jakarta Sans SemiBold"/>
              </a:rPr>
              <a:t>   The home and the business</a:t>
            </a:r>
          </a:p>
        </p:txBody>
      </p:sp>
      <p:sp>
        <p:nvSpPr>
          <p:cNvPr id="53" name="!!T decided at 65, not forced at 83"/>
          <p:cNvSpPr txBox="1"/>
          <p:nvPr/>
        </p:nvSpPr>
        <p:spPr>
          <a:xfrm>
            <a:off x="1144500" y="3752320"/>
            <a:ext cx="2170200" cy="180022"/>
          </a:xfrm>
          <a:prstGeom prst="rect">
            <a:avLst/>
          </a:prstGeom>
          <a:noFill/>
        </p:spPr>
        <p:txBody>
          <a:bodyPr wrap="none" lIns="0" tIns="0" rIns="0" bIns="0" anchor="t">
            <a:noAutofit/>
          </a:bodyPr>
          <a:lstStyle/>
          <a:p>
            <a:pPr algn="r">
              <a:lnSpc>
                <a:spcPts val="1417"/>
              </a:lnSpc>
              <a:spcBef>
                <a:spcPts val="0"/>
              </a:spcBef>
              <a:spcAft>
                <a:spcPts val="0"/>
              </a:spcAft>
            </a:pPr>
            <a:r>
              <a:rPr sz="1050" b="0" i="0" kern="100">
                <a:solidFill>
                  <a:srgbClr val="D1D1D1">
                    <a:alpha val="30000"/>
                  </a:srgbClr>
                </a:solidFill>
                <a:latin typeface="Plus Jakarta Sans"/>
              </a:rPr>
              <a:t>decided at 65, not forced at 83</a:t>
            </a:r>
          </a:p>
        </p:txBody>
      </p:sp>
      <p:sp>
        <p:nvSpPr>
          <p:cNvPr id="54" name="!!T decided at 65, not forced at 83 #2"/>
          <p:cNvSpPr txBox="1"/>
          <p:nvPr/>
        </p:nvSpPr>
        <p:spPr>
          <a:xfrm>
            <a:off x="1144500" y="3752320"/>
            <a:ext cx="2170200" cy="180022"/>
          </a:xfrm>
          <a:prstGeom prst="rect">
            <a:avLst/>
          </a:prstGeom>
          <a:noFill/>
        </p:spPr>
        <p:txBody>
          <a:bodyPr wrap="none" lIns="0" tIns="0" rIns="0" bIns="0" anchor="t">
            <a:noAutofit/>
          </a:bodyPr>
          <a:lstStyle/>
          <a:p>
            <a:pPr algn="r">
              <a:lnSpc>
                <a:spcPts val="1417"/>
              </a:lnSpc>
              <a:spcBef>
                <a:spcPts val="0"/>
              </a:spcBef>
              <a:spcAft>
                <a:spcPts val="0"/>
              </a:spcAft>
            </a:pPr>
            <a:r>
              <a:rPr sz="1050" b="0" i="0" kern="100">
                <a:solidFill>
                  <a:srgbClr val="E8C6CB"/>
                </a:solidFill>
                <a:latin typeface="Plus Jakarta Sans"/>
              </a:rPr>
              <a:t>decided at 65, not forced at 83</a:t>
            </a:r>
          </a:p>
        </p:txBody>
      </p:sp>
      <p:sp>
        <p:nvSpPr>
          <p:cNvPr id="55" name="!!span fc6c9dba"/>
          <p:cNvSpPr/>
          <p:nvPr/>
        </p:nvSpPr>
        <p:spPr>
          <a:xfrm>
            <a:off x="3429000" y="3466951"/>
            <a:ext cx="361950" cy="361950"/>
          </a:xfrm>
          <a:prstGeom prst="ellipse">
            <a:avLst/>
          </a:prstGeom>
          <a:solidFill>
            <a:srgbClr val="FFFFFF">
              <a:alpha val="3600"/>
            </a:srgbClr>
          </a:solidFill>
          <a:ln>
            <a:noFill/>
          </a:ln>
        </p:spPr>
        <p:txBody>
          <a:bodyPr rtlCol="0" anchor="ctr"/>
          <a:lstStyle/>
          <a:p>
            <a:pPr algn="ctr"/>
            <a:endParaRPr/>
          </a:p>
        </p:txBody>
      </p:sp>
      <p:sp>
        <p:nvSpPr>
          <p:cNvPr id="56" name="!!span b4dc1599"/>
          <p:cNvSpPr/>
          <p:nvPr/>
        </p:nvSpPr>
        <p:spPr>
          <a:xfrm>
            <a:off x="3429000" y="3466951"/>
            <a:ext cx="361950" cy="361950"/>
          </a:xfrm>
          <a:prstGeom prst="ellipse">
            <a:avLst/>
          </a:prstGeom>
          <a:solidFill>
            <a:srgbClr val="FFFFFF">
              <a:alpha val="12000"/>
            </a:srgbClr>
          </a:solidFill>
          <a:ln>
            <a:noFill/>
          </a:ln>
        </p:spPr>
        <p:txBody>
          <a:bodyPr rtlCol="0" anchor="ctr"/>
          <a:lstStyle/>
          <a:p>
            <a:pPr algn="ctr"/>
            <a:endParaRPr/>
          </a:p>
        </p:txBody>
      </p:sp>
      <p:pic>
        <p:nvPicPr>
          <p:cNvPr id="57" name="!!Drawing 4c54ffc9" descr="image.png"/>
          <p:cNvPicPr>
            <a:picLocks noChangeAspect="1"/>
          </p:cNvPicPr>
          <p:nvPr/>
        </p:nvPicPr>
        <p:blipFill>
          <a:blip>
            <a:alphaModFix amt="30000"/>
            <a:grayscl/>
            <a:extLst>
              <a:ext uri="{96DAC541-7B7A-43D3-8B79-37D633B846F1}">
                <asvg:svgBlip xmlns:asvg="http://schemas.microsoft.com/office/drawing/2016/SVG/main" r:embed="rId15"/>
              </a:ext>
            </a:extLst>
          </a:blip>
          <a:stretch>
            <a:fillRect/>
          </a:stretch>
        </p:blipFill>
        <p:spPr>
          <a:xfrm>
            <a:off x="3514725" y="3552676"/>
            <a:ext cx="190500" cy="190500"/>
          </a:xfrm>
          <a:prstGeom prst="rect">
            <a:avLst/>
          </a:prstGeom>
        </p:spPr>
      </p:pic>
      <p:pic>
        <p:nvPicPr>
          <p:cNvPr id="58" name="!!Drawing 4c54ffc9 #2" descr="image.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514725" y="3552676"/>
            <a:ext cx="190500" cy="190500"/>
          </a:xfrm>
          <a:prstGeom prst="rect">
            <a:avLst/>
          </a:prstGeom>
        </p:spPr>
      </p:pic>
      <p:sp>
        <p:nvSpPr>
          <p:cNvPr id="59" name="!!T 1 Insure the income, not the life"/>
          <p:cNvSpPr txBox="1"/>
          <p:nvPr/>
        </p:nvSpPr>
        <p:spPr>
          <a:xfrm>
            <a:off x="633049" y="4232333"/>
            <a:ext cx="2681651" cy="202406"/>
          </a:xfrm>
          <a:prstGeom prst="rect">
            <a:avLst/>
          </a:prstGeom>
          <a:noFill/>
        </p:spPr>
        <p:txBody>
          <a:bodyPr wrap="none" lIns="0" tIns="0" rIns="0" bIns="0" anchor="t">
            <a:noAutofit/>
          </a:bodyPr>
          <a:lstStyle/>
          <a:p>
            <a:pPr algn="r">
              <a:lnSpc>
                <a:spcPts val="1593"/>
              </a:lnSpc>
              <a:spcBef>
                <a:spcPts val="0"/>
              </a:spcBef>
              <a:spcAft>
                <a:spcPts val="0"/>
              </a:spcAft>
            </a:pPr>
            <a:r>
              <a:rPr sz="1275" b="1" i="0" kern="100">
                <a:solidFill>
                  <a:srgbClr val="C9C9C9">
                    <a:alpha val="30000"/>
                  </a:srgbClr>
                </a:solidFill>
                <a:latin typeface="Plus Jakarta Sans"/>
              </a:rPr>
              <a:t>1</a:t>
            </a:r>
            <a:r>
              <a:rPr sz="1275" b="0" i="0" kern="100">
                <a:solidFill>
                  <a:srgbClr val="FFFFFF">
                    <a:alpha val="30000"/>
                  </a:srgbClr>
                </a:solidFill>
                <a:latin typeface="Plus Jakarta Sans SemiBold"/>
              </a:rPr>
              <a:t>   Insure the income, not the life</a:t>
            </a:r>
          </a:p>
        </p:txBody>
      </p:sp>
      <p:sp>
        <p:nvSpPr>
          <p:cNvPr id="60" name="!!T 1 Insure the income, not the life #2"/>
          <p:cNvSpPr txBox="1"/>
          <p:nvPr/>
        </p:nvSpPr>
        <p:spPr>
          <a:xfrm>
            <a:off x="633049" y="4232333"/>
            <a:ext cx="2681651" cy="202406"/>
          </a:xfrm>
          <a:prstGeom prst="rect">
            <a:avLst/>
          </a:prstGeom>
          <a:noFill/>
        </p:spPr>
        <p:txBody>
          <a:bodyPr wrap="none" lIns="0" tIns="0" rIns="0" bIns="0" anchor="t">
            <a:noAutofit/>
          </a:bodyPr>
          <a:lstStyle/>
          <a:p>
            <a:pPr algn="r">
              <a:lnSpc>
                <a:spcPts val="1593"/>
              </a:lnSpc>
              <a:spcBef>
                <a:spcPts val="0"/>
              </a:spcBef>
              <a:spcAft>
                <a:spcPts val="0"/>
              </a:spcAft>
            </a:pPr>
            <a:r>
              <a:rPr sz="1275" b="1" i="0" kern="100">
                <a:solidFill>
                  <a:srgbClr val="F3B5BE"/>
                </a:solidFill>
                <a:latin typeface="Plus Jakarta Sans"/>
              </a:rPr>
              <a:t>1</a:t>
            </a:r>
            <a:r>
              <a:rPr sz="1275" b="0" i="0" kern="100">
                <a:solidFill>
                  <a:srgbClr val="FFFFFF"/>
                </a:solidFill>
                <a:latin typeface="Plus Jakarta Sans SemiBold"/>
              </a:rPr>
              <a:t>   Insure the income, not the life</a:t>
            </a:r>
          </a:p>
        </p:txBody>
      </p:sp>
      <p:sp>
        <p:nvSpPr>
          <p:cNvPr id="61" name="!!T about HK$100K a year closes every gap"/>
          <p:cNvSpPr txBox="1"/>
          <p:nvPr/>
        </p:nvSpPr>
        <p:spPr>
          <a:xfrm>
            <a:off x="568053" y="4457170"/>
            <a:ext cx="2746647" cy="180022"/>
          </a:xfrm>
          <a:prstGeom prst="rect">
            <a:avLst/>
          </a:prstGeom>
          <a:noFill/>
        </p:spPr>
        <p:txBody>
          <a:bodyPr wrap="none" lIns="0" tIns="0" rIns="0" bIns="0" anchor="t">
            <a:noAutofit/>
          </a:bodyPr>
          <a:lstStyle/>
          <a:p>
            <a:pPr algn="r">
              <a:lnSpc>
                <a:spcPts val="1417"/>
              </a:lnSpc>
              <a:spcBef>
                <a:spcPts val="0"/>
              </a:spcBef>
              <a:spcAft>
                <a:spcPts val="0"/>
              </a:spcAft>
            </a:pPr>
            <a:r>
              <a:rPr sz="1050" b="0" i="0" kern="100">
                <a:solidFill>
                  <a:srgbClr val="D1D1D1">
                    <a:alpha val="30000"/>
                  </a:srgbClr>
                </a:solidFill>
                <a:latin typeface="Plus Jakarta Sans"/>
              </a:rPr>
              <a:t>about HK$100K a year closes every gap</a:t>
            </a:r>
          </a:p>
        </p:txBody>
      </p:sp>
      <p:sp>
        <p:nvSpPr>
          <p:cNvPr id="62" name="!!T about HK$100K a year closes every gap #2"/>
          <p:cNvSpPr txBox="1"/>
          <p:nvPr/>
        </p:nvSpPr>
        <p:spPr>
          <a:xfrm>
            <a:off x="568053" y="4457170"/>
            <a:ext cx="2746647" cy="180022"/>
          </a:xfrm>
          <a:prstGeom prst="rect">
            <a:avLst/>
          </a:prstGeom>
          <a:noFill/>
        </p:spPr>
        <p:txBody>
          <a:bodyPr wrap="none" lIns="0" tIns="0" rIns="0" bIns="0" anchor="t">
            <a:noAutofit/>
          </a:bodyPr>
          <a:lstStyle/>
          <a:p>
            <a:pPr algn="r">
              <a:lnSpc>
                <a:spcPts val="1417"/>
              </a:lnSpc>
              <a:spcBef>
                <a:spcPts val="0"/>
              </a:spcBef>
              <a:spcAft>
                <a:spcPts val="0"/>
              </a:spcAft>
            </a:pPr>
            <a:r>
              <a:rPr sz="1050" b="0" i="0" kern="100">
                <a:solidFill>
                  <a:srgbClr val="E8C6CB"/>
                </a:solidFill>
                <a:latin typeface="Plus Jakarta Sans"/>
              </a:rPr>
              <a:t>about HK$100K a year closes every gap</a:t>
            </a:r>
          </a:p>
        </p:txBody>
      </p:sp>
      <p:sp>
        <p:nvSpPr>
          <p:cNvPr id="63" name="!!span e388fedc"/>
          <p:cNvSpPr/>
          <p:nvPr/>
        </p:nvSpPr>
        <p:spPr>
          <a:xfrm>
            <a:off x="3429000" y="4171801"/>
            <a:ext cx="361950" cy="361950"/>
          </a:xfrm>
          <a:prstGeom prst="ellipse">
            <a:avLst/>
          </a:prstGeom>
          <a:solidFill>
            <a:srgbClr val="FFFFFF">
              <a:alpha val="3600"/>
            </a:srgbClr>
          </a:solidFill>
          <a:ln>
            <a:noFill/>
          </a:ln>
        </p:spPr>
        <p:txBody>
          <a:bodyPr rtlCol="0" anchor="ctr"/>
          <a:lstStyle/>
          <a:p>
            <a:pPr algn="ctr"/>
            <a:endParaRPr/>
          </a:p>
        </p:txBody>
      </p:sp>
      <p:sp>
        <p:nvSpPr>
          <p:cNvPr id="64" name="!!span e19914a2"/>
          <p:cNvSpPr/>
          <p:nvPr/>
        </p:nvSpPr>
        <p:spPr>
          <a:xfrm>
            <a:off x="3429000" y="4171801"/>
            <a:ext cx="361950" cy="361950"/>
          </a:xfrm>
          <a:prstGeom prst="ellipse">
            <a:avLst/>
          </a:prstGeom>
          <a:solidFill>
            <a:srgbClr val="FFFFFF">
              <a:alpha val="12000"/>
            </a:srgbClr>
          </a:solidFill>
          <a:ln>
            <a:noFill/>
          </a:ln>
        </p:spPr>
        <p:txBody>
          <a:bodyPr rtlCol="0" anchor="ctr"/>
          <a:lstStyle/>
          <a:p>
            <a:pPr algn="ctr"/>
            <a:endParaRPr/>
          </a:p>
        </p:txBody>
      </p:sp>
      <p:pic>
        <p:nvPicPr>
          <p:cNvPr id="65" name="!!Drawing b195c741" descr="image.png"/>
          <p:cNvPicPr>
            <a:picLocks noChangeAspect="1"/>
          </p:cNvPicPr>
          <p:nvPr/>
        </p:nvPicPr>
        <p:blipFill>
          <a:blip>
            <a:alphaModFix amt="30000"/>
            <a:grayscl/>
            <a:extLst>
              <a:ext uri="{96DAC541-7B7A-43D3-8B79-37D633B846F1}">
                <asvg:svgBlip xmlns:asvg="http://schemas.microsoft.com/office/drawing/2016/SVG/main" r:embed="rId16"/>
              </a:ext>
            </a:extLst>
          </a:blip>
          <a:stretch>
            <a:fillRect/>
          </a:stretch>
        </p:blipFill>
        <p:spPr>
          <a:xfrm>
            <a:off x="3514725" y="4257526"/>
            <a:ext cx="190500" cy="190500"/>
          </a:xfrm>
          <a:prstGeom prst="rect">
            <a:avLst/>
          </a:prstGeom>
        </p:spPr>
      </p:pic>
      <p:pic>
        <p:nvPicPr>
          <p:cNvPr id="66" name="!!Drawing b195c741 #2" descr="image.png"/>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514725" y="4257526"/>
            <a:ext cx="190500" cy="190500"/>
          </a:xfrm>
          <a:prstGeom prst="rect">
            <a:avLst/>
          </a:prstGeom>
        </p:spPr>
      </p:pic>
      <p:sp>
        <p:nvSpPr>
          <p:cNvPr id="67" name="!!div f2f9386a"/>
          <p:cNvSpPr/>
          <p:nvPr/>
        </p:nvSpPr>
        <p:spPr>
          <a:xfrm>
            <a:off x="2470398" y="5434012"/>
            <a:ext cx="7251055" cy="809625"/>
          </a:xfrm>
          <a:prstGeom prst="rect">
            <a:avLst/>
          </a:prstGeom>
          <a:solidFill>
            <a:srgbClr val="FFFFFF">
              <a:alpha val="1800"/>
            </a:srgbClr>
          </a:solidFill>
          <a:ln w="9525">
            <a:solidFill>
              <a:srgbClr val="FFFFFF">
                <a:alpha val="11400"/>
              </a:srgbClr>
            </a:solidFill>
          </a:ln>
        </p:spPr>
        <p:txBody>
          <a:bodyPr rtlCol="0" anchor="ctr"/>
          <a:lstStyle/>
          <a:p>
            <a:pPr algn="ctr"/>
            <a:endParaRPr/>
          </a:p>
        </p:txBody>
      </p:sp>
      <p:sp>
        <p:nvSpPr>
          <p:cNvPr id="68" name="!!div eeaa2451"/>
          <p:cNvSpPr/>
          <p:nvPr/>
        </p:nvSpPr>
        <p:spPr>
          <a:xfrm>
            <a:off x="2470398" y="5434012"/>
            <a:ext cx="7251055" cy="809625"/>
          </a:xfrm>
          <a:prstGeom prst="rect">
            <a:avLst/>
          </a:prstGeom>
          <a:solidFill>
            <a:srgbClr val="FFFFFF">
              <a:alpha val="6000"/>
            </a:srgbClr>
          </a:solidFill>
          <a:ln w="9525">
            <a:solidFill>
              <a:srgbClr val="FFFFFF">
                <a:alpha val="38000"/>
              </a:srgbClr>
            </a:solidFill>
          </a:ln>
        </p:spPr>
        <p:txBody>
          <a:bodyPr rtlCol="0" anchor="ctr"/>
          <a:lstStyle/>
          <a:p>
            <a:pPr algn="ctr"/>
            <a:endParaRPr/>
          </a:p>
        </p:txBody>
      </p:sp>
      <p:sp>
        <p:nvSpPr>
          <p:cNvPr id="69" name="!!T Chance the money lasts to Carmen's 89"/>
          <p:cNvSpPr txBox="1"/>
          <p:nvPr/>
        </p:nvSpPr>
        <p:spPr>
          <a:xfrm>
            <a:off x="2760911" y="5642134"/>
            <a:ext cx="1580817" cy="371475"/>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FFFFFF">
                    <a:alpha val="30000"/>
                  </a:srgbClr>
                </a:solidFill>
                <a:latin typeface="Plus Jakarta Sans SemiBold"/>
              </a:rPr>
              <a:t>Chance the money</a:t>
            </a:r>
          </a:p>
          <a:p>
            <a:pPr algn="l">
              <a:lnSpc>
                <a:spcPts val="1462"/>
              </a:lnSpc>
              <a:spcBef>
                <a:spcPts val="0"/>
              </a:spcBef>
              <a:spcAft>
                <a:spcPts val="0"/>
              </a:spcAft>
            </a:pPr>
            <a:r>
              <a:rPr sz="1125" b="0" i="0" kern="100">
                <a:solidFill>
                  <a:srgbClr val="FFFFFF">
                    <a:alpha val="30000"/>
                  </a:srgbClr>
                </a:solidFill>
                <a:latin typeface="Plus Jakarta Sans SemiBold"/>
              </a:rPr>
              <a:t>lasts to Carmen's 89</a:t>
            </a:r>
          </a:p>
        </p:txBody>
      </p:sp>
      <p:sp>
        <p:nvSpPr>
          <p:cNvPr id="70" name="!!T Chance the money lasts to Carmen's 89 #2"/>
          <p:cNvSpPr txBox="1"/>
          <p:nvPr/>
        </p:nvSpPr>
        <p:spPr>
          <a:xfrm>
            <a:off x="2760911" y="5642134"/>
            <a:ext cx="1580817" cy="371475"/>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FFFFFF"/>
                </a:solidFill>
                <a:latin typeface="Plus Jakarta Sans SemiBold"/>
              </a:rPr>
              <a:t>Chance the money</a:t>
            </a:r>
          </a:p>
          <a:p>
            <a:pPr algn="l">
              <a:lnSpc>
                <a:spcPts val="1462"/>
              </a:lnSpc>
              <a:spcBef>
                <a:spcPts val="0"/>
              </a:spcBef>
              <a:spcAft>
                <a:spcPts val="0"/>
              </a:spcAft>
            </a:pPr>
            <a:r>
              <a:rPr sz="1125" b="0" i="0" kern="100">
                <a:solidFill>
                  <a:srgbClr val="FFFFFF"/>
                </a:solidFill>
                <a:latin typeface="Plus Jakarta Sans SemiBold"/>
              </a:rPr>
              <a:t>lasts to Carmen's 89</a:t>
            </a:r>
          </a:p>
        </p:txBody>
      </p:sp>
      <p:sp>
        <p:nvSpPr>
          <p:cNvPr id="71" name="!!T 62%"/>
          <p:cNvSpPr txBox="1"/>
          <p:nvPr/>
        </p:nvSpPr>
        <p:spPr>
          <a:xfrm>
            <a:off x="4589711" y="5652706"/>
            <a:ext cx="885105" cy="323850"/>
          </a:xfrm>
          <a:prstGeom prst="rect">
            <a:avLst/>
          </a:prstGeom>
          <a:noFill/>
        </p:spPr>
        <p:txBody>
          <a:bodyPr wrap="none" lIns="0" tIns="0" rIns="0" bIns="0" anchor="t">
            <a:noAutofit/>
          </a:bodyPr>
          <a:lstStyle/>
          <a:p>
            <a:pPr algn="l">
              <a:lnSpc>
                <a:spcPts val="2550"/>
              </a:lnSpc>
              <a:spcBef>
                <a:spcPts val="0"/>
              </a:spcBef>
              <a:spcAft>
                <a:spcPts val="0"/>
              </a:spcAft>
            </a:pPr>
            <a:r>
              <a:rPr sz="2550" b="1" i="0" kern="100">
                <a:solidFill>
                  <a:srgbClr val="AEAEAE">
                    <a:alpha val="30000"/>
                  </a:srgbClr>
                </a:solidFill>
                <a:latin typeface="Plus Jakarta Sans"/>
              </a:rPr>
              <a:t>62%</a:t>
            </a:r>
          </a:p>
        </p:txBody>
      </p:sp>
      <p:sp>
        <p:nvSpPr>
          <p:cNvPr id="72" name="!!T 62% #2"/>
          <p:cNvSpPr txBox="1"/>
          <p:nvPr/>
        </p:nvSpPr>
        <p:spPr>
          <a:xfrm>
            <a:off x="4589711" y="5652706"/>
            <a:ext cx="885105" cy="323850"/>
          </a:xfrm>
          <a:prstGeom prst="rect">
            <a:avLst/>
          </a:prstGeom>
          <a:noFill/>
        </p:spPr>
        <p:txBody>
          <a:bodyPr wrap="none" lIns="0" tIns="0" rIns="0" bIns="0" anchor="t">
            <a:noAutofit/>
          </a:bodyPr>
          <a:lstStyle/>
          <a:p>
            <a:pPr algn="l">
              <a:lnSpc>
                <a:spcPts val="2550"/>
              </a:lnSpc>
              <a:spcBef>
                <a:spcPts val="0"/>
              </a:spcBef>
              <a:spcAft>
                <a:spcPts val="0"/>
              </a:spcAft>
            </a:pPr>
            <a:r>
              <a:rPr sz="2550" b="1" i="0" kern="100">
                <a:solidFill>
                  <a:srgbClr val="C9A2A8"/>
                </a:solidFill>
                <a:latin typeface="Plus Jakarta Sans"/>
              </a:rPr>
              <a:t>62%</a:t>
            </a:r>
          </a:p>
        </p:txBody>
      </p:sp>
      <p:sp>
        <p:nvSpPr>
          <p:cNvPr id="73" name="!!T their own way"/>
          <p:cNvSpPr txBox="1"/>
          <p:nvPr/>
        </p:nvSpPr>
        <p:spPr>
          <a:xfrm>
            <a:off x="5393085" y="5799296"/>
            <a:ext cx="1081040"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D1D1D1">
                    <a:alpha val="30000"/>
                  </a:srgbClr>
                </a:solidFill>
                <a:latin typeface="Plus Jakarta Sans"/>
              </a:rPr>
              <a:t>their own way</a:t>
            </a:r>
          </a:p>
        </p:txBody>
      </p:sp>
      <p:sp>
        <p:nvSpPr>
          <p:cNvPr id="74" name="!!T their own way #2"/>
          <p:cNvSpPr txBox="1"/>
          <p:nvPr/>
        </p:nvSpPr>
        <p:spPr>
          <a:xfrm>
            <a:off x="5393085" y="5799296"/>
            <a:ext cx="1081040"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E8C6CB"/>
                </a:solidFill>
                <a:latin typeface="Plus Jakarta Sans"/>
              </a:rPr>
              <a:t>their own way</a:t>
            </a:r>
          </a:p>
        </p:txBody>
      </p:sp>
      <p:sp>
        <p:nvSpPr>
          <p:cNvPr id="75" name="!!T →"/>
          <p:cNvSpPr txBox="1"/>
          <p:nvPr/>
        </p:nvSpPr>
        <p:spPr>
          <a:xfrm>
            <a:off x="6514654" y="5652706"/>
            <a:ext cx="359456" cy="323850"/>
          </a:xfrm>
          <a:prstGeom prst="rect">
            <a:avLst/>
          </a:prstGeom>
          <a:noFill/>
        </p:spPr>
        <p:txBody>
          <a:bodyPr wrap="none" lIns="0" tIns="0" rIns="0" bIns="0" anchor="t">
            <a:noAutofit/>
          </a:bodyPr>
          <a:lstStyle/>
          <a:p>
            <a:pPr algn="l">
              <a:lnSpc>
                <a:spcPts val="2550"/>
              </a:lnSpc>
              <a:spcBef>
                <a:spcPts val="0"/>
              </a:spcBef>
              <a:spcAft>
                <a:spcPts val="0"/>
              </a:spcAft>
            </a:pPr>
            <a:r>
              <a:rPr sz="2550" b="0" i="0" kern="100">
                <a:solidFill>
                  <a:srgbClr val="AEAEAE">
                    <a:alpha val="30000"/>
                  </a:srgbClr>
                </a:solidFill>
                <a:latin typeface="Plus Jakarta Sans"/>
              </a:rPr>
              <a:t>→</a:t>
            </a:r>
          </a:p>
        </p:txBody>
      </p:sp>
      <p:sp>
        <p:nvSpPr>
          <p:cNvPr id="76" name="!!T → #2"/>
          <p:cNvSpPr txBox="1"/>
          <p:nvPr/>
        </p:nvSpPr>
        <p:spPr>
          <a:xfrm>
            <a:off x="6514654" y="5652706"/>
            <a:ext cx="359456" cy="323850"/>
          </a:xfrm>
          <a:prstGeom prst="rect">
            <a:avLst/>
          </a:prstGeom>
          <a:noFill/>
        </p:spPr>
        <p:txBody>
          <a:bodyPr wrap="none" lIns="0" tIns="0" rIns="0" bIns="0" anchor="t">
            <a:noAutofit/>
          </a:bodyPr>
          <a:lstStyle/>
          <a:p>
            <a:pPr algn="l">
              <a:lnSpc>
                <a:spcPts val="2550"/>
              </a:lnSpc>
              <a:spcBef>
                <a:spcPts val="0"/>
              </a:spcBef>
              <a:spcAft>
                <a:spcPts val="0"/>
              </a:spcAft>
            </a:pPr>
            <a:r>
              <a:rPr sz="2550" b="0" i="0" kern="100">
                <a:solidFill>
                  <a:srgbClr val="C9A2A8"/>
                </a:solidFill>
                <a:latin typeface="Plus Jakarta Sans"/>
              </a:rPr>
              <a:t>→</a:t>
            </a:r>
          </a:p>
        </p:txBody>
      </p:sp>
      <p:sp>
        <p:nvSpPr>
          <p:cNvPr id="77" name="!!T 97%"/>
          <p:cNvSpPr txBox="1"/>
          <p:nvPr/>
        </p:nvSpPr>
        <p:spPr>
          <a:xfrm>
            <a:off x="6955482" y="5514022"/>
            <a:ext cx="1421008" cy="571500"/>
          </a:xfrm>
          <a:prstGeom prst="rect">
            <a:avLst/>
          </a:prstGeom>
          <a:noFill/>
        </p:spPr>
        <p:txBody>
          <a:bodyPr wrap="none" lIns="0" tIns="0" rIns="0" bIns="0" anchor="t">
            <a:noAutofit/>
          </a:bodyPr>
          <a:lstStyle/>
          <a:p>
            <a:pPr algn="l">
              <a:lnSpc>
                <a:spcPts val="4500"/>
              </a:lnSpc>
              <a:spcBef>
                <a:spcPts val="0"/>
              </a:spcBef>
              <a:spcAft>
                <a:spcPts val="0"/>
              </a:spcAft>
            </a:pPr>
            <a:r>
              <a:rPr sz="4500" b="1" i="0" kern="100" spc="-75">
                <a:solidFill>
                  <a:srgbClr val="FFFFFF">
                    <a:alpha val="30000"/>
                  </a:srgbClr>
                </a:solidFill>
                <a:latin typeface="Plus Jakarta Sans"/>
              </a:rPr>
              <a:t>97%</a:t>
            </a:r>
          </a:p>
        </p:txBody>
      </p:sp>
      <p:sp>
        <p:nvSpPr>
          <p:cNvPr id="78" name="!!T 97% #2"/>
          <p:cNvSpPr txBox="1"/>
          <p:nvPr/>
        </p:nvSpPr>
        <p:spPr>
          <a:xfrm>
            <a:off x="6955482" y="5514022"/>
            <a:ext cx="1421008" cy="571500"/>
          </a:xfrm>
          <a:prstGeom prst="rect">
            <a:avLst/>
          </a:prstGeom>
          <a:noFill/>
        </p:spPr>
        <p:txBody>
          <a:bodyPr wrap="none" lIns="0" tIns="0" rIns="0" bIns="0" anchor="t">
            <a:noAutofit/>
          </a:bodyPr>
          <a:lstStyle/>
          <a:p>
            <a:pPr algn="l">
              <a:lnSpc>
                <a:spcPts val="4500"/>
              </a:lnSpc>
              <a:spcBef>
                <a:spcPts val="0"/>
              </a:spcBef>
              <a:spcAft>
                <a:spcPts val="0"/>
              </a:spcAft>
            </a:pPr>
            <a:r>
              <a:rPr sz="4500" b="1" i="0" kern="100" spc="-75">
                <a:solidFill>
                  <a:srgbClr val="FFFFFF"/>
                </a:solidFill>
                <a:latin typeface="Plus Jakarta Sans"/>
              </a:rPr>
              <a:t>97%</a:t>
            </a:r>
          </a:p>
        </p:txBody>
      </p:sp>
      <p:sp>
        <p:nvSpPr>
          <p:cNvPr id="79" name="!!T with the five calls"/>
          <p:cNvSpPr txBox="1"/>
          <p:nvPr/>
        </p:nvSpPr>
        <p:spPr>
          <a:xfrm>
            <a:off x="8264426" y="5904071"/>
            <a:ext cx="1350806"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FFFFFF">
                    <a:alpha val="30000"/>
                  </a:srgbClr>
                </a:solidFill>
                <a:latin typeface="Plus Jakarta Sans SemiBold"/>
              </a:rPr>
              <a:t>with the five calls</a:t>
            </a:r>
          </a:p>
        </p:txBody>
      </p:sp>
      <p:sp>
        <p:nvSpPr>
          <p:cNvPr id="80" name="!!T with the five calls #2"/>
          <p:cNvSpPr txBox="1"/>
          <p:nvPr/>
        </p:nvSpPr>
        <p:spPr>
          <a:xfrm>
            <a:off x="8264426" y="5904071"/>
            <a:ext cx="1350806"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FFFFFF"/>
                </a:solidFill>
                <a:latin typeface="Plus Jakarta Sans SemiBold"/>
              </a:rPr>
              <a:t>with the five calls</a:t>
            </a:r>
          </a:p>
        </p:txBody>
      </p:sp>
      <p:sp>
        <p:nvSpPr>
          <p:cNvPr id="81" name="!!T Chance the money lasts to Carmen's 89, 1"/>
          <p:cNvSpPr txBox="1"/>
          <p:nvPr/>
        </p:nvSpPr>
        <p:spPr>
          <a:xfrm>
            <a:off x="457200" y="6452104"/>
            <a:ext cx="6414043"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D9B3B9"/>
                </a:solidFill>
                <a:latin typeface="Plus Jakarta Sans"/>
              </a:rPr>
              <a:t>Chance the money lasts to Carmen's 89, 10,000 simulated markets (measured); with the spending rules, almost</a:t>
            </a:r>
          </a:p>
          <a:p>
            <a:pPr algn="l">
              <a:lnSpc>
                <a:spcPts val="1170"/>
              </a:lnSpc>
              <a:spcBef>
                <a:spcPts val="0"/>
              </a:spcBef>
              <a:spcAft>
                <a:spcPts val="0"/>
              </a:spcAft>
            </a:pPr>
            <a:r>
              <a:rPr sz="900" b="0" i="0" kern="100">
                <a:solidFill>
                  <a:srgbClr val="D9B3B9"/>
                </a:solidFill>
                <a:latin typeface="Plus Jakarta Sans"/>
              </a:rPr>
              <a:t>every future. Their own way: the business sold, the flat sold when the money runs out.</a:t>
            </a:r>
          </a:p>
        </p:txBody>
      </p:sp>
      <p:sp>
        <p:nvSpPr>
          <p:cNvPr id="82" name="!!T The problem"/>
          <p:cNvSpPr txBox="1"/>
          <p:nvPr/>
        </p:nvSpPr>
        <p:spPr>
          <a:xfrm>
            <a:off x="6671370"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A9858B"/>
                </a:solidFill>
                <a:latin typeface="Plus Jakarta Sans"/>
              </a:rPr>
              <a:t>The problem</a:t>
            </a:r>
          </a:p>
        </p:txBody>
      </p:sp>
      <p:sp>
        <p:nvSpPr>
          <p:cNvPr id="83" name="!!T The answer"/>
          <p:cNvSpPr txBox="1"/>
          <p:nvPr/>
        </p:nvSpPr>
        <p:spPr>
          <a:xfrm>
            <a:off x="7617619" y="6536246"/>
            <a:ext cx="822159"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FFFFFF"/>
                </a:solidFill>
                <a:latin typeface="Plus Jakarta Sans SemiBold"/>
              </a:rPr>
              <a:t>The answer</a:t>
            </a:r>
          </a:p>
        </p:txBody>
      </p:sp>
      <p:sp>
        <p:nvSpPr>
          <p:cNvPr id="84" name="!!T The five calls"/>
          <p:cNvSpPr txBox="1"/>
          <p:nvPr/>
        </p:nvSpPr>
        <p:spPr>
          <a:xfrm>
            <a:off x="8494961"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A9858B"/>
                </a:solidFill>
                <a:latin typeface="Plus Jakarta Sans"/>
              </a:rPr>
              <a:t>The five calls</a:t>
            </a:r>
          </a:p>
        </p:txBody>
      </p:sp>
      <p:sp>
        <p:nvSpPr>
          <p:cNvPr id="85" name="!!T Will it hold"/>
          <p:cNvSpPr txBox="1"/>
          <p:nvPr/>
        </p:nvSpPr>
        <p:spPr>
          <a:xfrm>
            <a:off x="9431834"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A9858B"/>
                </a:solidFill>
                <a:latin typeface="Plus Jakarta Sans"/>
              </a:rPr>
              <a:t>Will it hold</a:t>
            </a:r>
          </a:p>
        </p:txBody>
      </p:sp>
      <p:sp>
        <p:nvSpPr>
          <p:cNvPr id="86" name="!!T What next"/>
          <p:cNvSpPr txBox="1"/>
          <p:nvPr/>
        </p:nvSpPr>
        <p:spPr>
          <a:xfrm>
            <a:off x="10229850"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A9858B"/>
                </a:solidFill>
                <a:latin typeface="Plus Jakarta Sans"/>
              </a:rPr>
              <a:t>What next</a:t>
            </a:r>
          </a:p>
        </p:txBody>
      </p:sp>
      <p:sp>
        <p:nvSpPr>
          <p:cNvPr id="87" name="!!T Us"/>
          <p:cNvSpPr txBox="1"/>
          <p:nvPr/>
        </p:nvSpPr>
        <p:spPr>
          <a:xfrm>
            <a:off x="11025188"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A9858B"/>
                </a:solidFill>
                <a:latin typeface="Plus Jakarta Sans"/>
              </a:rPr>
              <a:t>Us</a:t>
            </a:r>
          </a:p>
        </p:txBody>
      </p:sp>
      <p:sp>
        <p:nvSpPr>
          <p:cNvPr id="88" name="!!T 4 / 15"/>
          <p:cNvSpPr txBox="1"/>
          <p:nvPr/>
        </p:nvSpPr>
        <p:spPr>
          <a:xfrm>
            <a:off x="11403509" y="6535674"/>
            <a:ext cx="465469"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FFFFFF"/>
                </a:solidFill>
                <a:latin typeface="Plus Jakarta Sans SemiBold"/>
              </a:rPr>
              <a:t>4 / 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fade">
                                      <p:cBhvr>
                                        <p:cTn id="10" dur="300"/>
                                        <p:tgtEl>
                                          <p:spTgt spid="6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fade">
                                      <p:cBhvr>
                                        <p:cTn id="13" dur="300"/>
                                        <p:tgtEl>
                                          <p:spTgt spid="6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4"/>
                                        </p:tgtEl>
                                        <p:attrNameLst>
                                          <p:attrName>style.visibility</p:attrName>
                                        </p:attrNameLst>
                                      </p:cBhvr>
                                      <p:to>
                                        <p:strVal val="visible"/>
                                      </p:to>
                                    </p:set>
                                    <p:animEffect transition="in" filter="fade">
                                      <p:cBhvr>
                                        <p:cTn id="16" dur="300"/>
                                        <p:tgtEl>
                                          <p:spTgt spid="64"/>
                                        </p:tgtEl>
                                      </p:cBhvr>
                                    </p:animEffect>
                                  </p:childTnLst>
                                </p:cTn>
                              </p:par>
                              <p:par>
                                <p:cTn id="17" presetID="10" presetClass="entr" presetSubtype="0" fill="hold" nodeType="withEffect">
                                  <p:stCondLst>
                                    <p:cond delay="0"/>
                                  </p:stCondLst>
                                  <p:childTnLst>
                                    <p:set>
                                      <p:cBhvr>
                                        <p:cTn id="18" dur="1" fill="hold">
                                          <p:stCondLst>
                                            <p:cond delay="0"/>
                                          </p:stCondLst>
                                        </p:cTn>
                                        <p:tgtEl>
                                          <p:spTgt spid="66"/>
                                        </p:tgtEl>
                                        <p:attrNameLst>
                                          <p:attrName>style.visibility</p:attrName>
                                        </p:attrNameLst>
                                      </p:cBhvr>
                                      <p:to>
                                        <p:strVal val="visible"/>
                                      </p:to>
                                    </p:set>
                                    <p:animEffect transition="in" filter="fade">
                                      <p:cBhvr>
                                        <p:cTn id="19" dur="300"/>
                                        <p:tgtEl>
                                          <p:spTgt spid="6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fade">
                                      <p:cBhvr>
                                        <p:cTn id="27" dur="300"/>
                                        <p:tgtEl>
                                          <p:spTgt spid="5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fade">
                                      <p:cBhvr>
                                        <p:cTn id="30" dur="300"/>
                                        <p:tgtEl>
                                          <p:spTgt spid="5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6"/>
                                        </p:tgtEl>
                                        <p:attrNameLst>
                                          <p:attrName>style.visibility</p:attrName>
                                        </p:attrNameLst>
                                      </p:cBhvr>
                                      <p:to>
                                        <p:strVal val="visible"/>
                                      </p:to>
                                    </p:set>
                                    <p:animEffect transition="in" filter="fade">
                                      <p:cBhvr>
                                        <p:cTn id="33" dur="300"/>
                                        <p:tgtEl>
                                          <p:spTgt spid="56"/>
                                        </p:tgtEl>
                                      </p:cBhvr>
                                    </p:animEffect>
                                  </p:childTnLst>
                                </p:cTn>
                              </p:par>
                              <p:par>
                                <p:cTn id="34" presetID="10" presetClass="entr" presetSubtype="0" fill="hold" nodeType="with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fade">
                                      <p:cBhvr>
                                        <p:cTn id="36" dur="300"/>
                                        <p:tgtEl>
                                          <p:spTgt spid="5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3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300"/>
                                        <p:tgtEl>
                                          <p:spTgt spid="3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3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fade">
                                      <p:cBhvr>
                                        <p:cTn id="53" dur="300"/>
                                        <p:tgtEl>
                                          <p:spTgt spid="4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300"/>
                                        <p:tgtEl>
                                          <p:spTgt spid="1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fade">
                                      <p:cBhvr>
                                        <p:cTn id="61" dur="300"/>
                                        <p:tgtEl>
                                          <p:spTgt spid="4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300"/>
                                        <p:tgtEl>
                                          <p:spTgt spid="4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animEffect transition="in" filter="fade">
                                      <p:cBhvr>
                                        <p:cTn id="67" dur="300"/>
                                        <p:tgtEl>
                                          <p:spTgt spid="48"/>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300"/>
                                        <p:tgtEl>
                                          <p:spTgt spid="50"/>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300"/>
                                        <p:tgtEl>
                                          <p:spTgt spid="1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300"/>
                                        <p:tgtEl>
                                          <p:spTgt spid="28"/>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30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300"/>
                                        <p:tgtEl>
                                          <p:spTgt spid="3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300"/>
                                        <p:tgtEl>
                                          <p:spTgt spid="34"/>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8"/>
                                        </p:tgtEl>
                                        <p:attrNameLst>
                                          <p:attrName>style.visibility</p:attrName>
                                        </p:attrNameLst>
                                      </p:cBhvr>
                                      <p:to>
                                        <p:strVal val="visible"/>
                                      </p:to>
                                    </p:set>
                                    <p:animEffect transition="in" filter="fade">
                                      <p:cBhvr>
                                        <p:cTn id="92" dur="300"/>
                                        <p:tgtEl>
                                          <p:spTgt spid="1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0"/>
                                        </p:tgtEl>
                                        <p:attrNameLst>
                                          <p:attrName>style.visibility</p:attrName>
                                        </p:attrNameLst>
                                      </p:cBhvr>
                                      <p:to>
                                        <p:strVal val="visible"/>
                                      </p:to>
                                    </p:set>
                                    <p:animEffect transition="in" filter="fade">
                                      <p:cBhvr>
                                        <p:cTn id="95" dur="300"/>
                                        <p:tgtEl>
                                          <p:spTgt spid="20"/>
                                        </p:tgtEl>
                                      </p:cBhvr>
                                    </p:animEffect>
                                  </p:childTnLst>
                                </p:cTn>
                              </p:par>
                              <p:par>
                                <p:cTn id="96" presetID="10" presetClass="entr" presetSubtype="0" fill="hold" nodeType="with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300"/>
                                        <p:tgtEl>
                                          <p:spTgt spid="2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300"/>
                                        <p:tgtEl>
                                          <p:spTgt spid="24"/>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26"/>
                                        </p:tgtEl>
                                        <p:attrNameLst>
                                          <p:attrName>style.visibility</p:attrName>
                                        </p:attrNameLst>
                                      </p:cBhvr>
                                      <p:to>
                                        <p:strVal val="visible"/>
                                      </p:to>
                                    </p:set>
                                    <p:animEffect transition="in" filter="fade">
                                      <p:cBhvr>
                                        <p:cTn id="104" dur="300"/>
                                        <p:tgtEl>
                                          <p:spTgt spid="2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68"/>
                                        </p:tgtEl>
                                        <p:attrNameLst>
                                          <p:attrName>style.visibility</p:attrName>
                                        </p:attrNameLst>
                                      </p:cBhvr>
                                      <p:to>
                                        <p:strVal val="visible"/>
                                      </p:to>
                                    </p:set>
                                    <p:animEffect transition="in" filter="fade">
                                      <p:cBhvr>
                                        <p:cTn id="107" dur="300"/>
                                        <p:tgtEl>
                                          <p:spTgt spid="6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70"/>
                                        </p:tgtEl>
                                        <p:attrNameLst>
                                          <p:attrName>style.visibility</p:attrName>
                                        </p:attrNameLst>
                                      </p:cBhvr>
                                      <p:to>
                                        <p:strVal val="visible"/>
                                      </p:to>
                                    </p:set>
                                    <p:animEffect transition="in" filter="fade">
                                      <p:cBhvr>
                                        <p:cTn id="110" dur="300"/>
                                        <p:tgtEl>
                                          <p:spTgt spid="7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72"/>
                                        </p:tgtEl>
                                        <p:attrNameLst>
                                          <p:attrName>style.visibility</p:attrName>
                                        </p:attrNameLst>
                                      </p:cBhvr>
                                      <p:to>
                                        <p:strVal val="visible"/>
                                      </p:to>
                                    </p:set>
                                    <p:animEffect transition="in" filter="fade">
                                      <p:cBhvr>
                                        <p:cTn id="113" dur="300"/>
                                        <p:tgtEl>
                                          <p:spTgt spid="72"/>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74"/>
                                        </p:tgtEl>
                                        <p:attrNameLst>
                                          <p:attrName>style.visibility</p:attrName>
                                        </p:attrNameLst>
                                      </p:cBhvr>
                                      <p:to>
                                        <p:strVal val="visible"/>
                                      </p:to>
                                    </p:set>
                                    <p:animEffect transition="in" filter="fade">
                                      <p:cBhvr>
                                        <p:cTn id="116" dur="300"/>
                                        <p:tgtEl>
                                          <p:spTgt spid="74"/>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76"/>
                                        </p:tgtEl>
                                        <p:attrNameLst>
                                          <p:attrName>style.visibility</p:attrName>
                                        </p:attrNameLst>
                                      </p:cBhvr>
                                      <p:to>
                                        <p:strVal val="visible"/>
                                      </p:to>
                                    </p:set>
                                    <p:animEffect transition="in" filter="fade">
                                      <p:cBhvr>
                                        <p:cTn id="119" dur="300"/>
                                        <p:tgtEl>
                                          <p:spTgt spid="76"/>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78"/>
                                        </p:tgtEl>
                                        <p:attrNameLst>
                                          <p:attrName>style.visibility</p:attrName>
                                        </p:attrNameLst>
                                      </p:cBhvr>
                                      <p:to>
                                        <p:strVal val="visible"/>
                                      </p:to>
                                    </p:set>
                                    <p:animEffect transition="in" filter="fade">
                                      <p:cBhvr>
                                        <p:cTn id="122" dur="300"/>
                                        <p:tgtEl>
                                          <p:spTgt spid="78"/>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80"/>
                                        </p:tgtEl>
                                        <p:attrNameLst>
                                          <p:attrName>style.visibility</p:attrName>
                                        </p:attrNameLst>
                                      </p:cBhvr>
                                      <p:to>
                                        <p:strVal val="visible"/>
                                      </p:to>
                                    </p:set>
                                    <p:animEffect transition="in" filter="fade">
                                      <p:cBhvr>
                                        <p:cTn id="125" dur="300"/>
                                        <p:tgtEl>
                                          <p:spTgt spid="80"/>
                                        </p:tgtEl>
                                      </p:cBhvr>
                                    </p:animEffect>
                                  </p:childTnLst>
                                </p:cTn>
                              </p:par>
                              <p:par>
                                <p:cTn id="126" presetID="10" presetClass="entr" presetSubtype="0" fill="hold" nodeType="withEffect">
                                  <p:stCondLst>
                                    <p:cond delay="0"/>
                                  </p:stCondLst>
                                  <p:childTnLst>
                                    <p:set>
                                      <p:cBhvr>
                                        <p:cTn id="127" dur="1" fill="hold">
                                          <p:stCondLst>
                                            <p:cond delay="0"/>
                                          </p:stCondLst>
                                        </p:cTn>
                                        <p:tgtEl>
                                          <p:spTgt spid="5"/>
                                        </p:tgtEl>
                                        <p:attrNameLst>
                                          <p:attrName>style.visibility</p:attrName>
                                        </p:attrNameLst>
                                      </p:cBhvr>
                                      <p:to>
                                        <p:strVal val="visible"/>
                                      </p:to>
                                    </p:set>
                                    <p:animEffect transition="in" filter="fade">
                                      <p:cBhvr>
                                        <p:cTn id="128" dur="300"/>
                                        <p:tgtEl>
                                          <p:spTgt spid="5"/>
                                        </p:tgtEl>
                                      </p:cBhvr>
                                    </p:animEffect>
                                  </p:childTnLst>
                                </p:cTn>
                              </p:par>
                              <p:par>
                                <p:cTn id="129" presetID="1" presetClass="exit" presetSubtype="0" fill="hold" nodeType="withEffect">
                                  <p:stCondLst>
                                    <p:cond delay="320"/>
                                  </p:stCondLst>
                                  <p:childTnLst>
                                    <p:set>
                                      <p:cBhvr>
                                        <p:cTn id="130" dur="1" fill="hold">
                                          <p:stCondLst>
                                            <p:cond delay="0"/>
                                          </p:stCondLst>
                                        </p:cTn>
                                        <p:tgtEl>
                                          <p:spTgt spid="6"/>
                                        </p:tgtEl>
                                        <p:attrNameLst>
                                          <p:attrName>style.visibility</p:attrName>
                                        </p:attrNameLst>
                                      </p:cBhvr>
                                      <p:to>
                                        <p:strVal val="hidden"/>
                                      </p:to>
                                    </p:set>
                                  </p:childTnLst>
                                </p:cTn>
                              </p:par>
                              <p:par>
                                <p:cTn id="131" presetID="1" presetClass="exit" presetSubtype="0" fill="hold" nodeType="withEffect">
                                  <p:stCondLst>
                                    <p:cond delay="320"/>
                                  </p:stCondLst>
                                  <p:childTnLst>
                                    <p:set>
                                      <p:cBhvr>
                                        <p:cTn id="132" dur="1" fill="hold">
                                          <p:stCondLst>
                                            <p:cond delay="0"/>
                                          </p:stCondLst>
                                        </p:cTn>
                                        <p:tgtEl>
                                          <p:spTgt spid="7"/>
                                        </p:tgtEl>
                                        <p:attrNameLst>
                                          <p:attrName>style.visibility</p:attrName>
                                        </p:attrNameLst>
                                      </p:cBhvr>
                                      <p:to>
                                        <p:strVal val="hidden"/>
                                      </p:to>
                                    </p:set>
                                  </p:childTnLst>
                                </p:cTn>
                              </p:par>
                              <p:par>
                                <p:cTn id="133" presetID="1" presetClass="exit" presetSubtype="0" fill="hold" nodeType="withEffect">
                                  <p:stCondLst>
                                    <p:cond delay="320"/>
                                  </p:stCondLst>
                                  <p:childTnLst>
                                    <p:set>
                                      <p:cBhvr>
                                        <p:cTn id="134" dur="1" fill="hold">
                                          <p:stCondLst>
                                            <p:cond delay="0"/>
                                          </p:stCondLst>
                                        </p:cTn>
                                        <p:tgtEl>
                                          <p:spTgt spid="8"/>
                                        </p:tgtEl>
                                        <p:attrNameLst>
                                          <p:attrName>style.visibility</p:attrName>
                                        </p:attrNameLst>
                                      </p:cBhvr>
                                      <p:to>
                                        <p:strVal val="hidden"/>
                                      </p:to>
                                    </p:set>
                                  </p:childTnLst>
                                </p:cTn>
                              </p:par>
                              <p:par>
                                <p:cTn id="135" presetID="1" presetClass="exit" presetSubtype="0" fill="hold" nodeType="withEffect">
                                  <p:stCondLst>
                                    <p:cond delay="320"/>
                                  </p:stCondLst>
                                  <p:childTnLst>
                                    <p:set>
                                      <p:cBhvr>
                                        <p:cTn id="136" dur="1" fill="hold">
                                          <p:stCondLst>
                                            <p:cond delay="0"/>
                                          </p:stCondLst>
                                        </p:cTn>
                                        <p:tgtEl>
                                          <p:spTgt spid="9"/>
                                        </p:tgtEl>
                                        <p:attrNameLst>
                                          <p:attrName>style.visibility</p:attrName>
                                        </p:attrNameLst>
                                      </p:cBhvr>
                                      <p:to>
                                        <p:strVal val="hidden"/>
                                      </p:to>
                                    </p:set>
                                  </p:childTnLst>
                                </p:cTn>
                              </p:par>
                              <p:par>
                                <p:cTn id="137" presetID="1" presetClass="exit" presetSubtype="0" fill="hold" nodeType="withEffect">
                                  <p:stCondLst>
                                    <p:cond delay="320"/>
                                  </p:stCondLst>
                                  <p:childTnLst>
                                    <p:set>
                                      <p:cBhvr>
                                        <p:cTn id="138" dur="1" fill="hold">
                                          <p:stCondLst>
                                            <p:cond delay="0"/>
                                          </p:stCondLst>
                                        </p:cTn>
                                        <p:tgtEl>
                                          <p:spTgt spid="10"/>
                                        </p:tgtEl>
                                        <p:attrNameLst>
                                          <p:attrName>style.visibility</p:attrName>
                                        </p:attrNameLst>
                                      </p:cBhvr>
                                      <p:to>
                                        <p:strVal val="hidden"/>
                                      </p:to>
                                    </p:set>
                                  </p:childTnLst>
                                </p:cTn>
                              </p:par>
                              <p:par>
                                <p:cTn id="139" presetID="1" presetClass="exit" presetSubtype="0" fill="hold" nodeType="withEffect">
                                  <p:stCondLst>
                                    <p:cond delay="320"/>
                                  </p:stCondLst>
                                  <p:childTnLst>
                                    <p:set>
                                      <p:cBhvr>
                                        <p:cTn id="140" dur="1" fill="hold">
                                          <p:stCondLst>
                                            <p:cond delay="0"/>
                                          </p:stCondLst>
                                        </p:cTn>
                                        <p:tgtEl>
                                          <p:spTgt spid="11"/>
                                        </p:tgtEl>
                                        <p:attrNameLst>
                                          <p:attrName>style.visibility</p:attrName>
                                        </p:attrNameLst>
                                      </p:cBhvr>
                                      <p:to>
                                        <p:strVal val="hidden"/>
                                      </p:to>
                                    </p:set>
                                  </p:childTnLst>
                                </p:cTn>
                              </p:par>
                              <p:par>
                                <p:cTn id="141" presetID="1" presetClass="exit" presetSubtype="0" fill="hold" nodeType="withEffect">
                                  <p:stCondLst>
                                    <p:cond delay="320"/>
                                  </p:stCondLst>
                                  <p:childTnLst>
                                    <p:set>
                                      <p:cBhvr>
                                        <p:cTn id="142" dur="1" fill="hold">
                                          <p:stCondLst>
                                            <p:cond delay="0"/>
                                          </p:stCondLst>
                                        </p:cTn>
                                        <p:tgtEl>
                                          <p:spTgt spid="12"/>
                                        </p:tgtEl>
                                        <p:attrNameLst>
                                          <p:attrName>style.visibility</p:attrName>
                                        </p:attrNameLst>
                                      </p:cBhvr>
                                      <p:to>
                                        <p:strVal val="hidden"/>
                                      </p:to>
                                    </p:set>
                                  </p:childTnLst>
                                </p:cTn>
                              </p:par>
                              <p:par>
                                <p:cTn id="143" presetID="1" presetClass="exit" presetSubtype="0" fill="hold" nodeType="withEffect">
                                  <p:stCondLst>
                                    <p:cond delay="320"/>
                                  </p:stCondLst>
                                  <p:childTnLst>
                                    <p:set>
                                      <p:cBhvr>
                                        <p:cTn id="144" dur="1" fill="hold">
                                          <p:stCondLst>
                                            <p:cond delay="0"/>
                                          </p:stCondLst>
                                        </p:cTn>
                                        <p:tgtEl>
                                          <p:spTgt spid="13"/>
                                        </p:tgtEl>
                                        <p:attrNameLst>
                                          <p:attrName>style.visibility</p:attrName>
                                        </p:attrNameLst>
                                      </p:cBhvr>
                                      <p:to>
                                        <p:strVal val="hidden"/>
                                      </p:to>
                                    </p:set>
                                  </p:childTnLst>
                                </p:cTn>
                              </p:par>
                              <p:par>
                                <p:cTn id="145" presetID="1" presetClass="exit" presetSubtype="0" fill="hold" nodeType="withEffect">
                                  <p:stCondLst>
                                    <p:cond delay="320"/>
                                  </p:stCondLst>
                                  <p:childTnLst>
                                    <p:set>
                                      <p:cBhvr>
                                        <p:cTn id="146" dur="1" fill="hold">
                                          <p:stCondLst>
                                            <p:cond delay="0"/>
                                          </p:stCondLst>
                                        </p:cTn>
                                        <p:tgtEl>
                                          <p:spTgt spid="14"/>
                                        </p:tgtEl>
                                        <p:attrNameLst>
                                          <p:attrName>style.visibility</p:attrName>
                                        </p:attrNameLst>
                                      </p:cBhvr>
                                      <p:to>
                                        <p:strVal val="hidden"/>
                                      </p:to>
                                    </p:set>
                                  </p:childTnLst>
                                </p:cTn>
                              </p:par>
                              <p:par>
                                <p:cTn id="147" presetID="1" presetClass="exit" presetSubtype="0" fill="hold" nodeType="withEffect">
                                  <p:stCondLst>
                                    <p:cond delay="320"/>
                                  </p:stCondLst>
                                  <p:childTnLst>
                                    <p:set>
                                      <p:cBhvr>
                                        <p:cTn id="148" dur="1" fill="hold">
                                          <p:stCondLst>
                                            <p:cond delay="0"/>
                                          </p:stCondLst>
                                        </p:cTn>
                                        <p:tgtEl>
                                          <p:spTgt spid="15"/>
                                        </p:tgtEl>
                                        <p:attrNameLst>
                                          <p:attrName>style.visibility</p:attrName>
                                        </p:attrNameLst>
                                      </p:cBhvr>
                                      <p:to>
                                        <p:strVal val="hidden"/>
                                      </p:to>
                                    </p:set>
                                  </p:childTnLst>
                                </p:cTn>
                              </p:par>
                              <p:par>
                                <p:cTn id="149" presetID="1" presetClass="exit" presetSubtype="0" fill="hold" nodeType="withEffect">
                                  <p:stCondLst>
                                    <p:cond delay="320"/>
                                  </p:stCondLst>
                                  <p:childTnLst>
                                    <p:set>
                                      <p:cBhvr>
                                        <p:cTn id="150" dur="1" fill="hold">
                                          <p:stCondLst>
                                            <p:cond delay="0"/>
                                          </p:stCondLst>
                                        </p:cTn>
                                        <p:tgtEl>
                                          <p:spTgt spid="16"/>
                                        </p:tgtEl>
                                        <p:attrNameLst>
                                          <p:attrName>style.visibility</p:attrName>
                                        </p:attrNameLst>
                                      </p:cBhvr>
                                      <p:to>
                                        <p:strVal val="hidden"/>
                                      </p:to>
                                    </p:set>
                                  </p:childTnLst>
                                </p:cTn>
                              </p:par>
                              <p:par>
                                <p:cTn id="151" presetID="1" presetClass="exit" presetSubtype="0" fill="hold" nodeType="withEffect">
                                  <p:stCondLst>
                                    <p:cond delay="320"/>
                                  </p:stCondLst>
                                  <p:childTnLst>
                                    <p:set>
                                      <p:cBhvr>
                                        <p:cTn id="152" dur="1" fill="hold">
                                          <p:stCondLst>
                                            <p:cond delay="0"/>
                                          </p:stCondLst>
                                        </p:cTn>
                                        <p:tgtEl>
                                          <p:spTgt spid="17"/>
                                        </p:tgtEl>
                                        <p:attrNameLst>
                                          <p:attrName>style.visibility</p:attrName>
                                        </p:attrNameLst>
                                      </p:cBhvr>
                                      <p:to>
                                        <p:strVal val="hidden"/>
                                      </p:to>
                                    </p:set>
                                  </p:childTnLst>
                                </p:cTn>
                              </p:par>
                              <p:par>
                                <p:cTn id="153" presetID="1" presetClass="exit" presetSubtype="0" fill="hold" nodeType="withEffect">
                                  <p:stCondLst>
                                    <p:cond delay="320"/>
                                  </p:stCondLst>
                                  <p:childTnLst>
                                    <p:set>
                                      <p:cBhvr>
                                        <p:cTn id="154"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4" grpId="0" animBg="1"/>
      <p:bldP spid="26" grpId="0" animBg="1"/>
      <p:bldP spid="28" grpId="0" animBg="1"/>
      <p:bldP spid="32" grpId="0" animBg="1"/>
      <p:bldP spid="34" grpId="0" animBg="1"/>
      <p:bldP spid="36" grpId="0" animBg="1"/>
      <p:bldP spid="40" grpId="0" animBg="1"/>
      <p:bldP spid="42" grpId="0" animBg="1"/>
      <p:bldP spid="44" grpId="0" animBg="1"/>
      <p:bldP spid="46" grpId="0" animBg="1"/>
      <p:bldP spid="48" grpId="0" animBg="1"/>
      <p:bldP spid="52" grpId="0" animBg="1"/>
      <p:bldP spid="54" grpId="0" animBg="1"/>
      <p:bldP spid="56" grpId="0" animBg="1"/>
      <p:bldP spid="60" grpId="0" animBg="1"/>
      <p:bldP spid="62" grpId="0" animBg="1"/>
      <p:bldP spid="64" grpId="0" animBg="1"/>
      <p:bldP spid="68" grpId="0" animBg="1"/>
      <p:bldP spid="70" grpId="0" animBg="1"/>
      <p:bldP spid="72" grpId="0" animBg="1"/>
      <p:bldP spid="74" grpId="0" animBg="1"/>
      <p:bldP spid="76" grpId="0" animBg="1"/>
      <p:bldP spid="78" grpId="0" animBg="1"/>
      <p:bldP spid="8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Insure the income, not the life: about HK$100K a year closes every gap">
    <p:spTree>
      <p:nvGrpSpPr>
        <p:cNvPr id="1" name=""/>
        <p:cNvGrpSpPr/>
        <p:nvPr/>
      </p:nvGrpSpPr>
      <p:grpSpPr>
        <a:xfrm>
          <a:off x="0" y="0"/>
          <a:ext cx="0" cy="0"/>
          <a:chOff x="0" y="0"/>
          <a:chExt cx="0" cy="0"/>
        </a:xfrm>
      </p:grpSpPr>
      <p:sp>
        <p:nvSpPr>
          <p:cNvPr id="2" name="!!Rule 6ff153ce"/>
          <p:cNvSpPr/>
          <p:nvPr/>
        </p:nvSpPr>
        <p:spPr>
          <a:xfrm>
            <a:off x="457200" y="323850"/>
            <a:ext cx="47625" cy="569714"/>
          </a:xfrm>
          <a:prstGeom prst="rect">
            <a:avLst/>
          </a:prstGeom>
          <a:solidFill>
            <a:srgbClr val="C80E1E"/>
          </a:solidFill>
          <a:ln>
            <a:noFill/>
          </a:ln>
        </p:spPr>
        <p:txBody>
          <a:bodyPr rtlCol="0" anchor="ctr"/>
          <a:lstStyle/>
          <a:p>
            <a:pPr algn="ctr"/>
            <a:endParaRPr/>
          </a:p>
        </p:txBody>
      </p:sp>
      <p:pic>
        <p:nvPicPr>
          <p:cNvPr id="3"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6150" y="247650"/>
            <a:ext cx="628650" cy="600075"/>
          </a:xfrm>
          <a:prstGeom prst="rect">
            <a:avLst/>
          </a:prstGeom>
        </p:spPr>
      </p:pic>
      <p:sp>
        <p:nvSpPr>
          <p:cNvPr id="4" name="!!T Call 1: Protection"/>
          <p:cNvSpPr txBox="1"/>
          <p:nvPr/>
        </p:nvSpPr>
        <p:spPr>
          <a:xfrm>
            <a:off x="638175" y="324421"/>
            <a:ext cx="1256151"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Call 1: Protection</a:t>
            </a:r>
          </a:p>
        </p:txBody>
      </p:sp>
      <p:sp>
        <p:nvSpPr>
          <p:cNvPr id="5" name="!!T Insure the income, not the life: about H"/>
          <p:cNvSpPr txBox="1"/>
          <p:nvPr/>
        </p:nvSpPr>
        <p:spPr>
          <a:xfrm>
            <a:off x="638175" y="529852"/>
            <a:ext cx="9666693" cy="320421"/>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Insure the income, not the life: about HK$100K a year closes every gap</a:t>
            </a:r>
          </a:p>
        </p:txBody>
      </p:sp>
      <p:sp>
        <p:nvSpPr>
          <p:cNvPr id="6" name="!!Rule 1e94dd1f"/>
          <p:cNvSpPr/>
          <p:nvPr/>
        </p:nvSpPr>
        <p:spPr>
          <a:xfrm>
            <a:off x="457200" y="1419820"/>
            <a:ext cx="5410200" cy="9525"/>
          </a:xfrm>
          <a:prstGeom prst="rect">
            <a:avLst/>
          </a:prstGeom>
          <a:solidFill>
            <a:srgbClr val="1B1716"/>
          </a:solidFill>
          <a:ln>
            <a:noFill/>
          </a:ln>
        </p:spPr>
        <p:txBody>
          <a:bodyPr rtlCol="0" anchor="ctr"/>
          <a:lstStyle/>
          <a:p>
            <a:pPr algn="ctr"/>
            <a:endParaRPr/>
          </a:p>
        </p:txBody>
      </p:sp>
      <p:sp>
        <p:nvSpPr>
          <p:cNvPr id="7" name="!!T If Adrian couldn't work tomorrow…"/>
          <p:cNvSpPr txBox="1"/>
          <p:nvPr/>
        </p:nvSpPr>
        <p:spPr>
          <a:xfrm>
            <a:off x="457200" y="1125545"/>
            <a:ext cx="2913712"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If Adrian couldn't work tomorrow…</a:t>
            </a:r>
          </a:p>
        </p:txBody>
      </p:sp>
      <p:sp>
        <p:nvSpPr>
          <p:cNvPr id="8" name="!!T The household's money each month, agains"/>
          <p:cNvSpPr txBox="1"/>
          <p:nvPr/>
        </p:nvSpPr>
        <p:spPr>
          <a:xfrm>
            <a:off x="457200" y="1496973"/>
            <a:ext cx="4239351" cy="200025"/>
          </a:xfrm>
          <a:prstGeom prst="rect">
            <a:avLst/>
          </a:prstGeom>
          <a:noFill/>
        </p:spPr>
        <p:txBody>
          <a:bodyPr wrap="none" lIns="0" tIns="0" rIns="0" bIns="0" anchor="t">
            <a:noAutofit/>
          </a:bodyPr>
          <a:lstStyle/>
          <a:p>
            <a:pPr algn="l">
              <a:lnSpc>
                <a:spcPts val="1575"/>
              </a:lnSpc>
              <a:spcBef>
                <a:spcPts val="0"/>
              </a:spcBef>
              <a:spcAft>
                <a:spcPts val="0"/>
              </a:spcAft>
            </a:pPr>
            <a:r>
              <a:rPr sz="1125" b="0" i="0" kern="100">
                <a:solidFill>
                  <a:srgbClr val="80606A"/>
                </a:solidFill>
                <a:latin typeface="Plus Jakarta Sans"/>
              </a:rPr>
              <a:t>The household's money each month, against its bills (case)</a:t>
            </a:r>
          </a:p>
        </p:txBody>
      </p:sp>
      <p:sp>
        <p:nvSpPr>
          <p:cNvPr id="9" name="!!Rule c85e5f45"/>
          <p:cNvSpPr/>
          <p:nvPr/>
        </p:nvSpPr>
        <p:spPr>
          <a:xfrm>
            <a:off x="3962400" y="4074021"/>
            <a:ext cx="28575" cy="764679"/>
          </a:xfrm>
          <a:prstGeom prst="rect">
            <a:avLst/>
          </a:prstGeom>
          <a:solidFill>
            <a:srgbClr val="ECDADD"/>
          </a:solidFill>
          <a:ln>
            <a:noFill/>
          </a:ln>
        </p:spPr>
        <p:txBody>
          <a:bodyPr rtlCol="0" anchor="ctr"/>
          <a:lstStyle/>
          <a:p>
            <a:pPr algn="ctr"/>
            <a:endParaRPr/>
          </a:p>
        </p:txBody>
      </p:sp>
      <p:sp>
        <p:nvSpPr>
          <p:cNvPr id="10" name="!!T Why not more life cover?"/>
          <p:cNvSpPr txBox="1"/>
          <p:nvPr/>
        </p:nvSpPr>
        <p:spPr>
          <a:xfrm>
            <a:off x="4105275" y="4063067"/>
            <a:ext cx="1907218"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SemiBold"/>
              </a:rPr>
              <a:t>Why not more life cover?</a:t>
            </a:r>
          </a:p>
        </p:txBody>
      </p:sp>
      <p:sp>
        <p:nvSpPr>
          <p:cNvPr id="11" name="!!T His HK$2.0M whole-life policy pays only "/>
          <p:cNvSpPr txBox="1"/>
          <p:nvPr/>
        </p:nvSpPr>
        <p:spPr>
          <a:xfrm>
            <a:off x="4105275" y="4263188"/>
            <a:ext cx="1830863" cy="559951"/>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a:rPr>
              <a:t>His HK$2.0M whole-life</a:t>
            </a:r>
          </a:p>
          <a:p>
            <a:pPr algn="l">
              <a:lnSpc>
                <a:spcPts val="1470"/>
              </a:lnSpc>
              <a:spcBef>
                <a:spcPts val="0"/>
              </a:spcBef>
              <a:spcAft>
                <a:spcPts val="0"/>
              </a:spcAft>
            </a:pPr>
            <a:r>
              <a:rPr sz="1050" b="0" i="0" kern="100">
                <a:solidFill>
                  <a:srgbClr val="1B1716"/>
                </a:solidFill>
                <a:latin typeface="Plus Jakarta Sans"/>
              </a:rPr>
              <a:t>policy pays only if he dies,</a:t>
            </a:r>
          </a:p>
          <a:p>
            <a:pPr algn="l">
              <a:lnSpc>
                <a:spcPts val="1470"/>
              </a:lnSpc>
              <a:spcBef>
                <a:spcPts val="0"/>
              </a:spcBef>
              <a:spcAft>
                <a:spcPts val="0"/>
              </a:spcAft>
            </a:pPr>
            <a:r>
              <a:rPr sz="1050" b="0" i="0" kern="100">
                <a:solidFill>
                  <a:srgbClr val="1B1716"/>
                </a:solidFill>
                <a:latin typeface="Plus Jakarta Sans"/>
              </a:rPr>
              <a:t>not if he can't work (case).</a:t>
            </a:r>
          </a:p>
        </p:txBody>
      </p:sp>
      <p:sp>
        <p:nvSpPr>
          <p:cNvPr id="12" name="!!Rule 16cb8604"/>
          <p:cNvSpPr/>
          <p:nvPr/>
        </p:nvSpPr>
        <p:spPr>
          <a:xfrm>
            <a:off x="6324600" y="1419820"/>
            <a:ext cx="5410200" cy="9525"/>
          </a:xfrm>
          <a:prstGeom prst="rect">
            <a:avLst/>
          </a:prstGeom>
          <a:solidFill>
            <a:srgbClr val="1B1716"/>
          </a:solidFill>
          <a:ln>
            <a:noFill/>
          </a:ln>
        </p:spPr>
        <p:txBody>
          <a:bodyPr rtlCol="0" anchor="ctr"/>
          <a:lstStyle/>
          <a:p>
            <a:pPr algn="ctr"/>
            <a:endParaRPr/>
          </a:p>
        </p:txBody>
      </p:sp>
      <p:sp>
        <p:nvSpPr>
          <p:cNvPr id="13" name="!!T …so we insure the income first"/>
          <p:cNvSpPr txBox="1"/>
          <p:nvPr/>
        </p:nvSpPr>
        <p:spPr>
          <a:xfrm>
            <a:off x="6324600" y="1125545"/>
            <a:ext cx="2536987"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…so we insure the income first</a:t>
            </a:r>
          </a:p>
        </p:txBody>
      </p:sp>
      <p:sp>
        <p:nvSpPr>
          <p:cNvPr id="14" name="!!T HK$100K"/>
          <p:cNvSpPr txBox="1"/>
          <p:nvPr/>
        </p:nvSpPr>
        <p:spPr>
          <a:xfrm>
            <a:off x="6324600" y="1517356"/>
            <a:ext cx="2120191" cy="438150"/>
          </a:xfrm>
          <a:prstGeom prst="rect">
            <a:avLst/>
          </a:prstGeom>
          <a:noFill/>
        </p:spPr>
        <p:txBody>
          <a:bodyPr wrap="none" lIns="0" tIns="0" rIns="0" bIns="0" anchor="t">
            <a:noAutofit/>
          </a:bodyPr>
          <a:lstStyle/>
          <a:p>
            <a:pPr algn="l">
              <a:lnSpc>
                <a:spcPts val="3450"/>
              </a:lnSpc>
              <a:spcBef>
                <a:spcPts val="0"/>
              </a:spcBef>
              <a:spcAft>
                <a:spcPts val="0"/>
              </a:spcAft>
            </a:pPr>
            <a:r>
              <a:rPr sz="3450" b="1" i="0" kern="100" spc="-112">
                <a:solidFill>
                  <a:srgbClr val="C80E1E"/>
                </a:solidFill>
                <a:latin typeface="Plus Jakarta Sans"/>
              </a:rPr>
              <a:t>HK$100K</a:t>
            </a:r>
          </a:p>
        </p:txBody>
      </p:sp>
      <p:sp>
        <p:nvSpPr>
          <p:cNvPr id="15" name="!!T a year for four new covers, 14% of their"/>
          <p:cNvSpPr txBox="1"/>
          <p:nvPr/>
        </p:nvSpPr>
        <p:spPr>
          <a:xfrm>
            <a:off x="8369350" y="1555313"/>
            <a:ext cx="1964641" cy="385762"/>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1B1716"/>
                </a:solidFill>
                <a:latin typeface="Plus Jakarta Sans"/>
              </a:rPr>
              <a:t>a year for four new covers,</a:t>
            </a:r>
          </a:p>
          <a:p>
            <a:pPr algn="l">
              <a:lnSpc>
                <a:spcPts val="1518"/>
              </a:lnSpc>
              <a:spcBef>
                <a:spcPts val="0"/>
              </a:spcBef>
              <a:spcAft>
                <a:spcPts val="0"/>
              </a:spcAft>
            </a:pPr>
            <a:r>
              <a:rPr sz="1125" b="0" i="0" kern="100">
                <a:solidFill>
                  <a:srgbClr val="1B1716"/>
                </a:solidFill>
                <a:latin typeface="Plus Jakarta Sans"/>
              </a:rPr>
              <a:t>14% of their surplus</a:t>
            </a:r>
          </a:p>
        </p:txBody>
      </p:sp>
      <p:pic>
        <p:nvPicPr>
          <p:cNvPr id="16" name="!!Drawing fcca67e8"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24600" y="2153245"/>
            <a:ext cx="190500" cy="190500"/>
          </a:xfrm>
          <a:prstGeom prst="rect">
            <a:avLst/>
          </a:prstGeom>
        </p:spPr>
      </p:pic>
      <p:sp>
        <p:nvSpPr>
          <p:cNvPr id="17" name="!!T Disability"/>
          <p:cNvSpPr txBox="1"/>
          <p:nvPr/>
        </p:nvSpPr>
        <p:spPr>
          <a:xfrm>
            <a:off x="6591300" y="2143149"/>
            <a:ext cx="833991"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Disability</a:t>
            </a:r>
          </a:p>
        </p:txBody>
      </p:sp>
      <p:sp>
        <p:nvSpPr>
          <p:cNvPr id="18" name="!!T 65% of pay, to retirement"/>
          <p:cNvSpPr txBox="1"/>
          <p:nvPr/>
        </p:nvSpPr>
        <p:spPr>
          <a:xfrm>
            <a:off x="7346454" y="2160484"/>
            <a:ext cx="1800731"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65% of pay, to retirement</a:t>
            </a:r>
          </a:p>
        </p:txBody>
      </p:sp>
      <p:sp>
        <p:nvSpPr>
          <p:cNvPr id="19" name="!!T HK$37K"/>
          <p:cNvSpPr txBox="1"/>
          <p:nvPr/>
        </p:nvSpPr>
        <p:spPr>
          <a:xfrm>
            <a:off x="11103471" y="2148292"/>
            <a:ext cx="783509" cy="161925"/>
          </a:xfrm>
          <a:prstGeom prst="rect">
            <a:avLst/>
          </a:prstGeom>
          <a:noFill/>
        </p:spPr>
        <p:txBody>
          <a:bodyPr wrap="none" lIns="0" tIns="0" rIns="0" bIns="0" anchor="t">
            <a:noAutofit/>
          </a:bodyPr>
          <a:lstStyle/>
          <a:p>
            <a:pPr algn="l">
              <a:lnSpc>
                <a:spcPts val="1275"/>
              </a:lnSpc>
              <a:spcBef>
                <a:spcPts val="0"/>
              </a:spcBef>
              <a:spcAft>
                <a:spcPts val="0"/>
              </a:spcAft>
            </a:pPr>
            <a:r>
              <a:rPr sz="1275" b="1" i="0" kern="100">
                <a:solidFill>
                  <a:srgbClr val="1B1716"/>
                </a:solidFill>
                <a:latin typeface="Plus Jakarta Sans"/>
              </a:rPr>
              <a:t>HK$37K</a:t>
            </a:r>
          </a:p>
        </p:txBody>
      </p:sp>
      <p:sp>
        <p:nvSpPr>
          <p:cNvPr id="20" name="!!div 01249f82"/>
          <p:cNvSpPr/>
          <p:nvPr/>
        </p:nvSpPr>
        <p:spPr>
          <a:xfrm rot="5400000">
            <a:off x="8972550" y="-247055"/>
            <a:ext cx="114300" cy="5410200"/>
          </a:xfrm>
          <a:prstGeom prst="round2SameRect">
            <a:avLst>
              <a:gd name="adj1" fmla="val 50000"/>
              <a:gd name="adj2" fmla="val 0"/>
            </a:avLst>
          </a:prstGeom>
          <a:solidFill>
            <a:srgbClr val="F8EFF0"/>
          </a:solidFill>
          <a:ln>
            <a:noFill/>
          </a:ln>
        </p:spPr>
        <p:txBody>
          <a:bodyPr rtlCol="0" anchor="ctr"/>
          <a:lstStyle/>
          <a:p>
            <a:pPr algn="ctr"/>
            <a:endParaRPr/>
          </a:p>
        </p:txBody>
      </p:sp>
      <p:sp>
        <p:nvSpPr>
          <p:cNvPr id="21" name="!!i 44ec0c80"/>
          <p:cNvSpPr/>
          <p:nvPr/>
        </p:nvSpPr>
        <p:spPr>
          <a:xfrm rot="5400000">
            <a:off x="8701980" y="23515"/>
            <a:ext cx="114300" cy="4869061"/>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pic>
        <p:nvPicPr>
          <p:cNvPr id="22" name="!!Drawing cd5d0bb6"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24600" y="2667595"/>
            <a:ext cx="190500" cy="190500"/>
          </a:xfrm>
          <a:prstGeom prst="rect">
            <a:avLst/>
          </a:prstGeom>
        </p:spPr>
      </p:pic>
      <p:sp>
        <p:nvSpPr>
          <p:cNvPr id="23" name="!!T Critical illness"/>
          <p:cNvSpPr txBox="1"/>
          <p:nvPr/>
        </p:nvSpPr>
        <p:spPr>
          <a:xfrm>
            <a:off x="6591300" y="2657499"/>
            <a:ext cx="1179165"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Critical illness</a:t>
            </a:r>
          </a:p>
        </p:txBody>
      </p:sp>
      <p:sp>
        <p:nvSpPr>
          <p:cNvPr id="24" name="!!T HK$1.5M each"/>
          <p:cNvSpPr txBox="1"/>
          <p:nvPr/>
        </p:nvSpPr>
        <p:spPr>
          <a:xfrm>
            <a:off x="7672090" y="2674834"/>
            <a:ext cx="1055010"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HK$1.5M each</a:t>
            </a:r>
          </a:p>
        </p:txBody>
      </p:sp>
      <p:sp>
        <p:nvSpPr>
          <p:cNvPr id="25" name="!!T HK$41K"/>
          <p:cNvSpPr txBox="1"/>
          <p:nvPr/>
        </p:nvSpPr>
        <p:spPr>
          <a:xfrm>
            <a:off x="11121777" y="2662642"/>
            <a:ext cx="764104" cy="161925"/>
          </a:xfrm>
          <a:prstGeom prst="rect">
            <a:avLst/>
          </a:prstGeom>
          <a:noFill/>
        </p:spPr>
        <p:txBody>
          <a:bodyPr wrap="none" lIns="0" tIns="0" rIns="0" bIns="0" anchor="t">
            <a:noAutofit/>
          </a:bodyPr>
          <a:lstStyle/>
          <a:p>
            <a:pPr algn="l">
              <a:lnSpc>
                <a:spcPts val="1275"/>
              </a:lnSpc>
              <a:spcBef>
                <a:spcPts val="0"/>
              </a:spcBef>
              <a:spcAft>
                <a:spcPts val="0"/>
              </a:spcAft>
            </a:pPr>
            <a:r>
              <a:rPr sz="1275" b="1" i="0" kern="100">
                <a:solidFill>
                  <a:srgbClr val="1B1716"/>
                </a:solidFill>
                <a:latin typeface="Plus Jakarta Sans"/>
              </a:rPr>
              <a:t>HK$41K</a:t>
            </a:r>
          </a:p>
        </p:txBody>
      </p:sp>
      <p:sp>
        <p:nvSpPr>
          <p:cNvPr id="26" name="!!div 791b9660"/>
          <p:cNvSpPr/>
          <p:nvPr/>
        </p:nvSpPr>
        <p:spPr>
          <a:xfrm rot="5400000">
            <a:off x="8972550" y="267295"/>
            <a:ext cx="114300" cy="5410200"/>
          </a:xfrm>
          <a:prstGeom prst="round2SameRect">
            <a:avLst>
              <a:gd name="adj1" fmla="val 50000"/>
              <a:gd name="adj2" fmla="val 0"/>
            </a:avLst>
          </a:prstGeom>
          <a:solidFill>
            <a:srgbClr val="F8EFF0"/>
          </a:solidFill>
          <a:ln>
            <a:noFill/>
          </a:ln>
        </p:spPr>
        <p:txBody>
          <a:bodyPr rtlCol="0" anchor="ctr"/>
          <a:lstStyle/>
          <a:p>
            <a:pPr algn="ctr"/>
            <a:endParaRPr/>
          </a:p>
        </p:txBody>
      </p:sp>
      <p:sp>
        <p:nvSpPr>
          <p:cNvPr id="27" name="!!i 8aa10e2c"/>
          <p:cNvSpPr/>
          <p:nvPr/>
        </p:nvSpPr>
        <p:spPr>
          <a:xfrm rot="5400000">
            <a:off x="8972550" y="267295"/>
            <a:ext cx="114300" cy="5410200"/>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pic>
        <p:nvPicPr>
          <p:cNvPr id="28" name="!!Drawing 7f659e60" descr="imag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24600" y="3181945"/>
            <a:ext cx="190500" cy="190500"/>
          </a:xfrm>
          <a:prstGeom prst="rect">
            <a:avLst/>
          </a:prstGeom>
        </p:spPr>
      </p:pic>
      <p:sp>
        <p:nvSpPr>
          <p:cNvPr id="29" name="!!T Medical of their own"/>
          <p:cNvSpPr txBox="1"/>
          <p:nvPr/>
        </p:nvSpPr>
        <p:spPr>
          <a:xfrm>
            <a:off x="6591300" y="3171849"/>
            <a:ext cx="1679100"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Medical of their own</a:t>
            </a:r>
          </a:p>
        </p:txBody>
      </p:sp>
      <p:sp>
        <p:nvSpPr>
          <p:cNvPr id="30" name="!!T before group cover ends"/>
          <p:cNvSpPr txBox="1"/>
          <p:nvPr/>
        </p:nvSpPr>
        <p:spPr>
          <a:xfrm>
            <a:off x="8143726" y="3189184"/>
            <a:ext cx="1772019"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before group cover ends</a:t>
            </a:r>
          </a:p>
        </p:txBody>
      </p:sp>
      <p:sp>
        <p:nvSpPr>
          <p:cNvPr id="31" name="!!T HK$15K"/>
          <p:cNvSpPr txBox="1"/>
          <p:nvPr/>
        </p:nvSpPr>
        <p:spPr>
          <a:xfrm>
            <a:off x="11128177" y="3176992"/>
            <a:ext cx="757321" cy="161925"/>
          </a:xfrm>
          <a:prstGeom prst="rect">
            <a:avLst/>
          </a:prstGeom>
          <a:noFill/>
        </p:spPr>
        <p:txBody>
          <a:bodyPr wrap="none" lIns="0" tIns="0" rIns="0" bIns="0" anchor="t">
            <a:noAutofit/>
          </a:bodyPr>
          <a:lstStyle/>
          <a:p>
            <a:pPr algn="l">
              <a:lnSpc>
                <a:spcPts val="1275"/>
              </a:lnSpc>
              <a:spcBef>
                <a:spcPts val="0"/>
              </a:spcBef>
              <a:spcAft>
                <a:spcPts val="0"/>
              </a:spcAft>
            </a:pPr>
            <a:r>
              <a:rPr sz="1275" b="1" i="0" kern="100">
                <a:solidFill>
                  <a:srgbClr val="1B1716"/>
                </a:solidFill>
                <a:latin typeface="Plus Jakarta Sans"/>
              </a:rPr>
              <a:t>HK$15K</a:t>
            </a:r>
          </a:p>
        </p:txBody>
      </p:sp>
      <p:sp>
        <p:nvSpPr>
          <p:cNvPr id="32" name="!!div 95ce908c"/>
          <p:cNvSpPr/>
          <p:nvPr/>
        </p:nvSpPr>
        <p:spPr>
          <a:xfrm rot="5400000">
            <a:off x="8972550" y="781645"/>
            <a:ext cx="114300" cy="5410200"/>
          </a:xfrm>
          <a:prstGeom prst="round2SameRect">
            <a:avLst>
              <a:gd name="adj1" fmla="val 50000"/>
              <a:gd name="adj2" fmla="val 0"/>
            </a:avLst>
          </a:prstGeom>
          <a:solidFill>
            <a:srgbClr val="F8EFF0"/>
          </a:solidFill>
          <a:ln>
            <a:noFill/>
          </a:ln>
        </p:spPr>
        <p:txBody>
          <a:bodyPr rtlCol="0" anchor="ctr"/>
          <a:lstStyle/>
          <a:p>
            <a:pPr algn="ctr"/>
            <a:endParaRPr/>
          </a:p>
        </p:txBody>
      </p:sp>
      <p:sp>
        <p:nvSpPr>
          <p:cNvPr id="33" name="!!i 128e5ccd"/>
          <p:cNvSpPr/>
          <p:nvPr/>
        </p:nvSpPr>
        <p:spPr>
          <a:xfrm rot="5400000">
            <a:off x="7268319" y="2485876"/>
            <a:ext cx="114300" cy="2001738"/>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pic>
        <p:nvPicPr>
          <p:cNvPr id="34" name="!!Drawing 32c15cc9" descr="imag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24600" y="3696295"/>
            <a:ext cx="190500" cy="190500"/>
          </a:xfrm>
          <a:prstGeom prst="rect">
            <a:avLst/>
          </a:prstGeom>
        </p:spPr>
      </p:pic>
      <p:sp>
        <p:nvSpPr>
          <p:cNvPr id="35" name="!!T Term-life top-up"/>
          <p:cNvSpPr txBox="1"/>
          <p:nvPr/>
        </p:nvSpPr>
        <p:spPr>
          <a:xfrm>
            <a:off x="6591300" y="3686199"/>
            <a:ext cx="1426372"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Term-life top-up</a:t>
            </a:r>
          </a:p>
        </p:txBody>
      </p:sp>
      <p:sp>
        <p:nvSpPr>
          <p:cNvPr id="36" name="!!T to 65 and 62"/>
          <p:cNvSpPr txBox="1"/>
          <p:nvPr/>
        </p:nvSpPr>
        <p:spPr>
          <a:xfrm>
            <a:off x="7905304" y="3703534"/>
            <a:ext cx="927857"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to 65 and 62</a:t>
            </a:r>
          </a:p>
        </p:txBody>
      </p:sp>
      <p:sp>
        <p:nvSpPr>
          <p:cNvPr id="37" name="!!T HK$7K"/>
          <p:cNvSpPr txBox="1"/>
          <p:nvPr/>
        </p:nvSpPr>
        <p:spPr>
          <a:xfrm>
            <a:off x="11202442" y="3691342"/>
            <a:ext cx="678600" cy="161925"/>
          </a:xfrm>
          <a:prstGeom prst="rect">
            <a:avLst/>
          </a:prstGeom>
          <a:noFill/>
        </p:spPr>
        <p:txBody>
          <a:bodyPr wrap="none" lIns="0" tIns="0" rIns="0" bIns="0" anchor="t">
            <a:noAutofit/>
          </a:bodyPr>
          <a:lstStyle/>
          <a:p>
            <a:pPr algn="l">
              <a:lnSpc>
                <a:spcPts val="1275"/>
              </a:lnSpc>
              <a:spcBef>
                <a:spcPts val="0"/>
              </a:spcBef>
              <a:spcAft>
                <a:spcPts val="0"/>
              </a:spcAft>
            </a:pPr>
            <a:r>
              <a:rPr sz="1275" b="1" i="0" kern="100">
                <a:solidFill>
                  <a:srgbClr val="1B1716"/>
                </a:solidFill>
                <a:latin typeface="Plus Jakarta Sans"/>
              </a:rPr>
              <a:t>HK$7K</a:t>
            </a:r>
          </a:p>
        </p:txBody>
      </p:sp>
      <p:sp>
        <p:nvSpPr>
          <p:cNvPr id="38" name="!!div da278d09"/>
          <p:cNvSpPr/>
          <p:nvPr/>
        </p:nvSpPr>
        <p:spPr>
          <a:xfrm rot="5400000">
            <a:off x="8972550" y="1295995"/>
            <a:ext cx="114300" cy="5410200"/>
          </a:xfrm>
          <a:prstGeom prst="round2SameRect">
            <a:avLst>
              <a:gd name="adj1" fmla="val 50000"/>
              <a:gd name="adj2" fmla="val 0"/>
            </a:avLst>
          </a:prstGeom>
          <a:solidFill>
            <a:srgbClr val="F8EFF0"/>
          </a:solidFill>
          <a:ln>
            <a:noFill/>
          </a:ln>
        </p:spPr>
        <p:txBody>
          <a:bodyPr rtlCol="0" anchor="ctr"/>
          <a:lstStyle/>
          <a:p>
            <a:pPr algn="ctr"/>
            <a:endParaRPr/>
          </a:p>
        </p:txBody>
      </p:sp>
      <p:sp>
        <p:nvSpPr>
          <p:cNvPr id="39" name="!!i b6d0b23b"/>
          <p:cNvSpPr/>
          <p:nvPr/>
        </p:nvSpPr>
        <p:spPr>
          <a:xfrm rot="5400000">
            <a:off x="6727254" y="3541291"/>
            <a:ext cx="114300" cy="919609"/>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40" name="!!p 0104df3e"/>
          <p:cNvSpPr/>
          <p:nvPr/>
        </p:nvSpPr>
        <p:spPr>
          <a:xfrm>
            <a:off x="6324600" y="4229695"/>
            <a:ext cx="5410200" cy="590550"/>
          </a:xfrm>
          <a:prstGeom prst="rect">
            <a:avLst/>
          </a:prstGeom>
          <a:solidFill>
            <a:srgbClr val="F8EFF0"/>
          </a:solidFill>
          <a:ln>
            <a:noFill/>
          </a:ln>
        </p:spPr>
        <p:txBody>
          <a:bodyPr rtlCol="0" anchor="ctr"/>
          <a:lstStyle/>
          <a:p>
            <a:pPr algn="ctr"/>
            <a:endParaRPr/>
          </a:p>
        </p:txBody>
      </p:sp>
      <p:sp>
        <p:nvSpPr>
          <p:cNvPr id="41" name="!!T The price: term cover lapses at 65 and 6"/>
          <p:cNvSpPr txBox="1"/>
          <p:nvPr/>
        </p:nvSpPr>
        <p:spPr>
          <a:xfrm>
            <a:off x="6457950" y="4316373"/>
            <a:ext cx="5373314" cy="400050"/>
          </a:xfrm>
          <a:prstGeom prst="rect">
            <a:avLst/>
          </a:prstGeom>
          <a:noFill/>
        </p:spPr>
        <p:txBody>
          <a:bodyPr wrap="none" lIns="0" tIns="0" rIns="0" bIns="0" anchor="t">
            <a:noAutofit/>
          </a:bodyPr>
          <a:lstStyle/>
          <a:p>
            <a:pPr algn="l">
              <a:lnSpc>
                <a:spcPts val="1575"/>
              </a:lnSpc>
              <a:spcBef>
                <a:spcPts val="0"/>
              </a:spcBef>
              <a:spcAft>
                <a:spcPts val="0"/>
              </a:spcAft>
            </a:pPr>
            <a:r>
              <a:rPr sz="1125" b="1" i="0" kern="100">
                <a:solidFill>
                  <a:srgbClr val="1B1716"/>
                </a:solidFill>
                <a:latin typeface="Plus Jakarta Sans"/>
              </a:rPr>
              <a:t>The price:</a:t>
            </a:r>
            <a:r>
              <a:rPr sz="1125" b="0" i="0" kern="100">
                <a:solidFill>
                  <a:srgbClr val="1B1716"/>
                </a:solidFill>
                <a:latin typeface="Plus Jakarta Sans"/>
              </a:rPr>
              <a:t> term cover lapses at 65 and 62; after that, their own policies and</a:t>
            </a:r>
          </a:p>
          <a:p>
            <a:pPr algn="l">
              <a:lnSpc>
                <a:spcPts val="1575"/>
              </a:lnSpc>
              <a:spcBef>
                <a:spcPts val="0"/>
              </a:spcBef>
              <a:spcAft>
                <a:spcPts val="0"/>
              </a:spcAft>
            </a:pPr>
            <a:r>
              <a:rPr sz="1125" b="0" i="0" kern="100">
                <a:solidFill>
                  <a:srgbClr val="1B1716"/>
                </a:solidFill>
                <a:latin typeface="Plus Jakarta Sans"/>
              </a:rPr>
              <a:t>savings carry the risk.</a:t>
            </a:r>
          </a:p>
        </p:txBody>
      </p:sp>
      <p:sp>
        <p:nvSpPr>
          <p:cNvPr id="42" name="!!Rule 597dee39"/>
          <p:cNvSpPr/>
          <p:nvPr/>
        </p:nvSpPr>
        <p:spPr>
          <a:xfrm>
            <a:off x="6324600" y="5176838"/>
            <a:ext cx="5410200" cy="9525"/>
          </a:xfrm>
          <a:prstGeom prst="rect">
            <a:avLst/>
          </a:prstGeom>
          <a:solidFill>
            <a:srgbClr val="ECDADD"/>
          </a:solidFill>
          <a:ln>
            <a:noFill/>
          </a:ln>
        </p:spPr>
        <p:txBody>
          <a:bodyPr rtlCol="0" anchor="ctr"/>
          <a:lstStyle/>
          <a:p>
            <a:pPr algn="ctr"/>
            <a:endParaRPr/>
          </a:p>
        </p:txBody>
      </p:sp>
      <p:sp>
        <p:nvSpPr>
          <p:cNvPr id="43" name="!!T And within three months, under HK$25K: w"/>
          <p:cNvSpPr txBox="1"/>
          <p:nvPr/>
        </p:nvSpPr>
        <p:spPr>
          <a:xfrm>
            <a:off x="6324600" y="5288518"/>
            <a:ext cx="5709496" cy="414338"/>
          </a:xfrm>
          <a:prstGeom prst="rect">
            <a:avLst/>
          </a:prstGeom>
          <a:noFill/>
        </p:spPr>
        <p:txBody>
          <a:bodyPr wrap="none" lIns="0" tIns="0" rIns="0" bIns="0" anchor="t">
            <a:noAutofit/>
          </a:bodyPr>
          <a:lstStyle/>
          <a:p>
            <a:pPr algn="l">
              <a:lnSpc>
                <a:spcPts val="1631"/>
              </a:lnSpc>
              <a:spcBef>
                <a:spcPts val="0"/>
              </a:spcBef>
              <a:spcAft>
                <a:spcPts val="0"/>
              </a:spcAft>
            </a:pPr>
            <a:r>
              <a:rPr sz="1125" b="1" i="0" kern="100">
                <a:solidFill>
                  <a:srgbClr val="1B1716"/>
                </a:solidFill>
                <a:latin typeface="Plus Jakarta Sans"/>
              </a:rPr>
              <a:t>And within three months, under HK$25K:</a:t>
            </a:r>
            <a:r>
              <a:rPr sz="1125" b="0" i="0" kern="100">
                <a:solidFill>
                  <a:srgbClr val="1B1716"/>
                </a:solidFill>
                <a:latin typeface="Plus Jakarta Sans"/>
              </a:rPr>
              <a:t> wills, a guardian for Chloe, powers of</a:t>
            </a:r>
          </a:p>
          <a:p>
            <a:pPr algn="l">
              <a:lnSpc>
                <a:spcPts val="1631"/>
              </a:lnSpc>
              <a:spcBef>
                <a:spcPts val="0"/>
              </a:spcBef>
              <a:spcAft>
                <a:spcPts val="0"/>
              </a:spcAft>
            </a:pPr>
            <a:r>
              <a:rPr sz="1125" b="0" i="0" kern="100">
                <a:solidFill>
                  <a:srgbClr val="1B1716"/>
                </a:solidFill>
                <a:latin typeface="Plus Jakarta Sans"/>
              </a:rPr>
              <a:t>attorney, a buy-sell agreement</a:t>
            </a:r>
          </a:p>
        </p:txBody>
      </p:sp>
      <p:sp>
        <p:nvSpPr>
          <p:cNvPr id="44"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45" name="!!T Protected first: now the plan can turn w"/>
          <p:cNvSpPr txBox="1"/>
          <p:nvPr/>
        </p:nvSpPr>
        <p:spPr>
          <a:xfrm>
            <a:off x="2899316" y="5984558"/>
            <a:ext cx="6393219"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Protected first: now the plan can turn what they own into income.</a:t>
            </a:r>
          </a:p>
        </p:txBody>
      </p:sp>
      <p:sp>
        <p:nvSpPr>
          <p:cNvPr id="46" name="!!T Year-1 premiums from 2026 rate cards and"/>
          <p:cNvSpPr txBox="1"/>
          <p:nvPr/>
        </p:nvSpPr>
        <p:spPr>
          <a:xfrm>
            <a:off x="457200" y="6452104"/>
            <a:ext cx="6214479"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Year-1 premiums from 2026 rate cards and the market range for disability cover; quotes to follow (estimated</a:t>
            </a:r>
          </a:p>
          <a:p>
            <a:pPr algn="l">
              <a:lnSpc>
                <a:spcPts val="1170"/>
              </a:lnSpc>
              <a:spcBef>
                <a:spcPts val="0"/>
              </a:spcBef>
              <a:spcAft>
                <a:spcPts val="0"/>
              </a:spcAft>
            </a:pPr>
            <a:r>
              <a:rPr sz="900" b="0" i="0" kern="100">
                <a:solidFill>
                  <a:srgbClr val="80606A"/>
                </a:solidFill>
                <a:latin typeface="Plus Jakarta Sans"/>
              </a:rPr>
              <a:t>from market range and rate cards). Surplus: HK$718K a year after tax and MPF (written case §2).</a:t>
            </a:r>
          </a:p>
        </p:txBody>
      </p:sp>
      <p:sp>
        <p:nvSpPr>
          <p:cNvPr id="47" name="!!T The problem"/>
          <p:cNvSpPr txBox="1"/>
          <p:nvPr/>
        </p:nvSpPr>
        <p:spPr>
          <a:xfrm>
            <a:off x="6673900"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48" name="!!T The answer"/>
          <p:cNvSpPr txBox="1"/>
          <p:nvPr/>
        </p:nvSpPr>
        <p:spPr>
          <a:xfrm>
            <a:off x="7620149"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49" name="!!T The five calls"/>
          <p:cNvSpPr txBox="1"/>
          <p:nvPr/>
        </p:nvSpPr>
        <p:spPr>
          <a:xfrm>
            <a:off x="8480375" y="6536246"/>
            <a:ext cx="905140"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five calls</a:t>
            </a:r>
          </a:p>
        </p:txBody>
      </p:sp>
      <p:sp>
        <p:nvSpPr>
          <p:cNvPr id="50" name="!!T Will it hold"/>
          <p:cNvSpPr txBox="1"/>
          <p:nvPr/>
        </p:nvSpPr>
        <p:spPr>
          <a:xfrm>
            <a:off x="9436001"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51" name="!!T What next"/>
          <p:cNvSpPr txBox="1"/>
          <p:nvPr/>
        </p:nvSpPr>
        <p:spPr>
          <a:xfrm>
            <a:off x="10234017"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52" name="!!T Us"/>
          <p:cNvSpPr txBox="1"/>
          <p:nvPr/>
        </p:nvSpPr>
        <p:spPr>
          <a:xfrm>
            <a:off x="11029355"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53" name="!!T 5 / 15"/>
          <p:cNvSpPr txBox="1"/>
          <p:nvPr/>
        </p:nvSpPr>
        <p:spPr>
          <a:xfrm>
            <a:off x="11407676" y="6535674"/>
            <a:ext cx="461052"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5 / 15</a:t>
            </a:r>
          </a:p>
        </p:txBody>
      </p:sp>
      <p:sp>
        <p:nvSpPr>
          <p:cNvPr id="54" name="!!i b93e70e6"/>
          <p:cNvSpPr/>
          <p:nvPr/>
        </p:nvSpPr>
        <p:spPr>
          <a:xfrm>
            <a:off x="495300" y="3484364"/>
            <a:ext cx="1562100" cy="523875"/>
          </a:xfrm>
          <a:prstGeom prst="round2SameRect">
            <a:avLst>
              <a:gd name="adj1" fmla="val 10909"/>
              <a:gd name="adj2" fmla="val 0"/>
            </a:avLst>
          </a:prstGeom>
          <a:solidFill>
            <a:srgbClr val="FFFFFF"/>
          </a:solidFill>
          <a:ln>
            <a:noFill/>
          </a:ln>
        </p:spPr>
        <p:txBody>
          <a:bodyPr rtlCol="0" anchor="ctr"/>
          <a:lstStyle/>
          <a:p>
            <a:pPr algn="ctr"/>
            <a:endParaRPr/>
          </a:p>
        </p:txBody>
      </p:sp>
      <p:cxnSp>
        <p:nvCxnSpPr>
          <p:cNvPr id="55" name="!!Rule ede3e6c2"/>
          <p:cNvCxnSpPr/>
          <p:nvPr/>
        </p:nvCxnSpPr>
        <p:spPr>
          <a:xfrm>
            <a:off x="495300" y="3493889"/>
            <a:ext cx="1562100" cy="0"/>
          </a:xfrm>
          <a:prstGeom prst="line">
            <a:avLst/>
          </a:prstGeom>
          <a:ln w="19050">
            <a:solidFill>
              <a:srgbClr val="C80E1E"/>
            </a:solidFill>
            <a:prstDash val="dash"/>
          </a:ln>
        </p:spPr>
        <p:style>
          <a:lnRef idx="2">
            <a:schemeClr val="accent1"/>
          </a:lnRef>
          <a:fillRef idx="0">
            <a:schemeClr val="accent1"/>
          </a:fillRef>
          <a:effectRef idx="1">
            <a:schemeClr val="accent1"/>
          </a:effectRef>
          <a:fontRef idx="minor">
            <a:schemeClr val="tx1"/>
          </a:fontRef>
        </p:style>
      </p:cxnSp>
      <p:cxnSp>
        <p:nvCxnSpPr>
          <p:cNvPr id="56" name="!!Rule a75b2edc"/>
          <p:cNvCxnSpPr/>
          <p:nvPr/>
        </p:nvCxnSpPr>
        <p:spPr>
          <a:xfrm>
            <a:off x="2047875" y="3484364"/>
            <a:ext cx="0" cy="523875"/>
          </a:xfrm>
          <a:prstGeom prst="line">
            <a:avLst/>
          </a:prstGeom>
          <a:ln w="19050">
            <a:solidFill>
              <a:srgbClr val="C80E1E"/>
            </a:solidFill>
            <a:prstDash val="dash"/>
          </a:ln>
        </p:spPr>
        <p:style>
          <a:lnRef idx="2">
            <a:schemeClr val="accent1"/>
          </a:lnRef>
          <a:fillRef idx="0">
            <a:schemeClr val="accent1"/>
          </a:fillRef>
          <a:effectRef idx="1">
            <a:schemeClr val="accent1"/>
          </a:effectRef>
          <a:fontRef idx="minor">
            <a:schemeClr val="tx1"/>
          </a:fontRef>
        </p:style>
      </p:cxnSp>
      <p:cxnSp>
        <p:nvCxnSpPr>
          <p:cNvPr id="57" name="!!Rule 6f3a42d9"/>
          <p:cNvCxnSpPr/>
          <p:nvPr/>
        </p:nvCxnSpPr>
        <p:spPr>
          <a:xfrm>
            <a:off x="504825" y="3484364"/>
            <a:ext cx="0" cy="523875"/>
          </a:xfrm>
          <a:prstGeom prst="line">
            <a:avLst/>
          </a:prstGeom>
          <a:ln w="19050">
            <a:solidFill>
              <a:srgbClr val="C80E1E"/>
            </a:solidFill>
            <a:prstDash val="dash"/>
          </a:ln>
        </p:spPr>
        <p:style>
          <a:lnRef idx="2">
            <a:schemeClr val="accent1"/>
          </a:lnRef>
          <a:fillRef idx="0">
            <a:schemeClr val="accent1"/>
          </a:fillRef>
          <a:effectRef idx="1">
            <a:schemeClr val="accent1"/>
          </a:effectRef>
          <a:fontRef idx="minor">
            <a:schemeClr val="tx1"/>
          </a:fontRef>
        </p:style>
      </p:cxnSp>
      <p:sp>
        <p:nvSpPr>
          <p:cNvPr id="58" name="!!T HK$22K short"/>
          <p:cNvSpPr txBox="1"/>
          <p:nvPr/>
        </p:nvSpPr>
        <p:spPr>
          <a:xfrm>
            <a:off x="546525" y="3538716"/>
            <a:ext cx="1459501" cy="228600"/>
          </a:xfrm>
          <a:prstGeom prst="rect">
            <a:avLst/>
          </a:prstGeom>
          <a:noFill/>
        </p:spPr>
        <p:txBody>
          <a:bodyPr wrap="none" lIns="0" tIns="0" rIns="0" bIns="0" anchor="t">
            <a:noAutofit/>
          </a:bodyPr>
          <a:lstStyle/>
          <a:p>
            <a:pPr algn="ctr">
              <a:lnSpc>
                <a:spcPts val="1800"/>
              </a:lnSpc>
              <a:spcBef>
                <a:spcPts val="0"/>
              </a:spcBef>
              <a:spcAft>
                <a:spcPts val="0"/>
              </a:spcAft>
            </a:pPr>
            <a:r>
              <a:rPr sz="1500" b="1" i="0" kern="100">
                <a:solidFill>
                  <a:srgbClr val="C80E1E"/>
                </a:solidFill>
                <a:latin typeface="Plus Jakarta Sans"/>
              </a:rPr>
              <a:t>HK$22K short</a:t>
            </a:r>
          </a:p>
        </p:txBody>
      </p:sp>
      <p:sp>
        <p:nvSpPr>
          <p:cNvPr id="59" name="!!T every month"/>
          <p:cNvSpPr txBox="1"/>
          <p:nvPr/>
        </p:nvSpPr>
        <p:spPr>
          <a:xfrm>
            <a:off x="804306" y="3774555"/>
            <a:ext cx="943791" cy="173355"/>
          </a:xfrm>
          <a:prstGeom prst="rect">
            <a:avLst/>
          </a:prstGeom>
          <a:noFill/>
        </p:spPr>
        <p:txBody>
          <a:bodyPr wrap="none" lIns="0" tIns="0" rIns="0" bIns="0" anchor="t">
            <a:noAutofit/>
          </a:bodyPr>
          <a:lstStyle/>
          <a:p>
            <a:pPr algn="ctr">
              <a:lnSpc>
                <a:spcPts val="1364"/>
              </a:lnSpc>
              <a:spcBef>
                <a:spcPts val="0"/>
              </a:spcBef>
              <a:spcAft>
                <a:spcPts val="0"/>
              </a:spcAft>
            </a:pPr>
            <a:r>
              <a:rPr sz="1050" b="0" i="0" kern="100">
                <a:solidFill>
                  <a:srgbClr val="C80E1E"/>
                </a:solidFill>
                <a:latin typeface="Plus Jakarta Sans"/>
              </a:rPr>
              <a:t>every month</a:t>
            </a:r>
          </a:p>
        </p:txBody>
      </p:sp>
      <p:sp>
        <p:nvSpPr>
          <p:cNvPr id="60" name="!!i da042ed0"/>
          <p:cNvSpPr/>
          <p:nvPr/>
        </p:nvSpPr>
        <p:spPr>
          <a:xfrm>
            <a:off x="495300" y="4008239"/>
            <a:ext cx="1562100" cy="1428750"/>
          </a:xfrm>
          <a:prstGeom prst="rect">
            <a:avLst/>
          </a:prstGeom>
          <a:gradFill rotWithShape="0">
            <a:gsLst>
              <a:gs pos="0">
                <a:srgbClr val="F3E2E4"/>
              </a:gs>
              <a:gs pos="100000">
                <a:srgbClr val="E7CCD1"/>
              </a:gs>
            </a:gsLst>
            <a:lin ang="0" scaled="0"/>
          </a:gradFill>
          <a:ln>
            <a:noFill/>
          </a:ln>
        </p:spPr>
        <p:txBody>
          <a:bodyPr rtlCol="0" anchor="ctr"/>
          <a:lstStyle/>
          <a:p>
            <a:pPr algn="ctr"/>
            <a:endParaRPr/>
          </a:p>
        </p:txBody>
      </p:sp>
      <p:sp>
        <p:nvSpPr>
          <p:cNvPr id="61" name="!!T Carmen's pay HK$60K"/>
          <p:cNvSpPr txBox="1"/>
          <p:nvPr/>
        </p:nvSpPr>
        <p:spPr>
          <a:xfrm>
            <a:off x="728735" y="4504492"/>
            <a:ext cx="1095080" cy="411956"/>
          </a:xfrm>
          <a:prstGeom prst="rect">
            <a:avLst/>
          </a:prstGeom>
          <a:noFill/>
        </p:spPr>
        <p:txBody>
          <a:bodyPr wrap="none" lIns="0" tIns="0" rIns="0" bIns="0" anchor="t">
            <a:noAutofit/>
          </a:bodyPr>
          <a:lstStyle/>
          <a:p>
            <a:pPr algn="ctr">
              <a:lnSpc>
                <a:spcPts val="1462"/>
              </a:lnSpc>
              <a:spcBef>
                <a:spcPts val="0"/>
              </a:spcBef>
              <a:spcAft>
                <a:spcPts val="0"/>
              </a:spcAft>
            </a:pPr>
            <a:r>
              <a:rPr sz="1125" b="0" i="0" kern="100">
                <a:solidFill>
                  <a:srgbClr val="1B1716"/>
                </a:solidFill>
                <a:latin typeface="Plus Jakarta Sans"/>
              </a:rPr>
              <a:t>Carmen's pay</a:t>
            </a:r>
          </a:p>
          <a:p>
            <a:pPr algn="ctr">
              <a:lnSpc>
                <a:spcPts val="1800"/>
              </a:lnSpc>
              <a:spcBef>
                <a:spcPts val="0"/>
              </a:spcBef>
              <a:spcAft>
                <a:spcPts val="0"/>
              </a:spcAft>
            </a:pPr>
            <a:r>
              <a:rPr sz="1500" b="1" i="0" kern="100">
                <a:solidFill>
                  <a:srgbClr val="1B1716"/>
                </a:solidFill>
                <a:latin typeface="Plus Jakarta Sans"/>
              </a:rPr>
              <a:t>HK$60K</a:t>
            </a:r>
          </a:p>
        </p:txBody>
      </p:sp>
      <p:sp>
        <p:nvSpPr>
          <p:cNvPr id="62" name="!!T Today"/>
          <p:cNvSpPr txBox="1"/>
          <p:nvPr/>
        </p:nvSpPr>
        <p:spPr>
          <a:xfrm>
            <a:off x="1052810" y="5522143"/>
            <a:ext cx="588047"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Today</a:t>
            </a:r>
          </a:p>
        </p:txBody>
      </p:sp>
      <p:sp>
        <p:nvSpPr>
          <p:cNvPr id="63" name="!!i 8cb27814"/>
          <p:cNvSpPr/>
          <p:nvPr/>
        </p:nvSpPr>
        <p:spPr>
          <a:xfrm>
            <a:off x="2305050" y="2465189"/>
            <a:ext cx="1562100" cy="1543050"/>
          </a:xfrm>
          <a:prstGeom prst="round2SameRect">
            <a:avLst>
              <a:gd name="adj1" fmla="val 3703"/>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64" name="!!T Adrian's cover HK$65K"/>
          <p:cNvSpPr txBox="1"/>
          <p:nvPr/>
        </p:nvSpPr>
        <p:spPr>
          <a:xfrm>
            <a:off x="2526023" y="2625685"/>
            <a:ext cx="1120006" cy="411956"/>
          </a:xfrm>
          <a:prstGeom prst="rect">
            <a:avLst/>
          </a:prstGeom>
          <a:noFill/>
        </p:spPr>
        <p:txBody>
          <a:bodyPr wrap="none" lIns="0" tIns="0" rIns="0" bIns="0" anchor="t">
            <a:noAutofit/>
          </a:bodyPr>
          <a:lstStyle/>
          <a:p>
            <a:pPr algn="ctr">
              <a:lnSpc>
                <a:spcPts val="1462"/>
              </a:lnSpc>
              <a:spcBef>
                <a:spcPts val="0"/>
              </a:spcBef>
              <a:spcAft>
                <a:spcPts val="0"/>
              </a:spcAft>
            </a:pPr>
            <a:r>
              <a:rPr sz="1125" b="0" i="0" kern="100">
                <a:solidFill>
                  <a:srgbClr val="FFFFFF"/>
                </a:solidFill>
                <a:latin typeface="Plus Jakarta Sans"/>
              </a:rPr>
              <a:t>Adrian's cover</a:t>
            </a:r>
          </a:p>
          <a:p>
            <a:pPr algn="ctr">
              <a:lnSpc>
                <a:spcPts val="1800"/>
              </a:lnSpc>
              <a:spcBef>
                <a:spcPts val="0"/>
              </a:spcBef>
              <a:spcAft>
                <a:spcPts val="0"/>
              </a:spcAft>
            </a:pPr>
            <a:r>
              <a:rPr sz="1500" b="1" i="0" kern="100">
                <a:solidFill>
                  <a:srgbClr val="FFFFFF"/>
                </a:solidFill>
                <a:latin typeface="Plus Jakarta Sans"/>
              </a:rPr>
              <a:t>HK$65K</a:t>
            </a:r>
          </a:p>
        </p:txBody>
      </p:sp>
      <p:sp>
        <p:nvSpPr>
          <p:cNvPr id="65" name="!!i 47b1027d"/>
          <p:cNvSpPr/>
          <p:nvPr/>
        </p:nvSpPr>
        <p:spPr>
          <a:xfrm>
            <a:off x="2305050" y="4008239"/>
            <a:ext cx="1562100" cy="1428750"/>
          </a:xfrm>
          <a:prstGeom prst="rect">
            <a:avLst/>
          </a:prstGeom>
          <a:gradFill rotWithShape="0">
            <a:gsLst>
              <a:gs pos="0">
                <a:srgbClr val="F3E2E4"/>
              </a:gs>
              <a:gs pos="100000">
                <a:srgbClr val="E7CCD1"/>
              </a:gs>
            </a:gsLst>
            <a:lin ang="0" scaled="0"/>
          </a:gradFill>
          <a:ln>
            <a:noFill/>
          </a:ln>
        </p:spPr>
        <p:txBody>
          <a:bodyPr rtlCol="0" anchor="ctr"/>
          <a:lstStyle/>
          <a:p>
            <a:pPr algn="ctr"/>
            <a:endParaRPr/>
          </a:p>
        </p:txBody>
      </p:sp>
      <p:sp>
        <p:nvSpPr>
          <p:cNvPr id="66" name="!!T Carmen's pay HK$60K #2"/>
          <p:cNvSpPr txBox="1"/>
          <p:nvPr/>
        </p:nvSpPr>
        <p:spPr>
          <a:xfrm>
            <a:off x="2538485" y="4504492"/>
            <a:ext cx="1095080" cy="411956"/>
          </a:xfrm>
          <a:prstGeom prst="rect">
            <a:avLst/>
          </a:prstGeom>
          <a:noFill/>
        </p:spPr>
        <p:txBody>
          <a:bodyPr wrap="none" lIns="0" tIns="0" rIns="0" bIns="0" anchor="t">
            <a:noAutofit/>
          </a:bodyPr>
          <a:lstStyle/>
          <a:p>
            <a:pPr algn="ctr">
              <a:lnSpc>
                <a:spcPts val="1462"/>
              </a:lnSpc>
              <a:spcBef>
                <a:spcPts val="0"/>
              </a:spcBef>
              <a:spcAft>
                <a:spcPts val="0"/>
              </a:spcAft>
            </a:pPr>
            <a:r>
              <a:rPr sz="1125" b="0" i="0" kern="100">
                <a:solidFill>
                  <a:srgbClr val="1B1716"/>
                </a:solidFill>
                <a:latin typeface="Plus Jakarta Sans"/>
              </a:rPr>
              <a:t>Carmen's pay</a:t>
            </a:r>
          </a:p>
          <a:p>
            <a:pPr algn="ctr">
              <a:lnSpc>
                <a:spcPts val="1800"/>
              </a:lnSpc>
              <a:spcBef>
                <a:spcPts val="0"/>
              </a:spcBef>
              <a:spcAft>
                <a:spcPts val="0"/>
              </a:spcAft>
            </a:pPr>
            <a:r>
              <a:rPr sz="1500" b="1" i="0" kern="100">
                <a:solidFill>
                  <a:srgbClr val="1B1716"/>
                </a:solidFill>
                <a:latin typeface="Plus Jakarta Sans"/>
              </a:rPr>
              <a:t>HK$60K</a:t>
            </a:r>
          </a:p>
        </p:txBody>
      </p:sp>
      <p:sp>
        <p:nvSpPr>
          <p:cNvPr id="67" name="!!T With the plan"/>
          <p:cNvSpPr txBox="1"/>
          <p:nvPr/>
        </p:nvSpPr>
        <p:spPr>
          <a:xfrm>
            <a:off x="2607766" y="5522143"/>
            <a:ext cx="1128367"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With the plan</a:t>
            </a:r>
          </a:p>
        </p:txBody>
      </p:sp>
      <p:sp>
        <p:nvSpPr>
          <p:cNvPr id="68" name="!!Rule a9c7ea31"/>
          <p:cNvSpPr/>
          <p:nvPr/>
        </p:nvSpPr>
        <p:spPr>
          <a:xfrm>
            <a:off x="457200" y="3448050"/>
            <a:ext cx="5410200" cy="19050"/>
          </a:xfrm>
          <a:prstGeom prst="rect">
            <a:avLst/>
          </a:prstGeom>
          <a:solidFill>
            <a:srgbClr val="1B1716"/>
          </a:solidFill>
          <a:ln>
            <a:noFill/>
          </a:ln>
        </p:spPr>
        <p:txBody>
          <a:bodyPr rtlCol="0" anchor="ctr"/>
          <a:lstStyle/>
          <a:p>
            <a:pPr algn="ctr"/>
            <a:endParaRPr/>
          </a:p>
        </p:txBody>
      </p:sp>
      <p:sp>
        <p:nvSpPr>
          <p:cNvPr id="69" name="!!T HK$82K a month of bills"/>
          <p:cNvSpPr txBox="1"/>
          <p:nvPr/>
        </p:nvSpPr>
        <p:spPr>
          <a:xfrm>
            <a:off x="4252912" y="3510915"/>
            <a:ext cx="1825657" cy="171450"/>
          </a:xfrm>
          <a:prstGeom prst="rect">
            <a:avLst/>
          </a:prstGeom>
          <a:noFill/>
        </p:spPr>
        <p:txBody>
          <a:bodyPr wrap="none" lIns="0" tIns="0" rIns="0" bIns="0" anchor="t">
            <a:noAutofit/>
          </a:bodyPr>
          <a:lstStyle/>
          <a:p>
            <a:pPr algn="l">
              <a:lnSpc>
                <a:spcPts val="1350"/>
              </a:lnSpc>
              <a:spcBef>
                <a:spcPts val="0"/>
              </a:spcBef>
              <a:spcAft>
                <a:spcPts val="0"/>
              </a:spcAft>
            </a:pPr>
            <a:r>
              <a:rPr sz="1125" b="1" i="0" kern="100">
                <a:solidFill>
                  <a:srgbClr val="1B1716"/>
                </a:solidFill>
                <a:latin typeface="Plus Jakarta Sans"/>
              </a:rPr>
              <a:t>HK$82K a month</a:t>
            </a:r>
            <a:r>
              <a:rPr sz="1125" b="0" i="0" kern="100">
                <a:solidFill>
                  <a:srgbClr val="80606A"/>
                </a:solidFill>
                <a:latin typeface="Plus Jakarta Sans"/>
              </a:rPr>
              <a:t> of bills</a:t>
            </a:r>
          </a:p>
        </p:txBody>
      </p:sp>
      <p:sp>
        <p:nvSpPr>
          <p:cNvPr id="70" name="!!Rule d22ec9fe"/>
          <p:cNvSpPr/>
          <p:nvPr/>
        </p:nvSpPr>
        <p:spPr>
          <a:xfrm>
            <a:off x="3981450" y="2465189"/>
            <a:ext cx="95250" cy="9525"/>
          </a:xfrm>
          <a:prstGeom prst="rect">
            <a:avLst/>
          </a:prstGeom>
          <a:solidFill>
            <a:srgbClr val="1B1716"/>
          </a:solidFill>
          <a:ln>
            <a:noFill/>
          </a:ln>
        </p:spPr>
        <p:txBody>
          <a:bodyPr rtlCol="0" anchor="ctr"/>
          <a:lstStyle/>
          <a:p>
            <a:pPr algn="ctr"/>
            <a:endParaRPr/>
          </a:p>
        </p:txBody>
      </p:sp>
      <p:sp>
        <p:nvSpPr>
          <p:cNvPr id="71" name="!!Rule dedcf2c7"/>
          <p:cNvSpPr/>
          <p:nvPr/>
        </p:nvSpPr>
        <p:spPr>
          <a:xfrm>
            <a:off x="4067175" y="2465189"/>
            <a:ext cx="9525" cy="1543050"/>
          </a:xfrm>
          <a:prstGeom prst="rect">
            <a:avLst/>
          </a:prstGeom>
          <a:solidFill>
            <a:srgbClr val="1B1716"/>
          </a:solidFill>
          <a:ln>
            <a:noFill/>
          </a:ln>
        </p:spPr>
        <p:txBody>
          <a:bodyPr rtlCol="0" anchor="ctr"/>
          <a:lstStyle/>
          <a:p>
            <a:pPr algn="ctr"/>
            <a:endParaRPr/>
          </a:p>
        </p:txBody>
      </p:sp>
      <p:sp>
        <p:nvSpPr>
          <p:cNvPr id="72" name="!!Rule f549748b"/>
          <p:cNvSpPr/>
          <p:nvPr/>
        </p:nvSpPr>
        <p:spPr>
          <a:xfrm>
            <a:off x="3981450" y="3998714"/>
            <a:ext cx="95250" cy="9525"/>
          </a:xfrm>
          <a:prstGeom prst="rect">
            <a:avLst/>
          </a:prstGeom>
          <a:solidFill>
            <a:srgbClr val="1B1716"/>
          </a:solidFill>
          <a:ln>
            <a:noFill/>
          </a:ln>
        </p:spPr>
        <p:txBody>
          <a:bodyPr rtlCol="0" anchor="ctr"/>
          <a:lstStyle/>
          <a:p>
            <a:pPr algn="ctr"/>
            <a:endParaRPr/>
          </a:p>
        </p:txBody>
      </p:sp>
      <p:sp>
        <p:nvSpPr>
          <p:cNvPr id="73" name="!!T 65% of his pay, until 65"/>
          <p:cNvSpPr txBox="1"/>
          <p:nvPr/>
        </p:nvSpPr>
        <p:spPr>
          <a:xfrm>
            <a:off x="4191000" y="2444710"/>
            <a:ext cx="1762711"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SemiBold"/>
              </a:rPr>
              <a:t>65% of his pay, until 65</a:t>
            </a:r>
          </a:p>
        </p:txBody>
      </p:sp>
      <p:sp>
        <p:nvSpPr>
          <p:cNvPr id="74" name="!!T Carmen's own cover: HK$39K a month, unti"/>
          <p:cNvSpPr txBox="1"/>
          <p:nvPr/>
        </p:nvSpPr>
        <p:spPr>
          <a:xfrm>
            <a:off x="4191000" y="2648164"/>
            <a:ext cx="2083749" cy="359956"/>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Carmen's own cover: HK$39K</a:t>
            </a:r>
          </a:p>
          <a:p>
            <a:pPr algn="l">
              <a:lnSpc>
                <a:spcPts val="1417"/>
              </a:lnSpc>
              <a:spcBef>
                <a:spcPts val="0"/>
              </a:spcBef>
              <a:spcAft>
                <a:spcPts val="0"/>
              </a:spcAft>
            </a:pPr>
            <a:r>
              <a:rPr sz="1050" b="0" i="0" kern="100">
                <a:solidFill>
                  <a:srgbClr val="1B1716"/>
                </a:solidFill>
                <a:latin typeface="Plus Jakarta Sans"/>
              </a:rPr>
              <a:t>a month, until 62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3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3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300"/>
                                        <p:tgtEl>
                                          <p:spTgt spid="6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300"/>
                                        <p:tgtEl>
                                          <p:spTgt spid="6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fade">
                                      <p:cBhvr>
                                        <p:cTn id="22" dur="300"/>
                                        <p:tgtEl>
                                          <p:spTgt spid="6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6"/>
                                        </p:tgtEl>
                                        <p:attrNameLst>
                                          <p:attrName>style.visibility</p:attrName>
                                        </p:attrNameLst>
                                      </p:cBhvr>
                                      <p:to>
                                        <p:strVal val="visible"/>
                                      </p:to>
                                    </p:set>
                                    <p:animEffect transition="in" filter="fade">
                                      <p:cBhvr>
                                        <p:cTn id="25" dur="300"/>
                                        <p:tgtEl>
                                          <p:spTgt spid="6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7"/>
                                        </p:tgtEl>
                                        <p:attrNameLst>
                                          <p:attrName>style.visibility</p:attrName>
                                        </p:attrNameLst>
                                      </p:cBhvr>
                                      <p:to>
                                        <p:strVal val="visible"/>
                                      </p:to>
                                    </p:set>
                                    <p:animEffect transition="in" filter="fade">
                                      <p:cBhvr>
                                        <p:cTn id="28" dur="300"/>
                                        <p:tgtEl>
                                          <p:spTgt spid="6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0"/>
                                        </p:tgtEl>
                                        <p:attrNameLst>
                                          <p:attrName>style.visibility</p:attrName>
                                        </p:attrNameLst>
                                      </p:cBhvr>
                                      <p:to>
                                        <p:strVal val="visible"/>
                                      </p:to>
                                    </p:set>
                                    <p:animEffect transition="in" filter="fade">
                                      <p:cBhvr>
                                        <p:cTn id="31" dur="300"/>
                                        <p:tgtEl>
                                          <p:spTgt spid="7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1"/>
                                        </p:tgtEl>
                                        <p:attrNameLst>
                                          <p:attrName>style.visibility</p:attrName>
                                        </p:attrNameLst>
                                      </p:cBhvr>
                                      <p:to>
                                        <p:strVal val="visible"/>
                                      </p:to>
                                    </p:set>
                                    <p:animEffect transition="in" filter="fade">
                                      <p:cBhvr>
                                        <p:cTn id="34" dur="300"/>
                                        <p:tgtEl>
                                          <p:spTgt spid="7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2"/>
                                        </p:tgtEl>
                                        <p:attrNameLst>
                                          <p:attrName>style.visibility</p:attrName>
                                        </p:attrNameLst>
                                      </p:cBhvr>
                                      <p:to>
                                        <p:strVal val="visible"/>
                                      </p:to>
                                    </p:set>
                                    <p:animEffect transition="in" filter="fade">
                                      <p:cBhvr>
                                        <p:cTn id="37" dur="300"/>
                                        <p:tgtEl>
                                          <p:spTgt spid="7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73"/>
                                        </p:tgtEl>
                                        <p:attrNameLst>
                                          <p:attrName>style.visibility</p:attrName>
                                        </p:attrNameLst>
                                      </p:cBhvr>
                                      <p:to>
                                        <p:strVal val="visible"/>
                                      </p:to>
                                    </p:set>
                                    <p:animEffect transition="in" filter="fade">
                                      <p:cBhvr>
                                        <p:cTn id="40" dur="300"/>
                                        <p:tgtEl>
                                          <p:spTgt spid="7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4"/>
                                        </p:tgtEl>
                                        <p:attrNameLst>
                                          <p:attrName>style.visibility</p:attrName>
                                        </p:attrNameLst>
                                      </p:cBhvr>
                                      <p:to>
                                        <p:strVal val="visible"/>
                                      </p:to>
                                    </p:set>
                                    <p:animEffect transition="in" filter="fade">
                                      <p:cBhvr>
                                        <p:cTn id="43" dur="300"/>
                                        <p:tgtEl>
                                          <p:spTgt spid="7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300"/>
                                        <p:tgtEl>
                                          <p:spTgt spid="1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300"/>
                                        <p:tgtEl>
                                          <p:spTgt spid="1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00"/>
                                        <p:tgtEl>
                                          <p:spTgt spid="1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300"/>
                                        <p:tgtEl>
                                          <p:spTgt spid="15"/>
                                        </p:tgtEl>
                                      </p:cBhvr>
                                    </p:animEffect>
                                  </p:childTnLst>
                                </p:cTn>
                              </p:par>
                              <p:par>
                                <p:cTn id="58" presetID="10" presetClass="entr" presetSubtype="0" fill="hold"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300"/>
                                        <p:tgtEl>
                                          <p:spTgt spid="1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300"/>
                                        <p:tgtEl>
                                          <p:spTgt spid="1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300"/>
                                        <p:tgtEl>
                                          <p:spTgt spid="1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300"/>
                                        <p:tgtEl>
                                          <p:spTgt spid="1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300"/>
                                        <p:tgtEl>
                                          <p:spTgt spid="2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300"/>
                                        <p:tgtEl>
                                          <p:spTgt spid="21"/>
                                        </p:tgtEl>
                                      </p:cBhvr>
                                    </p:animEffect>
                                  </p:childTnLst>
                                </p:cTn>
                              </p:par>
                              <p:par>
                                <p:cTn id="76" presetID="10" presetClass="entr" presetSubtype="0" fill="hold" nodeType="with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300"/>
                                        <p:tgtEl>
                                          <p:spTgt spid="2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300"/>
                                        <p:tgtEl>
                                          <p:spTgt spid="2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300"/>
                                        <p:tgtEl>
                                          <p:spTgt spid="2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300"/>
                                        <p:tgtEl>
                                          <p:spTgt spid="2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300"/>
                                        <p:tgtEl>
                                          <p:spTgt spid="2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fade">
                                      <p:cBhvr>
                                        <p:cTn id="93" dur="300"/>
                                        <p:tgtEl>
                                          <p:spTgt spid="27"/>
                                        </p:tgtEl>
                                      </p:cBhvr>
                                    </p:animEffect>
                                  </p:childTnLst>
                                </p:cTn>
                              </p:par>
                              <p:par>
                                <p:cTn id="94" presetID="10" presetClass="entr" presetSubtype="0" fill="hold"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300"/>
                                        <p:tgtEl>
                                          <p:spTgt spid="2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9"/>
                                        </p:tgtEl>
                                        <p:attrNameLst>
                                          <p:attrName>style.visibility</p:attrName>
                                        </p:attrNameLst>
                                      </p:cBhvr>
                                      <p:to>
                                        <p:strVal val="visible"/>
                                      </p:to>
                                    </p:set>
                                    <p:animEffect transition="in" filter="fade">
                                      <p:cBhvr>
                                        <p:cTn id="99" dur="300"/>
                                        <p:tgtEl>
                                          <p:spTgt spid="2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fade">
                                      <p:cBhvr>
                                        <p:cTn id="102" dur="300"/>
                                        <p:tgtEl>
                                          <p:spTgt spid="30"/>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1"/>
                                        </p:tgtEl>
                                        <p:attrNameLst>
                                          <p:attrName>style.visibility</p:attrName>
                                        </p:attrNameLst>
                                      </p:cBhvr>
                                      <p:to>
                                        <p:strVal val="visible"/>
                                      </p:to>
                                    </p:set>
                                    <p:animEffect transition="in" filter="fade">
                                      <p:cBhvr>
                                        <p:cTn id="105" dur="300"/>
                                        <p:tgtEl>
                                          <p:spTgt spid="31"/>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2"/>
                                        </p:tgtEl>
                                        <p:attrNameLst>
                                          <p:attrName>style.visibility</p:attrName>
                                        </p:attrNameLst>
                                      </p:cBhvr>
                                      <p:to>
                                        <p:strVal val="visible"/>
                                      </p:to>
                                    </p:set>
                                    <p:animEffect transition="in" filter="fade">
                                      <p:cBhvr>
                                        <p:cTn id="108" dur="300"/>
                                        <p:tgtEl>
                                          <p:spTgt spid="32"/>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fade">
                                      <p:cBhvr>
                                        <p:cTn id="111" dur="300"/>
                                        <p:tgtEl>
                                          <p:spTgt spid="33"/>
                                        </p:tgtEl>
                                      </p:cBhvr>
                                    </p:animEffect>
                                  </p:childTnLst>
                                </p:cTn>
                              </p:par>
                              <p:par>
                                <p:cTn id="112" presetID="10" presetClass="entr" presetSubtype="0" fill="hold" nodeType="withEffect">
                                  <p:stCondLst>
                                    <p:cond delay="0"/>
                                  </p:stCondLst>
                                  <p:childTnLst>
                                    <p:set>
                                      <p:cBhvr>
                                        <p:cTn id="113" dur="1" fill="hold">
                                          <p:stCondLst>
                                            <p:cond delay="0"/>
                                          </p:stCondLst>
                                        </p:cTn>
                                        <p:tgtEl>
                                          <p:spTgt spid="34"/>
                                        </p:tgtEl>
                                        <p:attrNameLst>
                                          <p:attrName>style.visibility</p:attrName>
                                        </p:attrNameLst>
                                      </p:cBhvr>
                                      <p:to>
                                        <p:strVal val="visible"/>
                                      </p:to>
                                    </p:set>
                                    <p:animEffect transition="in" filter="fade">
                                      <p:cBhvr>
                                        <p:cTn id="114" dur="300"/>
                                        <p:tgtEl>
                                          <p:spTgt spid="34"/>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5"/>
                                        </p:tgtEl>
                                        <p:attrNameLst>
                                          <p:attrName>style.visibility</p:attrName>
                                        </p:attrNameLst>
                                      </p:cBhvr>
                                      <p:to>
                                        <p:strVal val="visible"/>
                                      </p:to>
                                    </p:set>
                                    <p:animEffect transition="in" filter="fade">
                                      <p:cBhvr>
                                        <p:cTn id="117" dur="300"/>
                                        <p:tgtEl>
                                          <p:spTgt spid="35"/>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6"/>
                                        </p:tgtEl>
                                        <p:attrNameLst>
                                          <p:attrName>style.visibility</p:attrName>
                                        </p:attrNameLst>
                                      </p:cBhvr>
                                      <p:to>
                                        <p:strVal val="visible"/>
                                      </p:to>
                                    </p:set>
                                    <p:animEffect transition="in" filter="fade">
                                      <p:cBhvr>
                                        <p:cTn id="120" dur="300"/>
                                        <p:tgtEl>
                                          <p:spTgt spid="36"/>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37"/>
                                        </p:tgtEl>
                                        <p:attrNameLst>
                                          <p:attrName>style.visibility</p:attrName>
                                        </p:attrNameLst>
                                      </p:cBhvr>
                                      <p:to>
                                        <p:strVal val="visible"/>
                                      </p:to>
                                    </p:set>
                                    <p:animEffect transition="in" filter="fade">
                                      <p:cBhvr>
                                        <p:cTn id="123" dur="300"/>
                                        <p:tgtEl>
                                          <p:spTgt spid="37"/>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38"/>
                                        </p:tgtEl>
                                        <p:attrNameLst>
                                          <p:attrName>style.visibility</p:attrName>
                                        </p:attrNameLst>
                                      </p:cBhvr>
                                      <p:to>
                                        <p:strVal val="visible"/>
                                      </p:to>
                                    </p:set>
                                    <p:animEffect transition="in" filter="fade">
                                      <p:cBhvr>
                                        <p:cTn id="126" dur="300"/>
                                        <p:tgtEl>
                                          <p:spTgt spid="38"/>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39"/>
                                        </p:tgtEl>
                                        <p:attrNameLst>
                                          <p:attrName>style.visibility</p:attrName>
                                        </p:attrNameLst>
                                      </p:cBhvr>
                                      <p:to>
                                        <p:strVal val="visible"/>
                                      </p:to>
                                    </p:set>
                                    <p:animEffect transition="in" filter="fade">
                                      <p:cBhvr>
                                        <p:cTn id="129" dur="300"/>
                                        <p:tgtEl>
                                          <p:spTgt spid="3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0"/>
                                        </p:tgtEl>
                                        <p:attrNameLst>
                                          <p:attrName>style.visibility</p:attrName>
                                        </p:attrNameLst>
                                      </p:cBhvr>
                                      <p:to>
                                        <p:strVal val="visible"/>
                                      </p:to>
                                    </p:set>
                                    <p:animEffect transition="in" filter="fade">
                                      <p:cBhvr>
                                        <p:cTn id="132" dur="300"/>
                                        <p:tgtEl>
                                          <p:spTgt spid="40"/>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5" dur="300"/>
                                        <p:tgtEl>
                                          <p:spTgt spid="41"/>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42"/>
                                        </p:tgtEl>
                                        <p:attrNameLst>
                                          <p:attrName>style.visibility</p:attrName>
                                        </p:attrNameLst>
                                      </p:cBhvr>
                                      <p:to>
                                        <p:strVal val="visible"/>
                                      </p:to>
                                    </p:set>
                                    <p:animEffect transition="in" filter="fade">
                                      <p:cBhvr>
                                        <p:cTn id="140" dur="300"/>
                                        <p:tgtEl>
                                          <p:spTgt spid="4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3" dur="300"/>
                                        <p:tgtEl>
                                          <p:spTgt spid="43"/>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4"/>
                                        </p:tgtEl>
                                        <p:attrNameLst>
                                          <p:attrName>style.visibility</p:attrName>
                                        </p:attrNameLst>
                                      </p:cBhvr>
                                      <p:to>
                                        <p:strVal val="visible"/>
                                      </p:to>
                                    </p:set>
                                    <p:animEffect transition="in" filter="fade">
                                      <p:cBhvr>
                                        <p:cTn id="146" dur="300"/>
                                        <p:tgtEl>
                                          <p:spTgt spid="44"/>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9" dur="3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9" grpId="0" animBg="1"/>
      <p:bldP spid="30" grpId="0" animBg="1"/>
      <p:bldP spid="31" grpId="0" animBg="1"/>
      <p:bldP spid="32" grpId="0" animBg="1"/>
      <p:bldP spid="33"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63" grpId="0" animBg="1"/>
      <p:bldP spid="64" grpId="0" animBg="1"/>
      <p:bldP spid="65" grpId="0" animBg="1"/>
      <p:bldP spid="66" grpId="0" animBg="1"/>
      <p:bldP spid="67" grpId="0" animBg="1"/>
      <p:bldP spid="70" grpId="0" animBg="1"/>
      <p:bldP spid="71" grpId="0" animBg="1"/>
      <p:bldP spid="72" grpId="0" animBg="1"/>
      <p:bldP spid="73" grpId="0" animBg="1"/>
      <p:bldP spid="7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Decide now, not at 83: four decisions on what they own and spend lift the odds from 62% to 83%">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pic>
        <p:nvPicPr>
          <p:cNvPr id="3"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6150" y="247650"/>
            <a:ext cx="628650" cy="600075"/>
          </a:xfrm>
          <a:prstGeom prst="rect">
            <a:avLst/>
          </a:prstGeom>
        </p:spPr>
      </p:pic>
      <p:sp>
        <p:nvSpPr>
          <p:cNvPr id="4" name="!!T Call 2: The home and the business"/>
          <p:cNvSpPr txBox="1"/>
          <p:nvPr/>
        </p:nvSpPr>
        <p:spPr>
          <a:xfrm>
            <a:off x="638175" y="324421"/>
            <a:ext cx="2376863"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Call 2: The home and the business</a:t>
            </a:r>
          </a:p>
        </p:txBody>
      </p:sp>
      <p:sp>
        <p:nvSpPr>
          <p:cNvPr id="5" name="!!T Decide now, not at 83: four decisions on"/>
          <p:cNvSpPr txBox="1"/>
          <p:nvPr/>
        </p:nvSpPr>
        <p:spPr>
          <a:xfrm>
            <a:off x="638175" y="529852"/>
            <a:ext cx="6998062"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Decide now, not at 83: four decisions on what they</a:t>
            </a:r>
          </a:p>
          <a:p>
            <a:pPr algn="l">
              <a:lnSpc>
                <a:spcPts val="2523"/>
              </a:lnSpc>
              <a:spcBef>
                <a:spcPts val="0"/>
              </a:spcBef>
              <a:spcAft>
                <a:spcPts val="0"/>
              </a:spcAft>
            </a:pPr>
            <a:r>
              <a:rPr sz="2175" b="1" i="0" kern="100" spc="-38">
                <a:solidFill>
                  <a:srgbClr val="1B1716"/>
                </a:solidFill>
                <a:latin typeface="Plus Jakarta Sans"/>
              </a:rPr>
              <a:t>own and spend lift the odds from 62% to 83%</a:t>
            </a:r>
          </a:p>
        </p:txBody>
      </p:sp>
      <p:sp>
        <p:nvSpPr>
          <p:cNvPr id="6" name="!!T What they own and spend"/>
          <p:cNvSpPr txBox="1"/>
          <p:nvPr/>
        </p:nvSpPr>
        <p:spPr>
          <a:xfrm>
            <a:off x="457200" y="1453491"/>
            <a:ext cx="1933090" cy="133350"/>
          </a:xfrm>
          <a:prstGeom prst="rect">
            <a:avLst/>
          </a:prstGeom>
          <a:noFill/>
        </p:spPr>
        <p:txBody>
          <a:bodyPr wrap="none" lIns="0" tIns="0" rIns="0" bIns="0" anchor="t">
            <a:noAutofit/>
          </a:bodyPr>
          <a:lstStyle/>
          <a:p>
            <a:pPr algn="l">
              <a:lnSpc>
                <a:spcPts val="1050"/>
              </a:lnSpc>
              <a:spcBef>
                <a:spcPts val="0"/>
              </a:spcBef>
              <a:spcAft>
                <a:spcPts val="0"/>
              </a:spcAft>
            </a:pPr>
            <a:r>
              <a:rPr sz="1050" b="1" i="0" kern="100" spc="15">
                <a:solidFill>
                  <a:srgbClr val="80606A"/>
                </a:solidFill>
                <a:latin typeface="Plus Jakarta Sans"/>
              </a:rPr>
              <a:t>What they own and spend</a:t>
            </a:r>
          </a:p>
        </p:txBody>
      </p:sp>
      <p:sp>
        <p:nvSpPr>
          <p:cNvPr id="7" name="!!T What each becomes, decided now"/>
          <p:cNvSpPr txBox="1"/>
          <p:nvPr/>
        </p:nvSpPr>
        <p:spPr>
          <a:xfrm>
            <a:off x="3790950" y="1453491"/>
            <a:ext cx="2559231" cy="133350"/>
          </a:xfrm>
          <a:prstGeom prst="rect">
            <a:avLst/>
          </a:prstGeom>
          <a:noFill/>
        </p:spPr>
        <p:txBody>
          <a:bodyPr wrap="none" lIns="0" tIns="0" rIns="0" bIns="0" anchor="t">
            <a:noAutofit/>
          </a:bodyPr>
          <a:lstStyle/>
          <a:p>
            <a:pPr algn="l">
              <a:lnSpc>
                <a:spcPts val="1050"/>
              </a:lnSpc>
              <a:spcBef>
                <a:spcPts val="0"/>
              </a:spcBef>
              <a:spcAft>
                <a:spcPts val="0"/>
              </a:spcAft>
            </a:pPr>
            <a:r>
              <a:rPr sz="1050" b="1" i="0" kern="100" spc="15">
                <a:solidFill>
                  <a:srgbClr val="80606A"/>
                </a:solidFill>
                <a:latin typeface="Plus Jakarta Sans"/>
              </a:rPr>
              <a:t>What each becomes, decided now</a:t>
            </a:r>
          </a:p>
        </p:txBody>
      </p:sp>
      <p:sp>
        <p:nvSpPr>
          <p:cNvPr id="8" name="!!T What it gives them"/>
          <p:cNvSpPr txBox="1"/>
          <p:nvPr/>
        </p:nvSpPr>
        <p:spPr>
          <a:xfrm>
            <a:off x="8172450" y="1453491"/>
            <a:ext cx="1412016" cy="133350"/>
          </a:xfrm>
          <a:prstGeom prst="rect">
            <a:avLst/>
          </a:prstGeom>
          <a:noFill/>
        </p:spPr>
        <p:txBody>
          <a:bodyPr wrap="none" lIns="0" tIns="0" rIns="0" bIns="0" anchor="t">
            <a:noAutofit/>
          </a:bodyPr>
          <a:lstStyle/>
          <a:p>
            <a:pPr algn="l">
              <a:lnSpc>
                <a:spcPts val="1050"/>
              </a:lnSpc>
              <a:spcBef>
                <a:spcPts val="0"/>
              </a:spcBef>
              <a:spcAft>
                <a:spcPts val="0"/>
              </a:spcAft>
            </a:pPr>
            <a:r>
              <a:rPr sz="1050" b="1" i="0" kern="100" spc="15">
                <a:solidFill>
                  <a:srgbClr val="80606A"/>
                </a:solidFill>
                <a:latin typeface="Plus Jakarta Sans"/>
              </a:rPr>
              <a:t>What it gives them</a:t>
            </a:r>
          </a:p>
        </p:txBody>
      </p:sp>
      <p:pic>
        <p:nvPicPr>
          <p:cNvPr id="9" name="!!Drawing dd791c66"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 y="1671042"/>
            <a:ext cx="11277600" cy="2609850"/>
          </a:xfrm>
          <a:prstGeom prst="rect">
            <a:avLst/>
          </a:prstGeom>
        </p:spPr>
      </p:pic>
      <p:pic>
        <p:nvPicPr>
          <p:cNvPr id="10" name="!!Drawing dd791c66 #2"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7200" y="1671042"/>
            <a:ext cx="11277600" cy="2609850"/>
          </a:xfrm>
          <a:prstGeom prst="rect">
            <a:avLst/>
          </a:prstGeom>
        </p:spPr>
      </p:pic>
      <p:pic>
        <p:nvPicPr>
          <p:cNvPr id="11" name="!!Drawing dd791c66 #3" descr="imag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7200" y="1671042"/>
            <a:ext cx="11277600" cy="2609850"/>
          </a:xfrm>
          <a:prstGeom prst="rect">
            <a:avLst/>
          </a:prstGeom>
        </p:spPr>
      </p:pic>
      <p:pic>
        <p:nvPicPr>
          <p:cNvPr id="12" name="!!Drawing dd791c66 #4" descr="imag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7200" y="1671042"/>
            <a:ext cx="11277600" cy="2609850"/>
          </a:xfrm>
          <a:prstGeom prst="rect">
            <a:avLst/>
          </a:prstGeom>
        </p:spPr>
      </p:pic>
      <p:pic>
        <p:nvPicPr>
          <p:cNvPr id="13" name="!!Drawing dd791c66 #5" descr="image.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7200" y="1671042"/>
            <a:ext cx="11277600" cy="2609850"/>
          </a:xfrm>
          <a:prstGeom prst="rect">
            <a:avLst/>
          </a:prstGeom>
        </p:spPr>
      </p:pic>
      <p:sp>
        <p:nvSpPr>
          <p:cNvPr id="14" name="!!span 0325418c"/>
          <p:cNvSpPr/>
          <p:nvPr/>
        </p:nvSpPr>
        <p:spPr>
          <a:xfrm>
            <a:off x="457200" y="1709142"/>
            <a:ext cx="381000" cy="381000"/>
          </a:xfrm>
          <a:prstGeom prst="ellipse">
            <a:avLst/>
          </a:prstGeom>
          <a:solidFill>
            <a:srgbClr val="F8EFF0"/>
          </a:solidFill>
          <a:ln>
            <a:noFill/>
          </a:ln>
        </p:spPr>
        <p:txBody>
          <a:bodyPr rtlCol="0" anchor="ctr"/>
          <a:lstStyle/>
          <a:p>
            <a:pPr algn="ctr"/>
            <a:endParaRPr/>
          </a:p>
        </p:txBody>
      </p:sp>
      <p:pic>
        <p:nvPicPr>
          <p:cNvPr id="15" name="!!Drawing 020f3b01" descr="image.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47688" y="1799630"/>
            <a:ext cx="200025" cy="200025"/>
          </a:xfrm>
          <a:prstGeom prst="rect">
            <a:avLst/>
          </a:prstGeom>
        </p:spPr>
      </p:pic>
      <p:sp>
        <p:nvSpPr>
          <p:cNvPr id="16" name="!!T The flat"/>
          <p:cNvSpPr txBox="1"/>
          <p:nvPr/>
        </p:nvSpPr>
        <p:spPr>
          <a:xfrm>
            <a:off x="952500" y="1692914"/>
            <a:ext cx="683806"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The flat</a:t>
            </a:r>
          </a:p>
        </p:txBody>
      </p:sp>
      <p:sp>
        <p:nvSpPr>
          <p:cNvPr id="17" name="!!T HK$11.5M"/>
          <p:cNvSpPr txBox="1"/>
          <p:nvPr/>
        </p:nvSpPr>
        <p:spPr>
          <a:xfrm>
            <a:off x="952500" y="1896433"/>
            <a:ext cx="773412"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SemiBold"/>
              </a:rPr>
              <a:t>HK$11.5M</a:t>
            </a:r>
          </a:p>
        </p:txBody>
      </p:sp>
      <p:sp>
        <p:nvSpPr>
          <p:cNvPr id="18" name="!!span fb5756a0"/>
          <p:cNvSpPr/>
          <p:nvPr/>
        </p:nvSpPr>
        <p:spPr>
          <a:xfrm>
            <a:off x="457200" y="2318742"/>
            <a:ext cx="381000" cy="381000"/>
          </a:xfrm>
          <a:prstGeom prst="ellipse">
            <a:avLst/>
          </a:prstGeom>
          <a:solidFill>
            <a:srgbClr val="F8EFF0"/>
          </a:solidFill>
          <a:ln>
            <a:noFill/>
          </a:ln>
        </p:spPr>
        <p:txBody>
          <a:bodyPr rtlCol="0" anchor="ctr"/>
          <a:lstStyle/>
          <a:p>
            <a:pPr algn="ctr"/>
            <a:endParaRPr/>
          </a:p>
        </p:txBody>
      </p:sp>
      <p:pic>
        <p:nvPicPr>
          <p:cNvPr id="19" name="!!Drawing ce055081" descr="image.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47688" y="2409230"/>
            <a:ext cx="200025" cy="200025"/>
          </a:xfrm>
          <a:prstGeom prst="rect">
            <a:avLst/>
          </a:prstGeom>
        </p:spPr>
      </p:pic>
      <p:sp>
        <p:nvSpPr>
          <p:cNvPr id="20" name="!!T The MPF"/>
          <p:cNvSpPr txBox="1"/>
          <p:nvPr/>
        </p:nvSpPr>
        <p:spPr>
          <a:xfrm>
            <a:off x="952500" y="2302514"/>
            <a:ext cx="76221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The MPF</a:t>
            </a:r>
          </a:p>
        </p:txBody>
      </p:sp>
      <p:sp>
        <p:nvSpPr>
          <p:cNvPr id="21" name="!!T HK$1.7M"/>
          <p:cNvSpPr txBox="1"/>
          <p:nvPr/>
        </p:nvSpPr>
        <p:spPr>
          <a:xfrm>
            <a:off x="952500" y="2506033"/>
            <a:ext cx="709362"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SemiBold"/>
              </a:rPr>
              <a:t>HK$1.7M</a:t>
            </a:r>
          </a:p>
        </p:txBody>
      </p:sp>
      <p:sp>
        <p:nvSpPr>
          <p:cNvPr id="22" name="!!span 44d22ef7"/>
          <p:cNvSpPr/>
          <p:nvPr/>
        </p:nvSpPr>
        <p:spPr>
          <a:xfrm>
            <a:off x="457200" y="2928342"/>
            <a:ext cx="381000" cy="381000"/>
          </a:xfrm>
          <a:prstGeom prst="ellipse">
            <a:avLst/>
          </a:prstGeom>
          <a:solidFill>
            <a:srgbClr val="F8EFF0"/>
          </a:solidFill>
          <a:ln>
            <a:noFill/>
          </a:ln>
        </p:spPr>
        <p:txBody>
          <a:bodyPr rtlCol="0" anchor="ctr"/>
          <a:lstStyle/>
          <a:p>
            <a:pPr algn="ctr"/>
            <a:endParaRPr/>
          </a:p>
        </p:txBody>
      </p:sp>
      <p:pic>
        <p:nvPicPr>
          <p:cNvPr id="23" name="!!Drawing 3ad79f74" descr="image.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7688" y="3018830"/>
            <a:ext cx="200025" cy="200025"/>
          </a:xfrm>
          <a:prstGeom prst="rect">
            <a:avLst/>
          </a:prstGeom>
        </p:spPr>
      </p:pic>
      <p:sp>
        <p:nvSpPr>
          <p:cNvPr id="24" name="!!T The business"/>
          <p:cNvSpPr txBox="1"/>
          <p:nvPr/>
        </p:nvSpPr>
        <p:spPr>
          <a:xfrm>
            <a:off x="952500" y="2912114"/>
            <a:ext cx="1106597"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The business</a:t>
            </a:r>
          </a:p>
        </p:txBody>
      </p:sp>
      <p:sp>
        <p:nvSpPr>
          <p:cNvPr id="25" name="!!T HK$5.0M"/>
          <p:cNvSpPr txBox="1"/>
          <p:nvPr/>
        </p:nvSpPr>
        <p:spPr>
          <a:xfrm>
            <a:off x="952500" y="3115633"/>
            <a:ext cx="763789"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SemiBold"/>
              </a:rPr>
              <a:t>HK$5.0M</a:t>
            </a:r>
          </a:p>
        </p:txBody>
      </p:sp>
      <p:sp>
        <p:nvSpPr>
          <p:cNvPr id="26" name="!!span 55acadb4"/>
          <p:cNvSpPr/>
          <p:nvPr/>
        </p:nvSpPr>
        <p:spPr>
          <a:xfrm>
            <a:off x="457200" y="3537942"/>
            <a:ext cx="381000" cy="381000"/>
          </a:xfrm>
          <a:prstGeom prst="ellipse">
            <a:avLst/>
          </a:prstGeom>
          <a:solidFill>
            <a:srgbClr val="F8EFF0"/>
          </a:solidFill>
          <a:ln>
            <a:noFill/>
          </a:ln>
        </p:spPr>
        <p:txBody>
          <a:bodyPr rtlCol="0" anchor="ctr"/>
          <a:lstStyle/>
          <a:p>
            <a:pPr algn="ctr"/>
            <a:endParaRPr/>
          </a:p>
        </p:txBody>
      </p:sp>
      <p:pic>
        <p:nvPicPr>
          <p:cNvPr id="27" name="!!Drawing 30bf0ab2" descr="image.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47688" y="3628430"/>
            <a:ext cx="200025" cy="200025"/>
          </a:xfrm>
          <a:prstGeom prst="rect">
            <a:avLst/>
          </a:prstGeom>
        </p:spPr>
      </p:pic>
      <p:sp>
        <p:nvSpPr>
          <p:cNvPr id="28" name="!!T Their budget"/>
          <p:cNvSpPr txBox="1"/>
          <p:nvPr/>
        </p:nvSpPr>
        <p:spPr>
          <a:xfrm>
            <a:off x="952500" y="3521714"/>
            <a:ext cx="1101706"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Their budget</a:t>
            </a:r>
          </a:p>
        </p:txBody>
      </p:sp>
      <p:sp>
        <p:nvSpPr>
          <p:cNvPr id="29" name="!!T HK$780K a year"/>
          <p:cNvSpPr txBox="1"/>
          <p:nvPr/>
        </p:nvSpPr>
        <p:spPr>
          <a:xfrm>
            <a:off x="952500" y="3725233"/>
            <a:ext cx="1195572"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SemiBold"/>
              </a:rPr>
              <a:t>HK$780K a year</a:t>
            </a:r>
          </a:p>
        </p:txBody>
      </p:sp>
      <p:sp>
        <p:nvSpPr>
          <p:cNvPr id="30" name="!!T HK$230K a year for life, from 2037"/>
          <p:cNvSpPr txBox="1"/>
          <p:nvPr/>
        </p:nvSpPr>
        <p:spPr>
          <a:xfrm>
            <a:off x="3790950" y="1694402"/>
            <a:ext cx="2762580"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HK$230K a year for life, from 2037</a:t>
            </a:r>
          </a:p>
        </p:txBody>
      </p:sp>
      <p:sp>
        <p:nvSpPr>
          <p:cNvPr id="31" name="!!T they stay, with a reverse mortgage, or d"/>
          <p:cNvSpPr txBox="1"/>
          <p:nvPr/>
        </p:nvSpPr>
        <p:spPr>
          <a:xfrm>
            <a:off x="3790950" y="1897922"/>
            <a:ext cx="4097843"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they stay, with a reverse mortgage, or downsize: their choice</a:t>
            </a:r>
          </a:p>
        </p:txBody>
      </p:sp>
      <p:sp>
        <p:nvSpPr>
          <p:cNvPr id="32" name="!!T HK$268K a year for life"/>
          <p:cNvSpPr txBox="1"/>
          <p:nvPr/>
        </p:nvSpPr>
        <p:spPr>
          <a:xfrm>
            <a:off x="3790950" y="2304002"/>
            <a:ext cx="1860679"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HK$268K a year for life</a:t>
            </a:r>
          </a:p>
        </p:txBody>
      </p:sp>
      <p:sp>
        <p:nvSpPr>
          <p:cNvPr id="33" name="!!T two HKMC annuities, bought at 65 and 62"/>
          <p:cNvSpPr txBox="1"/>
          <p:nvPr/>
        </p:nvSpPr>
        <p:spPr>
          <a:xfrm>
            <a:off x="3790950" y="2507522"/>
            <a:ext cx="2835149"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two HKMC annuities, bought at 65 and 62</a:t>
            </a:r>
          </a:p>
        </p:txBody>
      </p:sp>
      <p:sp>
        <p:nvSpPr>
          <p:cNvPr id="34" name="!!T Sold in stages, 2035–39"/>
          <p:cNvSpPr txBox="1"/>
          <p:nvPr/>
        </p:nvSpPr>
        <p:spPr>
          <a:xfrm>
            <a:off x="3790950" y="2913602"/>
            <a:ext cx="1979786"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Sold in stages, 2035–39</a:t>
            </a:r>
          </a:p>
        </p:txBody>
      </p:sp>
      <p:sp>
        <p:nvSpPr>
          <p:cNvPr id="35" name="!!T to her co-founder and managers; their ow"/>
          <p:cNvSpPr txBox="1"/>
          <p:nvPr/>
        </p:nvSpPr>
        <p:spPr>
          <a:xfrm>
            <a:off x="3790950" y="3117122"/>
            <a:ext cx="3942451"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to her co-founder and managers; their own way sells it too</a:t>
            </a:r>
          </a:p>
        </p:txBody>
      </p:sp>
      <p:sp>
        <p:nvSpPr>
          <p:cNvPr id="36" name="!!T Planned now, for a survivor"/>
          <p:cNvSpPr txBox="1"/>
          <p:nvPr/>
        </p:nvSpPr>
        <p:spPr>
          <a:xfrm>
            <a:off x="3790950" y="3523202"/>
            <a:ext cx="2179034"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Planned now, for a survivor</a:t>
            </a:r>
          </a:p>
        </p:txBody>
      </p:sp>
      <p:sp>
        <p:nvSpPr>
          <p:cNvPr id="37" name="!!T for the years after the first death"/>
          <p:cNvSpPr txBox="1"/>
          <p:nvPr/>
        </p:nvSpPr>
        <p:spPr>
          <a:xfrm>
            <a:off x="3790950" y="3726722"/>
            <a:ext cx="2232672"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for the years after the first death</a:t>
            </a:r>
          </a:p>
        </p:txBody>
      </p:sp>
      <p:sp>
        <p:nvSpPr>
          <p:cNvPr id="38" name="!!div 211d27bd"/>
          <p:cNvSpPr/>
          <p:nvPr/>
        </p:nvSpPr>
        <p:spPr>
          <a:xfrm>
            <a:off x="8172450" y="1861542"/>
            <a:ext cx="3562350" cy="1295400"/>
          </a:xfrm>
          <a:prstGeom prst="rect">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39" name="!!Rule 155f7c8d"/>
          <p:cNvSpPr/>
          <p:nvPr/>
        </p:nvSpPr>
        <p:spPr>
          <a:xfrm>
            <a:off x="8172450" y="1861542"/>
            <a:ext cx="28575" cy="1295400"/>
          </a:xfrm>
          <a:prstGeom prst="rect">
            <a:avLst/>
          </a:prstGeom>
          <a:solidFill>
            <a:srgbClr val="971320"/>
          </a:solidFill>
          <a:ln>
            <a:noFill/>
          </a:ln>
        </p:spPr>
        <p:txBody>
          <a:bodyPr rtlCol="0" anchor="ctr"/>
          <a:lstStyle/>
          <a:p>
            <a:pPr algn="ctr"/>
            <a:endParaRPr/>
          </a:p>
        </p:txBody>
      </p:sp>
      <p:sp>
        <p:nvSpPr>
          <p:cNvPr id="40" name="!!T Guaranteed income, for life"/>
          <p:cNvSpPr txBox="1"/>
          <p:nvPr/>
        </p:nvSpPr>
        <p:spPr>
          <a:xfrm>
            <a:off x="8372475" y="2148120"/>
            <a:ext cx="2260911" cy="190500"/>
          </a:xfrm>
          <a:prstGeom prst="rect">
            <a:avLst/>
          </a:prstGeom>
          <a:noFill/>
        </p:spPr>
        <p:txBody>
          <a:bodyPr wrap="none" lIns="0" tIns="0" rIns="0" bIns="0" anchor="t">
            <a:noAutofit/>
          </a:bodyPr>
          <a:lstStyle/>
          <a:p>
            <a:pPr algn="l">
              <a:lnSpc>
                <a:spcPts val="1500"/>
              </a:lnSpc>
              <a:spcBef>
                <a:spcPts val="0"/>
              </a:spcBef>
              <a:spcAft>
                <a:spcPts val="0"/>
              </a:spcAft>
            </a:pPr>
            <a:r>
              <a:rPr sz="1200" b="1" i="0" kern="100">
                <a:solidFill>
                  <a:srgbClr val="1B1716"/>
                </a:solidFill>
                <a:latin typeface="Plus Jakarta Sans"/>
              </a:rPr>
              <a:t>Guaranteed income, for life</a:t>
            </a:r>
          </a:p>
        </p:txBody>
      </p:sp>
      <p:sp>
        <p:nvSpPr>
          <p:cNvPr id="41" name="!!T 116%"/>
          <p:cNvSpPr txBox="1"/>
          <p:nvPr/>
        </p:nvSpPr>
        <p:spPr>
          <a:xfrm>
            <a:off x="8372475" y="2390055"/>
            <a:ext cx="735708" cy="247650"/>
          </a:xfrm>
          <a:prstGeom prst="rect">
            <a:avLst/>
          </a:prstGeom>
          <a:noFill/>
        </p:spPr>
        <p:txBody>
          <a:bodyPr wrap="none" lIns="0" tIns="0" rIns="0" bIns="0" anchor="t">
            <a:noAutofit/>
          </a:bodyPr>
          <a:lstStyle/>
          <a:p>
            <a:pPr algn="l">
              <a:lnSpc>
                <a:spcPts val="1950"/>
              </a:lnSpc>
              <a:spcBef>
                <a:spcPts val="0"/>
              </a:spcBef>
              <a:spcAft>
                <a:spcPts val="0"/>
              </a:spcAft>
            </a:pPr>
            <a:r>
              <a:rPr sz="1950" b="1" i="0" kern="100" spc="-38">
                <a:solidFill>
                  <a:srgbClr val="1B1716"/>
                </a:solidFill>
                <a:latin typeface="Plus Jakarta Sans"/>
              </a:rPr>
              <a:t>116%</a:t>
            </a:r>
          </a:p>
        </p:txBody>
      </p:sp>
      <p:sp>
        <p:nvSpPr>
          <p:cNvPr id="42" name="!!T of their essential bills, covered in 203"/>
          <p:cNvSpPr txBox="1"/>
          <p:nvPr/>
        </p:nvSpPr>
        <p:spPr>
          <a:xfrm>
            <a:off x="8372475" y="2664089"/>
            <a:ext cx="2643158"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of their essential bills, covered in 2039</a:t>
            </a:r>
          </a:p>
        </p:txBody>
      </p:sp>
      <p:sp>
        <p:nvSpPr>
          <p:cNvPr id="43" name="!!div 92cc769e"/>
          <p:cNvSpPr/>
          <p:nvPr/>
        </p:nvSpPr>
        <p:spPr>
          <a:xfrm>
            <a:off x="8172450" y="3195042"/>
            <a:ext cx="3562350" cy="457200"/>
          </a:xfrm>
          <a:prstGeom prst="rect">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44" name="!!Rule 419b12c9"/>
          <p:cNvSpPr/>
          <p:nvPr/>
        </p:nvSpPr>
        <p:spPr>
          <a:xfrm>
            <a:off x="8172450" y="3195042"/>
            <a:ext cx="28575" cy="457200"/>
          </a:xfrm>
          <a:prstGeom prst="rect">
            <a:avLst/>
          </a:prstGeom>
          <a:solidFill>
            <a:srgbClr val="971320"/>
          </a:solidFill>
          <a:ln>
            <a:noFill/>
          </a:ln>
        </p:spPr>
        <p:txBody>
          <a:bodyPr rtlCol="0" anchor="ctr"/>
          <a:lstStyle/>
          <a:p>
            <a:pPr algn="ctr"/>
            <a:endParaRPr/>
          </a:p>
        </p:txBody>
      </p:sp>
      <p:sp>
        <p:nvSpPr>
          <p:cNvPr id="45" name="!!T HK$3.0M"/>
          <p:cNvSpPr txBox="1"/>
          <p:nvPr/>
        </p:nvSpPr>
        <p:spPr>
          <a:xfrm>
            <a:off x="8372475" y="3280196"/>
            <a:ext cx="1296853" cy="247650"/>
          </a:xfrm>
          <a:prstGeom prst="rect">
            <a:avLst/>
          </a:prstGeom>
          <a:noFill/>
        </p:spPr>
        <p:txBody>
          <a:bodyPr wrap="none" lIns="0" tIns="0" rIns="0" bIns="0" anchor="t">
            <a:noAutofit/>
          </a:bodyPr>
          <a:lstStyle/>
          <a:p>
            <a:pPr algn="l">
              <a:lnSpc>
                <a:spcPts val="1950"/>
              </a:lnSpc>
              <a:spcBef>
                <a:spcPts val="0"/>
              </a:spcBef>
              <a:spcAft>
                <a:spcPts val="0"/>
              </a:spcAft>
            </a:pPr>
            <a:r>
              <a:rPr sz="1950" b="1" i="0" kern="100" spc="-38">
                <a:solidFill>
                  <a:srgbClr val="1B1716"/>
                </a:solidFill>
                <a:latin typeface="Plus Jakarta Sans"/>
              </a:rPr>
              <a:t>HK$3.0M</a:t>
            </a:r>
          </a:p>
        </p:txBody>
      </p:sp>
      <p:sp>
        <p:nvSpPr>
          <p:cNvPr id="46" name="!!T into savings"/>
          <p:cNvSpPr txBox="1"/>
          <p:nvPr/>
        </p:nvSpPr>
        <p:spPr>
          <a:xfrm>
            <a:off x="9621441" y="3241453"/>
            <a:ext cx="917603"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SemiBold"/>
              </a:rPr>
              <a:t>into savings</a:t>
            </a:r>
          </a:p>
        </p:txBody>
      </p:sp>
      <p:sp>
        <p:nvSpPr>
          <p:cNvPr id="47" name="!!T counted low, of HK$5.0M"/>
          <p:cNvSpPr txBox="1"/>
          <p:nvPr/>
        </p:nvSpPr>
        <p:spPr>
          <a:xfrm>
            <a:off x="9621441" y="3414689"/>
            <a:ext cx="180861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a:rPr>
              <a:t>counted low, of HK$5.0M</a:t>
            </a:r>
          </a:p>
        </p:txBody>
      </p:sp>
      <p:sp>
        <p:nvSpPr>
          <p:cNvPr id="48" name="!!div 717b085c"/>
          <p:cNvSpPr/>
          <p:nvPr/>
        </p:nvSpPr>
        <p:spPr>
          <a:xfrm>
            <a:off x="8172450" y="3804642"/>
            <a:ext cx="3562350" cy="457200"/>
          </a:xfrm>
          <a:prstGeom prst="rect">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49" name="!!Rule 8c609223"/>
          <p:cNvSpPr/>
          <p:nvPr/>
        </p:nvSpPr>
        <p:spPr>
          <a:xfrm>
            <a:off x="8172450" y="3804642"/>
            <a:ext cx="28575" cy="457200"/>
          </a:xfrm>
          <a:prstGeom prst="rect">
            <a:avLst/>
          </a:prstGeom>
          <a:solidFill>
            <a:srgbClr val="971320"/>
          </a:solidFill>
          <a:ln>
            <a:noFill/>
          </a:ln>
        </p:spPr>
        <p:txBody>
          <a:bodyPr rtlCol="0" anchor="ctr"/>
          <a:lstStyle/>
          <a:p>
            <a:pPr algn="ctr"/>
            <a:endParaRPr/>
          </a:p>
        </p:txBody>
      </p:sp>
      <p:sp>
        <p:nvSpPr>
          <p:cNvPr id="50" name="!!T 70%"/>
          <p:cNvSpPr txBox="1"/>
          <p:nvPr/>
        </p:nvSpPr>
        <p:spPr>
          <a:xfrm>
            <a:off x="8372475" y="3889796"/>
            <a:ext cx="706365" cy="247650"/>
          </a:xfrm>
          <a:prstGeom prst="rect">
            <a:avLst/>
          </a:prstGeom>
          <a:noFill/>
        </p:spPr>
        <p:txBody>
          <a:bodyPr wrap="none" lIns="0" tIns="0" rIns="0" bIns="0" anchor="t">
            <a:noAutofit/>
          </a:bodyPr>
          <a:lstStyle/>
          <a:p>
            <a:pPr algn="l">
              <a:lnSpc>
                <a:spcPts val="1950"/>
              </a:lnSpc>
              <a:spcBef>
                <a:spcPts val="0"/>
              </a:spcBef>
              <a:spcAft>
                <a:spcPts val="0"/>
              </a:spcAft>
            </a:pPr>
            <a:r>
              <a:rPr sz="1950" b="1" i="0" kern="100" spc="-38">
                <a:solidFill>
                  <a:srgbClr val="1B1716"/>
                </a:solidFill>
                <a:latin typeface="Plus Jakarta Sans"/>
              </a:rPr>
              <a:t>70%</a:t>
            </a:r>
          </a:p>
        </p:txBody>
      </p:sp>
      <p:sp>
        <p:nvSpPr>
          <p:cNvPr id="51" name="!!T of today's budget"/>
          <p:cNvSpPr txBox="1"/>
          <p:nvPr/>
        </p:nvSpPr>
        <p:spPr>
          <a:xfrm>
            <a:off x="9064377" y="3851053"/>
            <a:ext cx="1337712"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SemiBold"/>
              </a:rPr>
              <a:t>of today's budget</a:t>
            </a:r>
          </a:p>
        </p:txBody>
      </p:sp>
      <p:sp>
        <p:nvSpPr>
          <p:cNvPr id="52" name="!!T for the one who survives"/>
          <p:cNvSpPr txBox="1"/>
          <p:nvPr/>
        </p:nvSpPr>
        <p:spPr>
          <a:xfrm>
            <a:off x="9064377" y="4024289"/>
            <a:ext cx="1708443"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a:rPr>
              <a:t>for the one who survives</a:t>
            </a:r>
          </a:p>
        </p:txBody>
      </p:sp>
      <p:sp>
        <p:nvSpPr>
          <p:cNvPr id="53" name="!!Rule 3d09e2fc"/>
          <p:cNvSpPr/>
          <p:nvPr/>
        </p:nvSpPr>
        <p:spPr>
          <a:xfrm>
            <a:off x="457200" y="4318695"/>
            <a:ext cx="11277600" cy="9525"/>
          </a:xfrm>
          <a:prstGeom prst="rect">
            <a:avLst/>
          </a:prstGeom>
          <a:solidFill>
            <a:srgbClr val="1B1716"/>
          </a:solidFill>
          <a:ln>
            <a:noFill/>
          </a:ln>
        </p:spPr>
        <p:txBody>
          <a:bodyPr rtlCol="0" anchor="ctr"/>
          <a:lstStyle/>
          <a:p>
            <a:pPr algn="ctr"/>
            <a:endParaRPr/>
          </a:p>
        </p:txBody>
      </p:sp>
      <p:sp>
        <p:nvSpPr>
          <p:cNvPr id="54" name="!!T Chance the money lasts to Carmen's 89"/>
          <p:cNvSpPr txBox="1"/>
          <p:nvPr/>
        </p:nvSpPr>
        <p:spPr>
          <a:xfrm>
            <a:off x="457200" y="4847773"/>
            <a:ext cx="1693140" cy="39621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1B1716"/>
                </a:solidFill>
                <a:latin typeface="Plus Jakarta Sans"/>
              </a:rPr>
              <a:t>Chance the money</a:t>
            </a:r>
          </a:p>
          <a:p>
            <a:pPr algn="l">
              <a:lnSpc>
                <a:spcPts val="1560"/>
              </a:lnSpc>
              <a:spcBef>
                <a:spcPts val="0"/>
              </a:spcBef>
              <a:spcAft>
                <a:spcPts val="0"/>
              </a:spcAft>
            </a:pPr>
            <a:r>
              <a:rPr sz="1200" b="1" i="0" kern="100">
                <a:solidFill>
                  <a:srgbClr val="1B1716"/>
                </a:solidFill>
                <a:latin typeface="Plus Jakarta Sans"/>
              </a:rPr>
              <a:t>lasts to Carmen's 89</a:t>
            </a:r>
          </a:p>
        </p:txBody>
      </p:sp>
      <p:sp>
        <p:nvSpPr>
          <p:cNvPr id="55" name="!!i ac1db153"/>
          <p:cNvSpPr/>
          <p:nvPr/>
        </p:nvSpPr>
        <p:spPr>
          <a:xfrm>
            <a:off x="2405062" y="5037832"/>
            <a:ext cx="9044880" cy="219075"/>
          </a:xfrm>
          <a:prstGeom prst="rect">
            <a:avLst/>
          </a:prstGeom>
          <a:solidFill>
            <a:srgbClr val="FFFFFF"/>
          </a:solidFill>
          <a:ln w="9525">
            <a:solidFill>
              <a:srgbClr val="B5979D"/>
            </a:solidFill>
            <a:prstDash val="dash"/>
          </a:ln>
        </p:spPr>
        <p:txBody>
          <a:bodyPr rtlCol="0" anchor="ctr"/>
          <a:lstStyle/>
          <a:p>
            <a:pPr algn="ctr"/>
            <a:endParaRPr/>
          </a:p>
        </p:txBody>
      </p:sp>
      <p:sp>
        <p:nvSpPr>
          <p:cNvPr id="56" name="!!i 997b076d"/>
          <p:cNvSpPr/>
          <p:nvPr/>
        </p:nvSpPr>
        <p:spPr>
          <a:xfrm>
            <a:off x="2400300" y="5033070"/>
            <a:ext cx="7747546" cy="228600"/>
          </a:xfrm>
          <a:prstGeom prst="rect">
            <a:avLst/>
          </a:prstGeom>
          <a:gradFill rotWithShape="0">
            <a:gsLst>
              <a:gs pos="0">
                <a:srgbClr val="D40F1F"/>
              </a:gs>
              <a:gs pos="100000">
                <a:srgbClr val="971320"/>
              </a:gs>
            </a:gsLst>
            <a:lin ang="5400000" scaled="0"/>
          </a:gradFill>
          <a:ln>
            <a:noFill/>
          </a:ln>
        </p:spPr>
        <p:txBody>
          <a:bodyPr rtlCol="0" anchor="ctr"/>
          <a:lstStyle/>
          <a:p>
            <a:pPr algn="ctr"/>
            <a:endParaRPr/>
          </a:p>
        </p:txBody>
      </p:sp>
      <p:sp>
        <p:nvSpPr>
          <p:cNvPr id="57" name="!!i 4c2d5999"/>
          <p:cNvSpPr/>
          <p:nvPr/>
        </p:nvSpPr>
        <p:spPr>
          <a:xfrm>
            <a:off x="2400300" y="5033070"/>
            <a:ext cx="5787330" cy="228600"/>
          </a:xfrm>
          <a:prstGeom prst="rect">
            <a:avLst/>
          </a:prstGeom>
          <a:solidFill>
            <a:srgbClr val="E6CDD1"/>
          </a:solidFill>
          <a:ln>
            <a:noFill/>
          </a:ln>
        </p:spPr>
        <p:txBody>
          <a:bodyPr rtlCol="0" anchor="ctr"/>
          <a:lstStyle/>
          <a:p>
            <a:pPr algn="ctr"/>
            <a:endParaRPr/>
          </a:p>
        </p:txBody>
      </p:sp>
      <p:sp>
        <p:nvSpPr>
          <p:cNvPr id="58" name="!!T four decisions, taken now"/>
          <p:cNvSpPr txBox="1"/>
          <p:nvPr/>
        </p:nvSpPr>
        <p:spPr>
          <a:xfrm>
            <a:off x="6913215" y="4775323"/>
            <a:ext cx="2100786" cy="182880"/>
          </a:xfrm>
          <a:prstGeom prst="rect">
            <a:avLst/>
          </a:prstGeom>
          <a:noFill/>
        </p:spPr>
        <p:txBody>
          <a:bodyPr wrap="none" lIns="0" tIns="0" rIns="0" bIns="0" anchor="t">
            <a:noAutofit/>
          </a:bodyPr>
          <a:lstStyle/>
          <a:p>
            <a:pPr algn="l">
              <a:lnSpc>
                <a:spcPts val="1439"/>
              </a:lnSpc>
              <a:spcBef>
                <a:spcPts val="0"/>
              </a:spcBef>
              <a:spcAft>
                <a:spcPts val="0"/>
              </a:spcAft>
            </a:pPr>
            <a:r>
              <a:rPr sz="1200" b="0" i="0" kern="100">
                <a:solidFill>
                  <a:srgbClr val="1B1716"/>
                </a:solidFill>
                <a:latin typeface="Plus Jakarta Sans SemiBold"/>
              </a:rPr>
              <a:t>four decisions, taken now</a:t>
            </a:r>
          </a:p>
        </p:txBody>
      </p:sp>
      <p:sp>
        <p:nvSpPr>
          <p:cNvPr id="59" name="!!T 83%"/>
          <p:cNvSpPr txBox="1"/>
          <p:nvPr/>
        </p:nvSpPr>
        <p:spPr>
          <a:xfrm>
            <a:off x="8882509" y="4384417"/>
            <a:ext cx="1455557" cy="571500"/>
          </a:xfrm>
          <a:prstGeom prst="rect">
            <a:avLst/>
          </a:prstGeom>
          <a:noFill/>
        </p:spPr>
        <p:txBody>
          <a:bodyPr wrap="none" lIns="0" tIns="0" rIns="0" bIns="0" anchor="t">
            <a:noAutofit/>
          </a:bodyPr>
          <a:lstStyle/>
          <a:p>
            <a:pPr algn="l">
              <a:lnSpc>
                <a:spcPts val="4500"/>
              </a:lnSpc>
              <a:spcBef>
                <a:spcPts val="0"/>
              </a:spcBef>
              <a:spcAft>
                <a:spcPts val="0"/>
              </a:spcAft>
            </a:pPr>
            <a:r>
              <a:rPr sz="4500" b="1" i="0" kern="100" spc="-112">
                <a:solidFill>
                  <a:srgbClr val="C80E1E"/>
                </a:solidFill>
                <a:latin typeface="Plus Jakarta Sans"/>
              </a:rPr>
              <a:t>83%</a:t>
            </a:r>
          </a:p>
        </p:txBody>
      </p:sp>
      <p:sp>
        <p:nvSpPr>
          <p:cNvPr id="60" name="!!T their own way 62%"/>
          <p:cNvSpPr txBox="1"/>
          <p:nvPr/>
        </p:nvSpPr>
        <p:spPr>
          <a:xfrm>
            <a:off x="7014270" y="5310819"/>
            <a:ext cx="1358063"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their own way </a:t>
            </a:r>
            <a:r>
              <a:rPr sz="1050" b="1" i="0" kern="100">
                <a:solidFill>
                  <a:srgbClr val="1B1716"/>
                </a:solidFill>
                <a:latin typeface="Plus Jakarta Sans"/>
              </a:rPr>
              <a:t>62%</a:t>
            </a:r>
          </a:p>
        </p:txBody>
      </p:sp>
      <p:sp>
        <p:nvSpPr>
          <p:cNvPr id="61" name="!!T with Call 3, next 97%"/>
          <p:cNvSpPr txBox="1"/>
          <p:nvPr/>
        </p:nvSpPr>
        <p:spPr>
          <a:xfrm>
            <a:off x="10173444" y="5310819"/>
            <a:ext cx="1472437"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with Call 3, next </a:t>
            </a:r>
            <a:r>
              <a:rPr sz="1050" b="1" i="0" kern="100">
                <a:solidFill>
                  <a:srgbClr val="1B1716"/>
                </a:solidFill>
                <a:latin typeface="Plus Jakarta Sans"/>
              </a:rPr>
              <a:t>97%</a:t>
            </a:r>
          </a:p>
        </p:txBody>
      </p:sp>
      <p:sp>
        <p:nvSpPr>
          <p:cNvPr id="62" name="!!T The price: staying in the home leaves HK"/>
          <p:cNvSpPr txBox="1"/>
          <p:nvPr/>
        </p:nvSpPr>
        <p:spPr>
          <a:xfrm>
            <a:off x="457200" y="5550849"/>
            <a:ext cx="8548506" cy="186690"/>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971320"/>
                </a:solidFill>
                <a:latin typeface="Plus Jakarta Sans"/>
              </a:rPr>
              <a:t>The price:</a:t>
            </a:r>
            <a:r>
              <a:rPr sz="1050" b="0" i="0" kern="100">
                <a:solidFill>
                  <a:srgbClr val="1B1716"/>
                </a:solidFill>
                <a:latin typeface="Plus Jakarta Sans"/>
              </a:rPr>
              <a:t> staying in the home leaves HK$4.1M less to Ryan and Chloe than downsizing would, and the annuities can't be undone.</a:t>
            </a:r>
          </a:p>
        </p:txBody>
      </p:sp>
      <p:sp>
        <p:nvSpPr>
          <p:cNvPr id="63"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64" name="!!T Decided now, four decisions close most o"/>
          <p:cNvSpPr txBox="1"/>
          <p:nvPr/>
        </p:nvSpPr>
        <p:spPr>
          <a:xfrm>
            <a:off x="1639305" y="5984558"/>
            <a:ext cx="8913242"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Decided now, four decisions close most of the gap; what's left is a cost the budget ignores.</a:t>
            </a:r>
          </a:p>
        </p:txBody>
      </p:sp>
      <p:sp>
        <p:nvSpPr>
          <p:cNvPr id="65" name="!!T Chance the money lasts to Carmen's 89, 1"/>
          <p:cNvSpPr txBox="1"/>
          <p:nvPr/>
        </p:nvSpPr>
        <p:spPr>
          <a:xfrm>
            <a:off x="457200" y="6452104"/>
            <a:ext cx="6349520"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Chance the money lasts to Carmen's 89, 10,000 simulated markets (measured); both ways pay Flexi premiums</a:t>
            </a:r>
          </a:p>
          <a:p>
            <a:pPr algn="l">
              <a:lnSpc>
                <a:spcPts val="1170"/>
              </a:lnSpc>
              <a:spcBef>
                <a:spcPts val="0"/>
              </a:spcBef>
              <a:spcAft>
                <a:spcPts val="0"/>
              </a:spcAft>
            </a:pPr>
            <a:r>
              <a:rPr sz="900" b="0" i="0" kern="100">
                <a:solidFill>
                  <a:srgbClr val="80606A"/>
                </a:solidFill>
                <a:latin typeface="Plus Jakarta Sans"/>
              </a:rPr>
              <a:t>for life. Assets: case; the business counted at HK$3.0M, as in the written case.</a:t>
            </a:r>
          </a:p>
        </p:txBody>
      </p:sp>
      <p:sp>
        <p:nvSpPr>
          <p:cNvPr id="66" name="!!T The problem"/>
          <p:cNvSpPr txBox="1"/>
          <p:nvPr/>
        </p:nvSpPr>
        <p:spPr>
          <a:xfrm>
            <a:off x="6675686"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67" name="!!T The answer"/>
          <p:cNvSpPr txBox="1"/>
          <p:nvPr/>
        </p:nvSpPr>
        <p:spPr>
          <a:xfrm>
            <a:off x="7621935"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68" name="!!T The five calls"/>
          <p:cNvSpPr txBox="1"/>
          <p:nvPr/>
        </p:nvSpPr>
        <p:spPr>
          <a:xfrm>
            <a:off x="8482161" y="6536246"/>
            <a:ext cx="905140"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five calls</a:t>
            </a:r>
          </a:p>
        </p:txBody>
      </p:sp>
      <p:sp>
        <p:nvSpPr>
          <p:cNvPr id="69" name="!!T Will it hold"/>
          <p:cNvSpPr txBox="1"/>
          <p:nvPr/>
        </p:nvSpPr>
        <p:spPr>
          <a:xfrm>
            <a:off x="9437787"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70" name="!!T What next"/>
          <p:cNvSpPr txBox="1"/>
          <p:nvPr/>
        </p:nvSpPr>
        <p:spPr>
          <a:xfrm>
            <a:off x="10235803"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71" name="!!T Us"/>
          <p:cNvSpPr txBox="1"/>
          <p:nvPr/>
        </p:nvSpPr>
        <p:spPr>
          <a:xfrm>
            <a:off x="11031141"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72" name="!!T 6 / 15"/>
          <p:cNvSpPr txBox="1"/>
          <p:nvPr/>
        </p:nvSpPr>
        <p:spPr>
          <a:xfrm>
            <a:off x="11409462" y="6535674"/>
            <a:ext cx="459159"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6 / 15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300"/>
                                        <p:tgtEl>
                                          <p:spTgt spid="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300"/>
                                        <p:tgtEl>
                                          <p:spTgt spid="3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3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300"/>
                                        <p:tgtEl>
                                          <p:spTgt spid="3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fade">
                                      <p:cBhvr>
                                        <p:cTn id="24" dur="300"/>
                                        <p:tgtEl>
                                          <p:spTgt spid="3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300"/>
                                        <p:tgtEl>
                                          <p:spTgt spid="4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fade">
                                      <p:cBhvr>
                                        <p:cTn id="30" dur="300"/>
                                        <p:tgtEl>
                                          <p:spTgt spid="4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fade">
                                      <p:cBhvr>
                                        <p:cTn id="33" dur="300"/>
                                        <p:tgtEl>
                                          <p:spTgt spid="4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fade">
                                      <p:cBhvr>
                                        <p:cTn id="36" dur="300"/>
                                        <p:tgtEl>
                                          <p:spTgt spid="4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fade">
                                      <p:cBhvr>
                                        <p:cTn id="39" dur="300"/>
                                        <p:tgtEl>
                                          <p:spTgt spid="4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00"/>
                                        <p:tgtEl>
                                          <p:spTgt spid="1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300"/>
                                        <p:tgtEl>
                                          <p:spTgt spid="3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300"/>
                                        <p:tgtEl>
                                          <p:spTgt spid="3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300"/>
                                        <p:tgtEl>
                                          <p:spTgt spid="4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300"/>
                                        <p:tgtEl>
                                          <p:spTgt spid="4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fade">
                                      <p:cBhvr>
                                        <p:cTn id="59" dur="300"/>
                                        <p:tgtEl>
                                          <p:spTgt spid="5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1"/>
                                        </p:tgtEl>
                                        <p:attrNameLst>
                                          <p:attrName>style.visibility</p:attrName>
                                        </p:attrNameLst>
                                      </p:cBhvr>
                                      <p:to>
                                        <p:strVal val="visible"/>
                                      </p:to>
                                    </p:set>
                                    <p:animEffect transition="in" filter="fade">
                                      <p:cBhvr>
                                        <p:cTn id="62" dur="300"/>
                                        <p:tgtEl>
                                          <p:spTgt spid="5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2"/>
                                        </p:tgtEl>
                                        <p:attrNameLst>
                                          <p:attrName>style.visibility</p:attrName>
                                        </p:attrNameLst>
                                      </p:cBhvr>
                                      <p:to>
                                        <p:strVal val="visible"/>
                                      </p:to>
                                    </p:set>
                                    <p:animEffect transition="in" filter="fade">
                                      <p:cBhvr>
                                        <p:cTn id="65" dur="300"/>
                                        <p:tgtEl>
                                          <p:spTgt spid="52"/>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300"/>
                                        <p:tgtEl>
                                          <p:spTgt spid="1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3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300"/>
                                        <p:tgtEl>
                                          <p:spTgt spid="3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300"/>
                                        <p:tgtEl>
                                          <p:spTgt spid="3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300"/>
                                        <p:tgtEl>
                                          <p:spTgt spid="3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0"/>
                                        </p:tgtEl>
                                        <p:attrNameLst>
                                          <p:attrName>style.visibility</p:attrName>
                                        </p:attrNameLst>
                                      </p:cBhvr>
                                      <p:to>
                                        <p:strVal val="visible"/>
                                      </p:to>
                                    </p:set>
                                    <p:animEffect transition="in" filter="fade">
                                      <p:cBhvr>
                                        <p:cTn id="85" dur="300"/>
                                        <p:tgtEl>
                                          <p:spTgt spid="4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1"/>
                                        </p:tgtEl>
                                        <p:attrNameLst>
                                          <p:attrName>style.visibility</p:attrName>
                                        </p:attrNameLst>
                                      </p:cBhvr>
                                      <p:to>
                                        <p:strVal val="visible"/>
                                      </p:to>
                                    </p:set>
                                    <p:animEffect transition="in" filter="fade">
                                      <p:cBhvr>
                                        <p:cTn id="88" dur="300"/>
                                        <p:tgtEl>
                                          <p:spTgt spid="4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2"/>
                                        </p:tgtEl>
                                        <p:attrNameLst>
                                          <p:attrName>style.visibility</p:attrName>
                                        </p:attrNameLst>
                                      </p:cBhvr>
                                      <p:to>
                                        <p:strVal val="visible"/>
                                      </p:to>
                                    </p:set>
                                    <p:animEffect transition="in" filter="fade">
                                      <p:cBhvr>
                                        <p:cTn id="91" dur="300"/>
                                        <p:tgtEl>
                                          <p:spTgt spid="42"/>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53"/>
                                        </p:tgtEl>
                                        <p:attrNameLst>
                                          <p:attrName>style.visibility</p:attrName>
                                        </p:attrNameLst>
                                      </p:cBhvr>
                                      <p:to>
                                        <p:strVal val="visible"/>
                                      </p:to>
                                    </p:set>
                                    <p:animEffect transition="in" filter="fade">
                                      <p:cBhvr>
                                        <p:cTn id="96" dur="300"/>
                                        <p:tgtEl>
                                          <p:spTgt spid="5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4"/>
                                        </p:tgtEl>
                                        <p:attrNameLst>
                                          <p:attrName>style.visibility</p:attrName>
                                        </p:attrNameLst>
                                      </p:cBhvr>
                                      <p:to>
                                        <p:strVal val="visible"/>
                                      </p:to>
                                    </p:set>
                                    <p:animEffect transition="in" filter="fade">
                                      <p:cBhvr>
                                        <p:cTn id="99" dur="300"/>
                                        <p:tgtEl>
                                          <p:spTgt spid="5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5"/>
                                        </p:tgtEl>
                                        <p:attrNameLst>
                                          <p:attrName>style.visibility</p:attrName>
                                        </p:attrNameLst>
                                      </p:cBhvr>
                                      <p:to>
                                        <p:strVal val="visible"/>
                                      </p:to>
                                    </p:set>
                                    <p:animEffect transition="in" filter="fade">
                                      <p:cBhvr>
                                        <p:cTn id="102" dur="300"/>
                                        <p:tgtEl>
                                          <p:spTgt spid="5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6"/>
                                        </p:tgtEl>
                                        <p:attrNameLst>
                                          <p:attrName>style.visibility</p:attrName>
                                        </p:attrNameLst>
                                      </p:cBhvr>
                                      <p:to>
                                        <p:strVal val="visible"/>
                                      </p:to>
                                    </p:set>
                                    <p:animEffect transition="in" filter="fade">
                                      <p:cBhvr>
                                        <p:cTn id="105" dur="300"/>
                                        <p:tgtEl>
                                          <p:spTgt spid="5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7"/>
                                        </p:tgtEl>
                                        <p:attrNameLst>
                                          <p:attrName>style.visibility</p:attrName>
                                        </p:attrNameLst>
                                      </p:cBhvr>
                                      <p:to>
                                        <p:strVal val="visible"/>
                                      </p:to>
                                    </p:set>
                                    <p:animEffect transition="in" filter="fade">
                                      <p:cBhvr>
                                        <p:cTn id="108" dur="300"/>
                                        <p:tgtEl>
                                          <p:spTgt spid="5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8"/>
                                        </p:tgtEl>
                                        <p:attrNameLst>
                                          <p:attrName>style.visibility</p:attrName>
                                        </p:attrNameLst>
                                      </p:cBhvr>
                                      <p:to>
                                        <p:strVal val="visible"/>
                                      </p:to>
                                    </p:set>
                                    <p:animEffect transition="in" filter="fade">
                                      <p:cBhvr>
                                        <p:cTn id="111" dur="300"/>
                                        <p:tgtEl>
                                          <p:spTgt spid="5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59"/>
                                        </p:tgtEl>
                                        <p:attrNameLst>
                                          <p:attrName>style.visibility</p:attrName>
                                        </p:attrNameLst>
                                      </p:cBhvr>
                                      <p:to>
                                        <p:strVal val="visible"/>
                                      </p:to>
                                    </p:set>
                                    <p:animEffect transition="in" filter="fade">
                                      <p:cBhvr>
                                        <p:cTn id="114" dur="300"/>
                                        <p:tgtEl>
                                          <p:spTgt spid="5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0"/>
                                        </p:tgtEl>
                                        <p:attrNameLst>
                                          <p:attrName>style.visibility</p:attrName>
                                        </p:attrNameLst>
                                      </p:cBhvr>
                                      <p:to>
                                        <p:strVal val="visible"/>
                                      </p:to>
                                    </p:set>
                                    <p:animEffect transition="in" filter="fade">
                                      <p:cBhvr>
                                        <p:cTn id="117" dur="300"/>
                                        <p:tgtEl>
                                          <p:spTgt spid="6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1"/>
                                        </p:tgtEl>
                                        <p:attrNameLst>
                                          <p:attrName>style.visibility</p:attrName>
                                        </p:attrNameLst>
                                      </p:cBhvr>
                                      <p:to>
                                        <p:strVal val="visible"/>
                                      </p:to>
                                    </p:set>
                                    <p:animEffect transition="in" filter="fade">
                                      <p:cBhvr>
                                        <p:cTn id="120" dur="300"/>
                                        <p:tgtEl>
                                          <p:spTgt spid="61"/>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62"/>
                                        </p:tgtEl>
                                        <p:attrNameLst>
                                          <p:attrName>style.visibility</p:attrName>
                                        </p:attrNameLst>
                                      </p:cBhvr>
                                      <p:to>
                                        <p:strVal val="visible"/>
                                      </p:to>
                                    </p:set>
                                    <p:animEffect transition="in" filter="fade">
                                      <p:cBhvr>
                                        <p:cTn id="123" dur="300"/>
                                        <p:tgtEl>
                                          <p:spTgt spid="62"/>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63"/>
                                        </p:tgtEl>
                                        <p:attrNameLst>
                                          <p:attrName>style.visibility</p:attrName>
                                        </p:attrNameLst>
                                      </p:cBhvr>
                                      <p:to>
                                        <p:strVal val="visible"/>
                                      </p:to>
                                    </p:set>
                                    <p:animEffect transition="in" filter="fade">
                                      <p:cBhvr>
                                        <p:cTn id="126" dur="300"/>
                                        <p:tgtEl>
                                          <p:spTgt spid="63"/>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64"/>
                                        </p:tgtEl>
                                        <p:attrNameLst>
                                          <p:attrName>style.visibility</p:attrName>
                                        </p:attrNameLst>
                                      </p:cBhvr>
                                      <p:to>
                                        <p:strVal val="visible"/>
                                      </p:to>
                                    </p:set>
                                    <p:animEffect transition="in" filter="fade">
                                      <p:cBhvr>
                                        <p:cTn id="129" dur="3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Fix the cost the budget ignores: in that same future, the money now lasts to 89 and they stay in their home">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pic>
        <p:nvPicPr>
          <p:cNvPr id="3"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6150" y="247650"/>
            <a:ext cx="628650" cy="600075"/>
          </a:xfrm>
          <a:prstGeom prst="rect">
            <a:avLst/>
          </a:prstGeom>
        </p:spPr>
      </p:pic>
      <p:sp>
        <p:nvSpPr>
          <p:cNvPr id="4" name="!!T Call 3: Retirement"/>
          <p:cNvSpPr txBox="1"/>
          <p:nvPr/>
        </p:nvSpPr>
        <p:spPr>
          <a:xfrm>
            <a:off x="638175" y="324421"/>
            <a:ext cx="1319885"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Call 3: Retirement</a:t>
            </a:r>
          </a:p>
        </p:txBody>
      </p:sp>
      <p:sp>
        <p:nvSpPr>
          <p:cNvPr id="5" name="!!T Fix the cost the budget ignores: in that"/>
          <p:cNvSpPr txBox="1"/>
          <p:nvPr/>
        </p:nvSpPr>
        <p:spPr>
          <a:xfrm>
            <a:off x="638175" y="529852"/>
            <a:ext cx="7353648"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Fix the cost the budget ignores: in that same future,</a:t>
            </a:r>
          </a:p>
          <a:p>
            <a:pPr algn="l">
              <a:lnSpc>
                <a:spcPts val="2523"/>
              </a:lnSpc>
              <a:spcBef>
                <a:spcPts val="0"/>
              </a:spcBef>
              <a:spcAft>
                <a:spcPts val="0"/>
              </a:spcAft>
            </a:pPr>
            <a:r>
              <a:rPr sz="2175" b="1" i="0" kern="100" spc="-38">
                <a:solidFill>
                  <a:srgbClr val="1B1716"/>
                </a:solidFill>
                <a:latin typeface="Plus Jakarta Sans"/>
              </a:rPr>
              <a:t>the money now lasts to 89 and they stay in their home</a:t>
            </a:r>
          </a:p>
        </p:txBody>
      </p:sp>
      <p:sp>
        <p:nvSpPr>
          <p:cNvPr id="6" name="!!Rule 7f333516"/>
          <p:cNvSpPr/>
          <p:nvPr/>
        </p:nvSpPr>
        <p:spPr>
          <a:xfrm>
            <a:off x="457200" y="1740098"/>
            <a:ext cx="4565600" cy="9525"/>
          </a:xfrm>
          <a:prstGeom prst="rect">
            <a:avLst/>
          </a:prstGeom>
          <a:solidFill>
            <a:srgbClr val="1B1716"/>
          </a:solidFill>
          <a:ln>
            <a:noFill/>
          </a:ln>
        </p:spPr>
        <p:txBody>
          <a:bodyPr rtlCol="0" anchor="ctr"/>
          <a:lstStyle/>
          <a:p>
            <a:pPr algn="ctr"/>
            <a:endParaRPr/>
          </a:p>
        </p:txBody>
      </p:sp>
      <p:sp>
        <p:nvSpPr>
          <p:cNvPr id="7" name="!!T Two fixes for what the budget leaves out"/>
          <p:cNvSpPr txBox="1"/>
          <p:nvPr/>
        </p:nvSpPr>
        <p:spPr>
          <a:xfrm>
            <a:off x="457200" y="1445824"/>
            <a:ext cx="3502938"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Two fixes for what the budget leaves out…</a:t>
            </a:r>
          </a:p>
        </p:txBody>
      </p:sp>
      <p:sp>
        <p:nvSpPr>
          <p:cNvPr id="8" name="!!i 4accf51d"/>
          <p:cNvSpPr/>
          <p:nvPr/>
        </p:nvSpPr>
        <p:spPr>
          <a:xfrm>
            <a:off x="457200" y="1902023"/>
            <a:ext cx="247650" cy="247650"/>
          </a:xfrm>
          <a:prstGeom prst="ellipse">
            <a:avLst/>
          </a:prstGeom>
          <a:solidFill>
            <a:srgbClr val="F8EFF0"/>
          </a:solidFill>
          <a:ln>
            <a:noFill/>
          </a:ln>
        </p:spPr>
        <p:txBody>
          <a:bodyPr rtlCol="0" anchor="ctr"/>
          <a:lstStyle/>
          <a:p>
            <a:pPr algn="ctr"/>
            <a:endParaRPr/>
          </a:p>
        </p:txBody>
      </p:sp>
      <p:sp>
        <p:nvSpPr>
          <p:cNvPr id="9" name="!!T 1"/>
          <p:cNvSpPr txBox="1"/>
          <p:nvPr/>
        </p:nvSpPr>
        <p:spPr>
          <a:xfrm>
            <a:off x="554087" y="1951172"/>
            <a:ext cx="171408" cy="133350"/>
          </a:xfrm>
          <a:prstGeom prst="rect">
            <a:avLst/>
          </a:prstGeom>
          <a:noFill/>
        </p:spPr>
        <p:txBody>
          <a:bodyPr wrap="none" lIns="0" tIns="0" rIns="0" bIns="0" anchor="t">
            <a:noAutofit/>
          </a:bodyPr>
          <a:lstStyle/>
          <a:p>
            <a:pPr algn="l">
              <a:lnSpc>
                <a:spcPts val="1050"/>
              </a:lnSpc>
              <a:spcBef>
                <a:spcPts val="0"/>
              </a:spcBef>
              <a:spcAft>
                <a:spcPts val="0"/>
              </a:spcAft>
            </a:pPr>
            <a:r>
              <a:rPr sz="1050" b="1" i="0" kern="100">
                <a:solidFill>
                  <a:srgbClr val="971320"/>
                </a:solidFill>
                <a:latin typeface="Plus Jakarta Sans"/>
              </a:rPr>
              <a:t>1</a:t>
            </a:r>
          </a:p>
        </p:txBody>
      </p:sp>
      <p:sp>
        <p:nvSpPr>
          <p:cNvPr id="10" name="!!T Review the medical plan at Adrian's 75"/>
          <p:cNvSpPr txBox="1"/>
          <p:nvPr/>
        </p:nvSpPr>
        <p:spPr>
          <a:xfrm>
            <a:off x="800100" y="1902184"/>
            <a:ext cx="3449616" cy="222885"/>
          </a:xfrm>
          <a:prstGeom prst="rect">
            <a:avLst/>
          </a:prstGeom>
          <a:noFill/>
        </p:spPr>
        <p:txBody>
          <a:bodyPr wrap="none" lIns="0" tIns="0" rIns="0" bIns="0" anchor="t">
            <a:noAutofit/>
          </a:bodyPr>
          <a:lstStyle/>
          <a:p>
            <a:pPr algn="l">
              <a:lnSpc>
                <a:spcPts val="1754"/>
              </a:lnSpc>
              <a:spcBef>
                <a:spcPts val="0"/>
              </a:spcBef>
              <a:spcAft>
                <a:spcPts val="0"/>
              </a:spcAft>
            </a:pPr>
            <a:r>
              <a:rPr sz="1350" b="1" i="0" kern="100">
                <a:solidFill>
                  <a:srgbClr val="1B1716"/>
                </a:solidFill>
                <a:latin typeface="Plus Jakarta Sans"/>
              </a:rPr>
              <a:t>Review the medical plan at Adrian's 75</a:t>
            </a:r>
          </a:p>
        </p:txBody>
      </p:sp>
      <p:sp>
        <p:nvSpPr>
          <p:cNvPr id="11" name="!!T Medical premiums a year, above the HK$65"/>
          <p:cNvSpPr txBox="1"/>
          <p:nvPr/>
        </p:nvSpPr>
        <p:spPr>
          <a:xfrm>
            <a:off x="800100" y="2194536"/>
            <a:ext cx="4229728"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Medical premiums a year, above the HK$65K the budget holds</a:t>
            </a:r>
          </a:p>
        </p:txBody>
      </p:sp>
      <p:pic>
        <p:nvPicPr>
          <p:cNvPr id="12" name="!!Drawing d15b4eef"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100" y="2482007"/>
            <a:ext cx="3346400" cy="933450"/>
          </a:xfrm>
          <a:prstGeom prst="rect">
            <a:avLst/>
          </a:prstGeom>
        </p:spPr>
      </p:pic>
      <p:sp>
        <p:nvSpPr>
          <p:cNvPr id="13" name="!!Rule d5bedfbf"/>
          <p:cNvSpPr/>
          <p:nvPr/>
        </p:nvSpPr>
        <p:spPr>
          <a:xfrm>
            <a:off x="1953816" y="2424857"/>
            <a:ext cx="9525" cy="990600"/>
          </a:xfrm>
          <a:prstGeom prst="rect">
            <a:avLst/>
          </a:prstGeom>
          <a:solidFill>
            <a:srgbClr val="80606A"/>
          </a:solidFill>
          <a:ln>
            <a:noFill/>
          </a:ln>
        </p:spPr>
        <p:txBody>
          <a:bodyPr rtlCol="0" anchor="ctr"/>
          <a:lstStyle/>
          <a:p>
            <a:pPr algn="ctr"/>
            <a:endParaRPr/>
          </a:p>
        </p:txBody>
      </p:sp>
      <p:sp>
        <p:nvSpPr>
          <p:cNvPr id="14" name="!!T Review at 75"/>
          <p:cNvSpPr txBox="1"/>
          <p:nvPr/>
        </p:nvSpPr>
        <p:spPr>
          <a:xfrm>
            <a:off x="2020491" y="2378756"/>
            <a:ext cx="957042"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Review at 75</a:t>
            </a:r>
          </a:p>
        </p:txBody>
      </p:sp>
      <p:cxnSp>
        <p:nvCxnSpPr>
          <p:cNvPr id="15" name="!!Rule 36e5641e"/>
          <p:cNvCxnSpPr/>
          <p:nvPr/>
        </p:nvCxnSpPr>
        <p:spPr>
          <a:xfrm>
            <a:off x="3112740" y="2724596"/>
            <a:ext cx="0" cy="690861"/>
          </a:xfrm>
          <a:prstGeom prst="line">
            <a:avLst/>
          </a:prstGeom>
          <a:ln w="9525">
            <a:solidFill>
              <a:srgbClr val="B5979D"/>
            </a:solidFill>
            <a:prstDash val="dash"/>
          </a:ln>
        </p:spPr>
        <p:style>
          <a:lnRef idx="2">
            <a:schemeClr val="accent1"/>
          </a:lnRef>
          <a:fillRef idx="0">
            <a:schemeClr val="accent1"/>
          </a:fillRef>
          <a:effectRef idx="1">
            <a:schemeClr val="accent1"/>
          </a:effectRef>
          <a:fontRef idx="minor">
            <a:schemeClr val="tx1"/>
          </a:fontRef>
        </p:style>
      </p:cxnSp>
      <p:sp>
        <p:nvSpPr>
          <p:cNvPr id="16" name="!!T HK$375K"/>
          <p:cNvSpPr txBox="1"/>
          <p:nvPr/>
        </p:nvSpPr>
        <p:spPr>
          <a:xfrm>
            <a:off x="3087886" y="2439722"/>
            <a:ext cx="930854" cy="171450"/>
          </a:xfrm>
          <a:prstGeom prst="rect">
            <a:avLst/>
          </a:prstGeom>
          <a:noFill/>
        </p:spPr>
        <p:txBody>
          <a:bodyPr wrap="none" lIns="0" tIns="0" rIns="0" bIns="0" anchor="t">
            <a:noAutofit/>
          </a:bodyPr>
          <a:lstStyle/>
          <a:p>
            <a:pPr algn="l">
              <a:lnSpc>
                <a:spcPts val="1350"/>
              </a:lnSpc>
              <a:spcBef>
                <a:spcPts val="0"/>
              </a:spcBef>
              <a:spcAft>
                <a:spcPts val="0"/>
              </a:spcAft>
            </a:pPr>
            <a:r>
              <a:rPr sz="1350" b="1" i="0" kern="100">
                <a:solidFill>
                  <a:srgbClr val="1B1716"/>
                </a:solidFill>
                <a:latin typeface="Plus Jakarta Sans"/>
              </a:rPr>
              <a:t>HK$375K</a:t>
            </a:r>
          </a:p>
        </p:txBody>
      </p:sp>
      <p:sp>
        <p:nvSpPr>
          <p:cNvPr id="17" name="!!T saves about two-thirds"/>
          <p:cNvSpPr txBox="1"/>
          <p:nvPr/>
        </p:nvSpPr>
        <p:spPr>
          <a:xfrm>
            <a:off x="2181933" y="2910132"/>
            <a:ext cx="935903" cy="320010"/>
          </a:xfrm>
          <a:prstGeom prst="rect">
            <a:avLst/>
          </a:prstGeom>
          <a:noFill/>
        </p:spPr>
        <p:txBody>
          <a:bodyPr wrap="none" lIns="0" tIns="0" rIns="0" bIns="0" anchor="t">
            <a:noAutofit/>
          </a:bodyPr>
          <a:lstStyle/>
          <a:p>
            <a:pPr algn="ctr">
              <a:lnSpc>
                <a:spcPts val="1260"/>
              </a:lnSpc>
              <a:spcBef>
                <a:spcPts val="0"/>
              </a:spcBef>
              <a:spcAft>
                <a:spcPts val="0"/>
              </a:spcAft>
            </a:pPr>
            <a:r>
              <a:rPr sz="1050" b="0" i="0" kern="100">
                <a:solidFill>
                  <a:srgbClr val="971320"/>
                </a:solidFill>
                <a:latin typeface="Plus Jakarta Sans SemiBold"/>
              </a:rPr>
              <a:t>saves about</a:t>
            </a:r>
          </a:p>
          <a:p>
            <a:pPr algn="ctr">
              <a:lnSpc>
                <a:spcPts val="1260"/>
              </a:lnSpc>
              <a:spcBef>
                <a:spcPts val="0"/>
              </a:spcBef>
              <a:spcAft>
                <a:spcPts val="0"/>
              </a:spcAft>
            </a:pPr>
            <a:r>
              <a:rPr sz="1050" b="0" i="0" kern="100">
                <a:solidFill>
                  <a:srgbClr val="971320"/>
                </a:solidFill>
                <a:latin typeface="Plus Jakarta Sans SemiBold"/>
              </a:rPr>
              <a:t>two-thirds</a:t>
            </a:r>
          </a:p>
        </p:txBody>
      </p:sp>
      <p:sp>
        <p:nvSpPr>
          <p:cNvPr id="18" name="!!T Flexi for life"/>
          <p:cNvSpPr txBox="1"/>
          <p:nvPr/>
        </p:nvSpPr>
        <p:spPr>
          <a:xfrm>
            <a:off x="4241750" y="2494961"/>
            <a:ext cx="546556" cy="306645"/>
          </a:xfrm>
          <a:prstGeom prst="rect">
            <a:avLst/>
          </a:prstGeom>
          <a:noFill/>
        </p:spPr>
        <p:txBody>
          <a:bodyPr wrap="none" lIns="0" tIns="0" rIns="0" bIns="0" anchor="t">
            <a:noAutofit/>
          </a:bodyPr>
          <a:lstStyle/>
          <a:p>
            <a:pPr algn="l">
              <a:lnSpc>
                <a:spcPts val="1207"/>
              </a:lnSpc>
              <a:spcBef>
                <a:spcPts val="0"/>
              </a:spcBef>
              <a:spcAft>
                <a:spcPts val="0"/>
              </a:spcAft>
            </a:pPr>
            <a:r>
              <a:rPr sz="1050" b="0" i="0" kern="100">
                <a:solidFill>
                  <a:srgbClr val="A9707A"/>
                </a:solidFill>
                <a:latin typeface="Plus Jakarta Sans SemiBold"/>
              </a:rPr>
              <a:t>Flexi</a:t>
            </a:r>
          </a:p>
          <a:p>
            <a:pPr algn="l">
              <a:lnSpc>
                <a:spcPts val="1207"/>
              </a:lnSpc>
              <a:spcBef>
                <a:spcPts val="0"/>
              </a:spcBef>
              <a:spcAft>
                <a:spcPts val="0"/>
              </a:spcAft>
            </a:pPr>
            <a:r>
              <a:rPr sz="1050" b="0" i="0" kern="100">
                <a:solidFill>
                  <a:srgbClr val="A9707A"/>
                </a:solidFill>
                <a:latin typeface="Plus Jakarta Sans SemiBold"/>
              </a:rPr>
              <a:t>for life</a:t>
            </a:r>
          </a:p>
        </p:txBody>
      </p:sp>
      <p:sp>
        <p:nvSpPr>
          <p:cNvPr id="19" name="!!T Standard, after review"/>
          <p:cNvSpPr txBox="1"/>
          <p:nvPr/>
        </p:nvSpPr>
        <p:spPr>
          <a:xfrm>
            <a:off x="4241750" y="3134773"/>
            <a:ext cx="929750" cy="306645"/>
          </a:xfrm>
          <a:prstGeom prst="rect">
            <a:avLst/>
          </a:prstGeom>
          <a:noFill/>
        </p:spPr>
        <p:txBody>
          <a:bodyPr wrap="none" lIns="0" tIns="0" rIns="0" bIns="0" anchor="t">
            <a:noAutofit/>
          </a:bodyPr>
          <a:lstStyle/>
          <a:p>
            <a:pPr algn="l">
              <a:lnSpc>
                <a:spcPts val="1207"/>
              </a:lnSpc>
              <a:spcBef>
                <a:spcPts val="0"/>
              </a:spcBef>
              <a:spcAft>
                <a:spcPts val="0"/>
              </a:spcAft>
            </a:pPr>
            <a:r>
              <a:rPr sz="1050" b="0" i="0" kern="100">
                <a:solidFill>
                  <a:srgbClr val="971320"/>
                </a:solidFill>
                <a:latin typeface="Plus Jakarta Sans SemiBold"/>
              </a:rPr>
              <a:t>Standard,</a:t>
            </a:r>
          </a:p>
          <a:p>
            <a:pPr algn="l">
              <a:lnSpc>
                <a:spcPts val="1207"/>
              </a:lnSpc>
              <a:spcBef>
                <a:spcPts val="0"/>
              </a:spcBef>
              <a:spcAft>
                <a:spcPts val="0"/>
              </a:spcAft>
            </a:pPr>
            <a:r>
              <a:rPr sz="1050" b="0" i="0" kern="100">
                <a:solidFill>
                  <a:srgbClr val="971320"/>
                </a:solidFill>
                <a:latin typeface="Plus Jakarta Sans SemiBold"/>
              </a:rPr>
              <a:t>after review</a:t>
            </a:r>
          </a:p>
        </p:txBody>
      </p:sp>
      <p:sp>
        <p:nvSpPr>
          <p:cNvPr id="20" name="!!Rule e8553401"/>
          <p:cNvSpPr/>
          <p:nvPr/>
        </p:nvSpPr>
        <p:spPr>
          <a:xfrm>
            <a:off x="800100" y="3415457"/>
            <a:ext cx="3346400" cy="9525"/>
          </a:xfrm>
          <a:prstGeom prst="rect">
            <a:avLst/>
          </a:prstGeom>
          <a:solidFill>
            <a:srgbClr val="1B1716"/>
          </a:solidFill>
          <a:ln>
            <a:noFill/>
          </a:ln>
        </p:spPr>
        <p:txBody>
          <a:bodyPr rtlCol="0" anchor="ctr"/>
          <a:lstStyle/>
          <a:p>
            <a:pPr algn="ctr"/>
            <a:endParaRPr/>
          </a:p>
        </p:txBody>
      </p:sp>
      <p:sp>
        <p:nvSpPr>
          <p:cNvPr id="21" name="!!T 2037"/>
          <p:cNvSpPr txBox="1"/>
          <p:nvPr/>
        </p:nvSpPr>
        <p:spPr>
          <a:xfrm>
            <a:off x="800100" y="3464606"/>
            <a:ext cx="465469"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2037</a:t>
            </a:r>
          </a:p>
        </p:txBody>
      </p:sp>
      <p:sp>
        <p:nvSpPr>
          <p:cNvPr id="22" name="!!T 2047"/>
          <p:cNvSpPr txBox="1"/>
          <p:nvPr/>
        </p:nvSpPr>
        <p:spPr>
          <a:xfrm>
            <a:off x="1786756" y="3464606"/>
            <a:ext cx="468466"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2047</a:t>
            </a:r>
          </a:p>
        </p:txBody>
      </p:sp>
      <p:sp>
        <p:nvSpPr>
          <p:cNvPr id="23" name="!!T Adrian dies"/>
          <p:cNvSpPr txBox="1"/>
          <p:nvPr/>
        </p:nvSpPr>
        <p:spPr>
          <a:xfrm>
            <a:off x="2761134" y="3464606"/>
            <a:ext cx="849609"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Adrian dies</a:t>
            </a:r>
          </a:p>
        </p:txBody>
      </p:sp>
      <p:sp>
        <p:nvSpPr>
          <p:cNvPr id="24" name="!!T 2066"/>
          <p:cNvSpPr txBox="1"/>
          <p:nvPr/>
        </p:nvSpPr>
        <p:spPr>
          <a:xfrm>
            <a:off x="3809554" y="3464606"/>
            <a:ext cx="47146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2066</a:t>
            </a:r>
          </a:p>
        </p:txBody>
      </p:sp>
      <p:sp>
        <p:nvSpPr>
          <p:cNvPr id="25" name="!!T The price: lower limits and fewer privat"/>
          <p:cNvSpPr txBox="1"/>
          <p:nvPr/>
        </p:nvSpPr>
        <p:spPr>
          <a:xfrm>
            <a:off x="800100" y="3685586"/>
            <a:ext cx="3939138" cy="18669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971320"/>
                </a:solidFill>
                <a:latin typeface="Plus Jakarta Sans SemiBold"/>
              </a:rPr>
              <a:t>The price:</a:t>
            </a:r>
            <a:r>
              <a:rPr sz="1050" b="0" i="0" kern="100">
                <a:solidFill>
                  <a:srgbClr val="1B1716"/>
                </a:solidFill>
                <a:latin typeface="Plus Jakarta Sans"/>
              </a:rPr>
              <a:t> lower limits and fewer private-hospital choices.</a:t>
            </a:r>
          </a:p>
        </p:txBody>
      </p:sp>
      <p:sp>
        <p:nvSpPr>
          <p:cNvPr id="26" name="!!Rule eb012fc9"/>
          <p:cNvSpPr/>
          <p:nvPr/>
        </p:nvSpPr>
        <p:spPr>
          <a:xfrm>
            <a:off x="457200" y="4002137"/>
            <a:ext cx="4565600" cy="9525"/>
          </a:xfrm>
          <a:prstGeom prst="rect">
            <a:avLst/>
          </a:prstGeom>
          <a:solidFill>
            <a:srgbClr val="ECDADD"/>
          </a:solidFill>
          <a:ln>
            <a:noFill/>
          </a:ln>
        </p:spPr>
        <p:txBody>
          <a:bodyPr rtlCol="0" anchor="ctr"/>
          <a:lstStyle/>
          <a:p>
            <a:pPr algn="ctr"/>
            <a:endParaRPr/>
          </a:p>
        </p:txBody>
      </p:sp>
      <p:sp>
        <p:nvSpPr>
          <p:cNvPr id="27" name="!!i e4531eee"/>
          <p:cNvSpPr/>
          <p:nvPr/>
        </p:nvSpPr>
        <p:spPr>
          <a:xfrm>
            <a:off x="457200" y="4125962"/>
            <a:ext cx="247650" cy="247650"/>
          </a:xfrm>
          <a:prstGeom prst="ellipse">
            <a:avLst/>
          </a:prstGeom>
          <a:solidFill>
            <a:srgbClr val="F8EFF0"/>
          </a:solidFill>
          <a:ln>
            <a:noFill/>
          </a:ln>
        </p:spPr>
        <p:txBody>
          <a:bodyPr rtlCol="0" anchor="ctr"/>
          <a:lstStyle/>
          <a:p>
            <a:pPr algn="ctr"/>
            <a:endParaRPr/>
          </a:p>
        </p:txBody>
      </p:sp>
      <p:sp>
        <p:nvSpPr>
          <p:cNvPr id="28" name="!!T 2"/>
          <p:cNvSpPr txBox="1"/>
          <p:nvPr/>
        </p:nvSpPr>
        <p:spPr>
          <a:xfrm>
            <a:off x="541139" y="4175111"/>
            <a:ext cx="198700" cy="133350"/>
          </a:xfrm>
          <a:prstGeom prst="rect">
            <a:avLst/>
          </a:prstGeom>
          <a:noFill/>
        </p:spPr>
        <p:txBody>
          <a:bodyPr wrap="none" lIns="0" tIns="0" rIns="0" bIns="0" anchor="t">
            <a:noAutofit/>
          </a:bodyPr>
          <a:lstStyle/>
          <a:p>
            <a:pPr algn="l">
              <a:lnSpc>
                <a:spcPts val="1050"/>
              </a:lnSpc>
              <a:spcBef>
                <a:spcPts val="0"/>
              </a:spcBef>
              <a:spcAft>
                <a:spcPts val="0"/>
              </a:spcAft>
            </a:pPr>
            <a:r>
              <a:rPr sz="1050" b="1" i="0" kern="100">
                <a:solidFill>
                  <a:srgbClr val="971320"/>
                </a:solidFill>
                <a:latin typeface="Plus Jakarta Sans"/>
              </a:rPr>
              <a:t>2</a:t>
            </a:r>
          </a:p>
        </p:txBody>
      </p:sp>
      <p:sp>
        <p:nvSpPr>
          <p:cNvPr id="29" name="!!T From 2039, spending rules for the bad ye"/>
          <p:cNvSpPr txBox="1"/>
          <p:nvPr/>
        </p:nvSpPr>
        <p:spPr>
          <a:xfrm>
            <a:off x="800100" y="4126123"/>
            <a:ext cx="3950812" cy="222885"/>
          </a:xfrm>
          <a:prstGeom prst="rect">
            <a:avLst/>
          </a:prstGeom>
          <a:noFill/>
        </p:spPr>
        <p:txBody>
          <a:bodyPr wrap="none" lIns="0" tIns="0" rIns="0" bIns="0" anchor="t">
            <a:noAutofit/>
          </a:bodyPr>
          <a:lstStyle/>
          <a:p>
            <a:pPr algn="l">
              <a:lnSpc>
                <a:spcPts val="1754"/>
              </a:lnSpc>
              <a:spcBef>
                <a:spcPts val="0"/>
              </a:spcBef>
              <a:spcAft>
                <a:spcPts val="0"/>
              </a:spcAft>
            </a:pPr>
            <a:r>
              <a:rPr sz="1350" b="1" i="0" kern="100">
                <a:solidFill>
                  <a:srgbClr val="1B1716"/>
                </a:solidFill>
                <a:latin typeface="Plus Jakarta Sans"/>
              </a:rPr>
              <a:t>From 2039, spending rules for the bad years</a:t>
            </a:r>
          </a:p>
        </p:txBody>
      </p:sp>
      <p:sp>
        <p:nvSpPr>
          <p:cNvPr id="30" name="!!span 248105c7"/>
          <p:cNvSpPr/>
          <p:nvPr/>
        </p:nvSpPr>
        <p:spPr>
          <a:xfrm>
            <a:off x="800100" y="4468862"/>
            <a:ext cx="381000" cy="381000"/>
          </a:xfrm>
          <a:prstGeom prst="ellipse">
            <a:avLst/>
          </a:prstGeom>
          <a:solidFill>
            <a:srgbClr val="F8EFF0"/>
          </a:solidFill>
          <a:ln>
            <a:noFill/>
          </a:ln>
        </p:spPr>
        <p:txBody>
          <a:bodyPr rtlCol="0" anchor="ctr"/>
          <a:lstStyle/>
          <a:p>
            <a:pPr algn="ctr"/>
            <a:endParaRPr/>
          </a:p>
        </p:txBody>
      </p:sp>
      <p:pic>
        <p:nvPicPr>
          <p:cNvPr id="31" name="!!Drawing cbb9bc4c"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5350" y="4564112"/>
            <a:ext cx="190500" cy="190500"/>
          </a:xfrm>
          <a:prstGeom prst="rect">
            <a:avLst/>
          </a:prstGeom>
        </p:spPr>
      </p:pic>
      <p:sp>
        <p:nvSpPr>
          <p:cNvPr id="32" name="!!T No raise after a market fall"/>
          <p:cNvSpPr txBox="1"/>
          <p:nvPr/>
        </p:nvSpPr>
        <p:spPr>
          <a:xfrm>
            <a:off x="800100" y="4898059"/>
            <a:ext cx="1118428" cy="346591"/>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Medium"/>
              </a:rPr>
              <a:t>No raise after a</a:t>
            </a:r>
          </a:p>
          <a:p>
            <a:pPr algn="l">
              <a:lnSpc>
                <a:spcPts val="1364"/>
              </a:lnSpc>
              <a:spcBef>
                <a:spcPts val="0"/>
              </a:spcBef>
              <a:spcAft>
                <a:spcPts val="0"/>
              </a:spcAft>
            </a:pPr>
            <a:r>
              <a:rPr sz="1050" b="0" i="0" kern="100">
                <a:solidFill>
                  <a:srgbClr val="1B1716"/>
                </a:solidFill>
                <a:latin typeface="Plus Jakarta Sans Medium"/>
              </a:rPr>
              <a:t>market fall</a:t>
            </a:r>
          </a:p>
        </p:txBody>
      </p:sp>
      <p:sp>
        <p:nvSpPr>
          <p:cNvPr id="33" name="!!span 9f365eb7"/>
          <p:cNvSpPr/>
          <p:nvPr/>
        </p:nvSpPr>
        <p:spPr>
          <a:xfrm>
            <a:off x="2258467" y="4468862"/>
            <a:ext cx="381000" cy="381000"/>
          </a:xfrm>
          <a:prstGeom prst="ellipse">
            <a:avLst/>
          </a:prstGeom>
          <a:solidFill>
            <a:srgbClr val="F8EFF0"/>
          </a:solidFill>
          <a:ln>
            <a:noFill/>
          </a:ln>
        </p:spPr>
        <p:txBody>
          <a:bodyPr rtlCol="0" anchor="ctr"/>
          <a:lstStyle/>
          <a:p>
            <a:pPr algn="ctr"/>
            <a:endParaRPr/>
          </a:p>
        </p:txBody>
      </p:sp>
      <p:pic>
        <p:nvPicPr>
          <p:cNvPr id="34" name="!!Drawing d0dd7bd5" descr="imag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53717" y="4564112"/>
            <a:ext cx="190500" cy="190500"/>
          </a:xfrm>
          <a:prstGeom prst="rect">
            <a:avLst/>
          </a:prstGeom>
        </p:spPr>
      </p:pic>
      <p:sp>
        <p:nvSpPr>
          <p:cNvPr id="35" name="!!T A 10% trim if drawing too fast"/>
          <p:cNvSpPr txBox="1"/>
          <p:nvPr/>
        </p:nvSpPr>
        <p:spPr>
          <a:xfrm>
            <a:off x="2258467" y="4898059"/>
            <a:ext cx="1215292" cy="346591"/>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Medium"/>
              </a:rPr>
              <a:t>A 10% trim if</a:t>
            </a:r>
          </a:p>
          <a:p>
            <a:pPr algn="l">
              <a:lnSpc>
                <a:spcPts val="1364"/>
              </a:lnSpc>
              <a:spcBef>
                <a:spcPts val="0"/>
              </a:spcBef>
              <a:spcAft>
                <a:spcPts val="0"/>
              </a:spcAft>
            </a:pPr>
            <a:r>
              <a:rPr sz="1050" b="0" i="0" kern="100">
                <a:solidFill>
                  <a:srgbClr val="1B1716"/>
                </a:solidFill>
                <a:latin typeface="Plus Jakarta Sans Medium"/>
              </a:rPr>
              <a:t>drawing too fast</a:t>
            </a:r>
          </a:p>
        </p:txBody>
      </p:sp>
      <p:sp>
        <p:nvSpPr>
          <p:cNvPr id="36" name="!!span c26916ad"/>
          <p:cNvSpPr/>
          <p:nvPr/>
        </p:nvSpPr>
        <p:spPr>
          <a:xfrm>
            <a:off x="3716834" y="4468862"/>
            <a:ext cx="381000" cy="381000"/>
          </a:xfrm>
          <a:prstGeom prst="ellipse">
            <a:avLst/>
          </a:prstGeom>
          <a:solidFill>
            <a:srgbClr val="F8EFF0"/>
          </a:solidFill>
          <a:ln>
            <a:noFill/>
          </a:ln>
        </p:spPr>
        <p:txBody>
          <a:bodyPr rtlCol="0" anchor="ctr"/>
          <a:lstStyle/>
          <a:p>
            <a:pPr algn="ctr"/>
            <a:endParaRPr/>
          </a:p>
        </p:txBody>
      </p:sp>
      <p:pic>
        <p:nvPicPr>
          <p:cNvPr id="37" name="!!Drawing b2f63dd1" descr="imag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12084" y="4564112"/>
            <a:ext cx="190500" cy="190500"/>
          </a:xfrm>
          <a:prstGeom prst="rect">
            <a:avLst/>
          </a:prstGeom>
        </p:spPr>
      </p:pic>
      <p:sp>
        <p:nvSpPr>
          <p:cNvPr id="38" name="!!T Essentials are never cut"/>
          <p:cNvSpPr txBox="1"/>
          <p:nvPr/>
        </p:nvSpPr>
        <p:spPr>
          <a:xfrm>
            <a:off x="3716834" y="4898059"/>
            <a:ext cx="1031819" cy="346591"/>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Medium"/>
              </a:rPr>
              <a:t>Essentials are</a:t>
            </a:r>
          </a:p>
          <a:p>
            <a:pPr algn="l">
              <a:lnSpc>
                <a:spcPts val="1364"/>
              </a:lnSpc>
              <a:spcBef>
                <a:spcPts val="0"/>
              </a:spcBef>
              <a:spcAft>
                <a:spcPts val="0"/>
              </a:spcAft>
            </a:pPr>
            <a:r>
              <a:rPr sz="1050" b="0" i="0" kern="100">
                <a:solidFill>
                  <a:srgbClr val="1B1716"/>
                </a:solidFill>
                <a:latin typeface="Plus Jakarta Sans Medium"/>
              </a:rPr>
              <a:t>never cut</a:t>
            </a:r>
          </a:p>
        </p:txBody>
      </p:sp>
      <p:sp>
        <p:nvSpPr>
          <p:cNvPr id="39" name="!!T The price: typical spending about HK$41K"/>
          <p:cNvSpPr txBox="1"/>
          <p:nvPr/>
        </p:nvSpPr>
        <p:spPr>
          <a:xfrm>
            <a:off x="800100" y="5314063"/>
            <a:ext cx="3740679" cy="18669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971320"/>
                </a:solidFill>
                <a:latin typeface="Plus Jakarta Sans SemiBold"/>
              </a:rPr>
              <a:t>The price:</a:t>
            </a:r>
            <a:r>
              <a:rPr sz="1050" b="0" i="0" kern="100">
                <a:solidFill>
                  <a:srgbClr val="1B1716"/>
                </a:solidFill>
                <a:latin typeface="Plus Jakarta Sans"/>
              </a:rPr>
              <a:t> typical spending about HK$41K a year lower.</a:t>
            </a:r>
          </a:p>
        </p:txBody>
      </p:sp>
      <p:sp>
        <p:nvSpPr>
          <p:cNvPr id="40" name="!!Rule 48d4bd77"/>
          <p:cNvSpPr/>
          <p:nvPr/>
        </p:nvSpPr>
        <p:spPr>
          <a:xfrm>
            <a:off x="5251400" y="1740098"/>
            <a:ext cx="6483251" cy="9525"/>
          </a:xfrm>
          <a:prstGeom prst="rect">
            <a:avLst/>
          </a:prstGeom>
          <a:solidFill>
            <a:srgbClr val="1B1716"/>
          </a:solidFill>
          <a:ln>
            <a:noFill/>
          </a:ln>
        </p:spPr>
        <p:txBody>
          <a:bodyPr rtlCol="0" anchor="ctr"/>
          <a:lstStyle/>
          <a:p>
            <a:pPr algn="ctr"/>
            <a:endParaRPr/>
          </a:p>
        </p:txBody>
      </p:sp>
      <p:sp>
        <p:nvSpPr>
          <p:cNvPr id="41" name="!!T …so the future that ran out at 86 now re"/>
          <p:cNvSpPr txBox="1"/>
          <p:nvPr/>
        </p:nvSpPr>
        <p:spPr>
          <a:xfrm>
            <a:off x="5251400" y="1445824"/>
            <a:ext cx="3968954"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…so the future that ran out at 86 now reaches 89</a:t>
            </a:r>
          </a:p>
        </p:txBody>
      </p:sp>
      <p:pic>
        <p:nvPicPr>
          <p:cNvPr id="42" name="!!Drawing e269f31d" descr="image.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784800" y="2111573"/>
            <a:ext cx="4368701" cy="2724150"/>
          </a:xfrm>
          <a:prstGeom prst="rect">
            <a:avLst/>
          </a:prstGeom>
        </p:spPr>
      </p:pic>
      <p:sp>
        <p:nvSpPr>
          <p:cNvPr id="43" name="!!T HK$8.9M"/>
          <p:cNvSpPr txBox="1"/>
          <p:nvPr/>
        </p:nvSpPr>
        <p:spPr>
          <a:xfrm>
            <a:off x="10248751" y="3765938"/>
            <a:ext cx="1607004" cy="323850"/>
          </a:xfrm>
          <a:prstGeom prst="rect">
            <a:avLst/>
          </a:prstGeom>
          <a:noFill/>
        </p:spPr>
        <p:txBody>
          <a:bodyPr wrap="none" lIns="0" tIns="0" rIns="0" bIns="0" anchor="t">
            <a:noAutofit/>
          </a:bodyPr>
          <a:lstStyle/>
          <a:p>
            <a:pPr algn="l">
              <a:lnSpc>
                <a:spcPts val="2550"/>
              </a:lnSpc>
              <a:spcBef>
                <a:spcPts val="0"/>
              </a:spcBef>
              <a:spcAft>
                <a:spcPts val="0"/>
              </a:spcAft>
            </a:pPr>
            <a:r>
              <a:rPr sz="2550" b="1" i="0" kern="100" spc="-75">
                <a:solidFill>
                  <a:srgbClr val="C80E1E"/>
                </a:solidFill>
                <a:latin typeface="Plus Jakarta Sans"/>
              </a:rPr>
              <a:t>HK$8.9M</a:t>
            </a:r>
          </a:p>
        </p:txBody>
      </p:sp>
      <p:sp>
        <p:nvSpPr>
          <p:cNvPr id="44" name="!!T left at 89"/>
          <p:cNvSpPr txBox="1"/>
          <p:nvPr/>
        </p:nvSpPr>
        <p:spPr>
          <a:xfrm>
            <a:off x="10248751" y="4102170"/>
            <a:ext cx="713780"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C80E1E"/>
                </a:solidFill>
                <a:latin typeface="Plus Jakarta Sans SemiBold"/>
              </a:rPr>
              <a:t>left at 89</a:t>
            </a:r>
          </a:p>
        </p:txBody>
      </p:sp>
      <p:sp>
        <p:nvSpPr>
          <p:cNvPr id="45" name="!!Rule 519a1fb2"/>
          <p:cNvSpPr/>
          <p:nvPr/>
        </p:nvSpPr>
        <p:spPr>
          <a:xfrm>
            <a:off x="5784800" y="4835723"/>
            <a:ext cx="4368701" cy="9525"/>
          </a:xfrm>
          <a:prstGeom prst="rect">
            <a:avLst/>
          </a:prstGeom>
          <a:solidFill>
            <a:srgbClr val="1B1716"/>
          </a:solidFill>
          <a:ln>
            <a:noFill/>
          </a:ln>
        </p:spPr>
        <p:txBody>
          <a:bodyPr rtlCol="0" anchor="ctr"/>
          <a:lstStyle/>
          <a:p>
            <a:pPr algn="ctr"/>
            <a:endParaRPr/>
          </a:p>
        </p:txBody>
      </p:sp>
      <p:sp>
        <p:nvSpPr>
          <p:cNvPr id="46" name="!!T Carmen 49"/>
          <p:cNvSpPr txBox="1"/>
          <p:nvPr/>
        </p:nvSpPr>
        <p:spPr>
          <a:xfrm>
            <a:off x="5784800" y="5063466"/>
            <a:ext cx="856077"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SemiBold"/>
              </a:rPr>
              <a:t>Carmen 49</a:t>
            </a:r>
          </a:p>
        </p:txBody>
      </p:sp>
      <p:sp>
        <p:nvSpPr>
          <p:cNvPr id="47" name="!!T 2026"/>
          <p:cNvSpPr txBox="1"/>
          <p:nvPr/>
        </p:nvSpPr>
        <p:spPr>
          <a:xfrm>
            <a:off x="5784800" y="4896779"/>
            <a:ext cx="471779"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80606A"/>
                </a:solidFill>
                <a:latin typeface="Plus Jakarta Sans"/>
              </a:rPr>
              <a:t>2026</a:t>
            </a:r>
          </a:p>
        </p:txBody>
      </p:sp>
      <p:sp>
        <p:nvSpPr>
          <p:cNvPr id="48" name="!!T Adrian retires"/>
          <p:cNvSpPr txBox="1"/>
          <p:nvPr/>
        </p:nvSpPr>
        <p:spPr>
          <a:xfrm>
            <a:off x="6476620" y="5063466"/>
            <a:ext cx="1019041"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Adrian retires</a:t>
            </a:r>
          </a:p>
        </p:txBody>
      </p:sp>
      <p:sp>
        <p:nvSpPr>
          <p:cNvPr id="49" name="!!T 2037 #2"/>
          <p:cNvSpPr txBox="1"/>
          <p:nvPr/>
        </p:nvSpPr>
        <p:spPr>
          <a:xfrm>
            <a:off x="6753332" y="4896779"/>
            <a:ext cx="465469"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2037</a:t>
            </a:r>
          </a:p>
        </p:txBody>
      </p:sp>
      <p:sp>
        <p:nvSpPr>
          <p:cNvPr id="50" name="!!T Carmen 69"/>
          <p:cNvSpPr txBox="1"/>
          <p:nvPr/>
        </p:nvSpPr>
        <p:spPr>
          <a:xfrm>
            <a:off x="7545372" y="5063466"/>
            <a:ext cx="847558"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Carmen 69</a:t>
            </a:r>
          </a:p>
        </p:txBody>
      </p:sp>
      <p:sp>
        <p:nvSpPr>
          <p:cNvPr id="51" name="!!T 2046"/>
          <p:cNvSpPr txBox="1"/>
          <p:nvPr/>
        </p:nvSpPr>
        <p:spPr>
          <a:xfrm>
            <a:off x="7731057" y="4896779"/>
            <a:ext cx="476039"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2046</a:t>
            </a:r>
          </a:p>
        </p:txBody>
      </p:sp>
      <p:sp>
        <p:nvSpPr>
          <p:cNvPr id="52" name="!!T Adrian dies #2"/>
          <p:cNvSpPr txBox="1"/>
          <p:nvPr/>
        </p:nvSpPr>
        <p:spPr>
          <a:xfrm>
            <a:off x="8627534" y="5063466"/>
            <a:ext cx="867436"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Adrian dies</a:t>
            </a:r>
          </a:p>
        </p:txBody>
      </p:sp>
      <p:sp>
        <p:nvSpPr>
          <p:cNvPr id="53" name="!!T 2056"/>
          <p:cNvSpPr txBox="1"/>
          <p:nvPr/>
        </p:nvSpPr>
        <p:spPr>
          <a:xfrm>
            <a:off x="8824104" y="4896779"/>
            <a:ext cx="474146"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2056</a:t>
            </a:r>
          </a:p>
        </p:txBody>
      </p:sp>
      <p:sp>
        <p:nvSpPr>
          <p:cNvPr id="54" name="!!T Carmen 89"/>
          <p:cNvSpPr txBox="1"/>
          <p:nvPr/>
        </p:nvSpPr>
        <p:spPr>
          <a:xfrm>
            <a:off x="9726567" y="5063466"/>
            <a:ext cx="853869"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1B1716"/>
                </a:solidFill>
                <a:latin typeface="Plus Jakarta Sans SemiBold"/>
              </a:rPr>
              <a:t>Carmen 89</a:t>
            </a:r>
          </a:p>
        </p:txBody>
      </p:sp>
      <p:sp>
        <p:nvSpPr>
          <p:cNvPr id="55" name="!!T 2066 #2"/>
          <p:cNvSpPr txBox="1"/>
          <p:nvPr/>
        </p:nvSpPr>
        <p:spPr>
          <a:xfrm>
            <a:off x="9917769" y="4896779"/>
            <a:ext cx="471464" cy="166688"/>
          </a:xfrm>
          <a:prstGeom prst="rect">
            <a:avLst/>
          </a:prstGeom>
          <a:noFill/>
        </p:spPr>
        <p:txBody>
          <a:bodyPr wrap="none" lIns="0" tIns="0" rIns="0" bIns="0" anchor="t">
            <a:noAutofit/>
          </a:bodyPr>
          <a:lstStyle/>
          <a:p>
            <a:pPr algn="ctr">
              <a:lnSpc>
                <a:spcPts val="1312"/>
              </a:lnSpc>
              <a:spcBef>
                <a:spcPts val="0"/>
              </a:spcBef>
              <a:spcAft>
                <a:spcPts val="0"/>
              </a:spcAft>
            </a:pPr>
            <a:r>
              <a:rPr sz="1050" b="0" i="0" kern="100">
                <a:solidFill>
                  <a:srgbClr val="80606A"/>
                </a:solidFill>
                <a:latin typeface="Plus Jakarta Sans"/>
              </a:rPr>
              <a:t>2066</a:t>
            </a:r>
          </a:p>
        </p:txBody>
      </p:sp>
      <p:sp>
        <p:nvSpPr>
          <p:cNvPr id="56" name="!!Rule 1f890f9e"/>
          <p:cNvSpPr/>
          <p:nvPr/>
        </p:nvSpPr>
        <p:spPr>
          <a:xfrm>
            <a:off x="5251400" y="5404545"/>
            <a:ext cx="6483251" cy="9525"/>
          </a:xfrm>
          <a:prstGeom prst="rect">
            <a:avLst/>
          </a:prstGeom>
          <a:solidFill>
            <a:srgbClr val="ECDADD"/>
          </a:solidFill>
          <a:ln>
            <a:noFill/>
          </a:ln>
        </p:spPr>
        <p:txBody>
          <a:bodyPr rtlCol="0" anchor="ctr"/>
          <a:lstStyle/>
          <a:p>
            <a:pPr algn="ctr"/>
            <a:endParaRPr/>
          </a:p>
        </p:txBody>
      </p:sp>
      <p:sp>
        <p:nvSpPr>
          <p:cNvPr id="57" name="!!T In 10,000 futures: 83% → 97% last to 89 "/>
          <p:cNvSpPr txBox="1"/>
          <p:nvPr/>
        </p:nvSpPr>
        <p:spPr>
          <a:xfrm>
            <a:off x="5251400" y="5497318"/>
            <a:ext cx="6132918" cy="205740"/>
          </a:xfrm>
          <a:prstGeom prst="rect">
            <a:avLst/>
          </a:prstGeom>
          <a:noFill/>
        </p:spPr>
        <p:txBody>
          <a:bodyPr wrap="none" lIns="0" tIns="0" rIns="0" bIns="0" anchor="t">
            <a:noAutofit/>
          </a:bodyPr>
          <a:lstStyle/>
          <a:p>
            <a:pPr algn="l">
              <a:lnSpc>
                <a:spcPts val="1620"/>
              </a:lnSpc>
              <a:spcBef>
                <a:spcPts val="0"/>
              </a:spcBef>
              <a:spcAft>
                <a:spcPts val="0"/>
              </a:spcAft>
            </a:pPr>
            <a:r>
              <a:rPr sz="1200" b="0" i="0" kern="100">
                <a:solidFill>
                  <a:srgbClr val="1B1716"/>
                </a:solidFill>
                <a:latin typeface="Plus Jakarta Sans"/>
              </a:rPr>
              <a:t>In 10,000 futures: </a:t>
            </a:r>
            <a:r>
              <a:rPr sz="1200" b="1" i="0" kern="100">
                <a:solidFill>
                  <a:srgbClr val="1B1716"/>
                </a:solidFill>
                <a:latin typeface="Plus Jakarta Sans"/>
              </a:rPr>
              <a:t>83% → 97%</a:t>
            </a:r>
            <a:r>
              <a:rPr sz="1200" b="0" i="0" kern="100">
                <a:solidFill>
                  <a:srgbClr val="1B1716"/>
                </a:solidFill>
                <a:latin typeface="Plus Jakarta Sans"/>
              </a:rPr>
              <a:t> last to 89 with the review; </a:t>
            </a:r>
            <a:r>
              <a:rPr sz="1200" b="1" i="0" kern="100">
                <a:solidFill>
                  <a:srgbClr val="1B1716"/>
                </a:solidFill>
                <a:latin typeface="Plus Jakarta Sans"/>
              </a:rPr>
              <a:t>almost all</a:t>
            </a:r>
            <a:r>
              <a:rPr sz="1200" b="0" i="0" kern="100">
                <a:solidFill>
                  <a:srgbClr val="1B1716"/>
                </a:solidFill>
                <a:latin typeface="Plus Jakarta Sans"/>
              </a:rPr>
              <a:t> with the rules</a:t>
            </a:r>
          </a:p>
        </p:txBody>
      </p:sp>
      <p:sp>
        <p:nvSpPr>
          <p:cNvPr id="58"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59" name="!!T Will it last? In almost every future: th"/>
          <p:cNvSpPr txBox="1"/>
          <p:nvPr/>
        </p:nvSpPr>
        <p:spPr>
          <a:xfrm>
            <a:off x="1282925" y="5984558"/>
            <a:ext cx="9626150"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Will it last? In almost every future: they retire on time, keep the way they live, and stay in their home.</a:t>
            </a:r>
          </a:p>
        </p:txBody>
      </p:sp>
      <p:sp>
        <p:nvSpPr>
          <p:cNvPr id="60" name="!!T Slide 3's future, same markets, today's "/>
          <p:cNvSpPr txBox="1"/>
          <p:nvPr/>
        </p:nvSpPr>
        <p:spPr>
          <a:xfrm>
            <a:off x="457200" y="6452104"/>
            <a:ext cx="6358670"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Slide 3's future, same markets, today's money: an illustration, not a forecast. Premiums: individual cover by age</a:t>
            </a:r>
          </a:p>
          <a:p>
            <a:pPr algn="l">
              <a:lnSpc>
                <a:spcPts val="1170"/>
              </a:lnSpc>
              <a:spcBef>
                <a:spcPts val="0"/>
              </a:spcBef>
              <a:spcAft>
                <a:spcPts val="0"/>
              </a:spcAft>
            </a:pPr>
            <a:r>
              <a:rPr sz="900" b="0" i="0" kern="100">
                <a:solidFill>
                  <a:srgbClr val="80606A"/>
                </a:solidFill>
                <a:latin typeface="Plus Jakarta Sans"/>
              </a:rPr>
              <a:t>and medical inflation; one policy from 2057 (Adrian's life expectancy, 84).</a:t>
            </a:r>
          </a:p>
        </p:txBody>
      </p:sp>
      <p:sp>
        <p:nvSpPr>
          <p:cNvPr id="61" name="!!T The problem"/>
          <p:cNvSpPr txBox="1"/>
          <p:nvPr/>
        </p:nvSpPr>
        <p:spPr>
          <a:xfrm>
            <a:off x="6681936"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62" name="!!T The answer"/>
          <p:cNvSpPr txBox="1"/>
          <p:nvPr/>
        </p:nvSpPr>
        <p:spPr>
          <a:xfrm>
            <a:off x="7628186"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63" name="!!T The five calls"/>
          <p:cNvSpPr txBox="1"/>
          <p:nvPr/>
        </p:nvSpPr>
        <p:spPr>
          <a:xfrm>
            <a:off x="8488412" y="6536246"/>
            <a:ext cx="905140"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five calls</a:t>
            </a:r>
          </a:p>
        </p:txBody>
      </p:sp>
      <p:sp>
        <p:nvSpPr>
          <p:cNvPr id="64" name="!!T Will it hold"/>
          <p:cNvSpPr txBox="1"/>
          <p:nvPr/>
        </p:nvSpPr>
        <p:spPr>
          <a:xfrm>
            <a:off x="9444038"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65" name="!!T What next"/>
          <p:cNvSpPr txBox="1"/>
          <p:nvPr/>
        </p:nvSpPr>
        <p:spPr>
          <a:xfrm>
            <a:off x="10242054"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66" name="!!T Us"/>
          <p:cNvSpPr txBox="1"/>
          <p:nvPr/>
        </p:nvSpPr>
        <p:spPr>
          <a:xfrm>
            <a:off x="11037391"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67" name="!!T 7 / 15"/>
          <p:cNvSpPr txBox="1"/>
          <p:nvPr/>
        </p:nvSpPr>
        <p:spPr>
          <a:xfrm>
            <a:off x="11415712" y="6535674"/>
            <a:ext cx="452533"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7 / 15</a:t>
            </a:r>
          </a:p>
        </p:txBody>
      </p:sp>
      <p:sp>
        <p:nvSpPr>
          <p:cNvPr id="68" name="!!T Savings with the four decisions"/>
          <p:cNvSpPr txBox="1"/>
          <p:nvPr/>
        </p:nvSpPr>
        <p:spPr>
          <a:xfrm>
            <a:off x="5918150" y="3312593"/>
            <a:ext cx="2154897"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a:rPr>
              <a:t>Savings with the four decisions</a:t>
            </a:r>
          </a:p>
        </p:txBody>
      </p:sp>
      <p:sp>
        <p:nvSpPr>
          <p:cNvPr id="69" name="!!T their own way"/>
          <p:cNvSpPr txBox="1"/>
          <p:nvPr/>
        </p:nvSpPr>
        <p:spPr>
          <a:xfrm>
            <a:off x="8187482" y="2471565"/>
            <a:ext cx="1051066"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SemiBold"/>
              </a:rPr>
              <a:t>their own way</a:t>
            </a:r>
          </a:p>
        </p:txBody>
      </p:sp>
      <p:sp>
        <p:nvSpPr>
          <p:cNvPr id="70" name="!!T a reverse mortgage pays HK$230K a year f"/>
          <p:cNvSpPr txBox="1"/>
          <p:nvPr/>
        </p:nvSpPr>
        <p:spPr>
          <a:xfrm>
            <a:off x="5918150" y="4539234"/>
            <a:ext cx="3581028"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FFFFFF">
                    <a:alpha val="90000"/>
                  </a:srgbClr>
                </a:solidFill>
                <a:latin typeface="Plus Jakarta Sans"/>
              </a:rPr>
              <a:t>a reverse mortgage pays HK$230K a year from 2037</a:t>
            </a:r>
          </a:p>
        </p:txBody>
      </p:sp>
      <p:sp>
        <p:nvSpPr>
          <p:cNvPr id="71" name="!!T Their home, for life"/>
          <p:cNvSpPr txBox="1"/>
          <p:nvPr/>
        </p:nvSpPr>
        <p:spPr>
          <a:xfrm>
            <a:off x="5918150" y="4365998"/>
            <a:ext cx="1364531"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FFFFFF"/>
                </a:solidFill>
                <a:latin typeface="Plus Jakarta Sans SemiBold"/>
              </a:rPr>
              <a:t>Their home, for life</a:t>
            </a:r>
          </a:p>
        </p:txBody>
      </p:sp>
      <p:sp>
        <p:nvSpPr>
          <p:cNvPr id="72" name="!!Rule f438ee99"/>
          <p:cNvSpPr/>
          <p:nvPr/>
        </p:nvSpPr>
        <p:spPr>
          <a:xfrm>
            <a:off x="5784800" y="2111573"/>
            <a:ext cx="9525" cy="2724150"/>
          </a:xfrm>
          <a:prstGeom prst="rect">
            <a:avLst/>
          </a:prstGeom>
          <a:solidFill>
            <a:srgbClr val="1B1716"/>
          </a:solidFill>
          <a:ln>
            <a:noFill/>
          </a:ln>
        </p:spPr>
        <p:txBody>
          <a:bodyPr rtlCol="0" anchor="ctr"/>
          <a:lstStyle/>
          <a:p>
            <a:pPr algn="ctr"/>
            <a:endParaRPr/>
          </a:p>
        </p:txBody>
      </p:sp>
      <p:sp>
        <p:nvSpPr>
          <p:cNvPr id="73" name="!!Rule 89edf20e"/>
          <p:cNvSpPr/>
          <p:nvPr/>
        </p:nvSpPr>
        <p:spPr>
          <a:xfrm>
            <a:off x="5727650" y="3928467"/>
            <a:ext cx="57150" cy="9525"/>
          </a:xfrm>
          <a:prstGeom prst="rect">
            <a:avLst/>
          </a:prstGeom>
          <a:solidFill>
            <a:srgbClr val="1B1716"/>
          </a:solidFill>
          <a:ln>
            <a:noFill/>
          </a:ln>
        </p:spPr>
        <p:txBody>
          <a:bodyPr rtlCol="0" anchor="ctr"/>
          <a:lstStyle/>
          <a:p>
            <a:pPr algn="ctr"/>
            <a:endParaRPr/>
          </a:p>
        </p:txBody>
      </p:sp>
      <p:sp>
        <p:nvSpPr>
          <p:cNvPr id="74" name="!!T HK$10M"/>
          <p:cNvSpPr txBox="1"/>
          <p:nvPr/>
        </p:nvSpPr>
        <p:spPr>
          <a:xfrm>
            <a:off x="5179814" y="3844266"/>
            <a:ext cx="67481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HK$10M</a:t>
            </a:r>
          </a:p>
        </p:txBody>
      </p:sp>
      <p:sp>
        <p:nvSpPr>
          <p:cNvPr id="75" name="!!Rule d540d1aa"/>
          <p:cNvSpPr/>
          <p:nvPr/>
        </p:nvSpPr>
        <p:spPr>
          <a:xfrm>
            <a:off x="5727650" y="3018681"/>
            <a:ext cx="57150" cy="9525"/>
          </a:xfrm>
          <a:prstGeom prst="rect">
            <a:avLst/>
          </a:prstGeom>
          <a:solidFill>
            <a:srgbClr val="1B1716"/>
          </a:solidFill>
          <a:ln>
            <a:noFill/>
          </a:ln>
        </p:spPr>
        <p:txBody>
          <a:bodyPr rtlCol="0" anchor="ctr"/>
          <a:lstStyle/>
          <a:p>
            <a:pPr algn="ctr"/>
            <a:endParaRPr/>
          </a:p>
        </p:txBody>
      </p:sp>
      <p:sp>
        <p:nvSpPr>
          <p:cNvPr id="76" name="!!T HK$20M"/>
          <p:cNvSpPr txBox="1"/>
          <p:nvPr/>
        </p:nvSpPr>
        <p:spPr>
          <a:xfrm>
            <a:off x="5149304" y="2934480"/>
            <a:ext cx="70715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HK$20M</a:t>
            </a:r>
          </a:p>
        </p:txBody>
      </p:sp>
      <p:sp>
        <p:nvSpPr>
          <p:cNvPr id="77" name="!!Rule 1b780f79"/>
          <p:cNvSpPr/>
          <p:nvPr/>
        </p:nvSpPr>
        <p:spPr>
          <a:xfrm>
            <a:off x="5727650" y="2111573"/>
            <a:ext cx="57150" cy="9525"/>
          </a:xfrm>
          <a:prstGeom prst="rect">
            <a:avLst/>
          </a:prstGeom>
          <a:solidFill>
            <a:srgbClr val="1B1716"/>
          </a:solidFill>
          <a:ln>
            <a:noFill/>
          </a:ln>
        </p:spPr>
        <p:txBody>
          <a:bodyPr rtlCol="0" anchor="ctr"/>
          <a:lstStyle/>
          <a:p>
            <a:pPr algn="ctr"/>
            <a:endParaRPr/>
          </a:p>
        </p:txBody>
      </p:sp>
      <p:sp>
        <p:nvSpPr>
          <p:cNvPr id="78" name="!!T HK$30M"/>
          <p:cNvSpPr txBox="1"/>
          <p:nvPr/>
        </p:nvSpPr>
        <p:spPr>
          <a:xfrm>
            <a:off x="5148114" y="2027372"/>
            <a:ext cx="708416"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HK$30M</a:t>
            </a:r>
          </a:p>
        </p:txBody>
      </p:sp>
      <p:sp>
        <p:nvSpPr>
          <p:cNvPr id="79" name="!!Rule 0e3790a1"/>
          <p:cNvSpPr/>
          <p:nvPr/>
        </p:nvSpPr>
        <p:spPr>
          <a:xfrm>
            <a:off x="9825782" y="2928789"/>
            <a:ext cx="9525" cy="1171277"/>
          </a:xfrm>
          <a:prstGeom prst="rect">
            <a:avLst/>
          </a:prstGeom>
          <a:solidFill>
            <a:srgbClr val="1B1716"/>
          </a:solidFill>
          <a:ln>
            <a:noFill/>
          </a:ln>
        </p:spPr>
        <p:txBody>
          <a:bodyPr rtlCol="0" anchor="ctr"/>
          <a:lstStyle/>
          <a:p>
            <a:pPr algn="ctr"/>
            <a:endParaRPr/>
          </a:p>
        </p:txBody>
      </p:sp>
      <p:sp>
        <p:nvSpPr>
          <p:cNvPr id="80" name="!!T Added by Call 3"/>
          <p:cNvSpPr txBox="1"/>
          <p:nvPr/>
        </p:nvSpPr>
        <p:spPr>
          <a:xfrm>
            <a:off x="8575997" y="2919835"/>
            <a:ext cx="1183109" cy="173355"/>
          </a:xfrm>
          <a:prstGeom prst="rect">
            <a:avLst/>
          </a:prstGeom>
          <a:noFill/>
        </p:spPr>
        <p:txBody>
          <a:bodyPr wrap="none" lIns="0" tIns="0" rIns="0" bIns="0" anchor="t">
            <a:noAutofit/>
          </a:bodyPr>
          <a:lstStyle/>
          <a:p>
            <a:pPr algn="r">
              <a:lnSpc>
                <a:spcPts val="1364"/>
              </a:lnSpc>
              <a:spcBef>
                <a:spcPts val="0"/>
              </a:spcBef>
              <a:spcAft>
                <a:spcPts val="0"/>
              </a:spcAft>
            </a:pPr>
            <a:r>
              <a:rPr sz="1050" b="1" i="0" kern="100">
                <a:solidFill>
                  <a:srgbClr val="1B1716"/>
                </a:solidFill>
                <a:latin typeface="Plus Jakarta Sans"/>
              </a:rPr>
              <a:t>Added by Call 3</a:t>
            </a:r>
          </a:p>
        </p:txBody>
      </p:sp>
      <p:sp>
        <p:nvSpPr>
          <p:cNvPr id="81" name="!!ps-el b6b14bbc"/>
          <p:cNvSpPr/>
          <p:nvPr/>
        </p:nvSpPr>
        <p:spPr>
          <a:xfrm>
            <a:off x="9778157" y="4081016"/>
            <a:ext cx="66675" cy="66675"/>
          </a:xfrm>
          <a:prstGeom prst="ellipse">
            <a:avLst/>
          </a:prstGeom>
          <a:solidFill>
            <a:srgbClr val="971320"/>
          </a:solidFill>
          <a:ln w="19050">
            <a:solidFill>
              <a:srgbClr val="FFFFFF"/>
            </a:solidFill>
          </a:ln>
          <a:effectLst>
            <a:outerShdw blurRad="28575" dist="9525" dir="5400000" algn="ctr" rotWithShape="0">
              <a:srgbClr val="3C0A14">
                <a:alpha val="35000"/>
              </a:srgbClr>
            </a:outerShdw>
          </a:effectLst>
        </p:spPr>
        <p:txBody>
          <a:bodyPr rtlCol="0" anchor="ctr"/>
          <a:lstStyle/>
          <a:p>
            <a:pPr algn="ct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3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3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30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3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3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3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3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3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3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30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3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3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30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300"/>
                                        <p:tgtEl>
                                          <p:spTgt spid="2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30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300"/>
                                        <p:tgtEl>
                                          <p:spTgt spid="2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300"/>
                                        <p:tgtEl>
                                          <p:spTgt spid="2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300"/>
                                        <p:tgtEl>
                                          <p:spTgt spid="2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300"/>
                                        <p:tgtEl>
                                          <p:spTgt spid="30"/>
                                        </p:tgtEl>
                                      </p:cBhvr>
                                    </p:animEffect>
                                  </p:childTnLst>
                                </p:cTn>
                              </p:par>
                              <p:par>
                                <p:cTn id="76" presetID="10" presetClass="entr" presetSubtype="0" fill="hold"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300"/>
                                        <p:tgtEl>
                                          <p:spTgt spid="3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300"/>
                                        <p:tgtEl>
                                          <p:spTgt spid="3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300"/>
                                        <p:tgtEl>
                                          <p:spTgt spid="33"/>
                                        </p:tgtEl>
                                      </p:cBhvr>
                                    </p:animEffect>
                                  </p:childTnLst>
                                </p:cTn>
                              </p:par>
                              <p:par>
                                <p:cTn id="85" presetID="10" presetClass="entr" presetSubtype="0" fill="hold" nodeType="with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300"/>
                                        <p:tgtEl>
                                          <p:spTgt spid="3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300"/>
                                        <p:tgtEl>
                                          <p:spTgt spid="3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fade">
                                      <p:cBhvr>
                                        <p:cTn id="93" dur="300"/>
                                        <p:tgtEl>
                                          <p:spTgt spid="36"/>
                                        </p:tgtEl>
                                      </p:cBhvr>
                                    </p:animEffect>
                                  </p:childTnLst>
                                </p:cTn>
                              </p:par>
                              <p:par>
                                <p:cTn id="94" presetID="10" presetClass="entr" presetSubtype="0" fill="hold" nodeType="withEffect">
                                  <p:stCondLst>
                                    <p:cond delay="0"/>
                                  </p:stCondLst>
                                  <p:childTnLst>
                                    <p:set>
                                      <p:cBhvr>
                                        <p:cTn id="95" dur="1" fill="hold">
                                          <p:stCondLst>
                                            <p:cond delay="0"/>
                                          </p:stCondLst>
                                        </p:cTn>
                                        <p:tgtEl>
                                          <p:spTgt spid="37"/>
                                        </p:tgtEl>
                                        <p:attrNameLst>
                                          <p:attrName>style.visibility</p:attrName>
                                        </p:attrNameLst>
                                      </p:cBhvr>
                                      <p:to>
                                        <p:strVal val="visible"/>
                                      </p:to>
                                    </p:set>
                                    <p:animEffect transition="in" filter="fade">
                                      <p:cBhvr>
                                        <p:cTn id="96" dur="300"/>
                                        <p:tgtEl>
                                          <p:spTgt spid="37"/>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fade">
                                      <p:cBhvr>
                                        <p:cTn id="99" dur="300"/>
                                        <p:tgtEl>
                                          <p:spTgt spid="38"/>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300"/>
                                        <p:tgtEl>
                                          <p:spTgt spid="39"/>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7" dur="300"/>
                                        <p:tgtEl>
                                          <p:spTgt spid="40"/>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10" dur="300"/>
                                        <p:tgtEl>
                                          <p:spTgt spid="41"/>
                                        </p:tgtEl>
                                      </p:cBhvr>
                                    </p:animEffect>
                                  </p:childTnLst>
                                </p:cTn>
                              </p:par>
                              <p:par>
                                <p:cTn id="111" presetID="10" presetClass="entr" presetSubtype="0" fill="hold" nodeType="withEffect">
                                  <p:stCondLst>
                                    <p:cond delay="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3" dur="300"/>
                                        <p:tgtEl>
                                          <p:spTgt spid="42"/>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300"/>
                                        <p:tgtEl>
                                          <p:spTgt spid="43"/>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300"/>
                                        <p:tgtEl>
                                          <p:spTgt spid="44"/>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2" dur="300"/>
                                        <p:tgtEl>
                                          <p:spTgt spid="45"/>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5" dur="300"/>
                                        <p:tgtEl>
                                          <p:spTgt spid="46"/>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8" dur="300"/>
                                        <p:tgtEl>
                                          <p:spTgt spid="47"/>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31" dur="300"/>
                                        <p:tgtEl>
                                          <p:spTgt spid="48"/>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4" dur="300"/>
                                        <p:tgtEl>
                                          <p:spTgt spid="49"/>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7" dur="300"/>
                                        <p:tgtEl>
                                          <p:spTgt spid="50"/>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40" dur="300"/>
                                        <p:tgtEl>
                                          <p:spTgt spid="51"/>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300"/>
                                        <p:tgtEl>
                                          <p:spTgt spid="52"/>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6" dur="300"/>
                                        <p:tgtEl>
                                          <p:spTgt spid="53"/>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9" dur="300"/>
                                        <p:tgtEl>
                                          <p:spTgt spid="54"/>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2" dur="300"/>
                                        <p:tgtEl>
                                          <p:spTgt spid="55"/>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5" dur="300"/>
                                        <p:tgtEl>
                                          <p:spTgt spid="56"/>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8" dur="300"/>
                                        <p:tgtEl>
                                          <p:spTgt spid="57"/>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8"/>
                                        </p:tgtEl>
                                        <p:attrNameLst>
                                          <p:attrName>style.visibility</p:attrName>
                                        </p:attrNameLst>
                                      </p:cBhvr>
                                      <p:to>
                                        <p:strVal val="visible"/>
                                      </p:to>
                                    </p:set>
                                    <p:animEffect transition="in" filter="fade">
                                      <p:cBhvr>
                                        <p:cTn id="161" dur="300"/>
                                        <p:tgtEl>
                                          <p:spTgt spid="58"/>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9"/>
                                        </p:tgtEl>
                                        <p:attrNameLst>
                                          <p:attrName>style.visibility</p:attrName>
                                        </p:attrNameLst>
                                      </p:cBhvr>
                                      <p:to>
                                        <p:strVal val="visible"/>
                                      </p:to>
                                    </p:set>
                                    <p:animEffect transition="in" filter="fade">
                                      <p:cBhvr>
                                        <p:cTn id="164" dur="300"/>
                                        <p:tgtEl>
                                          <p:spTgt spid="59"/>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68"/>
                                        </p:tgtEl>
                                        <p:attrNameLst>
                                          <p:attrName>style.visibility</p:attrName>
                                        </p:attrNameLst>
                                      </p:cBhvr>
                                      <p:to>
                                        <p:strVal val="visible"/>
                                      </p:to>
                                    </p:set>
                                    <p:animEffect transition="in" filter="fade">
                                      <p:cBhvr>
                                        <p:cTn id="167" dur="300"/>
                                        <p:tgtEl>
                                          <p:spTgt spid="68"/>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69"/>
                                        </p:tgtEl>
                                        <p:attrNameLst>
                                          <p:attrName>style.visibility</p:attrName>
                                        </p:attrNameLst>
                                      </p:cBhvr>
                                      <p:to>
                                        <p:strVal val="visible"/>
                                      </p:to>
                                    </p:set>
                                    <p:animEffect transition="in" filter="fade">
                                      <p:cBhvr>
                                        <p:cTn id="170" dur="300"/>
                                        <p:tgtEl>
                                          <p:spTgt spid="69"/>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70"/>
                                        </p:tgtEl>
                                        <p:attrNameLst>
                                          <p:attrName>style.visibility</p:attrName>
                                        </p:attrNameLst>
                                      </p:cBhvr>
                                      <p:to>
                                        <p:strVal val="visible"/>
                                      </p:to>
                                    </p:set>
                                    <p:animEffect transition="in" filter="fade">
                                      <p:cBhvr>
                                        <p:cTn id="173" dur="300"/>
                                        <p:tgtEl>
                                          <p:spTgt spid="70"/>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71"/>
                                        </p:tgtEl>
                                        <p:attrNameLst>
                                          <p:attrName>style.visibility</p:attrName>
                                        </p:attrNameLst>
                                      </p:cBhvr>
                                      <p:to>
                                        <p:strVal val="visible"/>
                                      </p:to>
                                    </p:set>
                                    <p:animEffect transition="in" filter="fade">
                                      <p:cBhvr>
                                        <p:cTn id="176" dur="300"/>
                                        <p:tgtEl>
                                          <p:spTgt spid="71"/>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72"/>
                                        </p:tgtEl>
                                        <p:attrNameLst>
                                          <p:attrName>style.visibility</p:attrName>
                                        </p:attrNameLst>
                                      </p:cBhvr>
                                      <p:to>
                                        <p:strVal val="visible"/>
                                      </p:to>
                                    </p:set>
                                    <p:animEffect transition="in" filter="fade">
                                      <p:cBhvr>
                                        <p:cTn id="179" dur="300"/>
                                        <p:tgtEl>
                                          <p:spTgt spid="72"/>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73"/>
                                        </p:tgtEl>
                                        <p:attrNameLst>
                                          <p:attrName>style.visibility</p:attrName>
                                        </p:attrNameLst>
                                      </p:cBhvr>
                                      <p:to>
                                        <p:strVal val="visible"/>
                                      </p:to>
                                    </p:set>
                                    <p:animEffect transition="in" filter="fade">
                                      <p:cBhvr>
                                        <p:cTn id="182" dur="300"/>
                                        <p:tgtEl>
                                          <p:spTgt spid="73"/>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74"/>
                                        </p:tgtEl>
                                        <p:attrNameLst>
                                          <p:attrName>style.visibility</p:attrName>
                                        </p:attrNameLst>
                                      </p:cBhvr>
                                      <p:to>
                                        <p:strVal val="visible"/>
                                      </p:to>
                                    </p:set>
                                    <p:animEffect transition="in" filter="fade">
                                      <p:cBhvr>
                                        <p:cTn id="185" dur="300"/>
                                        <p:tgtEl>
                                          <p:spTgt spid="74"/>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75"/>
                                        </p:tgtEl>
                                        <p:attrNameLst>
                                          <p:attrName>style.visibility</p:attrName>
                                        </p:attrNameLst>
                                      </p:cBhvr>
                                      <p:to>
                                        <p:strVal val="visible"/>
                                      </p:to>
                                    </p:set>
                                    <p:animEffect transition="in" filter="fade">
                                      <p:cBhvr>
                                        <p:cTn id="188" dur="300"/>
                                        <p:tgtEl>
                                          <p:spTgt spid="75"/>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76"/>
                                        </p:tgtEl>
                                        <p:attrNameLst>
                                          <p:attrName>style.visibility</p:attrName>
                                        </p:attrNameLst>
                                      </p:cBhvr>
                                      <p:to>
                                        <p:strVal val="visible"/>
                                      </p:to>
                                    </p:set>
                                    <p:animEffect transition="in" filter="fade">
                                      <p:cBhvr>
                                        <p:cTn id="191" dur="300"/>
                                        <p:tgtEl>
                                          <p:spTgt spid="76"/>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77"/>
                                        </p:tgtEl>
                                        <p:attrNameLst>
                                          <p:attrName>style.visibility</p:attrName>
                                        </p:attrNameLst>
                                      </p:cBhvr>
                                      <p:to>
                                        <p:strVal val="visible"/>
                                      </p:to>
                                    </p:set>
                                    <p:animEffect transition="in" filter="fade">
                                      <p:cBhvr>
                                        <p:cTn id="194" dur="300"/>
                                        <p:tgtEl>
                                          <p:spTgt spid="77"/>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78"/>
                                        </p:tgtEl>
                                        <p:attrNameLst>
                                          <p:attrName>style.visibility</p:attrName>
                                        </p:attrNameLst>
                                      </p:cBhvr>
                                      <p:to>
                                        <p:strVal val="visible"/>
                                      </p:to>
                                    </p:set>
                                    <p:animEffect transition="in" filter="fade">
                                      <p:cBhvr>
                                        <p:cTn id="197" dur="300"/>
                                        <p:tgtEl>
                                          <p:spTgt spid="78"/>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79"/>
                                        </p:tgtEl>
                                        <p:attrNameLst>
                                          <p:attrName>style.visibility</p:attrName>
                                        </p:attrNameLst>
                                      </p:cBhvr>
                                      <p:to>
                                        <p:strVal val="visible"/>
                                      </p:to>
                                    </p:set>
                                    <p:animEffect transition="in" filter="fade">
                                      <p:cBhvr>
                                        <p:cTn id="200" dur="300"/>
                                        <p:tgtEl>
                                          <p:spTgt spid="79"/>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80"/>
                                        </p:tgtEl>
                                        <p:attrNameLst>
                                          <p:attrName>style.visibility</p:attrName>
                                        </p:attrNameLst>
                                      </p:cBhvr>
                                      <p:to>
                                        <p:strVal val="visible"/>
                                      </p:to>
                                    </p:set>
                                    <p:animEffect transition="in" filter="fade">
                                      <p:cBhvr>
                                        <p:cTn id="203" dur="300"/>
                                        <p:tgtEl>
                                          <p:spTgt spid="80"/>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81"/>
                                        </p:tgtEl>
                                        <p:attrNameLst>
                                          <p:attrName>style.visibility</p:attrName>
                                        </p:attrNameLst>
                                      </p:cBhvr>
                                      <p:to>
                                        <p:strVal val="visible"/>
                                      </p:to>
                                    </p:set>
                                    <p:animEffect transition="in" filter="fade">
                                      <p:cBhvr>
                                        <p:cTn id="206" dur="3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3" grpId="0" animBg="1"/>
      <p:bldP spid="14"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2" grpId="0" animBg="1"/>
      <p:bldP spid="33" grpId="0" animBg="1"/>
      <p:bldP spid="35" grpId="0" animBg="1"/>
      <p:bldP spid="36" grpId="0" animBg="1"/>
      <p:bldP spid="38" grpId="0" animBg="1"/>
      <p:bldP spid="39" grpId="0" animBg="1"/>
      <p:bldP spid="40" grpId="0" animBg="1"/>
      <p:bldP spid="41"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One family policy, a plan for each person: every dollar gets a job">
    <p:spTree>
      <p:nvGrpSpPr>
        <p:cNvPr id="1" name=""/>
        <p:cNvGrpSpPr/>
        <p:nvPr/>
      </p:nvGrpSpPr>
      <p:grpSpPr>
        <a:xfrm>
          <a:off x="0" y="0"/>
          <a:ext cx="0" cy="0"/>
          <a:chOff x="0" y="0"/>
          <a:chExt cx="0" cy="0"/>
        </a:xfrm>
      </p:grpSpPr>
      <p:sp>
        <p:nvSpPr>
          <p:cNvPr id="2" name="!!Rule 6ff153ce"/>
          <p:cNvSpPr/>
          <p:nvPr/>
        </p:nvSpPr>
        <p:spPr>
          <a:xfrm>
            <a:off x="457200" y="323850"/>
            <a:ext cx="47625" cy="569714"/>
          </a:xfrm>
          <a:prstGeom prst="rect">
            <a:avLst/>
          </a:prstGeom>
          <a:solidFill>
            <a:srgbClr val="C80E1E"/>
          </a:solidFill>
          <a:ln>
            <a:noFill/>
          </a:ln>
        </p:spPr>
        <p:txBody>
          <a:bodyPr rtlCol="0" anchor="ctr"/>
          <a:lstStyle/>
          <a:p>
            <a:pPr algn="ctr"/>
            <a:endParaRPr/>
          </a:p>
        </p:txBody>
      </p:sp>
      <p:pic>
        <p:nvPicPr>
          <p:cNvPr id="3"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6150" y="247650"/>
            <a:ext cx="628650" cy="600075"/>
          </a:xfrm>
          <a:prstGeom prst="rect">
            <a:avLst/>
          </a:prstGeom>
        </p:spPr>
      </p:pic>
      <p:sp>
        <p:nvSpPr>
          <p:cNvPr id="4" name="!!T Call 4: Each person"/>
          <p:cNvSpPr txBox="1"/>
          <p:nvPr/>
        </p:nvSpPr>
        <p:spPr>
          <a:xfrm>
            <a:off x="638175" y="324421"/>
            <a:ext cx="1403497"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Call 4: Each person</a:t>
            </a:r>
          </a:p>
        </p:txBody>
      </p:sp>
      <p:sp>
        <p:nvSpPr>
          <p:cNvPr id="5" name="!!T One family policy, a plan for each perso"/>
          <p:cNvSpPr txBox="1"/>
          <p:nvPr/>
        </p:nvSpPr>
        <p:spPr>
          <a:xfrm>
            <a:off x="638175" y="529852"/>
            <a:ext cx="8767158" cy="320421"/>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One family policy, a plan for each person: every dollar gets a job</a:t>
            </a:r>
          </a:p>
        </p:txBody>
      </p:sp>
      <p:sp>
        <p:nvSpPr>
          <p:cNvPr id="6" name="!!T one pot that fits nobody"/>
          <p:cNvSpPr txBox="1"/>
          <p:nvPr/>
        </p:nvSpPr>
        <p:spPr>
          <a:xfrm>
            <a:off x="457200" y="1513648"/>
            <a:ext cx="1166387" cy="359956"/>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one pot that fits</a:t>
            </a:r>
          </a:p>
          <a:p>
            <a:pPr algn="l">
              <a:lnSpc>
                <a:spcPts val="1417"/>
              </a:lnSpc>
              <a:spcBef>
                <a:spcPts val="0"/>
              </a:spcBef>
              <a:spcAft>
                <a:spcPts val="0"/>
              </a:spcAft>
            </a:pPr>
            <a:r>
              <a:rPr sz="1050" b="0" i="0" kern="100">
                <a:solidFill>
                  <a:srgbClr val="80606A"/>
                </a:solidFill>
                <a:latin typeface="Plus Jakarta Sans"/>
              </a:rPr>
              <a:t>nobody</a:t>
            </a:r>
          </a:p>
        </p:txBody>
      </p:sp>
      <p:sp>
        <p:nvSpPr>
          <p:cNvPr id="7" name="!!T Today"/>
          <p:cNvSpPr txBox="1"/>
          <p:nvPr/>
        </p:nvSpPr>
        <p:spPr>
          <a:xfrm>
            <a:off x="457200" y="1221986"/>
            <a:ext cx="765682" cy="251460"/>
          </a:xfrm>
          <a:prstGeom prst="rect">
            <a:avLst/>
          </a:prstGeom>
          <a:noFill/>
        </p:spPr>
        <p:txBody>
          <a:bodyPr wrap="none" lIns="0" tIns="0" rIns="0" bIns="0" anchor="t">
            <a:noAutofit/>
          </a:bodyPr>
          <a:lstStyle/>
          <a:p>
            <a:pPr algn="l">
              <a:lnSpc>
                <a:spcPts val="1979"/>
              </a:lnSpc>
              <a:spcBef>
                <a:spcPts val="0"/>
              </a:spcBef>
              <a:spcAft>
                <a:spcPts val="0"/>
              </a:spcAft>
            </a:pPr>
            <a:r>
              <a:rPr sz="1650" b="0" i="0" kern="100">
                <a:solidFill>
                  <a:srgbClr val="1B1716"/>
                </a:solidFill>
                <a:latin typeface="Plus Jakarta Sans SemiBold"/>
              </a:rPr>
              <a:t>Today</a:t>
            </a:r>
          </a:p>
        </p:txBody>
      </p:sp>
      <p:sp>
        <p:nvSpPr>
          <p:cNvPr id="8" name="!!div d70dd71c"/>
          <p:cNvSpPr/>
          <p:nvPr/>
        </p:nvSpPr>
        <p:spPr>
          <a:xfrm>
            <a:off x="2076450" y="1141214"/>
            <a:ext cx="3111252" cy="1219200"/>
          </a:xfrm>
          <a:prstGeom prst="rect">
            <a:avLst/>
          </a:prstGeom>
          <a:solidFill>
            <a:srgbClr val="F8EFF0"/>
          </a:solidFill>
          <a:ln>
            <a:noFill/>
          </a:ln>
        </p:spPr>
        <p:txBody>
          <a:bodyPr rtlCol="0" anchor="ctr"/>
          <a:lstStyle/>
          <a:p>
            <a:pPr algn="ctr"/>
            <a:endParaRPr/>
          </a:p>
        </p:txBody>
      </p:sp>
      <p:sp>
        <p:nvSpPr>
          <p:cNvPr id="9" name="!!T HK$2.5M"/>
          <p:cNvSpPr txBox="1"/>
          <p:nvPr/>
        </p:nvSpPr>
        <p:spPr>
          <a:xfrm>
            <a:off x="2209800" y="1238369"/>
            <a:ext cx="1470071"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1B1716"/>
                </a:solidFill>
                <a:latin typeface="Plus Jakarta Sans SemiBold"/>
              </a:rPr>
              <a:t>HK$2.5M</a:t>
            </a:r>
          </a:p>
        </p:txBody>
      </p:sp>
      <p:sp>
        <p:nvSpPr>
          <p:cNvPr id="10" name="!!T Cash and deposits"/>
          <p:cNvSpPr txBox="1"/>
          <p:nvPr/>
        </p:nvSpPr>
        <p:spPr>
          <a:xfrm>
            <a:off x="2209800" y="1869490"/>
            <a:ext cx="1463287"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SemiBold"/>
              </a:rPr>
              <a:t>Cash and deposits</a:t>
            </a:r>
          </a:p>
        </p:txBody>
      </p:sp>
      <p:sp>
        <p:nvSpPr>
          <p:cNvPr id="11" name="!!T 30 months of spending, idle"/>
          <p:cNvSpPr txBox="1"/>
          <p:nvPr/>
        </p:nvSpPr>
        <p:spPr>
          <a:xfrm>
            <a:off x="2209800" y="2053894"/>
            <a:ext cx="1974580"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30 months of spending, idle</a:t>
            </a:r>
          </a:p>
        </p:txBody>
      </p:sp>
      <p:sp>
        <p:nvSpPr>
          <p:cNvPr id="12" name="!!div a409e7dc"/>
          <p:cNvSpPr/>
          <p:nvPr/>
        </p:nvSpPr>
        <p:spPr>
          <a:xfrm>
            <a:off x="5225802" y="1141214"/>
            <a:ext cx="1679674" cy="1219200"/>
          </a:xfrm>
          <a:prstGeom prst="rect">
            <a:avLst/>
          </a:prstGeom>
          <a:solidFill>
            <a:srgbClr val="F8EFF0"/>
          </a:solidFill>
          <a:ln>
            <a:noFill/>
          </a:ln>
        </p:spPr>
        <p:txBody>
          <a:bodyPr rtlCol="0" anchor="ctr"/>
          <a:lstStyle/>
          <a:p>
            <a:pPr algn="ctr"/>
            <a:endParaRPr/>
          </a:p>
        </p:txBody>
      </p:sp>
      <p:sp>
        <p:nvSpPr>
          <p:cNvPr id="13" name="!!T HK$1.35M"/>
          <p:cNvSpPr txBox="1"/>
          <p:nvPr/>
        </p:nvSpPr>
        <p:spPr>
          <a:xfrm>
            <a:off x="5359152" y="1238369"/>
            <a:ext cx="1592806"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1B1716"/>
                </a:solidFill>
                <a:latin typeface="Plus Jakarta Sans SemiBold"/>
              </a:rPr>
              <a:t>HK$1.35M</a:t>
            </a:r>
          </a:p>
        </p:txBody>
      </p:sp>
      <p:sp>
        <p:nvSpPr>
          <p:cNvPr id="14" name="!!T Bond funds"/>
          <p:cNvSpPr txBox="1"/>
          <p:nvPr/>
        </p:nvSpPr>
        <p:spPr>
          <a:xfrm>
            <a:off x="5359152" y="2049423"/>
            <a:ext cx="952152"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SemiBold"/>
              </a:rPr>
              <a:t>Bond funds</a:t>
            </a:r>
          </a:p>
        </p:txBody>
      </p:sp>
      <p:sp>
        <p:nvSpPr>
          <p:cNvPr id="15" name="!!div 6e93a39f"/>
          <p:cNvSpPr/>
          <p:nvPr/>
        </p:nvSpPr>
        <p:spPr>
          <a:xfrm>
            <a:off x="6943576" y="1141214"/>
            <a:ext cx="4791075" cy="1219200"/>
          </a:xfrm>
          <a:prstGeom prst="rect">
            <a:avLst/>
          </a:prstGeom>
          <a:solidFill>
            <a:srgbClr val="F8EFF0"/>
          </a:solidFill>
          <a:ln>
            <a:noFill/>
          </a:ln>
        </p:spPr>
        <p:txBody>
          <a:bodyPr rtlCol="0" anchor="ctr"/>
          <a:lstStyle/>
          <a:p>
            <a:pPr algn="ctr"/>
            <a:endParaRPr/>
          </a:p>
        </p:txBody>
      </p:sp>
      <p:sp>
        <p:nvSpPr>
          <p:cNvPr id="16" name="!!T HK$3.85M"/>
          <p:cNvSpPr txBox="1"/>
          <p:nvPr/>
        </p:nvSpPr>
        <p:spPr>
          <a:xfrm>
            <a:off x="7076926" y="1238369"/>
            <a:ext cx="1665217"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1B1716"/>
                </a:solidFill>
                <a:latin typeface="Plus Jakarta Sans SemiBold"/>
              </a:rPr>
              <a:t>HK$3.85M</a:t>
            </a:r>
          </a:p>
        </p:txBody>
      </p:sp>
      <p:sp>
        <p:nvSpPr>
          <p:cNvPr id="17" name="!!T Equity funds"/>
          <p:cNvSpPr txBox="1"/>
          <p:nvPr/>
        </p:nvSpPr>
        <p:spPr>
          <a:xfrm>
            <a:off x="7076926" y="1869490"/>
            <a:ext cx="1024089"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SemiBold"/>
              </a:rPr>
              <a:t>Equity funds</a:t>
            </a:r>
          </a:p>
        </p:txBody>
      </p:sp>
      <p:sp>
        <p:nvSpPr>
          <p:cNvPr id="18" name="!!T about 1.5% a year in fees; more risk tha"/>
          <p:cNvSpPr txBox="1"/>
          <p:nvPr/>
        </p:nvSpPr>
        <p:spPr>
          <a:xfrm>
            <a:off x="7076926" y="2053894"/>
            <a:ext cx="3747305"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about 1.5% a year in fees; more risk than Adrian's profile</a:t>
            </a:r>
          </a:p>
        </p:txBody>
      </p:sp>
      <p:sp>
        <p:nvSpPr>
          <p:cNvPr id="19" name="!!ps-el 69bdd481"/>
          <p:cNvSpPr/>
          <p:nvPr/>
        </p:nvSpPr>
        <p:spPr>
          <a:xfrm>
            <a:off x="2076450" y="2578150"/>
            <a:ext cx="19050" cy="209550"/>
          </a:xfrm>
          <a:prstGeom prst="rect">
            <a:avLst/>
          </a:prstGeom>
          <a:solidFill>
            <a:srgbClr val="C80E1E"/>
          </a:solidFill>
          <a:ln>
            <a:noFill/>
          </a:ln>
        </p:spPr>
        <p:txBody>
          <a:bodyPr rtlCol="0" anchor="ctr"/>
          <a:lstStyle/>
          <a:p>
            <a:pPr algn="ctr"/>
            <a:endParaRPr/>
          </a:p>
        </p:txBody>
      </p:sp>
      <p:sp>
        <p:nvSpPr>
          <p:cNvPr id="20" name="!!T The same HK$7.7M, with a job for each pa"/>
          <p:cNvSpPr txBox="1"/>
          <p:nvPr/>
        </p:nvSpPr>
        <p:spPr>
          <a:xfrm>
            <a:off x="2171700" y="2602915"/>
            <a:ext cx="3209035" cy="142875"/>
          </a:xfrm>
          <a:prstGeom prst="rect">
            <a:avLst/>
          </a:prstGeom>
          <a:noFill/>
        </p:spPr>
        <p:txBody>
          <a:bodyPr wrap="none" lIns="0" tIns="0" rIns="0" bIns="0" anchor="t">
            <a:noAutofit/>
          </a:bodyPr>
          <a:lstStyle/>
          <a:p>
            <a:pPr algn="l">
              <a:lnSpc>
                <a:spcPts val="1125"/>
              </a:lnSpc>
              <a:spcBef>
                <a:spcPts val="0"/>
              </a:spcBef>
              <a:spcAft>
                <a:spcPts val="0"/>
              </a:spcAft>
            </a:pPr>
            <a:r>
              <a:rPr sz="1125" b="0" i="0" kern="100">
                <a:solidFill>
                  <a:srgbClr val="890816"/>
                </a:solidFill>
                <a:latin typeface="Plus Jakarta Sans SemiBold"/>
              </a:rPr>
              <a:t>The same HK$7.7M, with a job for each part</a:t>
            </a:r>
          </a:p>
        </p:txBody>
      </p:sp>
      <p:sp>
        <p:nvSpPr>
          <p:cNvPr id="21" name="!!T a job and an owner for each"/>
          <p:cNvSpPr txBox="1"/>
          <p:nvPr/>
        </p:nvSpPr>
        <p:spPr>
          <a:xfrm>
            <a:off x="457200" y="3378017"/>
            <a:ext cx="1348124" cy="359956"/>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a job and an owner</a:t>
            </a:r>
          </a:p>
          <a:p>
            <a:pPr algn="l">
              <a:lnSpc>
                <a:spcPts val="1417"/>
              </a:lnSpc>
              <a:spcBef>
                <a:spcPts val="0"/>
              </a:spcBef>
              <a:spcAft>
                <a:spcPts val="0"/>
              </a:spcAft>
            </a:pPr>
            <a:r>
              <a:rPr sz="1050" b="0" i="0" kern="100">
                <a:solidFill>
                  <a:srgbClr val="80606A"/>
                </a:solidFill>
                <a:latin typeface="Plus Jakarta Sans"/>
              </a:rPr>
              <a:t>for each</a:t>
            </a:r>
          </a:p>
        </p:txBody>
      </p:sp>
      <p:sp>
        <p:nvSpPr>
          <p:cNvPr id="22" name="!!T With the plan"/>
          <p:cNvSpPr txBox="1"/>
          <p:nvPr/>
        </p:nvSpPr>
        <p:spPr>
          <a:xfrm>
            <a:off x="457200" y="3086356"/>
            <a:ext cx="1508721" cy="251460"/>
          </a:xfrm>
          <a:prstGeom prst="rect">
            <a:avLst/>
          </a:prstGeom>
          <a:noFill/>
        </p:spPr>
        <p:txBody>
          <a:bodyPr wrap="none" lIns="0" tIns="0" rIns="0" bIns="0" anchor="t">
            <a:noAutofit/>
          </a:bodyPr>
          <a:lstStyle/>
          <a:p>
            <a:pPr algn="l">
              <a:lnSpc>
                <a:spcPts val="1979"/>
              </a:lnSpc>
              <a:spcBef>
                <a:spcPts val="0"/>
              </a:spcBef>
              <a:spcAft>
                <a:spcPts val="0"/>
              </a:spcAft>
            </a:pPr>
            <a:r>
              <a:rPr sz="1650" b="0" i="0" kern="100">
                <a:solidFill>
                  <a:srgbClr val="1B1716"/>
                </a:solidFill>
                <a:latin typeface="Plus Jakarta Sans SemiBold"/>
              </a:rPr>
              <a:t>With the plan</a:t>
            </a:r>
          </a:p>
        </p:txBody>
      </p:sp>
      <p:sp>
        <p:nvSpPr>
          <p:cNvPr id="23" name="!!div 1609de8e"/>
          <p:cNvSpPr/>
          <p:nvPr/>
        </p:nvSpPr>
        <p:spPr>
          <a:xfrm>
            <a:off x="2076450" y="3005584"/>
            <a:ext cx="1237804" cy="1600200"/>
          </a:xfrm>
          <a:prstGeom prst="rect">
            <a:avLst/>
          </a:prstGeom>
          <a:solidFill>
            <a:srgbClr val="D3A6AD"/>
          </a:soli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24" name="!!T HK$1.0M"/>
          <p:cNvSpPr txBox="1"/>
          <p:nvPr/>
        </p:nvSpPr>
        <p:spPr>
          <a:xfrm>
            <a:off x="2209800" y="3106168"/>
            <a:ext cx="1173486" cy="228600"/>
          </a:xfrm>
          <a:prstGeom prst="rect">
            <a:avLst/>
          </a:prstGeom>
          <a:noFill/>
        </p:spPr>
        <p:txBody>
          <a:bodyPr wrap="none" lIns="0" tIns="0" rIns="0" bIns="0" anchor="t">
            <a:noAutofit/>
          </a:bodyPr>
          <a:lstStyle/>
          <a:p>
            <a:pPr algn="l">
              <a:lnSpc>
                <a:spcPts val="1800"/>
              </a:lnSpc>
              <a:spcBef>
                <a:spcPts val="0"/>
              </a:spcBef>
              <a:spcAft>
                <a:spcPts val="0"/>
              </a:spcAft>
            </a:pPr>
            <a:r>
              <a:rPr sz="1800" b="0" i="0" kern="100">
                <a:solidFill>
                  <a:srgbClr val="1B1716"/>
                </a:solidFill>
                <a:latin typeface="Plus Jakarta Sans SemiBold"/>
              </a:rPr>
              <a:t>HK$1.0M</a:t>
            </a:r>
          </a:p>
        </p:txBody>
      </p:sp>
      <p:sp>
        <p:nvSpPr>
          <p:cNvPr id="25" name="!!T Reserve"/>
          <p:cNvSpPr txBox="1"/>
          <p:nvPr/>
        </p:nvSpPr>
        <p:spPr>
          <a:xfrm>
            <a:off x="2209800" y="4114860"/>
            <a:ext cx="701475"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SemiBold"/>
              </a:rPr>
              <a:t>Reserve</a:t>
            </a:r>
          </a:p>
        </p:txBody>
      </p:sp>
      <p:sp>
        <p:nvSpPr>
          <p:cNvPr id="26" name="!!T 12 months"/>
          <p:cNvSpPr txBox="1"/>
          <p:nvPr/>
        </p:nvSpPr>
        <p:spPr>
          <a:xfrm>
            <a:off x="2209800" y="4299264"/>
            <a:ext cx="785402"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alpha val="92000"/>
                  </a:srgbClr>
                </a:solidFill>
                <a:latin typeface="Plus Jakarta Sans"/>
              </a:rPr>
              <a:t>12 months</a:t>
            </a:r>
          </a:p>
        </p:txBody>
      </p:sp>
      <p:sp>
        <p:nvSpPr>
          <p:cNvPr id="27" name="!!div 3cbab694"/>
          <p:cNvSpPr/>
          <p:nvPr/>
        </p:nvSpPr>
        <p:spPr>
          <a:xfrm>
            <a:off x="3352354" y="3005584"/>
            <a:ext cx="3180904" cy="1600200"/>
          </a:xfrm>
          <a:prstGeom prst="rect">
            <a:avLst/>
          </a:prstGeom>
          <a:gradFill rotWithShape="0">
            <a:gsLst>
              <a:gs pos="0">
                <a:srgbClr val="D40F1F"/>
              </a:gs>
              <a:gs pos="100000">
                <a:srgbClr val="971320"/>
              </a:gs>
            </a:gsLst>
            <a:lin ang="5400000" scaled="0"/>
          </a:gra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28" name="!!span 553aebb3"/>
          <p:cNvSpPr/>
          <p:nvPr/>
        </p:nvSpPr>
        <p:spPr>
          <a:xfrm>
            <a:off x="5933182" y="3129409"/>
            <a:ext cx="476250" cy="476250"/>
          </a:xfrm>
          <a:prstGeom prst="ellipse">
            <a:avLst/>
          </a:prstGeom>
          <a:solidFill>
            <a:srgbClr val="FFFFFF">
              <a:alpha val="92000"/>
            </a:srgbClr>
          </a:solidFill>
          <a:ln w="19050">
            <a:solidFill>
              <a:srgbClr val="FFFFFF">
                <a:alpha val="92000"/>
              </a:srgbClr>
            </a:solidFill>
          </a:ln>
          <a:effectLst>
            <a:outerShdw blurRad="57150" dist="19050" dir="5400000" algn="ctr" rotWithShape="0">
              <a:srgbClr val="000000">
                <a:alpha val="23000"/>
              </a:srgbClr>
            </a:outerShdw>
          </a:effectLst>
        </p:spPr>
        <p:txBody>
          <a:bodyPr rtlCol="0" anchor="ctr"/>
          <a:lstStyle/>
          <a:p>
            <a:pPr algn="ctr"/>
            <a:endParaRPr/>
          </a:p>
        </p:txBody>
      </p:sp>
      <p:pic>
        <p:nvPicPr>
          <p:cNvPr id="29" name="!!Picture c19efb08" descr="image.jpg"/>
          <p:cNvPicPr>
            <a:picLocks noChangeAspect="1"/>
          </p:cNvPicPr>
          <p:nvPr/>
        </p:nvPicPr>
        <p:blipFill>
          <a:blip r:embed="rId4">
            <a:alphaModFix amt="92000"/>
          </a:blip>
          <a:stretch>
            <a:fillRect/>
          </a:stretch>
        </p:blipFill>
        <p:spPr>
          <a:xfrm>
            <a:off x="5942707" y="3138934"/>
            <a:ext cx="457200" cy="457200"/>
          </a:xfrm>
          <a:prstGeom prst="ellipse">
            <a:avLst/>
          </a:prstGeom>
        </p:spPr>
      </p:pic>
      <p:sp>
        <p:nvSpPr>
          <p:cNvPr id="30" name="!!T HK$2.57M"/>
          <p:cNvSpPr txBox="1"/>
          <p:nvPr/>
        </p:nvSpPr>
        <p:spPr>
          <a:xfrm>
            <a:off x="3485704" y="3102739"/>
            <a:ext cx="1637925"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FFFFFF"/>
                </a:solidFill>
                <a:latin typeface="Plus Jakarta Sans SemiBold"/>
              </a:rPr>
              <a:t>HK$2.57M</a:t>
            </a:r>
          </a:p>
        </p:txBody>
      </p:sp>
      <p:sp>
        <p:nvSpPr>
          <p:cNvPr id="31" name="!!T Chloe's degree"/>
          <p:cNvSpPr txBox="1"/>
          <p:nvPr/>
        </p:nvSpPr>
        <p:spPr>
          <a:xfrm>
            <a:off x="3485704" y="4114860"/>
            <a:ext cx="1231383"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FFFFFF"/>
                </a:solidFill>
                <a:latin typeface="Plus Jakarta Sans SemiBold"/>
              </a:rPr>
              <a:t>Chloe's degree</a:t>
            </a:r>
          </a:p>
        </p:txBody>
      </p:sp>
      <p:sp>
        <p:nvSpPr>
          <p:cNvPr id="32" name="!!T funded today, wherever she goes"/>
          <p:cNvSpPr txBox="1"/>
          <p:nvPr/>
        </p:nvSpPr>
        <p:spPr>
          <a:xfrm>
            <a:off x="3485704" y="4299264"/>
            <a:ext cx="2336634"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FFFFFF">
                    <a:alpha val="92000"/>
                  </a:srgbClr>
                </a:solidFill>
                <a:latin typeface="Plus Jakarta Sans"/>
              </a:rPr>
              <a:t>funded today, wherever she goes</a:t>
            </a:r>
          </a:p>
        </p:txBody>
      </p:sp>
      <p:sp>
        <p:nvSpPr>
          <p:cNvPr id="33" name="!!div 75edbf39"/>
          <p:cNvSpPr/>
          <p:nvPr/>
        </p:nvSpPr>
        <p:spPr>
          <a:xfrm>
            <a:off x="6571357" y="3005584"/>
            <a:ext cx="2562523" cy="1600200"/>
          </a:xfrm>
          <a:prstGeom prst="rect">
            <a:avLst/>
          </a:prstGeom>
          <a:gradFill rotWithShape="0">
            <a:gsLst>
              <a:gs pos="0">
                <a:srgbClr val="C41627"/>
              </a:gs>
              <a:gs pos="100000">
                <a:srgbClr val="700E19"/>
              </a:gs>
            </a:gsLst>
            <a:lin ang="5400000" scaled="0"/>
          </a:gra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34" name="!!span 92b2adcd"/>
          <p:cNvSpPr/>
          <p:nvPr/>
        </p:nvSpPr>
        <p:spPr>
          <a:xfrm>
            <a:off x="8533805" y="3129409"/>
            <a:ext cx="476250" cy="476250"/>
          </a:xfrm>
          <a:prstGeom prst="ellipse">
            <a:avLst/>
          </a:prstGeom>
          <a:solidFill>
            <a:srgbClr val="FFFFFF">
              <a:alpha val="92000"/>
            </a:srgbClr>
          </a:solidFill>
          <a:ln w="19050">
            <a:solidFill>
              <a:srgbClr val="FFFFFF">
                <a:alpha val="92000"/>
              </a:srgbClr>
            </a:solidFill>
          </a:ln>
          <a:effectLst>
            <a:outerShdw blurRad="57150" dist="19050" dir="5400000" algn="ctr" rotWithShape="0">
              <a:srgbClr val="000000">
                <a:alpha val="23000"/>
              </a:srgbClr>
            </a:outerShdw>
          </a:effectLst>
        </p:spPr>
        <p:txBody>
          <a:bodyPr rtlCol="0" anchor="ctr"/>
          <a:lstStyle/>
          <a:p>
            <a:pPr algn="ctr"/>
            <a:endParaRPr/>
          </a:p>
        </p:txBody>
      </p:sp>
      <p:pic>
        <p:nvPicPr>
          <p:cNvPr id="35" name="!!Picture 877e281b" descr="image.jpg"/>
          <p:cNvPicPr>
            <a:picLocks noChangeAspect="1"/>
          </p:cNvPicPr>
          <p:nvPr/>
        </p:nvPicPr>
        <p:blipFill>
          <a:blip r:embed="rId5">
            <a:alphaModFix amt="92000"/>
          </a:blip>
          <a:stretch>
            <a:fillRect/>
          </a:stretch>
        </p:blipFill>
        <p:spPr>
          <a:xfrm>
            <a:off x="8543330" y="3138934"/>
            <a:ext cx="457200" cy="457200"/>
          </a:xfrm>
          <a:prstGeom prst="ellipse">
            <a:avLst/>
          </a:prstGeom>
        </p:spPr>
      </p:pic>
      <p:sp>
        <p:nvSpPr>
          <p:cNvPr id="36" name="!!T HK$2.07M"/>
          <p:cNvSpPr txBox="1"/>
          <p:nvPr/>
        </p:nvSpPr>
        <p:spPr>
          <a:xfrm>
            <a:off x="6704707" y="3102739"/>
            <a:ext cx="1668530"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FFFFFF"/>
                </a:solidFill>
                <a:latin typeface="Plus Jakarta Sans SemiBold"/>
              </a:rPr>
              <a:t>HK$2.07M</a:t>
            </a:r>
          </a:p>
        </p:txBody>
      </p:sp>
      <p:sp>
        <p:nvSpPr>
          <p:cNvPr id="37" name="!!T Adrian's portfolio"/>
          <p:cNvSpPr txBox="1"/>
          <p:nvPr/>
        </p:nvSpPr>
        <p:spPr>
          <a:xfrm>
            <a:off x="6704707" y="3934926"/>
            <a:ext cx="1381569"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FFFFFF"/>
                </a:solidFill>
                <a:latin typeface="Plus Jakarta Sans SemiBold"/>
              </a:rPr>
              <a:t>Adrian's portfolio</a:t>
            </a:r>
          </a:p>
        </p:txBody>
      </p:sp>
      <p:sp>
        <p:nvSpPr>
          <p:cNvPr id="38" name="!!T 40% shares, 55% bonds; Treasuries from 2"/>
          <p:cNvSpPr txBox="1"/>
          <p:nvPr/>
        </p:nvSpPr>
        <p:spPr>
          <a:xfrm>
            <a:off x="6704707" y="4119330"/>
            <a:ext cx="2478459" cy="359956"/>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FFFFFF">
                    <a:alpha val="92000"/>
                  </a:srgbClr>
                </a:solidFill>
                <a:latin typeface="Plus Jakarta Sans"/>
              </a:rPr>
              <a:t>40% shares, 55% bonds; Treasuries</a:t>
            </a:r>
          </a:p>
          <a:p>
            <a:pPr algn="l">
              <a:lnSpc>
                <a:spcPts val="1417"/>
              </a:lnSpc>
              <a:spcBef>
                <a:spcPts val="0"/>
              </a:spcBef>
              <a:spcAft>
                <a:spcPts val="0"/>
              </a:spcAft>
            </a:pPr>
            <a:r>
              <a:rPr sz="1050" b="0" i="0" kern="100">
                <a:solidFill>
                  <a:srgbClr val="FFFFFF">
                    <a:alpha val="92000"/>
                  </a:srgbClr>
                </a:solidFill>
                <a:latin typeface="Plus Jakarta Sans"/>
              </a:rPr>
              <a:t>from 2037</a:t>
            </a:r>
          </a:p>
        </p:txBody>
      </p:sp>
      <p:sp>
        <p:nvSpPr>
          <p:cNvPr id="39" name="!!div 94fcd239"/>
          <p:cNvSpPr/>
          <p:nvPr/>
        </p:nvSpPr>
        <p:spPr>
          <a:xfrm>
            <a:off x="9171980" y="3005584"/>
            <a:ext cx="2562523" cy="1600200"/>
          </a:xfrm>
          <a:prstGeom prst="rect">
            <a:avLst/>
          </a:prstGeom>
          <a:gradFill rotWithShape="0">
            <a:gsLst>
              <a:gs pos="0">
                <a:srgbClr val="971320"/>
              </a:gs>
              <a:gs pos="100000">
                <a:srgbClr val="500911"/>
              </a:gs>
            </a:gsLst>
            <a:lin ang="5400000" scaled="0"/>
          </a:gradFill>
          <a:ln>
            <a:noFill/>
          </a:ln>
          <a:effectLst>
            <a:outerShdw blurRad="171450" dist="57150" dir="5400000" algn="ctr" rotWithShape="0">
              <a:srgbClr val="5A1520">
                <a:alpha val="14000"/>
              </a:srgbClr>
            </a:outerShdw>
          </a:effectLst>
        </p:spPr>
        <p:txBody>
          <a:bodyPr rtlCol="0" anchor="ctr"/>
          <a:lstStyle/>
          <a:p>
            <a:pPr algn="ctr"/>
            <a:endParaRPr/>
          </a:p>
        </p:txBody>
      </p:sp>
      <p:sp>
        <p:nvSpPr>
          <p:cNvPr id="40" name="!!span 8fc03cfa"/>
          <p:cNvSpPr/>
          <p:nvPr/>
        </p:nvSpPr>
        <p:spPr>
          <a:xfrm>
            <a:off x="11134427" y="3129409"/>
            <a:ext cx="476250" cy="476250"/>
          </a:xfrm>
          <a:prstGeom prst="ellipse">
            <a:avLst/>
          </a:prstGeom>
          <a:solidFill>
            <a:srgbClr val="FFFFFF">
              <a:alpha val="92000"/>
            </a:srgbClr>
          </a:solidFill>
          <a:ln w="19050">
            <a:solidFill>
              <a:srgbClr val="FFFFFF">
                <a:alpha val="92000"/>
              </a:srgbClr>
            </a:solidFill>
          </a:ln>
          <a:effectLst>
            <a:outerShdw blurRad="57150" dist="19050" dir="5400000" algn="ctr" rotWithShape="0">
              <a:srgbClr val="000000">
                <a:alpha val="23000"/>
              </a:srgbClr>
            </a:outerShdw>
          </a:effectLst>
        </p:spPr>
        <p:txBody>
          <a:bodyPr rtlCol="0" anchor="ctr"/>
          <a:lstStyle/>
          <a:p>
            <a:pPr algn="ctr"/>
            <a:endParaRPr/>
          </a:p>
        </p:txBody>
      </p:sp>
      <p:pic>
        <p:nvPicPr>
          <p:cNvPr id="41" name="!!Picture a6c5f4f8" descr="image.jpg"/>
          <p:cNvPicPr>
            <a:picLocks noChangeAspect="1"/>
          </p:cNvPicPr>
          <p:nvPr/>
        </p:nvPicPr>
        <p:blipFill>
          <a:blip r:embed="rId6">
            <a:alphaModFix amt="92000"/>
          </a:blip>
          <a:stretch>
            <a:fillRect/>
          </a:stretch>
        </p:blipFill>
        <p:spPr>
          <a:xfrm>
            <a:off x="11143952" y="3138934"/>
            <a:ext cx="457200" cy="457200"/>
          </a:xfrm>
          <a:prstGeom prst="ellipse">
            <a:avLst/>
          </a:prstGeom>
        </p:spPr>
      </p:pic>
      <p:sp>
        <p:nvSpPr>
          <p:cNvPr id="42" name="!!T HK$2.07M #2"/>
          <p:cNvSpPr txBox="1"/>
          <p:nvPr/>
        </p:nvSpPr>
        <p:spPr>
          <a:xfrm>
            <a:off x="9305330" y="3102739"/>
            <a:ext cx="1668530"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FFFFFF"/>
                </a:solidFill>
                <a:latin typeface="Plus Jakarta Sans SemiBold"/>
              </a:rPr>
              <a:t>HK$2.07M</a:t>
            </a:r>
          </a:p>
        </p:txBody>
      </p:sp>
      <p:sp>
        <p:nvSpPr>
          <p:cNvPr id="43" name="!!T Carmen's portfolio"/>
          <p:cNvSpPr txBox="1"/>
          <p:nvPr/>
        </p:nvSpPr>
        <p:spPr>
          <a:xfrm>
            <a:off x="9305330" y="3934926"/>
            <a:ext cx="1489317"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FFFFFF"/>
                </a:solidFill>
                <a:latin typeface="Plus Jakarta Sans SemiBold"/>
              </a:rPr>
              <a:t>Carmen's portfolio</a:t>
            </a:r>
          </a:p>
        </p:txBody>
      </p:sp>
      <p:sp>
        <p:nvSpPr>
          <p:cNvPr id="44" name="!!T 60% shares, 35% bonds; led by ESG funds"/>
          <p:cNvSpPr txBox="1"/>
          <p:nvPr/>
        </p:nvSpPr>
        <p:spPr>
          <a:xfrm>
            <a:off x="9305330" y="4119330"/>
            <a:ext cx="2209008" cy="359956"/>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FFFFFF">
                    <a:alpha val="92000"/>
                  </a:srgbClr>
                </a:solidFill>
                <a:latin typeface="Plus Jakarta Sans"/>
              </a:rPr>
              <a:t>60% shares, 35% bonds; led by</a:t>
            </a:r>
          </a:p>
          <a:p>
            <a:pPr algn="l">
              <a:lnSpc>
                <a:spcPts val="1417"/>
              </a:lnSpc>
              <a:spcBef>
                <a:spcPts val="0"/>
              </a:spcBef>
              <a:spcAft>
                <a:spcPts val="0"/>
              </a:spcAft>
            </a:pPr>
            <a:r>
              <a:rPr sz="1050" b="0" i="0" kern="100">
                <a:solidFill>
                  <a:srgbClr val="FFFFFF">
                    <a:alpha val="92000"/>
                  </a:srgbClr>
                </a:solidFill>
                <a:latin typeface="Plus Jakarta Sans"/>
              </a:rPr>
              <a:t>ESG funds</a:t>
            </a:r>
          </a:p>
        </p:txBody>
      </p:sp>
      <p:sp>
        <p:nvSpPr>
          <p:cNvPr id="45" name="!!div 1790d185"/>
          <p:cNvSpPr/>
          <p:nvPr/>
        </p:nvSpPr>
        <p:spPr>
          <a:xfrm>
            <a:off x="2081212" y="4828282"/>
            <a:ext cx="4705350" cy="619125"/>
          </a:xfrm>
          <a:prstGeom prst="rect">
            <a:avLst/>
          </a:prstGeom>
          <a:noFill/>
          <a:ln w="9525">
            <a:solidFill>
              <a:srgbClr val="EFD9DC"/>
            </a:solidFill>
            <a:prstDash val="dash"/>
          </a:ln>
        </p:spPr>
        <p:txBody>
          <a:bodyPr rtlCol="0" anchor="ctr"/>
          <a:lstStyle/>
          <a:p>
            <a:pPr algn="ctr"/>
            <a:endParaRPr/>
          </a:p>
        </p:txBody>
      </p:sp>
      <p:sp>
        <p:nvSpPr>
          <p:cNvPr id="46" name="!!span 404f1cc1"/>
          <p:cNvSpPr/>
          <p:nvPr/>
        </p:nvSpPr>
        <p:spPr>
          <a:xfrm>
            <a:off x="2219325" y="4928295"/>
            <a:ext cx="419100" cy="41910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47" name="!!Picture c1787d32" descr="image.jpg"/>
          <p:cNvPicPr>
            <a:picLocks noChangeAspect="1"/>
          </p:cNvPicPr>
          <p:nvPr/>
        </p:nvPicPr>
        <p:blipFill>
          <a:blip r:embed="rId7"/>
          <a:stretch>
            <a:fillRect/>
          </a:stretch>
        </p:blipFill>
        <p:spPr>
          <a:xfrm>
            <a:off x="2219325" y="4928295"/>
            <a:ext cx="419100" cy="419100"/>
          </a:xfrm>
          <a:prstGeom prst="ellipse">
            <a:avLst/>
          </a:prstGeom>
        </p:spPr>
      </p:pic>
      <p:sp>
        <p:nvSpPr>
          <p:cNvPr id="48" name="!!T Ryan's own plan: he saves 30% of his pay"/>
          <p:cNvSpPr txBox="1"/>
          <p:nvPr/>
        </p:nvSpPr>
        <p:spPr>
          <a:xfrm>
            <a:off x="2771775" y="4930438"/>
            <a:ext cx="3856789" cy="385762"/>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1B1716"/>
                </a:solidFill>
                <a:latin typeface="Plus Jakarta Sans SemiBold"/>
              </a:rPr>
              <a:t>Ryan's own plan:</a:t>
            </a:r>
            <a:r>
              <a:rPr sz="1125" b="0" i="0" kern="100">
                <a:solidFill>
                  <a:srgbClr val="80606A"/>
                </a:solidFill>
                <a:latin typeface="Plus Jakarta Sans"/>
              </a:rPr>
              <a:t> he saves 30% of his pay, in a plan of</a:t>
            </a:r>
          </a:p>
          <a:p>
            <a:pPr algn="l">
              <a:lnSpc>
                <a:spcPts val="1518"/>
              </a:lnSpc>
              <a:spcBef>
                <a:spcPts val="0"/>
              </a:spcBef>
              <a:spcAft>
                <a:spcPts val="0"/>
              </a:spcAft>
            </a:pPr>
            <a:r>
              <a:rPr sz="1125" b="0" i="0" kern="100">
                <a:solidFill>
                  <a:srgbClr val="80606A"/>
                </a:solidFill>
                <a:latin typeface="Plus Jakarta Sans"/>
              </a:rPr>
              <a:t>his own</a:t>
            </a:r>
          </a:p>
        </p:txBody>
      </p:sp>
      <p:sp>
        <p:nvSpPr>
          <p:cNvPr id="49" name="!!div bbe2cafb"/>
          <p:cNvSpPr/>
          <p:nvPr/>
        </p:nvSpPr>
        <p:spPr>
          <a:xfrm>
            <a:off x="7024688" y="4828282"/>
            <a:ext cx="4705350" cy="619125"/>
          </a:xfrm>
          <a:prstGeom prst="rect">
            <a:avLst/>
          </a:prstGeom>
          <a:noFill/>
          <a:ln w="9525">
            <a:solidFill>
              <a:srgbClr val="EFD9DC"/>
            </a:solidFill>
            <a:prstDash val="dash"/>
          </a:ln>
        </p:spPr>
        <p:txBody>
          <a:bodyPr rtlCol="0" anchor="ctr"/>
          <a:lstStyle/>
          <a:p>
            <a:pPr algn="ctr"/>
            <a:endParaRPr/>
          </a:p>
        </p:txBody>
      </p:sp>
      <p:sp>
        <p:nvSpPr>
          <p:cNvPr id="50" name="!!T HK$45K"/>
          <p:cNvSpPr txBox="1"/>
          <p:nvPr/>
        </p:nvSpPr>
        <p:spPr>
          <a:xfrm>
            <a:off x="7162800" y="4977825"/>
            <a:ext cx="1318150" cy="285750"/>
          </a:xfrm>
          <a:prstGeom prst="rect">
            <a:avLst/>
          </a:prstGeom>
          <a:noFill/>
        </p:spPr>
        <p:txBody>
          <a:bodyPr wrap="none" lIns="0" tIns="0" rIns="0" bIns="0" anchor="t">
            <a:noAutofit/>
          </a:bodyPr>
          <a:lstStyle/>
          <a:p>
            <a:pPr algn="l">
              <a:lnSpc>
                <a:spcPts val="2250"/>
              </a:lnSpc>
              <a:spcBef>
                <a:spcPts val="0"/>
              </a:spcBef>
              <a:spcAft>
                <a:spcPts val="0"/>
              </a:spcAft>
            </a:pPr>
            <a:r>
              <a:rPr sz="2250" b="0" i="0" kern="100">
                <a:solidFill>
                  <a:srgbClr val="1B1716"/>
                </a:solidFill>
                <a:latin typeface="Plus Jakarta Sans SemiBold"/>
              </a:rPr>
              <a:t>HK$45K</a:t>
            </a:r>
          </a:p>
        </p:txBody>
      </p:sp>
      <p:sp>
        <p:nvSpPr>
          <p:cNvPr id="51" name="!!T a year less in fees: broad index funds i"/>
          <p:cNvSpPr txBox="1"/>
          <p:nvPr/>
        </p:nvSpPr>
        <p:spPr>
          <a:xfrm>
            <a:off x="8431857" y="4930438"/>
            <a:ext cx="3286179" cy="385762"/>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1B1716"/>
                </a:solidFill>
                <a:latin typeface="Plus Jakarta Sans SemiBold"/>
              </a:rPr>
              <a:t>a year less in fees:</a:t>
            </a:r>
            <a:r>
              <a:rPr sz="1125" b="0" i="0" kern="100">
                <a:solidFill>
                  <a:srgbClr val="80606A"/>
                </a:solidFill>
                <a:latin typeface="Plus Jakarta Sans"/>
              </a:rPr>
              <a:t> broad index funds instead</a:t>
            </a:r>
          </a:p>
          <a:p>
            <a:pPr algn="l">
              <a:lnSpc>
                <a:spcPts val="1518"/>
              </a:lnSpc>
              <a:spcBef>
                <a:spcPts val="0"/>
              </a:spcBef>
              <a:spcAft>
                <a:spcPts val="0"/>
              </a:spcAft>
            </a:pPr>
            <a:r>
              <a:rPr sz="1125" b="0" i="0" kern="100">
                <a:solidFill>
                  <a:srgbClr val="80606A"/>
                </a:solidFill>
                <a:latin typeface="Plus Jakarta Sans"/>
              </a:rPr>
              <a:t>of costly funds</a:t>
            </a:r>
          </a:p>
        </p:txBody>
      </p:sp>
      <p:sp>
        <p:nvSpPr>
          <p:cNvPr id="52" name="!!T The price: Chloe's HK$2.57M stays in dep"/>
          <p:cNvSpPr txBox="1"/>
          <p:nvPr/>
        </p:nvSpPr>
        <p:spPr>
          <a:xfrm>
            <a:off x="457200" y="5550849"/>
            <a:ext cx="7597542" cy="186690"/>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971320"/>
                </a:solidFill>
                <a:latin typeface="Plus Jakarta Sans"/>
              </a:rPr>
              <a:t>The price:</a:t>
            </a:r>
            <a:r>
              <a:rPr sz="1050" b="0" i="0" kern="100">
                <a:solidFill>
                  <a:srgbClr val="1B1716"/>
                </a:solidFill>
                <a:latin typeface="Plus Jakarta Sans"/>
              </a:rPr>
              <a:t> Chloe's HK$2.57M stays in deposits and short bonds: safe for 2028, but it earns less than shares would.</a:t>
            </a:r>
          </a:p>
        </p:txBody>
      </p:sp>
      <p:sp>
        <p:nvSpPr>
          <p:cNvPr id="53"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54" name="!!T Chloe's degree is funded today, and each"/>
          <p:cNvSpPr txBox="1"/>
          <p:nvPr/>
        </p:nvSpPr>
        <p:spPr>
          <a:xfrm>
            <a:off x="2387865" y="5984558"/>
            <a:ext cx="7416120"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Chloe's degree is funded today, and each parent's money fits their own risk.</a:t>
            </a:r>
          </a:p>
        </p:txBody>
      </p:sp>
      <p:sp>
        <p:nvSpPr>
          <p:cNvPr id="55" name="!!T Today: the case's statement. The plan: w"/>
          <p:cNvSpPr txBox="1"/>
          <p:nvPr/>
        </p:nvSpPr>
        <p:spPr>
          <a:xfrm>
            <a:off x="457200" y="6452104"/>
            <a:ext cx="6417513"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Today: the case's statement. The plan: written case §4 and §5 (Adrian 40/55/5, Carmen 60/35/5, Figure 14); fees</a:t>
            </a:r>
          </a:p>
          <a:p>
            <a:pPr algn="l">
              <a:lnSpc>
                <a:spcPts val="1170"/>
              </a:lnSpc>
              <a:spcBef>
                <a:spcPts val="0"/>
              </a:spcBef>
              <a:spcAft>
                <a:spcPts val="0"/>
              </a:spcAft>
            </a:pPr>
            <a:r>
              <a:rPr sz="900" b="0" i="0" kern="100">
                <a:solidFill>
                  <a:srgbClr val="80606A"/>
                </a:solidFill>
                <a:latin typeface="Plus Jakarta Sans"/>
              </a:rPr>
              <a:t>about 1.5% today against about 0.5% in index funds.</a:t>
            </a:r>
          </a:p>
        </p:txBody>
      </p:sp>
      <p:sp>
        <p:nvSpPr>
          <p:cNvPr id="56" name="!!T The problem"/>
          <p:cNvSpPr txBox="1"/>
          <p:nvPr/>
        </p:nvSpPr>
        <p:spPr>
          <a:xfrm>
            <a:off x="6671667"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57" name="!!T The answer"/>
          <p:cNvSpPr txBox="1"/>
          <p:nvPr/>
        </p:nvSpPr>
        <p:spPr>
          <a:xfrm>
            <a:off x="7617916"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58" name="!!T The five calls"/>
          <p:cNvSpPr txBox="1"/>
          <p:nvPr/>
        </p:nvSpPr>
        <p:spPr>
          <a:xfrm>
            <a:off x="8478143" y="6536246"/>
            <a:ext cx="905140"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five calls</a:t>
            </a:r>
          </a:p>
        </p:txBody>
      </p:sp>
      <p:sp>
        <p:nvSpPr>
          <p:cNvPr id="59" name="!!T Will it hold"/>
          <p:cNvSpPr txBox="1"/>
          <p:nvPr/>
        </p:nvSpPr>
        <p:spPr>
          <a:xfrm>
            <a:off x="9433768"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60" name="!!T What next"/>
          <p:cNvSpPr txBox="1"/>
          <p:nvPr/>
        </p:nvSpPr>
        <p:spPr>
          <a:xfrm>
            <a:off x="10231785"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61" name="!!T Us"/>
          <p:cNvSpPr txBox="1"/>
          <p:nvPr/>
        </p:nvSpPr>
        <p:spPr>
          <a:xfrm>
            <a:off x="11027122"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62" name="!!T 8 / 15"/>
          <p:cNvSpPr txBox="1"/>
          <p:nvPr/>
        </p:nvSpPr>
        <p:spPr>
          <a:xfrm>
            <a:off x="11405443" y="6535674"/>
            <a:ext cx="463418"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8 / 15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3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3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3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3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3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3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3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300"/>
                                        <p:tgtEl>
                                          <p:spTgt spid="2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300"/>
                                        <p:tgtEl>
                                          <p:spTgt spid="28"/>
                                        </p:tgtEl>
                                      </p:cBhvr>
                                    </p:animEffect>
                                  </p:childTnLst>
                                </p:cTn>
                              </p:par>
                              <p:par>
                                <p:cTn id="35" presetID="10"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3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300"/>
                                        <p:tgtEl>
                                          <p:spTgt spid="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3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300"/>
                                        <p:tgtEl>
                                          <p:spTgt spid="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3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300"/>
                                        <p:tgtEl>
                                          <p:spTgt spid="34"/>
                                        </p:tgtEl>
                                      </p:cBhvr>
                                    </p:animEffect>
                                  </p:childTnLst>
                                </p:cTn>
                              </p:par>
                              <p:par>
                                <p:cTn id="53" presetID="10" presetClass="entr" presetSubtype="0" fill="hold"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3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300"/>
                                        <p:tgtEl>
                                          <p:spTgt spid="3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300"/>
                                        <p:tgtEl>
                                          <p:spTgt spid="3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300"/>
                                        <p:tgtEl>
                                          <p:spTgt spid="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fade">
                                      <p:cBhvr>
                                        <p:cTn id="67" dur="300"/>
                                        <p:tgtEl>
                                          <p:spTgt spid="3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fade">
                                      <p:cBhvr>
                                        <p:cTn id="70" dur="300"/>
                                        <p:tgtEl>
                                          <p:spTgt spid="40"/>
                                        </p:tgtEl>
                                      </p:cBhvr>
                                    </p:animEffect>
                                  </p:childTnLst>
                                </p:cTn>
                              </p:par>
                              <p:par>
                                <p:cTn id="71" presetID="10" presetClass="entr" presetSubtype="0" fill="hold"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fade">
                                      <p:cBhvr>
                                        <p:cTn id="73" dur="300"/>
                                        <p:tgtEl>
                                          <p:spTgt spid="4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fade">
                                      <p:cBhvr>
                                        <p:cTn id="76" dur="300"/>
                                        <p:tgtEl>
                                          <p:spTgt spid="4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fade">
                                      <p:cBhvr>
                                        <p:cTn id="79" dur="300"/>
                                        <p:tgtEl>
                                          <p:spTgt spid="4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fade">
                                      <p:cBhvr>
                                        <p:cTn id="82" dur="300"/>
                                        <p:tgtEl>
                                          <p:spTgt spid="4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300"/>
                                        <p:tgtEl>
                                          <p:spTgt spid="4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fade">
                                      <p:cBhvr>
                                        <p:cTn id="90" dur="300"/>
                                        <p:tgtEl>
                                          <p:spTgt spid="46"/>
                                        </p:tgtEl>
                                      </p:cBhvr>
                                    </p:animEffect>
                                  </p:childTnLst>
                                </p:cTn>
                              </p:par>
                              <p:par>
                                <p:cTn id="91" presetID="10" presetClass="entr" presetSubtype="0" fill="hold" nodeType="with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fade">
                                      <p:cBhvr>
                                        <p:cTn id="93" dur="300"/>
                                        <p:tgtEl>
                                          <p:spTgt spid="4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8"/>
                                        </p:tgtEl>
                                        <p:attrNameLst>
                                          <p:attrName>style.visibility</p:attrName>
                                        </p:attrNameLst>
                                      </p:cBhvr>
                                      <p:to>
                                        <p:strVal val="visible"/>
                                      </p:to>
                                    </p:set>
                                    <p:animEffect transition="in" filter="fade">
                                      <p:cBhvr>
                                        <p:cTn id="96" dur="300"/>
                                        <p:tgtEl>
                                          <p:spTgt spid="4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9"/>
                                        </p:tgtEl>
                                        <p:attrNameLst>
                                          <p:attrName>style.visibility</p:attrName>
                                        </p:attrNameLst>
                                      </p:cBhvr>
                                      <p:to>
                                        <p:strVal val="visible"/>
                                      </p:to>
                                    </p:set>
                                    <p:animEffect transition="in" filter="fade">
                                      <p:cBhvr>
                                        <p:cTn id="99" dur="300"/>
                                        <p:tgtEl>
                                          <p:spTgt spid="4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0"/>
                                        </p:tgtEl>
                                        <p:attrNameLst>
                                          <p:attrName>style.visibility</p:attrName>
                                        </p:attrNameLst>
                                      </p:cBhvr>
                                      <p:to>
                                        <p:strVal val="visible"/>
                                      </p:to>
                                    </p:set>
                                    <p:animEffect transition="in" filter="fade">
                                      <p:cBhvr>
                                        <p:cTn id="102" dur="300"/>
                                        <p:tgtEl>
                                          <p:spTgt spid="50"/>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1"/>
                                        </p:tgtEl>
                                        <p:attrNameLst>
                                          <p:attrName>style.visibility</p:attrName>
                                        </p:attrNameLst>
                                      </p:cBhvr>
                                      <p:to>
                                        <p:strVal val="visible"/>
                                      </p:to>
                                    </p:set>
                                    <p:animEffect transition="in" filter="fade">
                                      <p:cBhvr>
                                        <p:cTn id="105" dur="300"/>
                                        <p:tgtEl>
                                          <p:spTgt spid="51"/>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2"/>
                                        </p:tgtEl>
                                        <p:attrNameLst>
                                          <p:attrName>style.visibility</p:attrName>
                                        </p:attrNameLst>
                                      </p:cBhvr>
                                      <p:to>
                                        <p:strVal val="visible"/>
                                      </p:to>
                                    </p:set>
                                    <p:animEffect transition="in" filter="fade">
                                      <p:cBhvr>
                                        <p:cTn id="108" dur="300"/>
                                        <p:tgtEl>
                                          <p:spTgt spid="52"/>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3"/>
                                        </p:tgtEl>
                                        <p:attrNameLst>
                                          <p:attrName>style.visibility</p:attrName>
                                        </p:attrNameLst>
                                      </p:cBhvr>
                                      <p:to>
                                        <p:strVal val="visible"/>
                                      </p:to>
                                    </p:set>
                                    <p:animEffect transition="in" filter="fade">
                                      <p:cBhvr>
                                        <p:cTn id="111" dur="300"/>
                                        <p:tgtEl>
                                          <p:spTgt spid="53"/>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54"/>
                                        </p:tgtEl>
                                        <p:attrNameLst>
                                          <p:attrName>style.visibility</p:attrName>
                                        </p:attrNameLst>
                                      </p:cBhvr>
                                      <p:to>
                                        <p:strVal val="visible"/>
                                      </p:to>
                                    </p:set>
                                    <p:animEffect transition="in" filter="fade">
                                      <p:cBhvr>
                                        <p:cTn id="114" dur="3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2" grpId="0" animBg="1"/>
      <p:bldP spid="43" grpId="0" animBg="1"/>
      <p:bldP spid="44" grpId="0" animBg="1"/>
      <p:bldP spid="45" grpId="0" animBg="1"/>
      <p:bldP spid="46" grpId="0" animBg="1"/>
      <p:bldP spid="48" grpId="0" animBg="1"/>
      <p:bldP spid="49" grpId="0" animBg="1"/>
      <p:bldP spid="50" grpId="0" animBg="1"/>
      <p:bldP spid="51" grpId="0" animBg="1"/>
      <p:bldP spid="52" grpId="0" animBg="1"/>
      <p:bldP spid="53" grpId="0" animBg="1"/>
      <p:bldP spid="5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Values and innovation, with guardrails: ESG at 25%, crypto sized for each person">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pic>
        <p:nvPicPr>
          <p:cNvPr id="3"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6150" y="247650"/>
            <a:ext cx="628650" cy="600075"/>
          </a:xfrm>
          <a:prstGeom prst="rect">
            <a:avLst/>
          </a:prstGeom>
        </p:spPr>
      </p:pic>
      <p:sp>
        <p:nvSpPr>
          <p:cNvPr id="4" name="!!T Call 5: Values and innovation"/>
          <p:cNvSpPr txBox="1"/>
          <p:nvPr/>
        </p:nvSpPr>
        <p:spPr>
          <a:xfrm>
            <a:off x="638175" y="324421"/>
            <a:ext cx="203026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Call 5: Values and innovation</a:t>
            </a:r>
          </a:p>
        </p:txBody>
      </p:sp>
      <p:sp>
        <p:nvSpPr>
          <p:cNvPr id="5" name="!!T Values and innovation, with guardrails: "/>
          <p:cNvSpPr txBox="1"/>
          <p:nvPr/>
        </p:nvSpPr>
        <p:spPr>
          <a:xfrm>
            <a:off x="638175" y="529852"/>
            <a:ext cx="5750829"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Values and innovation, with guardrails:</a:t>
            </a:r>
          </a:p>
          <a:p>
            <a:pPr algn="l">
              <a:lnSpc>
                <a:spcPts val="2523"/>
              </a:lnSpc>
              <a:spcBef>
                <a:spcPts val="0"/>
              </a:spcBef>
              <a:spcAft>
                <a:spcPts val="0"/>
              </a:spcAft>
            </a:pPr>
            <a:r>
              <a:rPr sz="2175" b="1" i="0" kern="100" spc="-38">
                <a:solidFill>
                  <a:srgbClr val="1B1716"/>
                </a:solidFill>
                <a:latin typeface="Plus Jakarta Sans"/>
              </a:rPr>
              <a:t>ESG at 25%, crypto sized for each person</a:t>
            </a:r>
          </a:p>
        </p:txBody>
      </p:sp>
      <p:sp>
        <p:nvSpPr>
          <p:cNvPr id="6" name="!!Rule 173d024c"/>
          <p:cNvSpPr/>
          <p:nvPr/>
        </p:nvSpPr>
        <p:spPr>
          <a:xfrm>
            <a:off x="457200" y="1740098"/>
            <a:ext cx="5372100" cy="9525"/>
          </a:xfrm>
          <a:prstGeom prst="rect">
            <a:avLst/>
          </a:prstGeom>
          <a:solidFill>
            <a:srgbClr val="1B1716"/>
          </a:solidFill>
          <a:ln>
            <a:noFill/>
          </a:ln>
        </p:spPr>
        <p:txBody>
          <a:bodyPr rtlCol="0" anchor="ctr"/>
          <a:lstStyle/>
          <a:p>
            <a:pPr algn="ctr"/>
            <a:endParaRPr/>
          </a:p>
        </p:txBody>
      </p:sp>
      <p:sp>
        <p:nvSpPr>
          <p:cNvPr id="7" name="!!T Carmen's values: ESG from 11% to 25%…"/>
          <p:cNvSpPr txBox="1"/>
          <p:nvPr/>
        </p:nvSpPr>
        <p:spPr>
          <a:xfrm>
            <a:off x="457200" y="1445824"/>
            <a:ext cx="3392192"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Carmen's values: ESG from 11% to 25%…</a:t>
            </a:r>
          </a:p>
        </p:txBody>
      </p:sp>
      <p:sp>
        <p:nvSpPr>
          <p:cNvPr id="8" name="!!div 99ab30da"/>
          <p:cNvSpPr/>
          <p:nvPr/>
        </p:nvSpPr>
        <p:spPr>
          <a:xfrm>
            <a:off x="3984129" y="2149673"/>
            <a:ext cx="614958" cy="1257300"/>
          </a:xfrm>
          <a:prstGeom prst="rect">
            <a:avLst/>
          </a:prstGeom>
          <a:solidFill>
            <a:srgbClr val="F8EFF0"/>
          </a:solidFill>
          <a:ln>
            <a:noFill/>
          </a:ln>
        </p:spPr>
        <p:txBody>
          <a:bodyPr rtlCol="0" anchor="ctr"/>
          <a:lstStyle/>
          <a:p>
            <a:pPr algn="ctr"/>
            <a:endParaRPr/>
          </a:p>
        </p:txBody>
      </p:sp>
      <p:cxnSp>
        <p:nvCxnSpPr>
          <p:cNvPr id="9" name="!!Rule 0be4d14a"/>
          <p:cNvCxnSpPr/>
          <p:nvPr/>
        </p:nvCxnSpPr>
        <p:spPr>
          <a:xfrm>
            <a:off x="4594324" y="2149673"/>
            <a:ext cx="0" cy="1257300"/>
          </a:xfrm>
          <a:prstGeom prst="line">
            <a:avLst/>
          </a:prstGeom>
          <a:ln w="9525">
            <a:solidFill>
              <a:srgbClr val="B5979D"/>
            </a:solidFill>
            <a:prstDash val="dash"/>
          </a:ln>
        </p:spPr>
        <p:style>
          <a:lnRef idx="2">
            <a:schemeClr val="accent1"/>
          </a:lnRef>
          <a:fillRef idx="0">
            <a:schemeClr val="accent1"/>
          </a:fillRef>
          <a:effectRef idx="1">
            <a:schemeClr val="accent1"/>
          </a:effectRef>
          <a:fontRef idx="minor">
            <a:schemeClr val="tx1"/>
          </a:fontRef>
        </p:style>
      </p:cxnSp>
      <p:cxnSp>
        <p:nvCxnSpPr>
          <p:cNvPr id="10" name="!!Rule 38eb5f99"/>
          <p:cNvCxnSpPr/>
          <p:nvPr/>
        </p:nvCxnSpPr>
        <p:spPr>
          <a:xfrm>
            <a:off x="3988891" y="2149673"/>
            <a:ext cx="0" cy="1257300"/>
          </a:xfrm>
          <a:prstGeom prst="line">
            <a:avLst/>
          </a:prstGeom>
          <a:ln w="9525">
            <a:solidFill>
              <a:srgbClr val="B5979D"/>
            </a:solidFill>
            <a:prstDash val="dash"/>
          </a:ln>
        </p:spPr>
        <p:style>
          <a:lnRef idx="2">
            <a:schemeClr val="accent1"/>
          </a:lnRef>
          <a:fillRef idx="0">
            <a:schemeClr val="accent1"/>
          </a:fillRef>
          <a:effectRef idx="1">
            <a:schemeClr val="accent1"/>
          </a:effectRef>
          <a:fontRef idx="minor">
            <a:schemeClr val="tx1"/>
          </a:fontRef>
        </p:style>
      </p:cxnSp>
      <p:sp>
        <p:nvSpPr>
          <p:cNvPr id="11" name="!!T their goal, 20–25% (case)"/>
          <p:cNvSpPr txBox="1"/>
          <p:nvPr/>
        </p:nvSpPr>
        <p:spPr>
          <a:xfrm>
            <a:off x="3502372" y="1941647"/>
            <a:ext cx="1787479"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SemiBold"/>
              </a:rPr>
              <a:t>their goal, 20–25% </a:t>
            </a:r>
            <a:r>
              <a:rPr sz="900" b="0" i="1" kern="100">
                <a:solidFill>
                  <a:srgbClr val="80606A"/>
                </a:solidFill>
                <a:latin typeface="Plus Jakarta Sans"/>
              </a:rPr>
              <a:t>(case)</a:t>
            </a:r>
          </a:p>
        </p:txBody>
      </p:sp>
      <p:sp>
        <p:nvSpPr>
          <p:cNvPr id="12" name="!!i cd32b6e5"/>
          <p:cNvSpPr/>
          <p:nvPr/>
        </p:nvSpPr>
        <p:spPr>
          <a:xfrm>
            <a:off x="457200" y="3549848"/>
            <a:ext cx="133350" cy="133350"/>
          </a:xfrm>
          <a:prstGeom prst="rect">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13" name="!!T World ESG index"/>
          <p:cNvSpPr txBox="1"/>
          <p:nvPr/>
        </p:nvSpPr>
        <p:spPr>
          <a:xfrm>
            <a:off x="666750" y="3503557"/>
            <a:ext cx="1399080"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World ESG index</a:t>
            </a:r>
          </a:p>
        </p:txBody>
      </p:sp>
      <p:sp>
        <p:nvSpPr>
          <p:cNvPr id="14" name="!!T HK$1.49M"/>
          <p:cNvSpPr txBox="1"/>
          <p:nvPr/>
        </p:nvSpPr>
        <p:spPr>
          <a:xfrm>
            <a:off x="2057400" y="3509272"/>
            <a:ext cx="918707" cy="205740"/>
          </a:xfrm>
          <a:prstGeom prst="rect">
            <a:avLst/>
          </a:prstGeom>
          <a:noFill/>
        </p:spPr>
        <p:txBody>
          <a:bodyPr wrap="none" lIns="0" tIns="0" rIns="0" bIns="0" anchor="t">
            <a:noAutofit/>
          </a:bodyPr>
          <a:lstStyle/>
          <a:p>
            <a:pPr algn="l">
              <a:lnSpc>
                <a:spcPts val="1620"/>
              </a:lnSpc>
              <a:spcBef>
                <a:spcPts val="0"/>
              </a:spcBef>
              <a:spcAft>
                <a:spcPts val="0"/>
              </a:spcAft>
            </a:pPr>
            <a:r>
              <a:rPr sz="1200" b="1" i="0" kern="100">
                <a:solidFill>
                  <a:srgbClr val="1B1716"/>
                </a:solidFill>
                <a:latin typeface="Plus Jakarta Sans"/>
              </a:rPr>
              <a:t>HK$1.49M</a:t>
            </a:r>
          </a:p>
        </p:txBody>
      </p:sp>
      <p:sp>
        <p:nvSpPr>
          <p:cNvPr id="15" name="!!T the global shares core"/>
          <p:cNvSpPr txBox="1"/>
          <p:nvPr/>
        </p:nvSpPr>
        <p:spPr>
          <a:xfrm>
            <a:off x="2971800" y="3508986"/>
            <a:ext cx="1587758" cy="180022"/>
          </a:xfrm>
          <a:prstGeom prst="rect">
            <a:avLst/>
          </a:prstGeom>
          <a:noFill/>
        </p:spPr>
        <p:txBody>
          <a:bodyPr wrap="none" lIns="0" tIns="0" rIns="0" bIns="0" anchor="t">
            <a:noAutofit/>
          </a:bodyPr>
          <a:lstStyle/>
          <a:p>
            <a:pPr algn="l">
              <a:lnSpc>
                <a:spcPts val="1417"/>
              </a:lnSpc>
              <a:spcBef>
                <a:spcPts val="0"/>
              </a:spcBef>
              <a:spcAft>
                <a:spcPts val="0"/>
              </a:spcAft>
            </a:pPr>
            <a:r>
              <a:rPr sz="1050" b="0" i="1" kern="100">
                <a:solidFill>
                  <a:srgbClr val="1B1716"/>
                </a:solidFill>
                <a:latin typeface="Plus Jakarta Sans"/>
              </a:rPr>
              <a:t>the global shares core</a:t>
            </a:r>
          </a:p>
        </p:txBody>
      </p:sp>
      <p:sp>
        <p:nvSpPr>
          <p:cNvPr id="16" name="!!i d02be6ea"/>
          <p:cNvSpPr/>
          <p:nvPr/>
        </p:nvSpPr>
        <p:spPr>
          <a:xfrm>
            <a:off x="457200" y="3822204"/>
            <a:ext cx="133350" cy="133350"/>
          </a:xfrm>
          <a:prstGeom prst="rect">
            <a:avLst/>
          </a:prstGeom>
          <a:solidFill>
            <a:srgbClr val="B4535D"/>
          </a:solidFill>
          <a:ln>
            <a:noFill/>
          </a:ln>
        </p:spPr>
        <p:txBody>
          <a:bodyPr rtlCol="0" anchor="ctr"/>
          <a:lstStyle/>
          <a:p>
            <a:pPr algn="ctr"/>
            <a:endParaRPr/>
          </a:p>
        </p:txBody>
      </p:sp>
      <p:sp>
        <p:nvSpPr>
          <p:cNvPr id="17" name="!!T MPF low-carbon"/>
          <p:cNvSpPr txBox="1"/>
          <p:nvPr/>
        </p:nvSpPr>
        <p:spPr>
          <a:xfrm>
            <a:off x="666750" y="3775912"/>
            <a:ext cx="1412805"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MPF low-carbon</a:t>
            </a:r>
          </a:p>
        </p:txBody>
      </p:sp>
      <p:sp>
        <p:nvSpPr>
          <p:cNvPr id="18" name="!!T HK$0.84M"/>
          <p:cNvSpPr txBox="1"/>
          <p:nvPr/>
        </p:nvSpPr>
        <p:spPr>
          <a:xfrm>
            <a:off x="2057400" y="3781627"/>
            <a:ext cx="972818" cy="205740"/>
          </a:xfrm>
          <a:prstGeom prst="rect">
            <a:avLst/>
          </a:prstGeom>
          <a:noFill/>
        </p:spPr>
        <p:txBody>
          <a:bodyPr wrap="none" lIns="0" tIns="0" rIns="0" bIns="0" anchor="t">
            <a:noAutofit/>
          </a:bodyPr>
          <a:lstStyle/>
          <a:p>
            <a:pPr algn="l">
              <a:lnSpc>
                <a:spcPts val="1620"/>
              </a:lnSpc>
              <a:spcBef>
                <a:spcPts val="0"/>
              </a:spcBef>
              <a:spcAft>
                <a:spcPts val="0"/>
              </a:spcAft>
            </a:pPr>
            <a:r>
              <a:rPr sz="1200" b="1" i="0" kern="100">
                <a:solidFill>
                  <a:srgbClr val="1B1716"/>
                </a:solidFill>
                <a:latin typeface="Plus Jakarta Sans"/>
              </a:rPr>
              <a:t>HK$0.84M</a:t>
            </a:r>
          </a:p>
        </p:txBody>
      </p:sp>
      <p:sp>
        <p:nvSpPr>
          <p:cNvPr id="19" name="!!T half of each parent's MPF"/>
          <p:cNvSpPr txBox="1"/>
          <p:nvPr/>
        </p:nvSpPr>
        <p:spPr>
          <a:xfrm>
            <a:off x="2971800" y="3781342"/>
            <a:ext cx="1781169" cy="180022"/>
          </a:xfrm>
          <a:prstGeom prst="rect">
            <a:avLst/>
          </a:prstGeom>
          <a:noFill/>
        </p:spPr>
        <p:txBody>
          <a:bodyPr wrap="none" lIns="0" tIns="0" rIns="0" bIns="0" anchor="t">
            <a:noAutofit/>
          </a:bodyPr>
          <a:lstStyle/>
          <a:p>
            <a:pPr algn="l">
              <a:lnSpc>
                <a:spcPts val="1417"/>
              </a:lnSpc>
              <a:spcBef>
                <a:spcPts val="0"/>
              </a:spcBef>
              <a:spcAft>
                <a:spcPts val="0"/>
              </a:spcAft>
            </a:pPr>
            <a:r>
              <a:rPr sz="1050" b="0" i="1" kern="100">
                <a:solidFill>
                  <a:srgbClr val="1B1716"/>
                </a:solidFill>
                <a:latin typeface="Plus Jakarta Sans"/>
              </a:rPr>
              <a:t>half of each parent's MPF</a:t>
            </a:r>
          </a:p>
        </p:txBody>
      </p:sp>
      <p:sp>
        <p:nvSpPr>
          <p:cNvPr id="20" name="!!i 7dd6fabf"/>
          <p:cNvSpPr/>
          <p:nvPr/>
        </p:nvSpPr>
        <p:spPr>
          <a:xfrm>
            <a:off x="457200" y="4094559"/>
            <a:ext cx="133350" cy="133350"/>
          </a:xfrm>
          <a:prstGeom prst="rect">
            <a:avLst/>
          </a:prstGeom>
          <a:solidFill>
            <a:srgbClr val="D3A6AD"/>
          </a:solidFill>
          <a:ln>
            <a:noFill/>
          </a:ln>
        </p:spPr>
        <p:txBody>
          <a:bodyPr rtlCol="0" anchor="ctr"/>
          <a:lstStyle/>
          <a:p>
            <a:pPr algn="ctr"/>
            <a:endParaRPr/>
          </a:p>
        </p:txBody>
      </p:sp>
      <p:sp>
        <p:nvSpPr>
          <p:cNvPr id="21" name="!!T Green bonds"/>
          <p:cNvSpPr txBox="1"/>
          <p:nvPr/>
        </p:nvSpPr>
        <p:spPr>
          <a:xfrm>
            <a:off x="666750" y="4048268"/>
            <a:ext cx="112458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Green bonds</a:t>
            </a:r>
          </a:p>
        </p:txBody>
      </p:sp>
      <p:sp>
        <p:nvSpPr>
          <p:cNvPr id="22" name="!!T HK$0.31M"/>
          <p:cNvSpPr txBox="1"/>
          <p:nvPr/>
        </p:nvSpPr>
        <p:spPr>
          <a:xfrm>
            <a:off x="2057400" y="4053983"/>
            <a:ext cx="928961" cy="205740"/>
          </a:xfrm>
          <a:prstGeom prst="rect">
            <a:avLst/>
          </a:prstGeom>
          <a:noFill/>
        </p:spPr>
        <p:txBody>
          <a:bodyPr wrap="none" lIns="0" tIns="0" rIns="0" bIns="0" anchor="t">
            <a:noAutofit/>
          </a:bodyPr>
          <a:lstStyle/>
          <a:p>
            <a:pPr algn="l">
              <a:lnSpc>
                <a:spcPts val="1620"/>
              </a:lnSpc>
              <a:spcBef>
                <a:spcPts val="0"/>
              </a:spcBef>
              <a:spcAft>
                <a:spcPts val="0"/>
              </a:spcAft>
            </a:pPr>
            <a:r>
              <a:rPr sz="1200" b="1" i="0" kern="100">
                <a:solidFill>
                  <a:srgbClr val="1B1716"/>
                </a:solidFill>
                <a:latin typeface="Plus Jakarta Sans"/>
              </a:rPr>
              <a:t>HK$0.31M</a:t>
            </a:r>
          </a:p>
        </p:txBody>
      </p:sp>
      <p:sp>
        <p:nvSpPr>
          <p:cNvPr id="23" name="!!T part of the bonds"/>
          <p:cNvSpPr txBox="1"/>
          <p:nvPr/>
        </p:nvSpPr>
        <p:spPr>
          <a:xfrm>
            <a:off x="2971800" y="4053697"/>
            <a:ext cx="1266405" cy="180022"/>
          </a:xfrm>
          <a:prstGeom prst="rect">
            <a:avLst/>
          </a:prstGeom>
          <a:noFill/>
        </p:spPr>
        <p:txBody>
          <a:bodyPr wrap="none" lIns="0" tIns="0" rIns="0" bIns="0" anchor="t">
            <a:noAutofit/>
          </a:bodyPr>
          <a:lstStyle/>
          <a:p>
            <a:pPr algn="l">
              <a:lnSpc>
                <a:spcPts val="1417"/>
              </a:lnSpc>
              <a:spcBef>
                <a:spcPts val="0"/>
              </a:spcBef>
              <a:spcAft>
                <a:spcPts val="0"/>
              </a:spcAft>
            </a:pPr>
            <a:r>
              <a:rPr sz="1050" b="0" i="1" kern="100">
                <a:solidFill>
                  <a:srgbClr val="1B1716"/>
                </a:solidFill>
                <a:latin typeface="Plus Jakarta Sans"/>
              </a:rPr>
              <a:t>part of the bonds</a:t>
            </a:r>
          </a:p>
        </p:txBody>
      </p:sp>
      <p:sp>
        <p:nvSpPr>
          <p:cNvPr id="24" name="!!Rule 718fc31f"/>
          <p:cNvSpPr/>
          <p:nvPr/>
        </p:nvSpPr>
        <p:spPr>
          <a:xfrm>
            <a:off x="457200" y="4424065"/>
            <a:ext cx="5372100" cy="9525"/>
          </a:xfrm>
          <a:prstGeom prst="rect">
            <a:avLst/>
          </a:prstGeom>
          <a:solidFill>
            <a:srgbClr val="ECDADD"/>
          </a:solidFill>
          <a:ln>
            <a:noFill/>
          </a:ln>
        </p:spPr>
        <p:txBody>
          <a:bodyPr rtlCol="0" anchor="ctr"/>
          <a:lstStyle/>
          <a:p>
            <a:pPr algn="ctr"/>
            <a:endParaRPr/>
          </a:p>
        </p:txBody>
      </p:sp>
      <p:sp>
        <p:nvSpPr>
          <p:cNvPr id="25" name="!!T Like for like, not a new bet: each fund "/>
          <p:cNvSpPr txBox="1"/>
          <p:nvPr/>
        </p:nvSpPr>
        <p:spPr>
          <a:xfrm>
            <a:off x="457200" y="4575893"/>
            <a:ext cx="5617524" cy="441841"/>
          </a:xfrm>
          <a:prstGeom prst="rect">
            <a:avLst/>
          </a:prstGeom>
          <a:noFill/>
        </p:spPr>
        <p:txBody>
          <a:bodyPr wrap="none" lIns="0" tIns="0" rIns="0" bIns="0" anchor="t">
            <a:noAutofit/>
          </a:bodyPr>
          <a:lstStyle/>
          <a:p>
            <a:pPr algn="l">
              <a:lnSpc>
                <a:spcPts val="1739"/>
              </a:lnSpc>
              <a:spcBef>
                <a:spcPts val="0"/>
              </a:spcBef>
              <a:spcAft>
                <a:spcPts val="0"/>
              </a:spcAft>
            </a:pPr>
            <a:r>
              <a:rPr sz="1200" b="1" i="0" kern="100">
                <a:solidFill>
                  <a:srgbClr val="1B1716"/>
                </a:solidFill>
                <a:latin typeface="Plus Jakarta Sans"/>
              </a:rPr>
              <a:t>Like for like, not a new bet:</a:t>
            </a:r>
            <a:r>
              <a:rPr sz="1200" b="0" i="0" kern="100">
                <a:solidFill>
                  <a:srgbClr val="1B1716"/>
                </a:solidFill>
                <a:latin typeface="Plus Jakarta Sans"/>
              </a:rPr>
              <a:t> each fund replaces what it sits in, at the same</a:t>
            </a:r>
          </a:p>
          <a:p>
            <a:pPr algn="l">
              <a:lnSpc>
                <a:spcPts val="1739"/>
              </a:lnSpc>
              <a:spcBef>
                <a:spcPts val="0"/>
              </a:spcBef>
              <a:spcAft>
                <a:spcPts val="0"/>
              </a:spcAft>
            </a:pPr>
            <a:r>
              <a:rPr sz="1200" b="0" i="0" kern="100">
                <a:solidFill>
                  <a:srgbClr val="1B1716"/>
                </a:solidFill>
                <a:latin typeface="Plus Jakarta Sans"/>
              </a:rPr>
              <a:t>risk and expected return.</a:t>
            </a:r>
          </a:p>
        </p:txBody>
      </p:sp>
      <p:sp>
        <p:nvSpPr>
          <p:cNvPr id="26" name="!!T The price: slightly higher fees, a narro"/>
          <p:cNvSpPr txBox="1"/>
          <p:nvPr/>
        </p:nvSpPr>
        <p:spPr>
          <a:xfrm>
            <a:off x="457200" y="5050191"/>
            <a:ext cx="3350544" cy="186690"/>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1B1716"/>
                </a:solidFill>
                <a:latin typeface="Plus Jakarta Sans"/>
              </a:rPr>
              <a:t>The price:</a:t>
            </a:r>
            <a:r>
              <a:rPr sz="1050" b="0" i="1" kern="100">
                <a:solidFill>
                  <a:srgbClr val="1B1716"/>
                </a:solidFill>
                <a:latin typeface="Plus Jakarta Sans"/>
              </a:rPr>
              <a:t> slightly higher fees, a narrower choice.</a:t>
            </a:r>
          </a:p>
        </p:txBody>
      </p:sp>
      <p:sp>
        <p:nvSpPr>
          <p:cNvPr id="27" name="!!Rule 4a241af8"/>
          <p:cNvSpPr/>
          <p:nvPr/>
        </p:nvSpPr>
        <p:spPr>
          <a:xfrm>
            <a:off x="457200" y="5385792"/>
            <a:ext cx="28575" cy="258961"/>
          </a:xfrm>
          <a:prstGeom prst="rect">
            <a:avLst/>
          </a:prstGeom>
          <a:solidFill>
            <a:srgbClr val="971320"/>
          </a:solidFill>
          <a:ln>
            <a:noFill/>
          </a:ln>
        </p:spPr>
        <p:txBody>
          <a:bodyPr rtlCol="0" anchor="ctr"/>
          <a:lstStyle/>
          <a:p>
            <a:pPr algn="ctr"/>
            <a:endParaRPr/>
          </a:p>
        </p:txBody>
      </p:sp>
      <p:sp>
        <p:nvSpPr>
          <p:cNvPr id="28" name="!!T Tested, not trusted: two ESG ratings per"/>
          <p:cNvSpPr txBox="1"/>
          <p:nvPr/>
        </p:nvSpPr>
        <p:spPr>
          <a:xfrm>
            <a:off x="619125" y="5394746"/>
            <a:ext cx="5368739" cy="220980"/>
          </a:xfrm>
          <a:prstGeom prst="rect">
            <a:avLst/>
          </a:prstGeom>
          <a:noFill/>
        </p:spPr>
        <p:txBody>
          <a:bodyPr wrap="none" lIns="0" tIns="0" rIns="0" bIns="0" anchor="t">
            <a:noAutofit/>
          </a:bodyPr>
          <a:lstStyle/>
          <a:p>
            <a:pPr algn="l">
              <a:lnSpc>
                <a:spcPts val="1739"/>
              </a:lnSpc>
              <a:spcBef>
                <a:spcPts val="0"/>
              </a:spcBef>
              <a:spcAft>
                <a:spcPts val="0"/>
              </a:spcAft>
            </a:pPr>
            <a:r>
              <a:rPr sz="1200" b="1" i="0" kern="100">
                <a:solidFill>
                  <a:srgbClr val="1B1716"/>
                </a:solidFill>
                <a:latin typeface="Plus Jakarta Sans"/>
              </a:rPr>
              <a:t>Tested, not trusted:</a:t>
            </a:r>
            <a:r>
              <a:rPr sz="1200" b="0" i="0" kern="100">
                <a:solidFill>
                  <a:srgbClr val="1B1716"/>
                </a:solidFill>
                <a:latin typeface="Plus Jakarta Sans"/>
              </a:rPr>
              <a:t> two ESG ratings per equity fund, or it is replaced.</a:t>
            </a:r>
          </a:p>
        </p:txBody>
      </p:sp>
      <p:sp>
        <p:nvSpPr>
          <p:cNvPr id="29" name="!!Rule a93b9485"/>
          <p:cNvSpPr/>
          <p:nvPr/>
        </p:nvSpPr>
        <p:spPr>
          <a:xfrm>
            <a:off x="6362700" y="1740098"/>
            <a:ext cx="5372100" cy="9525"/>
          </a:xfrm>
          <a:prstGeom prst="rect">
            <a:avLst/>
          </a:prstGeom>
          <a:solidFill>
            <a:srgbClr val="1B1716"/>
          </a:solidFill>
          <a:ln>
            <a:noFill/>
          </a:ln>
        </p:spPr>
        <p:txBody>
          <a:bodyPr rtlCol="0" anchor="ctr"/>
          <a:lstStyle/>
          <a:p>
            <a:pPr algn="ctr"/>
            <a:endParaRPr/>
          </a:p>
        </p:txBody>
      </p:sp>
      <p:sp>
        <p:nvSpPr>
          <p:cNvPr id="30" name="!!T …and Ryan's conviction: kept, and sized "/>
          <p:cNvSpPr txBox="1"/>
          <p:nvPr/>
        </p:nvSpPr>
        <p:spPr>
          <a:xfrm>
            <a:off x="6362700" y="1445824"/>
            <a:ext cx="4774939"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…and Ryan's conviction: kept, and sized down as he saves</a:t>
            </a:r>
          </a:p>
        </p:txBody>
      </p:sp>
      <p:sp>
        <p:nvSpPr>
          <p:cNvPr id="31" name="!!Rule ed7c4c64"/>
          <p:cNvSpPr/>
          <p:nvPr/>
        </p:nvSpPr>
        <p:spPr>
          <a:xfrm>
            <a:off x="6362700" y="2322909"/>
            <a:ext cx="5372100" cy="9525"/>
          </a:xfrm>
          <a:prstGeom prst="rect">
            <a:avLst/>
          </a:prstGeom>
          <a:solidFill>
            <a:srgbClr val="ECDADD"/>
          </a:solidFill>
          <a:ln>
            <a:noFill/>
          </a:ln>
        </p:spPr>
        <p:txBody>
          <a:bodyPr rtlCol="0" anchor="ctr"/>
          <a:lstStyle/>
          <a:p>
            <a:pPr algn="ctr"/>
            <a:endParaRPr/>
          </a:p>
        </p:txBody>
      </p:sp>
      <p:sp>
        <p:nvSpPr>
          <p:cNvPr id="32" name="!!span fae6ebcc"/>
          <p:cNvSpPr/>
          <p:nvPr/>
        </p:nvSpPr>
        <p:spPr>
          <a:xfrm>
            <a:off x="6362700" y="1863923"/>
            <a:ext cx="361950" cy="36195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33" name="!!Picture fb16abc7" descr="image.jpg"/>
          <p:cNvPicPr>
            <a:picLocks noChangeAspect="1"/>
          </p:cNvPicPr>
          <p:nvPr/>
        </p:nvPicPr>
        <p:blipFill>
          <a:blip r:embed="rId4"/>
          <a:stretch>
            <a:fillRect/>
          </a:stretch>
        </p:blipFill>
        <p:spPr>
          <a:xfrm>
            <a:off x="6362700" y="1863923"/>
            <a:ext cx="361950" cy="361950"/>
          </a:xfrm>
          <a:prstGeom prst="ellipse">
            <a:avLst/>
          </a:prstGeom>
        </p:spPr>
      </p:pic>
      <p:sp>
        <p:nvSpPr>
          <p:cNvPr id="34" name="!!T Adrian"/>
          <p:cNvSpPr txBox="1"/>
          <p:nvPr/>
        </p:nvSpPr>
        <p:spPr>
          <a:xfrm>
            <a:off x="6819900" y="1850017"/>
            <a:ext cx="617232"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1B1716"/>
                </a:solidFill>
                <a:latin typeface="Plus Jakarta Sans SemiBold"/>
              </a:rPr>
              <a:t>Adrian</a:t>
            </a:r>
          </a:p>
        </p:txBody>
      </p:sp>
      <p:sp>
        <p:nvSpPr>
          <p:cNvPr id="35" name="!!T none"/>
          <p:cNvSpPr txBox="1"/>
          <p:nvPr/>
        </p:nvSpPr>
        <p:spPr>
          <a:xfrm>
            <a:off x="6819900" y="2045470"/>
            <a:ext cx="455846"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a:rPr>
              <a:t>none</a:t>
            </a:r>
          </a:p>
        </p:txBody>
      </p:sp>
      <p:sp>
        <p:nvSpPr>
          <p:cNvPr id="36" name="!!span 3a0d92bb"/>
          <p:cNvSpPr/>
          <p:nvPr/>
        </p:nvSpPr>
        <p:spPr>
          <a:xfrm>
            <a:off x="8197751" y="1863923"/>
            <a:ext cx="361950" cy="36195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37" name="!!Picture 4cfdd03f" descr="image.jpg"/>
          <p:cNvPicPr>
            <a:picLocks noChangeAspect="1"/>
          </p:cNvPicPr>
          <p:nvPr/>
        </p:nvPicPr>
        <p:blipFill>
          <a:blip r:embed="rId5"/>
          <a:stretch>
            <a:fillRect/>
          </a:stretch>
        </p:blipFill>
        <p:spPr>
          <a:xfrm>
            <a:off x="8197751" y="1863923"/>
            <a:ext cx="361950" cy="361950"/>
          </a:xfrm>
          <a:prstGeom prst="ellipse">
            <a:avLst/>
          </a:prstGeom>
        </p:spPr>
      </p:pic>
      <p:sp>
        <p:nvSpPr>
          <p:cNvPr id="38" name="!!T Carmen"/>
          <p:cNvSpPr txBox="1"/>
          <p:nvPr/>
        </p:nvSpPr>
        <p:spPr>
          <a:xfrm>
            <a:off x="8654951" y="1850017"/>
            <a:ext cx="732237"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1B1716"/>
                </a:solidFill>
                <a:latin typeface="Plus Jakarta Sans SemiBold"/>
              </a:rPr>
              <a:t>Carmen</a:t>
            </a:r>
          </a:p>
        </p:txBody>
      </p:sp>
      <p:sp>
        <p:nvSpPr>
          <p:cNvPr id="39" name="!!T up to 2% (ETF)"/>
          <p:cNvSpPr txBox="1"/>
          <p:nvPr/>
        </p:nvSpPr>
        <p:spPr>
          <a:xfrm>
            <a:off x="8654951" y="2045470"/>
            <a:ext cx="1053274"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a:rPr>
              <a:t>up to 2% (ETF)</a:t>
            </a:r>
          </a:p>
        </p:txBody>
      </p:sp>
      <p:sp>
        <p:nvSpPr>
          <p:cNvPr id="40" name="!!span 7b9465b8"/>
          <p:cNvSpPr/>
          <p:nvPr/>
        </p:nvSpPr>
        <p:spPr>
          <a:xfrm>
            <a:off x="10032950" y="1863923"/>
            <a:ext cx="361950" cy="36195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41" name="!!Picture a8c1f83f" descr="image.jpg"/>
          <p:cNvPicPr>
            <a:picLocks noChangeAspect="1"/>
          </p:cNvPicPr>
          <p:nvPr/>
        </p:nvPicPr>
        <p:blipFill>
          <a:blip r:embed="rId6"/>
          <a:stretch>
            <a:fillRect/>
          </a:stretch>
        </p:blipFill>
        <p:spPr>
          <a:xfrm>
            <a:off x="10032950" y="1863923"/>
            <a:ext cx="361950" cy="361950"/>
          </a:xfrm>
          <a:prstGeom prst="ellipse">
            <a:avLst/>
          </a:prstGeom>
        </p:spPr>
      </p:pic>
      <p:sp>
        <p:nvSpPr>
          <p:cNvPr id="42" name="!!T Chloe"/>
          <p:cNvSpPr txBox="1"/>
          <p:nvPr/>
        </p:nvSpPr>
        <p:spPr>
          <a:xfrm>
            <a:off x="10490150" y="1850017"/>
            <a:ext cx="578581"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1B1716"/>
                </a:solidFill>
                <a:latin typeface="Plus Jakarta Sans SemiBold"/>
              </a:rPr>
              <a:t>Chloe</a:t>
            </a:r>
          </a:p>
        </p:txBody>
      </p:sp>
      <p:sp>
        <p:nvSpPr>
          <p:cNvPr id="43" name="!!T none #2"/>
          <p:cNvSpPr txBox="1"/>
          <p:nvPr/>
        </p:nvSpPr>
        <p:spPr>
          <a:xfrm>
            <a:off x="10490150" y="2045470"/>
            <a:ext cx="455846"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1B1716"/>
                </a:solidFill>
                <a:latin typeface="Plus Jakarta Sans"/>
              </a:rPr>
              <a:t>none</a:t>
            </a:r>
          </a:p>
        </p:txBody>
      </p:sp>
      <p:sp>
        <p:nvSpPr>
          <p:cNvPr id="44" name="!!span 6b6ef7e3"/>
          <p:cNvSpPr/>
          <p:nvPr/>
        </p:nvSpPr>
        <p:spPr>
          <a:xfrm>
            <a:off x="6362700" y="2427684"/>
            <a:ext cx="361950" cy="361950"/>
          </a:xfrm>
          <a:prstGeom prst="ellipse">
            <a:avLst/>
          </a:prstGeom>
          <a:solidFill>
            <a:srgbClr val="F8EFF0"/>
          </a:solidFill>
          <a:ln>
            <a:noFill/>
          </a:ln>
          <a:effectLst>
            <a:outerShdw blurRad="171450" dist="57150" dir="5400000" algn="ctr" rotWithShape="0">
              <a:srgbClr val="5A1520">
                <a:alpha val="14000"/>
              </a:srgbClr>
            </a:outerShdw>
          </a:effectLst>
        </p:spPr>
        <p:txBody>
          <a:bodyPr rtlCol="0" anchor="ctr"/>
          <a:lstStyle/>
          <a:p>
            <a:pPr algn="ctr"/>
            <a:endParaRPr/>
          </a:p>
        </p:txBody>
      </p:sp>
      <p:pic>
        <p:nvPicPr>
          <p:cNvPr id="45" name="!!Picture 4be40bb6" descr="image.jpg"/>
          <p:cNvPicPr>
            <a:picLocks noChangeAspect="1"/>
          </p:cNvPicPr>
          <p:nvPr/>
        </p:nvPicPr>
        <p:blipFill>
          <a:blip r:embed="rId7"/>
          <a:stretch>
            <a:fillRect/>
          </a:stretch>
        </p:blipFill>
        <p:spPr>
          <a:xfrm>
            <a:off x="6362700" y="2427684"/>
            <a:ext cx="361950" cy="361950"/>
          </a:xfrm>
          <a:prstGeom prst="ellipse">
            <a:avLst/>
          </a:prstGeom>
        </p:spPr>
      </p:pic>
      <p:sp>
        <p:nvSpPr>
          <p:cNvPr id="46" name="!!T Ryan keeps his HK$500K: nothing sold, no"/>
          <p:cNvSpPr txBox="1"/>
          <p:nvPr/>
        </p:nvSpPr>
        <p:spPr>
          <a:xfrm>
            <a:off x="6819900" y="2484995"/>
            <a:ext cx="4883161" cy="222885"/>
          </a:xfrm>
          <a:prstGeom prst="rect">
            <a:avLst/>
          </a:prstGeom>
          <a:noFill/>
        </p:spPr>
        <p:txBody>
          <a:bodyPr wrap="none" lIns="0" tIns="0" rIns="0" bIns="0" anchor="t">
            <a:noAutofit/>
          </a:bodyPr>
          <a:lstStyle/>
          <a:p>
            <a:pPr algn="l">
              <a:lnSpc>
                <a:spcPts val="1754"/>
              </a:lnSpc>
              <a:spcBef>
                <a:spcPts val="0"/>
              </a:spcBef>
              <a:spcAft>
                <a:spcPts val="0"/>
              </a:spcAft>
            </a:pPr>
            <a:r>
              <a:rPr sz="1350" b="1" i="0" kern="100">
                <a:solidFill>
                  <a:srgbClr val="1B1716"/>
                </a:solidFill>
                <a:latin typeface="Plus Jakarta Sans"/>
              </a:rPr>
              <a:t>Ryan keeps his HK$500K: nothing sold, nothing added</a:t>
            </a:r>
          </a:p>
        </p:txBody>
      </p:sp>
      <p:sp>
        <p:nvSpPr>
          <p:cNvPr id="47" name="!!T His savings go into a world index fund, "/>
          <p:cNvSpPr txBox="1"/>
          <p:nvPr/>
        </p:nvSpPr>
        <p:spPr>
          <a:xfrm>
            <a:off x="6362700" y="3354907"/>
            <a:ext cx="2097316" cy="883563"/>
          </a:xfrm>
          <a:prstGeom prst="rect">
            <a:avLst/>
          </a:prstGeom>
          <a:noFill/>
        </p:spPr>
        <p:txBody>
          <a:bodyPr wrap="none" lIns="0" tIns="0" rIns="0" bIns="0" anchor="t">
            <a:noAutofit/>
          </a:bodyPr>
          <a:lstStyle/>
          <a:p>
            <a:pPr algn="l">
              <a:lnSpc>
                <a:spcPts val="1739"/>
              </a:lnSpc>
              <a:spcBef>
                <a:spcPts val="0"/>
              </a:spcBef>
              <a:spcAft>
                <a:spcPts val="0"/>
              </a:spcAft>
            </a:pPr>
            <a:r>
              <a:rPr sz="1200" b="0" i="0" kern="100">
                <a:solidFill>
                  <a:srgbClr val="1B1716"/>
                </a:solidFill>
                <a:latin typeface="Plus Jakarta Sans"/>
              </a:rPr>
              <a:t>His savings go into a world</a:t>
            </a:r>
          </a:p>
          <a:p>
            <a:pPr algn="l">
              <a:lnSpc>
                <a:spcPts val="1739"/>
              </a:lnSpc>
              <a:spcBef>
                <a:spcPts val="0"/>
              </a:spcBef>
              <a:spcAft>
                <a:spcPts val="0"/>
              </a:spcAft>
            </a:pPr>
            <a:r>
              <a:rPr sz="1200" b="0" i="0" kern="100">
                <a:solidFill>
                  <a:srgbClr val="1B1716"/>
                </a:solidFill>
                <a:latin typeface="Plus Jakarta Sans"/>
              </a:rPr>
              <a:t>index fund, so </a:t>
            </a:r>
            <a:r>
              <a:rPr sz="1200" b="1" i="0" kern="100">
                <a:solidFill>
                  <a:srgbClr val="1B1716"/>
                </a:solidFill>
                <a:latin typeface="Plus Jakarta Sans"/>
              </a:rPr>
              <a:t>the</a:t>
            </a:r>
          </a:p>
          <a:p>
            <a:pPr algn="l">
              <a:lnSpc>
                <a:spcPts val="1739"/>
              </a:lnSpc>
              <a:spcBef>
                <a:spcPts val="0"/>
              </a:spcBef>
              <a:spcAft>
                <a:spcPts val="0"/>
              </a:spcAft>
            </a:pPr>
            <a:r>
              <a:rPr sz="1200" b="1" i="0" kern="100">
                <a:solidFill>
                  <a:srgbClr val="1B1716"/>
                </a:solidFill>
                <a:latin typeface="Plus Jakarta Sans"/>
              </a:rPr>
              <a:t>crypto's share falls</a:t>
            </a:r>
            <a:r>
              <a:rPr sz="1200" b="0" i="0" kern="100">
                <a:solidFill>
                  <a:srgbClr val="1B1716"/>
                </a:solidFill>
                <a:latin typeface="Plus Jakarta Sans"/>
              </a:rPr>
              <a:t> as the</a:t>
            </a:r>
          </a:p>
          <a:p>
            <a:pPr algn="l">
              <a:lnSpc>
                <a:spcPts val="1739"/>
              </a:lnSpc>
              <a:spcBef>
                <a:spcPts val="0"/>
              </a:spcBef>
              <a:spcAft>
                <a:spcPts val="0"/>
              </a:spcAft>
            </a:pPr>
            <a:r>
              <a:rPr sz="1200" b="0" i="0" kern="100">
                <a:solidFill>
                  <a:srgbClr val="1B1716"/>
                </a:solidFill>
                <a:latin typeface="Plus Jakarta Sans"/>
              </a:rPr>
              <a:t>rest grows.</a:t>
            </a:r>
          </a:p>
        </p:txBody>
      </p:sp>
      <p:sp>
        <p:nvSpPr>
          <p:cNvPr id="48" name="!!T The price: a 70% fall would cost him HK$"/>
          <p:cNvSpPr txBox="1"/>
          <p:nvPr/>
        </p:nvSpPr>
        <p:spPr>
          <a:xfrm>
            <a:off x="6362700" y="4328077"/>
            <a:ext cx="1899172" cy="373320"/>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1B1716"/>
                </a:solidFill>
                <a:latin typeface="Plus Jakarta Sans"/>
              </a:rPr>
              <a:t>The price:</a:t>
            </a:r>
            <a:r>
              <a:rPr sz="1050" b="0" i="1" kern="100">
                <a:solidFill>
                  <a:srgbClr val="1B1716"/>
                </a:solidFill>
                <a:latin typeface="Plus Jakarta Sans"/>
              </a:rPr>
              <a:t> a 70% fall would</a:t>
            </a:r>
          </a:p>
          <a:p>
            <a:pPr algn="l">
              <a:lnSpc>
                <a:spcPts val="1470"/>
              </a:lnSpc>
              <a:spcBef>
                <a:spcPts val="0"/>
              </a:spcBef>
              <a:spcAft>
                <a:spcPts val="0"/>
              </a:spcAft>
            </a:pPr>
            <a:r>
              <a:rPr sz="1050" b="0" i="1" kern="100">
                <a:solidFill>
                  <a:srgbClr val="1B1716"/>
                </a:solidFill>
                <a:latin typeface="Plus Jakarta Sans"/>
              </a:rPr>
              <a:t>cost him HK$350K.</a:t>
            </a:r>
          </a:p>
        </p:txBody>
      </p:sp>
      <p:sp>
        <p:nvSpPr>
          <p:cNvPr id="49" name="!!T 74%"/>
          <p:cNvSpPr txBox="1"/>
          <p:nvPr/>
        </p:nvSpPr>
        <p:spPr>
          <a:xfrm>
            <a:off x="8814941" y="4207550"/>
            <a:ext cx="549396" cy="190500"/>
          </a:xfrm>
          <a:prstGeom prst="rect">
            <a:avLst/>
          </a:prstGeom>
          <a:noFill/>
        </p:spPr>
        <p:txBody>
          <a:bodyPr wrap="none" lIns="0" tIns="0" rIns="0" bIns="0" anchor="t">
            <a:noAutofit/>
          </a:bodyPr>
          <a:lstStyle/>
          <a:p>
            <a:pPr algn="l">
              <a:lnSpc>
                <a:spcPts val="1500"/>
              </a:lnSpc>
              <a:spcBef>
                <a:spcPts val="0"/>
              </a:spcBef>
              <a:spcAft>
                <a:spcPts val="0"/>
              </a:spcAft>
            </a:pPr>
            <a:r>
              <a:rPr sz="1500" b="1" i="0" kern="100" spc="-22">
                <a:solidFill>
                  <a:srgbClr val="1B1716"/>
                </a:solidFill>
                <a:latin typeface="Plus Jakarta Sans"/>
              </a:rPr>
              <a:t>74%</a:t>
            </a:r>
          </a:p>
        </p:txBody>
      </p:sp>
      <p:sp>
        <p:nvSpPr>
          <p:cNvPr id="50" name="!!i a93c3177"/>
          <p:cNvSpPr/>
          <p:nvPr/>
        </p:nvSpPr>
        <p:spPr>
          <a:xfrm>
            <a:off x="8582025" y="4471392"/>
            <a:ext cx="876300" cy="97036"/>
          </a:xfrm>
          <a:prstGeom prst="rect">
            <a:avLst/>
          </a:prstGeom>
          <a:gradFill rotWithShape="0">
            <a:gsLst>
              <a:gs pos="0">
                <a:srgbClr val="F3E2E4"/>
              </a:gs>
              <a:gs pos="100000">
                <a:srgbClr val="E7CCD1"/>
              </a:gs>
            </a:gsLst>
            <a:lin ang="0" scaled="0"/>
          </a:gradFill>
          <a:ln>
            <a:noFill/>
          </a:ln>
        </p:spPr>
        <p:txBody>
          <a:bodyPr rtlCol="0" anchor="ctr"/>
          <a:lstStyle/>
          <a:p>
            <a:pPr algn="ctr"/>
            <a:endParaRPr/>
          </a:p>
        </p:txBody>
      </p:sp>
      <p:sp>
        <p:nvSpPr>
          <p:cNvPr id="51" name="!!i 0a7c20da"/>
          <p:cNvSpPr/>
          <p:nvPr/>
        </p:nvSpPr>
        <p:spPr>
          <a:xfrm>
            <a:off x="8582025" y="4568428"/>
            <a:ext cx="876300" cy="278011"/>
          </a:xfrm>
          <a:prstGeom prst="rect">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52" name="!!T HK$500K"/>
          <p:cNvSpPr txBox="1"/>
          <p:nvPr/>
        </p:nvSpPr>
        <p:spPr>
          <a:xfrm>
            <a:off x="8702725" y="4632758"/>
            <a:ext cx="787137" cy="133350"/>
          </a:xfrm>
          <a:prstGeom prst="rect">
            <a:avLst/>
          </a:prstGeom>
          <a:noFill/>
        </p:spPr>
        <p:txBody>
          <a:bodyPr wrap="none" lIns="0" tIns="0" rIns="0" bIns="0" anchor="t">
            <a:noAutofit/>
          </a:bodyPr>
          <a:lstStyle/>
          <a:p>
            <a:pPr algn="l">
              <a:lnSpc>
                <a:spcPts val="1050"/>
              </a:lnSpc>
              <a:spcBef>
                <a:spcPts val="0"/>
              </a:spcBef>
              <a:spcAft>
                <a:spcPts val="0"/>
              </a:spcAft>
            </a:pPr>
            <a:r>
              <a:rPr sz="1050" b="1" i="0" kern="100">
                <a:solidFill>
                  <a:srgbClr val="FFFFFF"/>
                </a:solidFill>
                <a:latin typeface="Plus Jakarta Sans"/>
              </a:rPr>
              <a:t>HK$500K</a:t>
            </a:r>
          </a:p>
        </p:txBody>
      </p:sp>
      <p:sp>
        <p:nvSpPr>
          <p:cNvPr id="53" name="!!T today, 24"/>
          <p:cNvSpPr txBox="1"/>
          <p:nvPr/>
        </p:nvSpPr>
        <p:spPr>
          <a:xfrm>
            <a:off x="8725495" y="4891927"/>
            <a:ext cx="738863"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today, 24</a:t>
            </a:r>
          </a:p>
        </p:txBody>
      </p:sp>
      <p:sp>
        <p:nvSpPr>
          <p:cNvPr id="54" name="!!T 32%"/>
          <p:cNvSpPr txBox="1"/>
          <p:nvPr/>
        </p:nvSpPr>
        <p:spPr>
          <a:xfrm>
            <a:off x="9895582" y="3713143"/>
            <a:ext cx="560439" cy="190500"/>
          </a:xfrm>
          <a:prstGeom prst="rect">
            <a:avLst/>
          </a:prstGeom>
          <a:noFill/>
        </p:spPr>
        <p:txBody>
          <a:bodyPr wrap="none" lIns="0" tIns="0" rIns="0" bIns="0" anchor="t">
            <a:noAutofit/>
          </a:bodyPr>
          <a:lstStyle/>
          <a:p>
            <a:pPr algn="l">
              <a:lnSpc>
                <a:spcPts val="1500"/>
              </a:lnSpc>
              <a:spcBef>
                <a:spcPts val="0"/>
              </a:spcBef>
              <a:spcAft>
                <a:spcPts val="0"/>
              </a:spcAft>
            </a:pPr>
            <a:r>
              <a:rPr sz="1500" b="1" i="0" kern="100" spc="-22">
                <a:solidFill>
                  <a:srgbClr val="1B1716"/>
                </a:solidFill>
                <a:latin typeface="Plus Jakarta Sans"/>
              </a:rPr>
              <a:t>32%</a:t>
            </a:r>
          </a:p>
        </p:txBody>
      </p:sp>
      <p:sp>
        <p:nvSpPr>
          <p:cNvPr id="55" name="!!i 8ffb7adc"/>
          <p:cNvSpPr/>
          <p:nvPr/>
        </p:nvSpPr>
        <p:spPr>
          <a:xfrm>
            <a:off x="9667875" y="3976985"/>
            <a:ext cx="876300" cy="591443"/>
          </a:xfrm>
          <a:prstGeom prst="rect">
            <a:avLst/>
          </a:prstGeom>
          <a:gradFill rotWithShape="0">
            <a:gsLst>
              <a:gs pos="0">
                <a:srgbClr val="F3E2E4"/>
              </a:gs>
              <a:gs pos="100000">
                <a:srgbClr val="E7CCD1"/>
              </a:gs>
            </a:gsLst>
            <a:lin ang="0" scaled="0"/>
          </a:gradFill>
          <a:ln>
            <a:noFill/>
          </a:ln>
        </p:spPr>
        <p:txBody>
          <a:bodyPr rtlCol="0" anchor="ctr"/>
          <a:lstStyle/>
          <a:p>
            <a:pPr algn="ctr"/>
            <a:endParaRPr/>
          </a:p>
        </p:txBody>
      </p:sp>
      <p:sp>
        <p:nvSpPr>
          <p:cNvPr id="56" name="!!i a93bfba9"/>
          <p:cNvSpPr/>
          <p:nvPr/>
        </p:nvSpPr>
        <p:spPr>
          <a:xfrm>
            <a:off x="9667875" y="4568428"/>
            <a:ext cx="876300" cy="278011"/>
          </a:xfrm>
          <a:prstGeom prst="rect">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57" name="!!T at 30"/>
          <p:cNvSpPr txBox="1"/>
          <p:nvPr/>
        </p:nvSpPr>
        <p:spPr>
          <a:xfrm>
            <a:off x="9941868" y="4891927"/>
            <a:ext cx="462314"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at 30</a:t>
            </a:r>
          </a:p>
        </p:txBody>
      </p:sp>
      <p:sp>
        <p:nvSpPr>
          <p:cNvPr id="58" name="!!T 20%"/>
          <p:cNvSpPr txBox="1"/>
          <p:nvPr/>
        </p:nvSpPr>
        <p:spPr>
          <a:xfrm>
            <a:off x="10758190" y="2990165"/>
            <a:ext cx="1033555"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C80E1E"/>
                </a:solidFill>
                <a:latin typeface="Plus Jakarta Sans"/>
              </a:rPr>
              <a:t>20%</a:t>
            </a:r>
          </a:p>
        </p:txBody>
      </p:sp>
      <p:sp>
        <p:nvSpPr>
          <p:cNvPr id="59" name="!!i 0b45516c"/>
          <p:cNvSpPr/>
          <p:nvPr/>
        </p:nvSpPr>
        <p:spPr>
          <a:xfrm>
            <a:off x="10753725" y="3455938"/>
            <a:ext cx="876300" cy="1112490"/>
          </a:xfrm>
          <a:prstGeom prst="rect">
            <a:avLst/>
          </a:prstGeom>
          <a:gradFill rotWithShape="0">
            <a:gsLst>
              <a:gs pos="0">
                <a:srgbClr val="F3E2E4"/>
              </a:gs>
              <a:gs pos="100000">
                <a:srgbClr val="E7CCD1"/>
              </a:gs>
            </a:gsLst>
            <a:lin ang="0" scaled="0"/>
          </a:gradFill>
          <a:ln>
            <a:noFill/>
          </a:ln>
        </p:spPr>
        <p:txBody>
          <a:bodyPr rtlCol="0" anchor="ctr"/>
          <a:lstStyle/>
          <a:p>
            <a:pPr algn="ctr"/>
            <a:endParaRPr/>
          </a:p>
        </p:txBody>
      </p:sp>
      <p:sp>
        <p:nvSpPr>
          <p:cNvPr id="60" name="!!i 746a5785"/>
          <p:cNvSpPr/>
          <p:nvPr/>
        </p:nvSpPr>
        <p:spPr>
          <a:xfrm>
            <a:off x="10753725" y="4568428"/>
            <a:ext cx="876300" cy="278011"/>
          </a:xfrm>
          <a:prstGeom prst="rect">
            <a:avLst/>
          </a:prstGeom>
          <a:gradFill rotWithShape="0">
            <a:gsLst>
              <a:gs pos="0">
                <a:srgbClr val="D40F1F"/>
              </a:gs>
              <a:gs pos="100000">
                <a:srgbClr val="971320"/>
              </a:gs>
            </a:gsLst>
            <a:lin ang="5400000" scaled="0"/>
          </a:gradFill>
          <a:ln>
            <a:noFill/>
          </a:ln>
        </p:spPr>
        <p:txBody>
          <a:bodyPr rtlCol="0" anchor="ctr"/>
          <a:lstStyle/>
          <a:p>
            <a:pPr algn="ctr"/>
            <a:endParaRPr/>
          </a:p>
        </p:txBody>
      </p:sp>
      <p:sp>
        <p:nvSpPr>
          <p:cNvPr id="61" name="!!T at 35"/>
          <p:cNvSpPr txBox="1"/>
          <p:nvPr/>
        </p:nvSpPr>
        <p:spPr>
          <a:xfrm>
            <a:off x="11035457" y="4891927"/>
            <a:ext cx="445907"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1B1716"/>
                </a:solidFill>
                <a:latin typeface="Plus Jakarta Sans"/>
              </a:rPr>
              <a:t>at 35</a:t>
            </a:r>
          </a:p>
        </p:txBody>
      </p:sp>
      <p:sp>
        <p:nvSpPr>
          <p:cNvPr id="62" name="!!T The dark block: his HK$500K, the same at"/>
          <p:cNvSpPr txBox="1"/>
          <p:nvPr/>
        </p:nvSpPr>
        <p:spPr>
          <a:xfrm>
            <a:off x="8477250" y="3008834"/>
            <a:ext cx="1152820" cy="693063"/>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The dark block:</a:t>
            </a:r>
          </a:p>
          <a:p>
            <a:pPr algn="l">
              <a:lnSpc>
                <a:spcPts val="1364"/>
              </a:lnSpc>
              <a:spcBef>
                <a:spcPts val="0"/>
              </a:spcBef>
              <a:spcAft>
                <a:spcPts val="0"/>
              </a:spcAft>
            </a:pPr>
            <a:r>
              <a:rPr sz="1050" b="0" i="1" kern="100">
                <a:solidFill>
                  <a:srgbClr val="1B1716"/>
                </a:solidFill>
                <a:latin typeface="Plus Jakarta Sans"/>
              </a:rPr>
              <a:t>his HK$500K,</a:t>
            </a:r>
          </a:p>
          <a:p>
            <a:pPr algn="l">
              <a:lnSpc>
                <a:spcPts val="1364"/>
              </a:lnSpc>
              <a:spcBef>
                <a:spcPts val="0"/>
              </a:spcBef>
              <a:spcAft>
                <a:spcPts val="0"/>
              </a:spcAft>
            </a:pPr>
            <a:r>
              <a:rPr sz="1050" b="0" i="1" kern="100">
                <a:solidFill>
                  <a:srgbClr val="1B1716"/>
                </a:solidFill>
                <a:latin typeface="Plus Jakarta Sans"/>
              </a:rPr>
              <a:t>the same at</a:t>
            </a:r>
          </a:p>
          <a:p>
            <a:pPr algn="l">
              <a:lnSpc>
                <a:spcPts val="1364"/>
              </a:lnSpc>
              <a:spcBef>
                <a:spcPts val="0"/>
              </a:spcBef>
              <a:spcAft>
                <a:spcPts val="0"/>
              </a:spcAft>
            </a:pPr>
            <a:r>
              <a:rPr sz="1050" b="0" i="1" kern="100">
                <a:solidFill>
                  <a:srgbClr val="1B1716"/>
                </a:solidFill>
                <a:latin typeface="Plus Jakarta Sans"/>
              </a:rPr>
              <a:t>every age</a:t>
            </a:r>
          </a:p>
        </p:txBody>
      </p:sp>
      <p:sp>
        <p:nvSpPr>
          <p:cNvPr id="63" name="!!Rule 6437bdcf"/>
          <p:cNvSpPr/>
          <p:nvPr/>
        </p:nvSpPr>
        <p:spPr>
          <a:xfrm>
            <a:off x="6362700" y="5139928"/>
            <a:ext cx="28575" cy="479822"/>
          </a:xfrm>
          <a:prstGeom prst="rect">
            <a:avLst/>
          </a:prstGeom>
          <a:solidFill>
            <a:srgbClr val="971320"/>
          </a:solidFill>
          <a:ln>
            <a:noFill/>
          </a:ln>
        </p:spPr>
        <p:txBody>
          <a:bodyPr rtlCol="0" anchor="ctr"/>
          <a:lstStyle/>
          <a:p>
            <a:pPr algn="ctr"/>
            <a:endParaRPr/>
          </a:p>
        </p:txBody>
      </p:sp>
      <p:sp>
        <p:nvSpPr>
          <p:cNvPr id="64" name="!!T Held where a regulator watches: HKEX-lis"/>
          <p:cNvSpPr txBox="1"/>
          <p:nvPr/>
        </p:nvSpPr>
        <p:spPr>
          <a:xfrm>
            <a:off x="6524625" y="5148882"/>
            <a:ext cx="5245531" cy="441841"/>
          </a:xfrm>
          <a:prstGeom prst="rect">
            <a:avLst/>
          </a:prstGeom>
          <a:noFill/>
        </p:spPr>
        <p:txBody>
          <a:bodyPr wrap="none" lIns="0" tIns="0" rIns="0" bIns="0" anchor="t">
            <a:noAutofit/>
          </a:bodyPr>
          <a:lstStyle/>
          <a:p>
            <a:pPr algn="l">
              <a:lnSpc>
                <a:spcPts val="1739"/>
              </a:lnSpc>
              <a:spcBef>
                <a:spcPts val="0"/>
              </a:spcBef>
              <a:spcAft>
                <a:spcPts val="0"/>
              </a:spcAft>
            </a:pPr>
            <a:r>
              <a:rPr sz="1200" b="1" i="0" kern="100">
                <a:solidFill>
                  <a:srgbClr val="1B1716"/>
                </a:solidFill>
                <a:latin typeface="Plus Jakarta Sans"/>
              </a:rPr>
              <a:t>Held where a regulator watches:</a:t>
            </a:r>
            <a:r>
              <a:rPr sz="1200" b="0" i="0" kern="100">
                <a:solidFill>
                  <a:srgbClr val="1B1716"/>
                </a:solidFill>
                <a:latin typeface="Plus Jakarta Sans"/>
              </a:rPr>
              <a:t> HKEX-listed ETFs or SFC-licensed</a:t>
            </a:r>
          </a:p>
          <a:p>
            <a:pPr algn="l">
              <a:lnSpc>
                <a:spcPts val="1739"/>
              </a:lnSpc>
              <a:spcBef>
                <a:spcPts val="0"/>
              </a:spcBef>
              <a:spcAft>
                <a:spcPts val="0"/>
              </a:spcAft>
            </a:pPr>
            <a:r>
              <a:rPr sz="1200" b="0" i="0" kern="100">
                <a:solidFill>
                  <a:srgbClr val="1B1716"/>
                </a:solidFill>
                <a:latin typeface="Plus Jakarta Sans"/>
              </a:rPr>
              <a:t>platforms only.</a:t>
            </a:r>
          </a:p>
        </p:txBody>
      </p:sp>
      <p:sp>
        <p:nvSpPr>
          <p:cNvPr id="65"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66" name="!!T Their values and Ryan's conviction both "/>
          <p:cNvSpPr txBox="1"/>
          <p:nvPr/>
        </p:nvSpPr>
        <p:spPr>
          <a:xfrm>
            <a:off x="2356314" y="5984558"/>
            <a:ext cx="7479223"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Their values and Ryan's conviction both fit, without risk the family can't carry.</a:t>
            </a:r>
          </a:p>
        </p:txBody>
      </p:sp>
      <p:sp>
        <p:nvSpPr>
          <p:cNvPr id="67" name="!!T ESG: written case §6, Figure 16; raters:"/>
          <p:cNvSpPr txBox="1"/>
          <p:nvPr/>
        </p:nvSpPr>
        <p:spPr>
          <a:xfrm>
            <a:off x="457200" y="6452104"/>
            <a:ext cx="6393850"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ESG: written case §6, Figure 16; raters: Berg, Kölbel and Rigobon (2022). Crypto: §7, Figures 17–18: Ryan's wealth</a:t>
            </a:r>
          </a:p>
          <a:p>
            <a:pPr algn="l">
              <a:lnSpc>
                <a:spcPts val="1170"/>
              </a:lnSpc>
              <a:spcBef>
                <a:spcPts val="0"/>
              </a:spcBef>
              <a:spcAft>
                <a:spcPts val="0"/>
              </a:spcAft>
            </a:pPr>
            <a:r>
              <a:rPr sz="900" b="0" i="0" kern="100">
                <a:solidFill>
                  <a:srgbClr val="80606A"/>
                </a:solidFill>
                <a:latin typeface="Plus Jakarta Sans"/>
              </a:rPr>
              <a:t>sized from his crypto share, if all HK$500K is crypto, prices held flat, saving 30% of his pay.</a:t>
            </a:r>
          </a:p>
        </p:txBody>
      </p:sp>
      <p:sp>
        <p:nvSpPr>
          <p:cNvPr id="68" name="!!T The problem"/>
          <p:cNvSpPr txBox="1"/>
          <p:nvPr/>
        </p:nvSpPr>
        <p:spPr>
          <a:xfrm>
            <a:off x="6675686"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69" name="!!T The answer"/>
          <p:cNvSpPr txBox="1"/>
          <p:nvPr/>
        </p:nvSpPr>
        <p:spPr>
          <a:xfrm>
            <a:off x="7621935"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70" name="!!T The five calls"/>
          <p:cNvSpPr txBox="1"/>
          <p:nvPr/>
        </p:nvSpPr>
        <p:spPr>
          <a:xfrm>
            <a:off x="8482161" y="6536246"/>
            <a:ext cx="905140"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The five calls</a:t>
            </a:r>
          </a:p>
        </p:txBody>
      </p:sp>
      <p:sp>
        <p:nvSpPr>
          <p:cNvPr id="71" name="!!T Will it hold"/>
          <p:cNvSpPr txBox="1"/>
          <p:nvPr/>
        </p:nvSpPr>
        <p:spPr>
          <a:xfrm>
            <a:off x="9437787"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72" name="!!T What next"/>
          <p:cNvSpPr txBox="1"/>
          <p:nvPr/>
        </p:nvSpPr>
        <p:spPr>
          <a:xfrm>
            <a:off x="10235803"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73" name="!!T Us"/>
          <p:cNvSpPr txBox="1"/>
          <p:nvPr/>
        </p:nvSpPr>
        <p:spPr>
          <a:xfrm>
            <a:off x="11031141"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74" name="!!T 9 / 15"/>
          <p:cNvSpPr txBox="1"/>
          <p:nvPr/>
        </p:nvSpPr>
        <p:spPr>
          <a:xfrm>
            <a:off x="11409462" y="6535674"/>
            <a:ext cx="459159"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9 / 15</a:t>
            </a:r>
          </a:p>
        </p:txBody>
      </p:sp>
      <p:sp>
        <p:nvSpPr>
          <p:cNvPr id="75" name="!!T Today"/>
          <p:cNvSpPr txBox="1"/>
          <p:nvPr/>
        </p:nvSpPr>
        <p:spPr>
          <a:xfrm>
            <a:off x="457200" y="2364367"/>
            <a:ext cx="588047"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1B1716"/>
                </a:solidFill>
                <a:latin typeface="Plus Jakarta Sans SemiBold"/>
              </a:rPr>
              <a:t>Today</a:t>
            </a:r>
          </a:p>
        </p:txBody>
      </p:sp>
      <p:sp>
        <p:nvSpPr>
          <p:cNvPr id="76" name="!!i 76ed0f65"/>
          <p:cNvSpPr/>
          <p:nvPr/>
        </p:nvSpPr>
        <p:spPr>
          <a:xfrm>
            <a:off x="1524000" y="2244923"/>
            <a:ext cx="1351806" cy="457200"/>
          </a:xfrm>
          <a:prstGeom prst="rect">
            <a:avLst/>
          </a:prstGeom>
          <a:solidFill>
            <a:srgbClr val="E6CDD1"/>
          </a:solidFill>
          <a:ln>
            <a:noFill/>
          </a:ln>
        </p:spPr>
        <p:txBody>
          <a:bodyPr rtlCol="0" anchor="ctr"/>
          <a:lstStyle/>
          <a:p>
            <a:pPr algn="ctr"/>
            <a:endParaRPr/>
          </a:p>
        </p:txBody>
      </p:sp>
      <p:sp>
        <p:nvSpPr>
          <p:cNvPr id="77" name="!!T 11%"/>
          <p:cNvSpPr txBox="1"/>
          <p:nvPr/>
        </p:nvSpPr>
        <p:spPr>
          <a:xfrm>
            <a:off x="2498229" y="2383417"/>
            <a:ext cx="413567" cy="152400"/>
          </a:xfrm>
          <a:prstGeom prst="rect">
            <a:avLst/>
          </a:prstGeom>
          <a:noFill/>
        </p:spPr>
        <p:txBody>
          <a:bodyPr wrap="none" lIns="0" tIns="0" rIns="0" bIns="0" anchor="t">
            <a:noAutofit/>
          </a:bodyPr>
          <a:lstStyle/>
          <a:p>
            <a:pPr algn="l">
              <a:lnSpc>
                <a:spcPts val="1200"/>
              </a:lnSpc>
              <a:spcBef>
                <a:spcPts val="0"/>
              </a:spcBef>
              <a:spcAft>
                <a:spcPts val="0"/>
              </a:spcAft>
            </a:pPr>
            <a:r>
              <a:rPr sz="1200" b="1" i="0" kern="100">
                <a:solidFill>
                  <a:srgbClr val="1B1716"/>
                </a:solidFill>
                <a:latin typeface="Plus Jakarta Sans"/>
              </a:rPr>
              <a:t>11%</a:t>
            </a:r>
          </a:p>
        </p:txBody>
      </p:sp>
      <p:sp>
        <p:nvSpPr>
          <p:cNvPr id="78" name="!!T With the plan"/>
          <p:cNvSpPr txBox="1"/>
          <p:nvPr/>
        </p:nvSpPr>
        <p:spPr>
          <a:xfrm>
            <a:off x="457200" y="3031117"/>
            <a:ext cx="1128367"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1B1716"/>
                </a:solidFill>
                <a:latin typeface="Plus Jakarta Sans SemiBold"/>
              </a:rPr>
              <a:t>With the plan</a:t>
            </a:r>
          </a:p>
        </p:txBody>
      </p:sp>
      <p:sp>
        <p:nvSpPr>
          <p:cNvPr id="79" name="!!i 2c43a45c"/>
          <p:cNvSpPr/>
          <p:nvPr/>
        </p:nvSpPr>
        <p:spPr>
          <a:xfrm>
            <a:off x="1524000" y="2911673"/>
            <a:ext cx="1750516" cy="457200"/>
          </a:xfrm>
          <a:prstGeom prst="rect">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80" name="!!i 44256b8a"/>
          <p:cNvSpPr/>
          <p:nvPr/>
        </p:nvSpPr>
        <p:spPr>
          <a:xfrm>
            <a:off x="3274516" y="2911673"/>
            <a:ext cx="986730" cy="457200"/>
          </a:xfrm>
          <a:prstGeom prst="rect">
            <a:avLst/>
          </a:prstGeom>
          <a:solidFill>
            <a:srgbClr val="B4535D"/>
          </a:solidFill>
          <a:ln>
            <a:noFill/>
          </a:ln>
        </p:spPr>
        <p:txBody>
          <a:bodyPr rtlCol="0" anchor="ctr"/>
          <a:lstStyle/>
          <a:p>
            <a:pPr algn="ctr"/>
            <a:endParaRPr/>
          </a:p>
        </p:txBody>
      </p:sp>
      <p:sp>
        <p:nvSpPr>
          <p:cNvPr id="81" name="!!i 33b7d3a1"/>
          <p:cNvSpPr/>
          <p:nvPr/>
        </p:nvSpPr>
        <p:spPr>
          <a:xfrm>
            <a:off x="4261247" y="2911673"/>
            <a:ext cx="364182" cy="457200"/>
          </a:xfrm>
          <a:prstGeom prst="rect">
            <a:avLst/>
          </a:prstGeom>
          <a:solidFill>
            <a:srgbClr val="D3A6AD"/>
          </a:solidFill>
          <a:ln>
            <a:noFill/>
          </a:ln>
        </p:spPr>
        <p:txBody>
          <a:bodyPr rtlCol="0" anchor="ctr"/>
          <a:lstStyle/>
          <a:p>
            <a:pPr algn="ctr"/>
            <a:endParaRPr/>
          </a:p>
        </p:txBody>
      </p:sp>
      <p:sp>
        <p:nvSpPr>
          <p:cNvPr id="82" name="!!T 25%"/>
          <p:cNvSpPr txBox="1"/>
          <p:nvPr/>
        </p:nvSpPr>
        <p:spPr>
          <a:xfrm>
            <a:off x="4739729" y="2922151"/>
            <a:ext cx="996008"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C80E1E"/>
                </a:solidFill>
                <a:latin typeface="Plus Jakarta Sans"/>
              </a:rPr>
              <a:t>25%</a:t>
            </a:r>
          </a:p>
        </p:txBody>
      </p:sp>
      <p:cxnSp>
        <p:nvCxnSpPr>
          <p:cNvPr id="83" name="!!Rule 86aa8b7b"/>
          <p:cNvCxnSpPr/>
          <p:nvPr/>
        </p:nvCxnSpPr>
        <p:spPr>
          <a:xfrm>
            <a:off x="8477250" y="4590306"/>
            <a:ext cx="3257550" cy="0"/>
          </a:xfrm>
          <a:prstGeom prst="line">
            <a:avLst/>
          </a:prstGeom>
          <a:ln w="9525">
            <a:solidFill>
              <a:srgbClr val="1B1716"/>
            </a:solidFill>
            <a:prstDash val="dash"/>
          </a:ln>
        </p:spPr>
        <p:style>
          <a:lnRef idx="2">
            <a:schemeClr val="accent1"/>
          </a:lnRef>
          <a:fillRef idx="0">
            <a:schemeClr val="accent1"/>
          </a:fillRef>
          <a:effectRef idx="1">
            <a:schemeClr val="accent1"/>
          </a:effectRef>
          <a:fontRef idx="minor">
            <a:schemeClr val="tx1"/>
          </a:fontRef>
        </p:style>
      </p:cxnSp>
      <p:sp>
        <p:nvSpPr>
          <p:cNvPr id="84" name="!!Rule 2df83914"/>
          <p:cNvSpPr/>
          <p:nvPr/>
        </p:nvSpPr>
        <p:spPr>
          <a:xfrm>
            <a:off x="2952006" y="2473523"/>
            <a:ext cx="1654373" cy="19050"/>
          </a:xfrm>
          <a:prstGeom prst="rect">
            <a:avLst/>
          </a:prstGeom>
          <a:solidFill>
            <a:srgbClr val="971320"/>
          </a:solidFill>
          <a:ln>
            <a:noFill/>
          </a:ln>
        </p:spPr>
        <p:txBody>
          <a:bodyPr rtlCol="0" anchor="ctr"/>
          <a:lstStyle/>
          <a:p>
            <a:pPr algn="ctr"/>
            <a:endParaRPr/>
          </a:p>
        </p:txBody>
      </p:sp>
      <p:sp>
        <p:nvSpPr>
          <p:cNvPr id="85" name="!!T +14 points"/>
          <p:cNvSpPr txBox="1"/>
          <p:nvPr/>
        </p:nvSpPr>
        <p:spPr>
          <a:xfrm>
            <a:off x="3152924" y="2294072"/>
            <a:ext cx="810643"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971320"/>
                </a:solidFill>
                <a:latin typeface="Plus Jakarta Sans SemiBold"/>
              </a:rPr>
              <a:t>+14 points</a:t>
            </a:r>
          </a:p>
        </p:txBody>
      </p:sp>
      <p:sp>
        <p:nvSpPr>
          <p:cNvPr id="86" name="!!Arrowhead 823caef2"/>
          <p:cNvSpPr/>
          <p:nvPr/>
        </p:nvSpPr>
        <p:spPr>
          <a:xfrm rot="5400000">
            <a:off x="4520654" y="2435423"/>
            <a:ext cx="114300" cy="95250"/>
          </a:xfrm>
          <a:prstGeom prst="triangle">
            <a:avLst/>
          </a:prstGeom>
          <a:solidFill>
            <a:srgbClr val="971320"/>
          </a:solidFill>
          <a:ln>
            <a:noFill/>
          </a:ln>
        </p:spPr>
        <p:txBody>
          <a:bodyPr rtlCol="0" anchor="ctr"/>
          <a:lstStyle/>
          <a:p>
            <a:pPr algn="ct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3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3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30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3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300"/>
                                        <p:tgtEl>
                                          <p:spTgt spid="2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300"/>
                                        <p:tgtEl>
                                          <p:spTgt spid="2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300"/>
                                        <p:tgtEl>
                                          <p:spTgt spid="3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300"/>
                                        <p:tgtEl>
                                          <p:spTgt spid="3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300"/>
                                        <p:tgtEl>
                                          <p:spTgt spid="32"/>
                                        </p:tgtEl>
                                      </p:cBhvr>
                                    </p:animEffect>
                                  </p:childTnLst>
                                </p:cTn>
                              </p:par>
                              <p:par>
                                <p:cTn id="34" presetID="10" presetClass="entr" presetSubtype="0" fill="hold"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300"/>
                                        <p:tgtEl>
                                          <p:spTgt spid="3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300"/>
                                        <p:tgtEl>
                                          <p:spTgt spid="3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3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300"/>
                                        <p:tgtEl>
                                          <p:spTgt spid="36"/>
                                        </p:tgtEl>
                                      </p:cBhvr>
                                    </p:animEffect>
                                  </p:childTnLst>
                                </p:cTn>
                              </p:par>
                              <p:par>
                                <p:cTn id="46" presetID="10" presetClass="entr" presetSubtype="0" fill="hold" nodeType="with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300"/>
                                        <p:tgtEl>
                                          <p:spTgt spid="3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300"/>
                                        <p:tgtEl>
                                          <p:spTgt spid="3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300"/>
                                        <p:tgtEl>
                                          <p:spTgt spid="3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300"/>
                                        <p:tgtEl>
                                          <p:spTgt spid="40"/>
                                        </p:tgtEl>
                                      </p:cBhvr>
                                    </p:animEffect>
                                  </p:childTnLst>
                                </p:cTn>
                              </p:par>
                              <p:par>
                                <p:cTn id="58" presetID="10" presetClass="entr" presetSubtype="0" fill="hold"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fade">
                                      <p:cBhvr>
                                        <p:cTn id="60" dur="300"/>
                                        <p:tgtEl>
                                          <p:spTgt spid="4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fade">
                                      <p:cBhvr>
                                        <p:cTn id="63" dur="300"/>
                                        <p:tgtEl>
                                          <p:spTgt spid="4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fade">
                                      <p:cBhvr>
                                        <p:cTn id="66" dur="300"/>
                                        <p:tgtEl>
                                          <p:spTgt spid="43"/>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fade">
                                      <p:cBhvr>
                                        <p:cTn id="71" dur="300"/>
                                        <p:tgtEl>
                                          <p:spTgt spid="44"/>
                                        </p:tgtEl>
                                      </p:cBhvr>
                                    </p:animEffect>
                                  </p:childTnLst>
                                </p:cTn>
                              </p:par>
                              <p:par>
                                <p:cTn id="72" presetID="10" presetClass="entr" presetSubtype="0" fill="hold" nodeType="withEffect">
                                  <p:stCondLst>
                                    <p:cond delay="0"/>
                                  </p:stCondLst>
                                  <p:childTnLst>
                                    <p:set>
                                      <p:cBhvr>
                                        <p:cTn id="73" dur="1" fill="hold">
                                          <p:stCondLst>
                                            <p:cond delay="0"/>
                                          </p:stCondLst>
                                        </p:cTn>
                                        <p:tgtEl>
                                          <p:spTgt spid="45"/>
                                        </p:tgtEl>
                                        <p:attrNameLst>
                                          <p:attrName>style.visibility</p:attrName>
                                        </p:attrNameLst>
                                      </p:cBhvr>
                                      <p:to>
                                        <p:strVal val="visible"/>
                                      </p:to>
                                    </p:set>
                                    <p:animEffect transition="in" filter="fade">
                                      <p:cBhvr>
                                        <p:cTn id="74" dur="300"/>
                                        <p:tgtEl>
                                          <p:spTgt spid="4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fade">
                                      <p:cBhvr>
                                        <p:cTn id="77" dur="300"/>
                                        <p:tgtEl>
                                          <p:spTgt spid="4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7"/>
                                        </p:tgtEl>
                                        <p:attrNameLst>
                                          <p:attrName>style.visibility</p:attrName>
                                        </p:attrNameLst>
                                      </p:cBhvr>
                                      <p:to>
                                        <p:strVal val="visible"/>
                                      </p:to>
                                    </p:set>
                                    <p:animEffect transition="in" filter="fade">
                                      <p:cBhvr>
                                        <p:cTn id="80" dur="300"/>
                                        <p:tgtEl>
                                          <p:spTgt spid="4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8"/>
                                        </p:tgtEl>
                                        <p:attrNameLst>
                                          <p:attrName>style.visibility</p:attrName>
                                        </p:attrNameLst>
                                      </p:cBhvr>
                                      <p:to>
                                        <p:strVal val="visible"/>
                                      </p:to>
                                    </p:set>
                                    <p:animEffect transition="in" filter="fade">
                                      <p:cBhvr>
                                        <p:cTn id="83" dur="300"/>
                                        <p:tgtEl>
                                          <p:spTgt spid="4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9"/>
                                        </p:tgtEl>
                                        <p:attrNameLst>
                                          <p:attrName>style.visibility</p:attrName>
                                        </p:attrNameLst>
                                      </p:cBhvr>
                                      <p:to>
                                        <p:strVal val="visible"/>
                                      </p:to>
                                    </p:set>
                                    <p:animEffect transition="in" filter="fade">
                                      <p:cBhvr>
                                        <p:cTn id="86" dur="300"/>
                                        <p:tgtEl>
                                          <p:spTgt spid="4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0"/>
                                        </p:tgtEl>
                                        <p:attrNameLst>
                                          <p:attrName>style.visibility</p:attrName>
                                        </p:attrNameLst>
                                      </p:cBhvr>
                                      <p:to>
                                        <p:strVal val="visible"/>
                                      </p:to>
                                    </p:set>
                                    <p:animEffect transition="in" filter="fade">
                                      <p:cBhvr>
                                        <p:cTn id="89" dur="300"/>
                                        <p:tgtEl>
                                          <p:spTgt spid="5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1"/>
                                        </p:tgtEl>
                                        <p:attrNameLst>
                                          <p:attrName>style.visibility</p:attrName>
                                        </p:attrNameLst>
                                      </p:cBhvr>
                                      <p:to>
                                        <p:strVal val="visible"/>
                                      </p:to>
                                    </p:set>
                                    <p:animEffect transition="in" filter="fade">
                                      <p:cBhvr>
                                        <p:cTn id="92" dur="300"/>
                                        <p:tgtEl>
                                          <p:spTgt spid="5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fade">
                                      <p:cBhvr>
                                        <p:cTn id="95" dur="300"/>
                                        <p:tgtEl>
                                          <p:spTgt spid="5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3"/>
                                        </p:tgtEl>
                                        <p:attrNameLst>
                                          <p:attrName>style.visibility</p:attrName>
                                        </p:attrNameLst>
                                      </p:cBhvr>
                                      <p:to>
                                        <p:strVal val="visible"/>
                                      </p:to>
                                    </p:set>
                                    <p:animEffect transition="in" filter="fade">
                                      <p:cBhvr>
                                        <p:cTn id="98" dur="300"/>
                                        <p:tgtEl>
                                          <p:spTgt spid="5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4"/>
                                        </p:tgtEl>
                                        <p:attrNameLst>
                                          <p:attrName>style.visibility</p:attrName>
                                        </p:attrNameLst>
                                      </p:cBhvr>
                                      <p:to>
                                        <p:strVal val="visible"/>
                                      </p:to>
                                    </p:set>
                                    <p:animEffect transition="in" filter="fade">
                                      <p:cBhvr>
                                        <p:cTn id="101" dur="300"/>
                                        <p:tgtEl>
                                          <p:spTgt spid="54"/>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5"/>
                                        </p:tgtEl>
                                        <p:attrNameLst>
                                          <p:attrName>style.visibility</p:attrName>
                                        </p:attrNameLst>
                                      </p:cBhvr>
                                      <p:to>
                                        <p:strVal val="visible"/>
                                      </p:to>
                                    </p:set>
                                    <p:animEffect transition="in" filter="fade">
                                      <p:cBhvr>
                                        <p:cTn id="104" dur="300"/>
                                        <p:tgtEl>
                                          <p:spTgt spid="55"/>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6"/>
                                        </p:tgtEl>
                                        <p:attrNameLst>
                                          <p:attrName>style.visibility</p:attrName>
                                        </p:attrNameLst>
                                      </p:cBhvr>
                                      <p:to>
                                        <p:strVal val="visible"/>
                                      </p:to>
                                    </p:set>
                                    <p:animEffect transition="in" filter="fade">
                                      <p:cBhvr>
                                        <p:cTn id="107" dur="300"/>
                                        <p:tgtEl>
                                          <p:spTgt spid="5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7"/>
                                        </p:tgtEl>
                                        <p:attrNameLst>
                                          <p:attrName>style.visibility</p:attrName>
                                        </p:attrNameLst>
                                      </p:cBhvr>
                                      <p:to>
                                        <p:strVal val="visible"/>
                                      </p:to>
                                    </p:set>
                                    <p:animEffect transition="in" filter="fade">
                                      <p:cBhvr>
                                        <p:cTn id="110" dur="300"/>
                                        <p:tgtEl>
                                          <p:spTgt spid="5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8"/>
                                        </p:tgtEl>
                                        <p:attrNameLst>
                                          <p:attrName>style.visibility</p:attrName>
                                        </p:attrNameLst>
                                      </p:cBhvr>
                                      <p:to>
                                        <p:strVal val="visible"/>
                                      </p:to>
                                    </p:set>
                                    <p:animEffect transition="in" filter="fade">
                                      <p:cBhvr>
                                        <p:cTn id="113" dur="300"/>
                                        <p:tgtEl>
                                          <p:spTgt spid="58"/>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9"/>
                                        </p:tgtEl>
                                        <p:attrNameLst>
                                          <p:attrName>style.visibility</p:attrName>
                                        </p:attrNameLst>
                                      </p:cBhvr>
                                      <p:to>
                                        <p:strVal val="visible"/>
                                      </p:to>
                                    </p:set>
                                    <p:animEffect transition="in" filter="fade">
                                      <p:cBhvr>
                                        <p:cTn id="116" dur="300"/>
                                        <p:tgtEl>
                                          <p:spTgt spid="59"/>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60"/>
                                        </p:tgtEl>
                                        <p:attrNameLst>
                                          <p:attrName>style.visibility</p:attrName>
                                        </p:attrNameLst>
                                      </p:cBhvr>
                                      <p:to>
                                        <p:strVal val="visible"/>
                                      </p:to>
                                    </p:set>
                                    <p:animEffect transition="in" filter="fade">
                                      <p:cBhvr>
                                        <p:cTn id="119" dur="300"/>
                                        <p:tgtEl>
                                          <p:spTgt spid="60"/>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61"/>
                                        </p:tgtEl>
                                        <p:attrNameLst>
                                          <p:attrName>style.visibility</p:attrName>
                                        </p:attrNameLst>
                                      </p:cBhvr>
                                      <p:to>
                                        <p:strVal val="visible"/>
                                      </p:to>
                                    </p:set>
                                    <p:animEffect transition="in" filter="fade">
                                      <p:cBhvr>
                                        <p:cTn id="122" dur="300"/>
                                        <p:tgtEl>
                                          <p:spTgt spid="61"/>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62"/>
                                        </p:tgtEl>
                                        <p:attrNameLst>
                                          <p:attrName>style.visibility</p:attrName>
                                        </p:attrNameLst>
                                      </p:cBhvr>
                                      <p:to>
                                        <p:strVal val="visible"/>
                                      </p:to>
                                    </p:set>
                                    <p:animEffect transition="in" filter="fade">
                                      <p:cBhvr>
                                        <p:cTn id="125" dur="300"/>
                                        <p:tgtEl>
                                          <p:spTgt spid="6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63"/>
                                        </p:tgtEl>
                                        <p:attrNameLst>
                                          <p:attrName>style.visibility</p:attrName>
                                        </p:attrNameLst>
                                      </p:cBhvr>
                                      <p:to>
                                        <p:strVal val="visible"/>
                                      </p:to>
                                    </p:set>
                                    <p:animEffect transition="in" filter="fade">
                                      <p:cBhvr>
                                        <p:cTn id="128" dur="300"/>
                                        <p:tgtEl>
                                          <p:spTgt spid="6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64"/>
                                        </p:tgtEl>
                                        <p:attrNameLst>
                                          <p:attrName>style.visibility</p:attrName>
                                        </p:attrNameLst>
                                      </p:cBhvr>
                                      <p:to>
                                        <p:strVal val="visible"/>
                                      </p:to>
                                    </p:set>
                                    <p:animEffect transition="in" filter="fade">
                                      <p:cBhvr>
                                        <p:cTn id="131" dur="300"/>
                                        <p:tgtEl>
                                          <p:spTgt spid="64"/>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65"/>
                                        </p:tgtEl>
                                        <p:attrNameLst>
                                          <p:attrName>style.visibility</p:attrName>
                                        </p:attrNameLst>
                                      </p:cBhvr>
                                      <p:to>
                                        <p:strVal val="visible"/>
                                      </p:to>
                                    </p:set>
                                    <p:animEffect transition="in" filter="fade">
                                      <p:cBhvr>
                                        <p:cTn id="134" dur="300"/>
                                        <p:tgtEl>
                                          <p:spTgt spid="65"/>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66"/>
                                        </p:tgtEl>
                                        <p:attrNameLst>
                                          <p:attrName>style.visibility</p:attrName>
                                        </p:attrNameLst>
                                      </p:cBhvr>
                                      <p:to>
                                        <p:strVal val="visible"/>
                                      </p:to>
                                    </p:set>
                                    <p:animEffect transition="in" filter="fade">
                                      <p:cBhvr>
                                        <p:cTn id="137" dur="300"/>
                                        <p:tgtEl>
                                          <p:spTgt spid="66"/>
                                        </p:tgtEl>
                                      </p:cBhvr>
                                    </p:animEffect>
                                  </p:childTnLst>
                                </p:cTn>
                              </p:par>
                              <p:par>
                                <p:cTn id="138" presetID="10" presetClass="entr" presetSubtype="0" fill="hold" nodeType="withEffect">
                                  <p:stCondLst>
                                    <p:cond delay="0"/>
                                  </p:stCondLst>
                                  <p:childTnLst>
                                    <p:set>
                                      <p:cBhvr>
                                        <p:cTn id="139" dur="1" fill="hold">
                                          <p:stCondLst>
                                            <p:cond delay="0"/>
                                          </p:stCondLst>
                                        </p:cTn>
                                        <p:tgtEl>
                                          <p:spTgt spid="83"/>
                                        </p:tgtEl>
                                        <p:attrNameLst>
                                          <p:attrName>style.visibility</p:attrName>
                                        </p:attrNameLst>
                                      </p:cBhvr>
                                      <p:to>
                                        <p:strVal val="visible"/>
                                      </p:to>
                                    </p:set>
                                    <p:animEffect transition="in" filter="fade">
                                      <p:cBhvr>
                                        <p:cTn id="140" dur="3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animBg="1"/>
      <p:bldP spid="34" grpId="0" animBg="1"/>
      <p:bldP spid="35" grpId="0" animBg="1"/>
      <p:bldP spid="36" grpId="0" animBg="1"/>
      <p:bldP spid="38" grpId="0" animBg="1"/>
      <p:bldP spid="39" grpId="0" animBg="1"/>
      <p:bldP spid="40" grpId="0" animBg="1"/>
      <p:bldP spid="42" grpId="0" animBg="1"/>
      <p:bldP spid="43" grpId="0" animBg="1"/>
      <p:bldP spid="44"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Tested against the worst: even if Adrian loses his job at 60, the plan holds">
    <p:spTree>
      <p:nvGrpSpPr>
        <p:cNvPr id="1" name=""/>
        <p:cNvGrpSpPr/>
        <p:nvPr/>
      </p:nvGrpSpPr>
      <p:grpSpPr>
        <a:xfrm>
          <a:off x="0" y="0"/>
          <a:ext cx="0" cy="0"/>
          <a:chOff x="0" y="0"/>
          <a:chExt cx="0" cy="0"/>
        </a:xfrm>
      </p:grpSpPr>
      <p:sp>
        <p:nvSpPr>
          <p:cNvPr id="2" name="!!Rule 6ff153ce"/>
          <p:cNvSpPr/>
          <p:nvPr/>
        </p:nvSpPr>
        <p:spPr>
          <a:xfrm>
            <a:off x="457200" y="323850"/>
            <a:ext cx="47625" cy="569714"/>
          </a:xfrm>
          <a:prstGeom prst="rect">
            <a:avLst/>
          </a:prstGeom>
          <a:solidFill>
            <a:srgbClr val="C80E1E"/>
          </a:solidFill>
          <a:ln>
            <a:noFill/>
          </a:ln>
        </p:spPr>
        <p:txBody>
          <a:bodyPr rtlCol="0" anchor="ctr"/>
          <a:lstStyle/>
          <a:p>
            <a:pPr algn="ctr"/>
            <a:endParaRPr/>
          </a:p>
        </p:txBody>
      </p:sp>
      <p:sp>
        <p:nvSpPr>
          <p:cNvPr id="3" name="!!T Will it hold?"/>
          <p:cNvSpPr txBox="1"/>
          <p:nvPr/>
        </p:nvSpPr>
        <p:spPr>
          <a:xfrm>
            <a:off x="638175" y="324421"/>
            <a:ext cx="884947"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Will it hold?</a:t>
            </a:r>
          </a:p>
        </p:txBody>
      </p:sp>
      <p:sp>
        <p:nvSpPr>
          <p:cNvPr id="4" name="!!T Tested against the worst: even if Adrian"/>
          <p:cNvSpPr txBox="1"/>
          <p:nvPr/>
        </p:nvSpPr>
        <p:spPr>
          <a:xfrm>
            <a:off x="638175" y="529852"/>
            <a:ext cx="9949080" cy="320421"/>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Tested against the worst: even if Adrian loses his job at 60, the plan holds</a:t>
            </a:r>
          </a:p>
        </p:txBody>
      </p:sp>
      <p:sp>
        <p:nvSpPr>
          <p:cNvPr id="5" name="!!i 0e1ccda2"/>
          <p:cNvSpPr/>
          <p:nvPr/>
        </p:nvSpPr>
        <p:spPr>
          <a:xfrm>
            <a:off x="3848844" y="1195983"/>
            <a:ext cx="209550" cy="95250"/>
          </a:xfrm>
          <a:prstGeom prst="roundRect">
            <a:avLst>
              <a:gd name="adj" fmla="val 50000"/>
            </a:avLst>
          </a:prstGeom>
          <a:solidFill>
            <a:srgbClr val="E3C3C9"/>
          </a:solidFill>
          <a:ln>
            <a:noFill/>
          </a:ln>
        </p:spPr>
        <p:txBody>
          <a:bodyPr rtlCol="0" anchor="ctr"/>
          <a:lstStyle/>
          <a:p>
            <a:pPr algn="ctr"/>
            <a:endParaRPr/>
          </a:p>
        </p:txBody>
      </p:sp>
      <p:sp>
        <p:nvSpPr>
          <p:cNvPr id="6" name="!!i 9d61c349"/>
          <p:cNvSpPr/>
          <p:nvPr/>
        </p:nvSpPr>
        <p:spPr>
          <a:xfrm>
            <a:off x="6011614" y="1195983"/>
            <a:ext cx="209550" cy="95250"/>
          </a:xfrm>
          <a:prstGeom prst="roundRect">
            <a:avLst>
              <a:gd name="adj" fmla="val 50000"/>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7" name="!!T Four hard tests in the same 10,000 marke"/>
          <p:cNvSpPr txBox="1"/>
          <p:nvPr/>
        </p:nvSpPr>
        <p:spPr>
          <a:xfrm>
            <a:off x="457200" y="1125593"/>
            <a:ext cx="9567621" cy="18669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80606A"/>
                </a:solidFill>
                <a:latin typeface="Plus Jakarta Sans"/>
              </a:rPr>
              <a:t>Four hard tests in the same 10,000 markets. Each bar:             the four decisions alone, then </a:t>
            </a:r>
            <a:r>
              <a:rPr sz="1050" b="0" i="0" kern="100">
                <a:solidFill>
                  <a:srgbClr val="1B1716"/>
                </a:solidFill>
                <a:latin typeface="Plus Jakarta Sans SemiBold"/>
              </a:rPr>
              <a:t>            what the review at 75 and the spending rules add</a:t>
            </a:r>
          </a:p>
        </p:txBody>
      </p:sp>
      <p:sp>
        <p:nvSpPr>
          <p:cNvPr id="8" name="!!Rule 760d7dc2"/>
          <p:cNvSpPr/>
          <p:nvPr/>
        </p:nvSpPr>
        <p:spPr>
          <a:xfrm>
            <a:off x="457200" y="1697385"/>
            <a:ext cx="11277600" cy="9525"/>
          </a:xfrm>
          <a:prstGeom prst="rect">
            <a:avLst/>
          </a:prstGeom>
          <a:solidFill>
            <a:srgbClr val="1B1716"/>
          </a:solidFill>
          <a:ln>
            <a:noFill/>
          </a:ln>
        </p:spPr>
        <p:txBody>
          <a:bodyPr rtlCol="0" anchor="ctr"/>
          <a:lstStyle/>
          <a:p>
            <a:pPr algn="ctr"/>
            <a:endParaRPr/>
          </a:p>
        </p:txBody>
      </p:sp>
      <p:sp>
        <p:nvSpPr>
          <p:cNvPr id="9" name="!!T The test"/>
          <p:cNvSpPr txBox="1"/>
          <p:nvPr/>
        </p:nvSpPr>
        <p:spPr>
          <a:xfrm>
            <a:off x="457200" y="1468434"/>
            <a:ext cx="655883"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80606A"/>
                </a:solidFill>
                <a:latin typeface="Plus Jakarta Sans SemiBold"/>
              </a:rPr>
              <a:t>The test</a:t>
            </a:r>
          </a:p>
        </p:txBody>
      </p:sp>
      <p:sp>
        <p:nvSpPr>
          <p:cNvPr id="10" name="!!T Chance the money lasts to Carmen's 89"/>
          <p:cNvSpPr txBox="1"/>
          <p:nvPr/>
        </p:nvSpPr>
        <p:spPr>
          <a:xfrm>
            <a:off x="3390900" y="1468434"/>
            <a:ext cx="2785613"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80606A"/>
                </a:solidFill>
                <a:latin typeface="Plus Jakarta Sans SemiBold"/>
              </a:rPr>
              <a:t>Chance the money lasts to Carmen's 89</a:t>
            </a:r>
          </a:p>
        </p:txBody>
      </p:sp>
      <p:sp>
        <p:nvSpPr>
          <p:cNvPr id="11" name="!!T What holds it"/>
          <p:cNvSpPr txBox="1"/>
          <p:nvPr/>
        </p:nvSpPr>
        <p:spPr>
          <a:xfrm>
            <a:off x="9182100" y="1468434"/>
            <a:ext cx="995377" cy="160020"/>
          </a:xfrm>
          <a:prstGeom prst="rect">
            <a:avLst/>
          </a:prstGeom>
          <a:noFill/>
        </p:spPr>
        <p:txBody>
          <a:bodyPr wrap="none" lIns="0" tIns="0" rIns="0" bIns="0" anchor="t">
            <a:noAutofit/>
          </a:bodyPr>
          <a:lstStyle/>
          <a:p>
            <a:pPr algn="l">
              <a:lnSpc>
                <a:spcPts val="1260"/>
              </a:lnSpc>
              <a:spcBef>
                <a:spcPts val="0"/>
              </a:spcBef>
              <a:spcAft>
                <a:spcPts val="0"/>
              </a:spcAft>
            </a:pPr>
            <a:r>
              <a:rPr sz="1050" b="0" i="0" kern="100">
                <a:solidFill>
                  <a:srgbClr val="80606A"/>
                </a:solidFill>
                <a:latin typeface="Plus Jakarta Sans SemiBold"/>
              </a:rPr>
              <a:t>What holds it</a:t>
            </a:r>
          </a:p>
        </p:txBody>
      </p:sp>
      <p:sp>
        <p:nvSpPr>
          <p:cNvPr id="12" name="!!Rule 838c27a8"/>
          <p:cNvSpPr/>
          <p:nvPr/>
        </p:nvSpPr>
        <p:spPr>
          <a:xfrm>
            <a:off x="457200" y="2532459"/>
            <a:ext cx="11277600" cy="9525"/>
          </a:xfrm>
          <a:prstGeom prst="rect">
            <a:avLst/>
          </a:prstGeom>
          <a:solidFill>
            <a:srgbClr val="ECDADD"/>
          </a:solidFill>
          <a:ln>
            <a:noFill/>
          </a:ln>
        </p:spPr>
        <p:txBody>
          <a:bodyPr rtlCol="0" anchor="ctr"/>
          <a:lstStyle/>
          <a:p>
            <a:pPr algn="ctr"/>
            <a:endParaRPr/>
          </a:p>
        </p:txBody>
      </p:sp>
      <p:sp>
        <p:nvSpPr>
          <p:cNvPr id="13" name="!!T Adrian's job ends at 60"/>
          <p:cNvSpPr txBox="1"/>
          <p:nvPr/>
        </p:nvSpPr>
        <p:spPr>
          <a:xfrm>
            <a:off x="457200" y="1982254"/>
            <a:ext cx="2086746" cy="222885"/>
          </a:xfrm>
          <a:prstGeom prst="rect">
            <a:avLst/>
          </a:prstGeom>
          <a:noFill/>
        </p:spPr>
        <p:txBody>
          <a:bodyPr wrap="none" lIns="0" tIns="0" rIns="0" bIns="0" anchor="t">
            <a:noAutofit/>
          </a:bodyPr>
          <a:lstStyle/>
          <a:p>
            <a:pPr algn="l">
              <a:lnSpc>
                <a:spcPts val="1754"/>
              </a:lnSpc>
              <a:spcBef>
                <a:spcPts val="0"/>
              </a:spcBef>
              <a:spcAft>
                <a:spcPts val="0"/>
              </a:spcAft>
            </a:pPr>
            <a:r>
              <a:rPr sz="1350" b="0" i="0" kern="100">
                <a:solidFill>
                  <a:srgbClr val="1B1716"/>
                </a:solidFill>
                <a:latin typeface="Plus Jakarta Sans SemiBold"/>
              </a:rPr>
              <a:t>Adrian's job ends at 60</a:t>
            </a:r>
          </a:p>
        </p:txBody>
      </p:sp>
      <p:sp>
        <p:nvSpPr>
          <p:cNvPr id="14" name="!!T no pay or MPF to 65, no severance"/>
          <p:cNvSpPr txBox="1"/>
          <p:nvPr/>
        </p:nvSpPr>
        <p:spPr>
          <a:xfrm>
            <a:off x="457200" y="2204954"/>
            <a:ext cx="2363769"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no pay or MPF to 65, no severance</a:t>
            </a:r>
          </a:p>
        </p:txBody>
      </p:sp>
      <p:sp>
        <p:nvSpPr>
          <p:cNvPr id="15" name="!!ps-el a14cbae3"/>
          <p:cNvSpPr/>
          <p:nvPr/>
        </p:nvSpPr>
        <p:spPr>
          <a:xfrm>
            <a:off x="3390900" y="2233910"/>
            <a:ext cx="5257800" cy="133350"/>
          </a:xfrm>
          <a:prstGeom prst="roundRect">
            <a:avLst>
              <a:gd name="adj" fmla="val 50000"/>
            </a:avLst>
          </a:prstGeom>
          <a:solidFill>
            <a:srgbClr val="F8EFF0"/>
          </a:solidFill>
          <a:ln>
            <a:noFill/>
          </a:ln>
        </p:spPr>
        <p:txBody>
          <a:bodyPr rtlCol="0" anchor="ctr"/>
          <a:lstStyle/>
          <a:p>
            <a:pPr algn="ctr"/>
            <a:endParaRPr/>
          </a:p>
        </p:txBody>
      </p:sp>
      <p:sp>
        <p:nvSpPr>
          <p:cNvPr id="16" name="!!span 0a5913c7"/>
          <p:cNvSpPr/>
          <p:nvPr/>
        </p:nvSpPr>
        <p:spPr>
          <a:xfrm rot="16200000">
            <a:off x="4112865" y="1511945"/>
            <a:ext cx="133350" cy="1577280"/>
          </a:xfrm>
          <a:prstGeom prst="round2SameRect">
            <a:avLst>
              <a:gd name="adj1" fmla="val 50000"/>
              <a:gd name="adj2" fmla="val 0"/>
            </a:avLst>
          </a:prstGeom>
          <a:solidFill>
            <a:srgbClr val="E3C3C9"/>
          </a:solidFill>
          <a:ln>
            <a:noFill/>
          </a:ln>
        </p:spPr>
        <p:txBody>
          <a:bodyPr rtlCol="0" anchor="ctr"/>
          <a:lstStyle/>
          <a:p>
            <a:pPr algn="ctr"/>
            <a:endParaRPr/>
          </a:p>
        </p:txBody>
      </p:sp>
      <p:sp>
        <p:nvSpPr>
          <p:cNvPr id="17" name="!!span a27bee5f"/>
          <p:cNvSpPr/>
          <p:nvPr/>
        </p:nvSpPr>
        <p:spPr>
          <a:xfrm rot="5400000">
            <a:off x="6294760" y="907331"/>
            <a:ext cx="133350" cy="2786509"/>
          </a:xfrm>
          <a:prstGeom prst="round2SameRect">
            <a:avLst>
              <a:gd name="adj1" fmla="val 50000"/>
              <a:gd name="adj2" fmla="val 0"/>
            </a:avLst>
          </a:prstGeom>
          <a:gradFill rotWithShape="0">
            <a:gsLst>
              <a:gs pos="0">
                <a:srgbClr val="D40F1F"/>
              </a:gs>
              <a:gs pos="100000">
                <a:srgbClr val="971320"/>
              </a:gs>
            </a:gsLst>
            <a:lin ang="5400000" scaled="0"/>
          </a:gradFill>
          <a:ln>
            <a:noFill/>
          </a:ln>
        </p:spPr>
        <p:txBody>
          <a:bodyPr rtlCol="0" anchor="ctr"/>
          <a:lstStyle/>
          <a:p>
            <a:pPr algn="ctr"/>
            <a:endParaRPr/>
          </a:p>
        </p:txBody>
      </p:sp>
      <p:sp>
        <p:nvSpPr>
          <p:cNvPr id="18" name="!!Rule a07366dd"/>
          <p:cNvSpPr/>
          <p:nvPr/>
        </p:nvSpPr>
        <p:spPr>
          <a:xfrm>
            <a:off x="4968180" y="2233910"/>
            <a:ext cx="19050" cy="133350"/>
          </a:xfrm>
          <a:prstGeom prst="rect">
            <a:avLst/>
          </a:prstGeom>
          <a:solidFill>
            <a:srgbClr val="FFFFFF"/>
          </a:solidFill>
          <a:ln>
            <a:noFill/>
          </a:ln>
        </p:spPr>
        <p:txBody>
          <a:bodyPr rtlCol="0" anchor="ctr"/>
          <a:lstStyle/>
          <a:p>
            <a:pPr algn="ctr"/>
            <a:endParaRPr/>
          </a:p>
        </p:txBody>
      </p:sp>
      <p:sp>
        <p:nvSpPr>
          <p:cNvPr id="19" name="!!T 30%"/>
          <p:cNvSpPr txBox="1"/>
          <p:nvPr/>
        </p:nvSpPr>
        <p:spPr>
          <a:xfrm>
            <a:off x="4812655" y="2025884"/>
            <a:ext cx="44401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Medium"/>
              </a:rPr>
              <a:t>30%</a:t>
            </a:r>
          </a:p>
        </p:txBody>
      </p:sp>
      <p:sp>
        <p:nvSpPr>
          <p:cNvPr id="20" name="!!T 83%"/>
          <p:cNvSpPr txBox="1"/>
          <p:nvPr/>
        </p:nvSpPr>
        <p:spPr>
          <a:xfrm>
            <a:off x="7333059" y="1758613"/>
            <a:ext cx="1008471"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C80E1E"/>
                </a:solidFill>
                <a:latin typeface="Plus Jakarta Sans"/>
              </a:rPr>
              <a:t>83%</a:t>
            </a:r>
          </a:p>
        </p:txBody>
      </p:sp>
      <p:sp>
        <p:nvSpPr>
          <p:cNvPr id="21" name="!!T Reserve pays a year of bills"/>
          <p:cNvSpPr txBox="1"/>
          <p:nvPr/>
        </p:nvSpPr>
        <p:spPr>
          <a:xfrm>
            <a:off x="9182100" y="1885123"/>
            <a:ext cx="1883396"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Reserve</a:t>
            </a:r>
            <a:r>
              <a:rPr sz="1050" b="0" i="0" kern="100">
                <a:solidFill>
                  <a:srgbClr val="1B1716"/>
                </a:solidFill>
                <a:latin typeface="Plus Jakarta Sans"/>
              </a:rPr>
              <a:t> pays a year of bills</a:t>
            </a:r>
          </a:p>
        </p:txBody>
      </p:sp>
      <p:sp>
        <p:nvSpPr>
          <p:cNvPr id="22" name="!!T Spending rules trim lean years"/>
          <p:cNvSpPr txBox="1"/>
          <p:nvPr/>
        </p:nvSpPr>
        <p:spPr>
          <a:xfrm>
            <a:off x="9182100" y="2093631"/>
            <a:ext cx="2102837"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Spending rules</a:t>
            </a:r>
            <a:r>
              <a:rPr sz="1050" b="0" i="0" kern="100">
                <a:solidFill>
                  <a:srgbClr val="1B1716"/>
                </a:solidFill>
                <a:latin typeface="Plus Jakarta Sans"/>
              </a:rPr>
              <a:t> trim lean years</a:t>
            </a:r>
          </a:p>
        </p:txBody>
      </p:sp>
      <p:sp>
        <p:nvSpPr>
          <p:cNvPr id="23" name="!!T Full review resets the plan"/>
          <p:cNvSpPr txBox="1"/>
          <p:nvPr/>
        </p:nvSpPr>
        <p:spPr>
          <a:xfrm>
            <a:off x="9182100" y="2302139"/>
            <a:ext cx="1832440"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Full review</a:t>
            </a:r>
            <a:r>
              <a:rPr sz="1050" b="0" i="0" kern="100">
                <a:solidFill>
                  <a:srgbClr val="1B1716"/>
                </a:solidFill>
                <a:latin typeface="Plus Jakarta Sans"/>
              </a:rPr>
              <a:t> resets the plan</a:t>
            </a:r>
          </a:p>
        </p:txBody>
      </p:sp>
      <p:sp>
        <p:nvSpPr>
          <p:cNvPr id="24" name="!!Rule f9dc0d51"/>
          <p:cNvSpPr/>
          <p:nvPr/>
        </p:nvSpPr>
        <p:spPr>
          <a:xfrm>
            <a:off x="457200" y="3189684"/>
            <a:ext cx="11277600" cy="9525"/>
          </a:xfrm>
          <a:prstGeom prst="rect">
            <a:avLst/>
          </a:prstGeom>
          <a:solidFill>
            <a:srgbClr val="ECDADD"/>
          </a:solidFill>
          <a:ln>
            <a:noFill/>
          </a:ln>
        </p:spPr>
        <p:txBody>
          <a:bodyPr rtlCol="0" anchor="ctr"/>
          <a:lstStyle/>
          <a:p>
            <a:pPr algn="ctr"/>
            <a:endParaRPr/>
          </a:p>
        </p:txBody>
      </p:sp>
      <p:sp>
        <p:nvSpPr>
          <p:cNvPr id="25" name="!!T Low returns, every year"/>
          <p:cNvSpPr txBox="1"/>
          <p:nvPr/>
        </p:nvSpPr>
        <p:spPr>
          <a:xfrm>
            <a:off x="457200" y="2659106"/>
            <a:ext cx="190911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Low returns, every year</a:t>
            </a:r>
          </a:p>
        </p:txBody>
      </p:sp>
      <p:sp>
        <p:nvSpPr>
          <p:cNvPr id="26" name="!!T shares 4%, bonds 2.5%, to 2066"/>
          <p:cNvSpPr txBox="1"/>
          <p:nvPr/>
        </p:nvSpPr>
        <p:spPr>
          <a:xfrm>
            <a:off x="457200" y="2862626"/>
            <a:ext cx="2263750"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shares 4%, bonds 2.5%, to 2066</a:t>
            </a:r>
          </a:p>
        </p:txBody>
      </p:sp>
      <p:sp>
        <p:nvSpPr>
          <p:cNvPr id="27" name="!!ps-el 603f9092"/>
          <p:cNvSpPr/>
          <p:nvPr/>
        </p:nvSpPr>
        <p:spPr>
          <a:xfrm>
            <a:off x="3390900" y="2903934"/>
            <a:ext cx="5257800" cy="133350"/>
          </a:xfrm>
          <a:prstGeom prst="roundRect">
            <a:avLst>
              <a:gd name="adj" fmla="val 50000"/>
            </a:avLst>
          </a:prstGeom>
          <a:solidFill>
            <a:srgbClr val="F8EFF0"/>
          </a:solidFill>
          <a:ln>
            <a:noFill/>
          </a:ln>
        </p:spPr>
        <p:txBody>
          <a:bodyPr rtlCol="0" anchor="ctr"/>
          <a:lstStyle/>
          <a:p>
            <a:pPr algn="ctr"/>
            <a:endParaRPr/>
          </a:p>
        </p:txBody>
      </p:sp>
      <p:sp>
        <p:nvSpPr>
          <p:cNvPr id="28" name="!!span be8a703d"/>
          <p:cNvSpPr/>
          <p:nvPr/>
        </p:nvSpPr>
        <p:spPr>
          <a:xfrm rot="16200000">
            <a:off x="4165402" y="2129433"/>
            <a:ext cx="133350" cy="1682353"/>
          </a:xfrm>
          <a:prstGeom prst="round2SameRect">
            <a:avLst>
              <a:gd name="adj1" fmla="val 50000"/>
              <a:gd name="adj2" fmla="val 0"/>
            </a:avLst>
          </a:prstGeom>
          <a:solidFill>
            <a:srgbClr val="E3C3C9"/>
          </a:solidFill>
          <a:ln>
            <a:noFill/>
          </a:ln>
        </p:spPr>
        <p:txBody>
          <a:bodyPr rtlCol="0" anchor="ctr"/>
          <a:lstStyle/>
          <a:p>
            <a:pPr algn="ctr"/>
            <a:endParaRPr/>
          </a:p>
        </p:txBody>
      </p:sp>
      <p:sp>
        <p:nvSpPr>
          <p:cNvPr id="29" name="!!span f33f1255"/>
          <p:cNvSpPr/>
          <p:nvPr/>
        </p:nvSpPr>
        <p:spPr>
          <a:xfrm rot="5400000">
            <a:off x="6662738" y="1314450"/>
            <a:ext cx="133350" cy="3312319"/>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30" name="!!Rule e49d9551"/>
          <p:cNvSpPr/>
          <p:nvPr/>
        </p:nvSpPr>
        <p:spPr>
          <a:xfrm>
            <a:off x="5073253" y="2903934"/>
            <a:ext cx="19050" cy="133350"/>
          </a:xfrm>
          <a:prstGeom prst="rect">
            <a:avLst/>
          </a:prstGeom>
          <a:solidFill>
            <a:srgbClr val="FFFFFF"/>
          </a:solidFill>
          <a:ln>
            <a:noFill/>
          </a:ln>
        </p:spPr>
        <p:txBody>
          <a:bodyPr rtlCol="0" anchor="ctr"/>
          <a:lstStyle/>
          <a:p>
            <a:pPr algn="ctr"/>
            <a:endParaRPr/>
          </a:p>
        </p:txBody>
      </p:sp>
      <p:sp>
        <p:nvSpPr>
          <p:cNvPr id="31" name="!!T 32%"/>
          <p:cNvSpPr txBox="1"/>
          <p:nvPr/>
        </p:nvSpPr>
        <p:spPr>
          <a:xfrm>
            <a:off x="4926062" y="2695908"/>
            <a:ext cx="426345"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Medium"/>
              </a:rPr>
              <a:t>32%</a:t>
            </a:r>
          </a:p>
        </p:txBody>
      </p:sp>
      <p:sp>
        <p:nvSpPr>
          <p:cNvPr id="32" name="!!T 95%"/>
          <p:cNvSpPr txBox="1"/>
          <p:nvPr/>
        </p:nvSpPr>
        <p:spPr>
          <a:xfrm>
            <a:off x="8174385" y="2630567"/>
            <a:ext cx="562332" cy="190500"/>
          </a:xfrm>
          <a:prstGeom prst="rect">
            <a:avLst/>
          </a:prstGeom>
          <a:noFill/>
        </p:spPr>
        <p:txBody>
          <a:bodyPr wrap="none" lIns="0" tIns="0" rIns="0" bIns="0" anchor="t">
            <a:noAutofit/>
          </a:bodyPr>
          <a:lstStyle/>
          <a:p>
            <a:pPr algn="l">
              <a:lnSpc>
                <a:spcPts val="1500"/>
              </a:lnSpc>
              <a:spcBef>
                <a:spcPts val="0"/>
              </a:spcBef>
              <a:spcAft>
                <a:spcPts val="0"/>
              </a:spcAft>
            </a:pPr>
            <a:r>
              <a:rPr sz="1500" b="1" i="0" kern="100" spc="-22">
                <a:solidFill>
                  <a:srgbClr val="1B1716"/>
                </a:solidFill>
                <a:latin typeface="Plus Jakarta Sans"/>
              </a:rPr>
              <a:t>95%</a:t>
            </a:r>
          </a:p>
        </p:txBody>
      </p:sp>
      <p:sp>
        <p:nvSpPr>
          <p:cNvPr id="33" name="!!T Spending rules trim lean years #2"/>
          <p:cNvSpPr txBox="1"/>
          <p:nvPr/>
        </p:nvSpPr>
        <p:spPr>
          <a:xfrm>
            <a:off x="9182100" y="2659326"/>
            <a:ext cx="2102837"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Spending rules</a:t>
            </a:r>
            <a:r>
              <a:rPr sz="1050" b="0" i="0" kern="100">
                <a:solidFill>
                  <a:srgbClr val="1B1716"/>
                </a:solidFill>
                <a:latin typeface="Plus Jakarta Sans"/>
              </a:rPr>
              <a:t> trim lean years</a:t>
            </a:r>
          </a:p>
        </p:txBody>
      </p:sp>
      <p:sp>
        <p:nvSpPr>
          <p:cNvPr id="34" name="!!T Treasuries mature on schedule"/>
          <p:cNvSpPr txBox="1"/>
          <p:nvPr/>
        </p:nvSpPr>
        <p:spPr>
          <a:xfrm>
            <a:off x="9182100" y="2867835"/>
            <a:ext cx="2143223"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Treasuries</a:t>
            </a:r>
            <a:r>
              <a:rPr sz="1050" b="0" i="0" kern="100">
                <a:solidFill>
                  <a:srgbClr val="1B1716"/>
                </a:solidFill>
                <a:latin typeface="Plus Jakarta Sans"/>
              </a:rPr>
              <a:t> mature on schedule</a:t>
            </a:r>
          </a:p>
        </p:txBody>
      </p:sp>
      <p:sp>
        <p:nvSpPr>
          <p:cNvPr id="35" name="!!Rule 5d953a4b"/>
          <p:cNvSpPr/>
          <p:nvPr/>
        </p:nvSpPr>
        <p:spPr>
          <a:xfrm>
            <a:off x="457200" y="3846909"/>
            <a:ext cx="11277600" cy="9525"/>
          </a:xfrm>
          <a:prstGeom prst="rect">
            <a:avLst/>
          </a:prstGeom>
          <a:solidFill>
            <a:srgbClr val="ECDADD"/>
          </a:solidFill>
          <a:ln>
            <a:noFill/>
          </a:ln>
        </p:spPr>
        <p:txBody>
          <a:bodyPr rtlCol="0" anchor="ctr"/>
          <a:lstStyle/>
          <a:p>
            <a:pPr algn="ctr"/>
            <a:endParaRPr/>
          </a:p>
        </p:txBody>
      </p:sp>
      <p:sp>
        <p:nvSpPr>
          <p:cNvPr id="36" name="!!T Inflation and medical costs"/>
          <p:cNvSpPr txBox="1"/>
          <p:nvPr/>
        </p:nvSpPr>
        <p:spPr>
          <a:xfrm>
            <a:off x="457200" y="3316331"/>
            <a:ext cx="2194968"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Inflation and medical costs</a:t>
            </a:r>
          </a:p>
        </p:txBody>
      </p:sp>
      <p:sp>
        <p:nvSpPr>
          <p:cNvPr id="37" name="!!T inflation 3.5%, medical 8.5% a year"/>
          <p:cNvSpPr txBox="1"/>
          <p:nvPr/>
        </p:nvSpPr>
        <p:spPr>
          <a:xfrm>
            <a:off x="457200" y="3519851"/>
            <a:ext cx="2427345"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inflation 3.5%, medical 8.5% a year</a:t>
            </a:r>
          </a:p>
        </p:txBody>
      </p:sp>
      <p:sp>
        <p:nvSpPr>
          <p:cNvPr id="38" name="!!ps-el 83e6bb3a"/>
          <p:cNvSpPr/>
          <p:nvPr/>
        </p:nvSpPr>
        <p:spPr>
          <a:xfrm>
            <a:off x="3390900" y="3561159"/>
            <a:ext cx="5257800" cy="133350"/>
          </a:xfrm>
          <a:prstGeom prst="roundRect">
            <a:avLst>
              <a:gd name="adj" fmla="val 50000"/>
            </a:avLst>
          </a:prstGeom>
          <a:solidFill>
            <a:srgbClr val="F8EFF0"/>
          </a:solidFill>
          <a:ln>
            <a:noFill/>
          </a:ln>
        </p:spPr>
        <p:txBody>
          <a:bodyPr rtlCol="0" anchor="ctr"/>
          <a:lstStyle/>
          <a:p>
            <a:pPr algn="ctr"/>
            <a:endParaRPr/>
          </a:p>
        </p:txBody>
      </p:sp>
      <p:sp>
        <p:nvSpPr>
          <p:cNvPr id="39" name="!!span c149a3be"/>
          <p:cNvSpPr/>
          <p:nvPr/>
        </p:nvSpPr>
        <p:spPr>
          <a:xfrm rot="16200000">
            <a:off x="4060254" y="2891805"/>
            <a:ext cx="133350" cy="1472059"/>
          </a:xfrm>
          <a:prstGeom prst="round2SameRect">
            <a:avLst>
              <a:gd name="adj1" fmla="val 50000"/>
              <a:gd name="adj2" fmla="val 0"/>
            </a:avLst>
          </a:prstGeom>
          <a:solidFill>
            <a:srgbClr val="E3C3C9"/>
          </a:solidFill>
          <a:ln>
            <a:noFill/>
          </a:ln>
        </p:spPr>
        <p:txBody>
          <a:bodyPr rtlCol="0" anchor="ctr"/>
          <a:lstStyle/>
          <a:p>
            <a:pPr algn="ctr"/>
            <a:endParaRPr/>
          </a:p>
        </p:txBody>
      </p:sp>
      <p:sp>
        <p:nvSpPr>
          <p:cNvPr id="40" name="!!span f8c76270"/>
          <p:cNvSpPr/>
          <p:nvPr/>
        </p:nvSpPr>
        <p:spPr>
          <a:xfrm rot="5400000">
            <a:off x="6478712" y="1945407"/>
            <a:ext cx="133350" cy="3364855"/>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41" name="!!Rule bdeb7c5d"/>
          <p:cNvSpPr/>
          <p:nvPr/>
        </p:nvSpPr>
        <p:spPr>
          <a:xfrm>
            <a:off x="4862959" y="3561159"/>
            <a:ext cx="19050" cy="133350"/>
          </a:xfrm>
          <a:prstGeom prst="rect">
            <a:avLst/>
          </a:prstGeom>
          <a:solidFill>
            <a:srgbClr val="FFFFFF"/>
          </a:solidFill>
          <a:ln>
            <a:noFill/>
          </a:ln>
        </p:spPr>
        <p:txBody>
          <a:bodyPr rtlCol="0" anchor="ctr"/>
          <a:lstStyle/>
          <a:p>
            <a:pPr algn="ctr"/>
            <a:endParaRPr/>
          </a:p>
        </p:txBody>
      </p:sp>
      <p:sp>
        <p:nvSpPr>
          <p:cNvPr id="42" name="!!T 28%"/>
          <p:cNvSpPr txBox="1"/>
          <p:nvPr/>
        </p:nvSpPr>
        <p:spPr>
          <a:xfrm>
            <a:off x="4714503" y="3353133"/>
            <a:ext cx="429027"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Medium"/>
              </a:rPr>
              <a:t>28%</a:t>
            </a:r>
          </a:p>
        </p:txBody>
      </p:sp>
      <p:sp>
        <p:nvSpPr>
          <p:cNvPr id="43" name="!!T 92%"/>
          <p:cNvSpPr txBox="1"/>
          <p:nvPr/>
        </p:nvSpPr>
        <p:spPr>
          <a:xfrm>
            <a:off x="8018338" y="3287792"/>
            <a:ext cx="558704" cy="190500"/>
          </a:xfrm>
          <a:prstGeom prst="rect">
            <a:avLst/>
          </a:prstGeom>
          <a:noFill/>
        </p:spPr>
        <p:txBody>
          <a:bodyPr wrap="none" lIns="0" tIns="0" rIns="0" bIns="0" anchor="t">
            <a:noAutofit/>
          </a:bodyPr>
          <a:lstStyle/>
          <a:p>
            <a:pPr algn="l">
              <a:lnSpc>
                <a:spcPts val="1500"/>
              </a:lnSpc>
              <a:spcBef>
                <a:spcPts val="0"/>
              </a:spcBef>
              <a:spcAft>
                <a:spcPts val="0"/>
              </a:spcAft>
            </a:pPr>
            <a:r>
              <a:rPr sz="1500" b="1" i="0" kern="100" spc="-22">
                <a:solidFill>
                  <a:srgbClr val="1B1716"/>
                </a:solidFill>
                <a:latin typeface="Plus Jakarta Sans"/>
              </a:rPr>
              <a:t>92%</a:t>
            </a:r>
          </a:p>
        </p:txBody>
      </p:sp>
      <p:sp>
        <p:nvSpPr>
          <p:cNvPr id="44" name="!!T Review at 75 cuts the premiums"/>
          <p:cNvSpPr txBox="1"/>
          <p:nvPr/>
        </p:nvSpPr>
        <p:spPr>
          <a:xfrm>
            <a:off x="9182100" y="3316551"/>
            <a:ext cx="2215634"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Review at 75</a:t>
            </a:r>
            <a:r>
              <a:rPr sz="1050" b="0" i="0" kern="100">
                <a:solidFill>
                  <a:srgbClr val="1B1716"/>
                </a:solidFill>
                <a:latin typeface="Plus Jakarta Sans"/>
              </a:rPr>
              <a:t> cuts the premiums</a:t>
            </a:r>
          </a:p>
        </p:txBody>
      </p:sp>
      <p:sp>
        <p:nvSpPr>
          <p:cNvPr id="45" name="!!T Spending rules absorb the rest"/>
          <p:cNvSpPr txBox="1"/>
          <p:nvPr/>
        </p:nvSpPr>
        <p:spPr>
          <a:xfrm>
            <a:off x="9182100" y="3525060"/>
            <a:ext cx="2165309"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Spending rules</a:t>
            </a:r>
            <a:r>
              <a:rPr sz="1050" b="0" i="0" kern="100">
                <a:solidFill>
                  <a:srgbClr val="1B1716"/>
                </a:solidFill>
                <a:latin typeface="Plus Jakarta Sans"/>
              </a:rPr>
              <a:t> absorb the rest</a:t>
            </a:r>
          </a:p>
        </p:txBody>
      </p:sp>
      <p:sp>
        <p:nvSpPr>
          <p:cNvPr id="46" name="!!Rule aa0675ea"/>
          <p:cNvSpPr/>
          <p:nvPr/>
        </p:nvSpPr>
        <p:spPr>
          <a:xfrm>
            <a:off x="457200" y="4504134"/>
            <a:ext cx="11277600" cy="9525"/>
          </a:xfrm>
          <a:prstGeom prst="rect">
            <a:avLst/>
          </a:prstGeom>
          <a:solidFill>
            <a:srgbClr val="ECDADD"/>
          </a:solidFill>
          <a:ln>
            <a:noFill/>
          </a:ln>
        </p:spPr>
        <p:txBody>
          <a:bodyPr rtlCol="0" anchor="ctr"/>
          <a:lstStyle/>
          <a:p>
            <a:pPr algn="ctr"/>
            <a:endParaRPr/>
          </a:p>
        </p:txBody>
      </p:sp>
      <p:sp>
        <p:nvSpPr>
          <p:cNvPr id="47" name="!!T Carmen lives to 95"/>
          <p:cNvSpPr txBox="1"/>
          <p:nvPr/>
        </p:nvSpPr>
        <p:spPr>
          <a:xfrm>
            <a:off x="457200" y="3973556"/>
            <a:ext cx="1530965"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Carmen lives to 95</a:t>
            </a:r>
          </a:p>
        </p:txBody>
      </p:sp>
      <p:sp>
        <p:nvSpPr>
          <p:cNvPr id="48" name="!!T six years past the plan's 89"/>
          <p:cNvSpPr txBox="1"/>
          <p:nvPr/>
        </p:nvSpPr>
        <p:spPr>
          <a:xfrm>
            <a:off x="457200" y="4177076"/>
            <a:ext cx="1860994"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six years past the plan's 89</a:t>
            </a:r>
          </a:p>
        </p:txBody>
      </p:sp>
      <p:sp>
        <p:nvSpPr>
          <p:cNvPr id="49" name="!!ps-el 6c550c84"/>
          <p:cNvSpPr/>
          <p:nvPr/>
        </p:nvSpPr>
        <p:spPr>
          <a:xfrm>
            <a:off x="3390900" y="4218384"/>
            <a:ext cx="5257800" cy="133350"/>
          </a:xfrm>
          <a:prstGeom prst="roundRect">
            <a:avLst>
              <a:gd name="adj" fmla="val 50000"/>
            </a:avLst>
          </a:prstGeom>
          <a:solidFill>
            <a:srgbClr val="F8EFF0"/>
          </a:solidFill>
          <a:ln>
            <a:noFill/>
          </a:ln>
        </p:spPr>
        <p:txBody>
          <a:bodyPr rtlCol="0" anchor="ctr"/>
          <a:lstStyle/>
          <a:p>
            <a:pPr algn="ctr"/>
            <a:endParaRPr/>
          </a:p>
        </p:txBody>
      </p:sp>
      <p:sp>
        <p:nvSpPr>
          <p:cNvPr id="50" name="!!span 153aa188"/>
          <p:cNvSpPr/>
          <p:nvPr/>
        </p:nvSpPr>
        <p:spPr>
          <a:xfrm rot="16200000">
            <a:off x="4927848" y="2681436"/>
            <a:ext cx="133350" cy="3207246"/>
          </a:xfrm>
          <a:prstGeom prst="round2SameRect">
            <a:avLst>
              <a:gd name="adj1" fmla="val 50000"/>
              <a:gd name="adj2" fmla="val 0"/>
            </a:avLst>
          </a:prstGeom>
          <a:solidFill>
            <a:srgbClr val="E3C3C9"/>
          </a:solidFill>
          <a:ln>
            <a:noFill/>
          </a:ln>
        </p:spPr>
        <p:txBody>
          <a:bodyPr rtlCol="0" anchor="ctr"/>
          <a:lstStyle/>
          <a:p>
            <a:pPr algn="ctr"/>
            <a:endParaRPr/>
          </a:p>
        </p:txBody>
      </p:sp>
      <p:sp>
        <p:nvSpPr>
          <p:cNvPr id="51" name="!!span e5f3da39"/>
          <p:cNvSpPr/>
          <p:nvPr/>
        </p:nvSpPr>
        <p:spPr>
          <a:xfrm rot="5400000">
            <a:off x="7530405" y="3286125"/>
            <a:ext cx="133350" cy="1997869"/>
          </a:xfrm>
          <a:prstGeom prst="round2SameRect">
            <a:avLst>
              <a:gd name="adj1" fmla="val 50000"/>
              <a:gd name="adj2" fmla="val 0"/>
            </a:avLst>
          </a:prstGeom>
          <a:gradFill rotWithShape="0">
            <a:gsLst>
              <a:gs pos="0">
                <a:srgbClr val="C41627"/>
              </a:gs>
              <a:gs pos="100000">
                <a:srgbClr val="700E19"/>
              </a:gs>
            </a:gsLst>
            <a:lin ang="5400000" scaled="0"/>
          </a:gradFill>
          <a:ln>
            <a:noFill/>
          </a:ln>
        </p:spPr>
        <p:txBody>
          <a:bodyPr rtlCol="0" anchor="ctr"/>
          <a:lstStyle/>
          <a:p>
            <a:pPr algn="ctr"/>
            <a:endParaRPr/>
          </a:p>
        </p:txBody>
      </p:sp>
      <p:sp>
        <p:nvSpPr>
          <p:cNvPr id="52" name="!!Rule 7a2724c5"/>
          <p:cNvSpPr/>
          <p:nvPr/>
        </p:nvSpPr>
        <p:spPr>
          <a:xfrm>
            <a:off x="6598146" y="4218384"/>
            <a:ext cx="19050" cy="133350"/>
          </a:xfrm>
          <a:prstGeom prst="rect">
            <a:avLst/>
          </a:prstGeom>
          <a:solidFill>
            <a:srgbClr val="FFFFFF"/>
          </a:solidFill>
          <a:ln>
            <a:noFill/>
          </a:ln>
        </p:spPr>
        <p:txBody>
          <a:bodyPr rtlCol="0" anchor="ctr"/>
          <a:lstStyle/>
          <a:p>
            <a:pPr algn="ctr"/>
            <a:endParaRPr/>
          </a:p>
        </p:txBody>
      </p:sp>
      <p:sp>
        <p:nvSpPr>
          <p:cNvPr id="53" name="!!T 61%"/>
          <p:cNvSpPr txBox="1"/>
          <p:nvPr/>
        </p:nvSpPr>
        <p:spPr>
          <a:xfrm>
            <a:off x="6466136" y="4010358"/>
            <a:ext cx="394162"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Medium"/>
              </a:rPr>
              <a:t>61%</a:t>
            </a:r>
          </a:p>
        </p:txBody>
      </p:sp>
      <p:sp>
        <p:nvSpPr>
          <p:cNvPr id="54" name="!!T 99%"/>
          <p:cNvSpPr txBox="1"/>
          <p:nvPr/>
        </p:nvSpPr>
        <p:spPr>
          <a:xfrm>
            <a:off x="8385944" y="3945017"/>
            <a:ext cx="559650" cy="190500"/>
          </a:xfrm>
          <a:prstGeom prst="rect">
            <a:avLst/>
          </a:prstGeom>
          <a:noFill/>
        </p:spPr>
        <p:txBody>
          <a:bodyPr wrap="none" lIns="0" tIns="0" rIns="0" bIns="0" anchor="t">
            <a:noAutofit/>
          </a:bodyPr>
          <a:lstStyle/>
          <a:p>
            <a:pPr algn="l">
              <a:lnSpc>
                <a:spcPts val="1500"/>
              </a:lnSpc>
              <a:spcBef>
                <a:spcPts val="0"/>
              </a:spcBef>
              <a:spcAft>
                <a:spcPts val="0"/>
              </a:spcAft>
            </a:pPr>
            <a:r>
              <a:rPr sz="1500" b="1" i="0" kern="100" spc="-22">
                <a:solidFill>
                  <a:srgbClr val="1B1716"/>
                </a:solidFill>
                <a:latin typeface="Plus Jakarta Sans"/>
              </a:rPr>
              <a:t>99%</a:t>
            </a:r>
          </a:p>
        </p:txBody>
      </p:sp>
      <p:sp>
        <p:nvSpPr>
          <p:cNvPr id="55" name="!!T Annuities pay for life"/>
          <p:cNvSpPr txBox="1"/>
          <p:nvPr/>
        </p:nvSpPr>
        <p:spPr>
          <a:xfrm>
            <a:off x="9182100" y="4077956"/>
            <a:ext cx="1463918"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SemiBold"/>
              </a:rPr>
              <a:t>Annuities</a:t>
            </a:r>
            <a:r>
              <a:rPr sz="1050" b="0" i="0" kern="100">
                <a:solidFill>
                  <a:srgbClr val="1B1716"/>
                </a:solidFill>
                <a:latin typeface="Plus Jakarta Sans"/>
              </a:rPr>
              <a:t> pay for life</a:t>
            </a:r>
          </a:p>
        </p:txBody>
      </p:sp>
      <p:sp>
        <p:nvSpPr>
          <p:cNvPr id="56" name="!!T 0%"/>
          <p:cNvSpPr txBox="1"/>
          <p:nvPr/>
        </p:nvSpPr>
        <p:spPr>
          <a:xfrm>
            <a:off x="3390900" y="4562808"/>
            <a:ext cx="355512"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0%</a:t>
            </a:r>
          </a:p>
        </p:txBody>
      </p:sp>
      <p:sp>
        <p:nvSpPr>
          <p:cNvPr id="57" name="!!T 50%"/>
          <p:cNvSpPr txBox="1"/>
          <p:nvPr/>
        </p:nvSpPr>
        <p:spPr>
          <a:xfrm>
            <a:off x="5864944" y="4562808"/>
            <a:ext cx="442594"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50%</a:t>
            </a:r>
          </a:p>
        </p:txBody>
      </p:sp>
      <p:sp>
        <p:nvSpPr>
          <p:cNvPr id="58" name="!!T 100%"/>
          <p:cNvSpPr txBox="1"/>
          <p:nvPr/>
        </p:nvSpPr>
        <p:spPr>
          <a:xfrm>
            <a:off x="8274100" y="4562808"/>
            <a:ext cx="511376"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80606A"/>
                </a:solidFill>
                <a:latin typeface="Plus Jakarta Sans"/>
              </a:rPr>
              <a:t>100%</a:t>
            </a:r>
          </a:p>
        </p:txBody>
      </p:sp>
      <p:sp>
        <p:nvSpPr>
          <p:cNvPr id="59" name="!!T The price of holding: in years of low re"/>
          <p:cNvSpPr txBox="1"/>
          <p:nvPr/>
        </p:nvSpPr>
        <p:spPr>
          <a:xfrm>
            <a:off x="457200" y="4802838"/>
            <a:ext cx="8587157" cy="186690"/>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1B1716"/>
                </a:solidFill>
                <a:latin typeface="Plus Jakarta Sans"/>
              </a:rPr>
              <a:t>The price of holding:</a:t>
            </a:r>
            <a:r>
              <a:rPr sz="1050" b="0" i="0" kern="100">
                <a:solidFill>
                  <a:srgbClr val="1B1716"/>
                </a:solidFill>
                <a:latin typeface="Plus Jakarta Sans"/>
              </a:rPr>
              <a:t> in years of low returns, the rules trim typical spending to </a:t>
            </a:r>
            <a:r>
              <a:rPr sz="1050" b="1" i="0" kern="100">
                <a:solidFill>
                  <a:srgbClr val="1B1716"/>
                </a:solidFill>
                <a:latin typeface="Plus Jakarta Sans"/>
              </a:rPr>
              <a:t>about 86% of the budget</a:t>
            </a:r>
            <a:r>
              <a:rPr sz="1050" b="0" i="0" kern="100">
                <a:solidFill>
                  <a:srgbClr val="1B1716"/>
                </a:solidFill>
                <a:latin typeface="Plus Jakarta Sans"/>
              </a:rPr>
              <a:t>; essentials are never cut.</a:t>
            </a:r>
          </a:p>
        </p:txBody>
      </p:sp>
      <p:sp>
        <p:nvSpPr>
          <p:cNvPr id="60" name="!!Rule 4482664d"/>
          <p:cNvSpPr/>
          <p:nvPr/>
        </p:nvSpPr>
        <p:spPr>
          <a:xfrm>
            <a:off x="457200" y="5021759"/>
            <a:ext cx="11277600" cy="9525"/>
          </a:xfrm>
          <a:prstGeom prst="rect">
            <a:avLst/>
          </a:prstGeom>
          <a:solidFill>
            <a:srgbClr val="ECDADD"/>
          </a:solidFill>
          <a:ln>
            <a:noFill/>
          </a:ln>
        </p:spPr>
        <p:txBody>
          <a:bodyPr rtlCol="0" anchor="ctr"/>
          <a:lstStyle/>
          <a:p>
            <a:pPr algn="ctr"/>
            <a:endParaRPr/>
          </a:p>
        </p:txBody>
      </p:sp>
      <p:sp>
        <p:nvSpPr>
          <p:cNvPr id="61" name="!!T written case, risk register"/>
          <p:cNvSpPr txBox="1"/>
          <p:nvPr/>
        </p:nvSpPr>
        <p:spPr>
          <a:xfrm>
            <a:off x="457200" y="5532811"/>
            <a:ext cx="176428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80606A"/>
                </a:solidFill>
                <a:latin typeface="Plus Jakarta Sans"/>
              </a:rPr>
              <a:t>written case, risk register</a:t>
            </a:r>
          </a:p>
        </p:txBody>
      </p:sp>
      <p:sp>
        <p:nvSpPr>
          <p:cNvPr id="62" name="!!T Every other risk has a named defence"/>
          <p:cNvSpPr txBox="1"/>
          <p:nvPr/>
        </p:nvSpPr>
        <p:spPr>
          <a:xfrm>
            <a:off x="457200" y="5127867"/>
            <a:ext cx="1719170" cy="39621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Every other risk has a</a:t>
            </a:r>
          </a:p>
          <a:p>
            <a:pPr algn="l">
              <a:lnSpc>
                <a:spcPts val="1560"/>
              </a:lnSpc>
              <a:spcBef>
                <a:spcPts val="0"/>
              </a:spcBef>
              <a:spcAft>
                <a:spcPts val="0"/>
              </a:spcAft>
            </a:pPr>
            <a:r>
              <a:rPr sz="1200" b="0" i="0" kern="100">
                <a:solidFill>
                  <a:srgbClr val="1B1716"/>
                </a:solidFill>
                <a:latin typeface="Plus Jakarta Sans SemiBold"/>
              </a:rPr>
              <a:t>named defence</a:t>
            </a:r>
          </a:p>
        </p:txBody>
      </p:sp>
      <p:sp>
        <p:nvSpPr>
          <p:cNvPr id="63" name="!!span eea6115d"/>
          <p:cNvSpPr/>
          <p:nvPr/>
        </p:nvSpPr>
        <p:spPr>
          <a:xfrm>
            <a:off x="2533650" y="5287417"/>
            <a:ext cx="285750" cy="285750"/>
          </a:xfrm>
          <a:prstGeom prst="ellipse">
            <a:avLst/>
          </a:prstGeom>
          <a:solidFill>
            <a:srgbClr val="F8EFF0"/>
          </a:solidFill>
          <a:ln>
            <a:noFill/>
          </a:ln>
        </p:spPr>
        <p:txBody>
          <a:bodyPr rtlCol="0" anchor="ctr"/>
          <a:lstStyle/>
          <a:p>
            <a:pPr algn="ctr"/>
            <a:endParaRPr/>
          </a:p>
        </p:txBody>
      </p:sp>
      <p:pic>
        <p:nvPicPr>
          <p:cNvPr id="64" name="!!Drawing c4eaa9b8"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95562" y="5349329"/>
            <a:ext cx="161925" cy="161925"/>
          </a:xfrm>
          <a:prstGeom prst="rect">
            <a:avLst/>
          </a:prstGeom>
        </p:spPr>
      </p:pic>
      <p:sp>
        <p:nvSpPr>
          <p:cNvPr id="65" name="!!T The business doesn't sell"/>
          <p:cNvSpPr txBox="1"/>
          <p:nvPr/>
        </p:nvSpPr>
        <p:spPr>
          <a:xfrm>
            <a:off x="2895600" y="5331803"/>
            <a:ext cx="1773597"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Medium"/>
              </a:rPr>
              <a:t>The business doesn't sell</a:t>
            </a:r>
          </a:p>
        </p:txBody>
      </p:sp>
      <p:sp>
        <p:nvSpPr>
          <p:cNvPr id="66" name="!!span 90014fb4"/>
          <p:cNvSpPr/>
          <p:nvPr/>
        </p:nvSpPr>
        <p:spPr>
          <a:xfrm>
            <a:off x="4713833" y="5287417"/>
            <a:ext cx="285750" cy="285750"/>
          </a:xfrm>
          <a:prstGeom prst="ellipse">
            <a:avLst/>
          </a:prstGeom>
          <a:solidFill>
            <a:srgbClr val="F8EFF0"/>
          </a:solidFill>
          <a:ln>
            <a:noFill/>
          </a:ln>
        </p:spPr>
        <p:txBody>
          <a:bodyPr rtlCol="0" anchor="ctr"/>
          <a:lstStyle/>
          <a:p>
            <a:pPr algn="ctr"/>
            <a:endParaRPr/>
          </a:p>
        </p:txBody>
      </p:sp>
      <p:pic>
        <p:nvPicPr>
          <p:cNvPr id="67" name="!!Drawing 928d39af"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5746" y="5349329"/>
            <a:ext cx="161925" cy="161925"/>
          </a:xfrm>
          <a:prstGeom prst="rect">
            <a:avLst/>
          </a:prstGeom>
        </p:spPr>
      </p:pic>
      <p:sp>
        <p:nvSpPr>
          <p:cNvPr id="68" name="!!T Three risk appetites"/>
          <p:cNvSpPr txBox="1"/>
          <p:nvPr/>
        </p:nvSpPr>
        <p:spPr>
          <a:xfrm>
            <a:off x="5075783" y="5331803"/>
            <a:ext cx="1435679"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Medium"/>
              </a:rPr>
              <a:t>Three risk appetites</a:t>
            </a:r>
          </a:p>
        </p:txBody>
      </p:sp>
      <p:sp>
        <p:nvSpPr>
          <p:cNvPr id="69" name="!!span 8fdfea72"/>
          <p:cNvSpPr/>
          <p:nvPr/>
        </p:nvSpPr>
        <p:spPr>
          <a:xfrm>
            <a:off x="6575227" y="5287417"/>
            <a:ext cx="285750" cy="285750"/>
          </a:xfrm>
          <a:prstGeom prst="ellipse">
            <a:avLst/>
          </a:prstGeom>
          <a:solidFill>
            <a:srgbClr val="F8EFF0"/>
          </a:solidFill>
          <a:ln>
            <a:noFill/>
          </a:ln>
        </p:spPr>
        <p:txBody>
          <a:bodyPr rtlCol="0" anchor="ctr"/>
          <a:lstStyle/>
          <a:p>
            <a:pPr algn="ctr"/>
            <a:endParaRPr/>
          </a:p>
        </p:txBody>
      </p:sp>
      <p:pic>
        <p:nvPicPr>
          <p:cNvPr id="70" name="!!Drawing dbc1cd2e"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37139" y="5349329"/>
            <a:ext cx="161925" cy="161925"/>
          </a:xfrm>
          <a:prstGeom prst="rect">
            <a:avLst/>
          </a:prstGeom>
        </p:spPr>
      </p:pic>
      <p:sp>
        <p:nvSpPr>
          <p:cNvPr id="71" name="!!T Crypto rules or licences change"/>
          <p:cNvSpPr txBox="1"/>
          <p:nvPr/>
        </p:nvSpPr>
        <p:spPr>
          <a:xfrm>
            <a:off x="6937177" y="5331803"/>
            <a:ext cx="2230937"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Medium"/>
              </a:rPr>
              <a:t>Crypto rules or licences change</a:t>
            </a:r>
          </a:p>
        </p:txBody>
      </p:sp>
      <p:sp>
        <p:nvSpPr>
          <p:cNvPr id="72" name="!!span e391b3d2"/>
          <p:cNvSpPr/>
          <p:nvPr/>
        </p:nvSpPr>
        <p:spPr>
          <a:xfrm>
            <a:off x="9186862" y="5287417"/>
            <a:ext cx="285750" cy="285750"/>
          </a:xfrm>
          <a:prstGeom prst="ellipse">
            <a:avLst/>
          </a:prstGeom>
          <a:solidFill>
            <a:srgbClr val="F8EFF0"/>
          </a:solidFill>
          <a:ln>
            <a:noFill/>
          </a:ln>
        </p:spPr>
        <p:txBody>
          <a:bodyPr rtlCol="0" anchor="ctr"/>
          <a:lstStyle/>
          <a:p>
            <a:pPr algn="ctr"/>
            <a:endParaRPr/>
          </a:p>
        </p:txBody>
      </p:sp>
      <p:pic>
        <p:nvPicPr>
          <p:cNvPr id="73" name="!!Drawing 509cae11" descr="imag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48775" y="5349329"/>
            <a:ext cx="161925" cy="161925"/>
          </a:xfrm>
          <a:prstGeom prst="rect">
            <a:avLst/>
          </a:prstGeom>
        </p:spPr>
      </p:pic>
      <p:sp>
        <p:nvSpPr>
          <p:cNvPr id="74" name="!!T Greenwashing"/>
          <p:cNvSpPr txBox="1"/>
          <p:nvPr/>
        </p:nvSpPr>
        <p:spPr>
          <a:xfrm>
            <a:off x="9548812" y="5331803"/>
            <a:ext cx="1093029"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Medium"/>
              </a:rPr>
              <a:t>Greenwashing</a:t>
            </a:r>
          </a:p>
        </p:txBody>
      </p:sp>
      <p:sp>
        <p:nvSpPr>
          <p:cNvPr id="75" name="!!span f53af421"/>
          <p:cNvSpPr/>
          <p:nvPr/>
        </p:nvSpPr>
        <p:spPr>
          <a:xfrm>
            <a:off x="10725001" y="5287417"/>
            <a:ext cx="285750" cy="285750"/>
          </a:xfrm>
          <a:prstGeom prst="ellipse">
            <a:avLst/>
          </a:prstGeom>
          <a:solidFill>
            <a:srgbClr val="F8EFF0"/>
          </a:solidFill>
          <a:ln>
            <a:noFill/>
          </a:ln>
        </p:spPr>
        <p:txBody>
          <a:bodyPr rtlCol="0" anchor="ctr"/>
          <a:lstStyle/>
          <a:p>
            <a:pPr algn="ctr"/>
            <a:endParaRPr/>
          </a:p>
        </p:txBody>
      </p:sp>
      <p:pic>
        <p:nvPicPr>
          <p:cNvPr id="76" name="!!Drawing ff1cb4bb" descr="imag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86914" y="5349329"/>
            <a:ext cx="161925" cy="161925"/>
          </a:xfrm>
          <a:prstGeom prst="rect">
            <a:avLst/>
          </a:prstGeom>
        </p:spPr>
      </p:pic>
      <p:sp>
        <p:nvSpPr>
          <p:cNvPr id="77" name="!!T Model risk"/>
          <p:cNvSpPr txBox="1"/>
          <p:nvPr/>
        </p:nvSpPr>
        <p:spPr>
          <a:xfrm>
            <a:off x="11086951" y="5331803"/>
            <a:ext cx="801020" cy="166688"/>
          </a:xfrm>
          <a:prstGeom prst="rect">
            <a:avLst/>
          </a:prstGeom>
          <a:noFill/>
        </p:spPr>
        <p:txBody>
          <a:bodyPr wrap="none" lIns="0" tIns="0" rIns="0" bIns="0" anchor="t">
            <a:noAutofit/>
          </a:bodyPr>
          <a:lstStyle/>
          <a:p>
            <a:pPr algn="l">
              <a:lnSpc>
                <a:spcPts val="1312"/>
              </a:lnSpc>
              <a:spcBef>
                <a:spcPts val="0"/>
              </a:spcBef>
              <a:spcAft>
                <a:spcPts val="0"/>
              </a:spcAft>
            </a:pPr>
            <a:r>
              <a:rPr sz="1050" b="0" i="0" kern="100">
                <a:solidFill>
                  <a:srgbClr val="1B1716"/>
                </a:solidFill>
                <a:latin typeface="Plus Jakarta Sans Medium"/>
              </a:rPr>
              <a:t>Model risk</a:t>
            </a:r>
          </a:p>
        </p:txBody>
      </p:sp>
      <p:sp>
        <p:nvSpPr>
          <p:cNvPr id="78"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79" name="!!T It holds when the hardest things happen,"/>
          <p:cNvSpPr txBox="1"/>
          <p:nvPr/>
        </p:nvSpPr>
        <p:spPr>
          <a:xfrm>
            <a:off x="2932599" y="5984558"/>
            <a:ext cx="6326803"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It holds when the hardest things happen, and it starts this month.</a:t>
            </a:r>
          </a:p>
        </p:txBody>
      </p:sp>
      <p:sp>
        <p:nvSpPr>
          <p:cNvPr id="80" name="!!T Chance the money lasts to Carmen's 89 (9"/>
          <p:cNvSpPr txBox="1"/>
          <p:nvPr/>
        </p:nvSpPr>
        <p:spPr>
          <a:xfrm>
            <a:off x="457200" y="6452104"/>
            <a:ext cx="6252025"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Chance the money lasts to Carmen's 89 (95 in the last test), 10,000 simulated markets (measured): decisions</a:t>
            </a:r>
          </a:p>
          <a:p>
            <a:pPr algn="l">
              <a:lnSpc>
                <a:spcPts val="1170"/>
              </a:lnSpc>
              <a:spcBef>
                <a:spcPts val="0"/>
              </a:spcBef>
              <a:spcAft>
                <a:spcPts val="0"/>
              </a:spcAft>
            </a:pPr>
            <a:r>
              <a:rPr sz="900" b="0" i="0" kern="100">
                <a:solidFill>
                  <a:srgbClr val="80606A"/>
                </a:solidFill>
                <a:latin typeface="Plus Jakarta Sans"/>
              </a:rPr>
              <a:t>compared in the same markets, not forecasts. Written case §11, Figure 26, A1.</a:t>
            </a:r>
          </a:p>
        </p:txBody>
      </p:sp>
      <p:sp>
        <p:nvSpPr>
          <p:cNvPr id="81" name="!!T The problem"/>
          <p:cNvSpPr txBox="1"/>
          <p:nvPr/>
        </p:nvSpPr>
        <p:spPr>
          <a:xfrm>
            <a:off x="6608862"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82" name="!!T The answer"/>
          <p:cNvSpPr txBox="1"/>
          <p:nvPr/>
        </p:nvSpPr>
        <p:spPr>
          <a:xfrm>
            <a:off x="7555111"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83" name="!!T The five calls"/>
          <p:cNvSpPr txBox="1"/>
          <p:nvPr/>
        </p:nvSpPr>
        <p:spPr>
          <a:xfrm>
            <a:off x="8415338"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84" name="!!T Will it hold"/>
          <p:cNvSpPr txBox="1"/>
          <p:nvPr/>
        </p:nvSpPr>
        <p:spPr>
          <a:xfrm>
            <a:off x="9352211" y="6536246"/>
            <a:ext cx="757163"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Will it hold</a:t>
            </a:r>
          </a:p>
        </p:txBody>
      </p:sp>
      <p:sp>
        <p:nvSpPr>
          <p:cNvPr id="85" name="!!T What next"/>
          <p:cNvSpPr txBox="1"/>
          <p:nvPr/>
        </p:nvSpPr>
        <p:spPr>
          <a:xfrm>
            <a:off x="10168235"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86" name="!!T Us"/>
          <p:cNvSpPr txBox="1"/>
          <p:nvPr/>
        </p:nvSpPr>
        <p:spPr>
          <a:xfrm>
            <a:off x="10963573"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87" name="!!T 10 / 15"/>
          <p:cNvSpPr txBox="1"/>
          <p:nvPr/>
        </p:nvSpPr>
        <p:spPr>
          <a:xfrm>
            <a:off x="11341894" y="6535674"/>
            <a:ext cx="530781"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10 / 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3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3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3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30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3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3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3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300"/>
                                        <p:tgtEl>
                                          <p:spTgt spid="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3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3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3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30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300"/>
                                        <p:tgtEl>
                                          <p:spTgt spid="2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3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3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3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300"/>
                                        <p:tgtEl>
                                          <p:spTgt spid="2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300"/>
                                        <p:tgtEl>
                                          <p:spTgt spid="3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300"/>
                                        <p:tgtEl>
                                          <p:spTgt spid="3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300"/>
                                        <p:tgtEl>
                                          <p:spTgt spid="3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300"/>
                                        <p:tgtEl>
                                          <p:spTgt spid="3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300"/>
                                        <p:tgtEl>
                                          <p:spTgt spid="3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300"/>
                                        <p:tgtEl>
                                          <p:spTgt spid="3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300"/>
                                        <p:tgtEl>
                                          <p:spTgt spid="3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300"/>
                                        <p:tgtEl>
                                          <p:spTgt spid="3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300"/>
                                        <p:tgtEl>
                                          <p:spTgt spid="3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300"/>
                                        <p:tgtEl>
                                          <p:spTgt spid="3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300"/>
                                        <p:tgtEl>
                                          <p:spTgt spid="4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fade">
                                      <p:cBhvr>
                                        <p:cTn id="96" dur="300"/>
                                        <p:tgtEl>
                                          <p:spTgt spid="41"/>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300"/>
                                        <p:tgtEl>
                                          <p:spTgt spid="42"/>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3"/>
                                        </p:tgtEl>
                                        <p:attrNameLst>
                                          <p:attrName>style.visibility</p:attrName>
                                        </p:attrNameLst>
                                      </p:cBhvr>
                                      <p:to>
                                        <p:strVal val="visible"/>
                                      </p:to>
                                    </p:set>
                                    <p:animEffect transition="in" filter="fade">
                                      <p:cBhvr>
                                        <p:cTn id="102" dur="300"/>
                                        <p:tgtEl>
                                          <p:spTgt spid="43"/>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4"/>
                                        </p:tgtEl>
                                        <p:attrNameLst>
                                          <p:attrName>style.visibility</p:attrName>
                                        </p:attrNameLst>
                                      </p:cBhvr>
                                      <p:to>
                                        <p:strVal val="visible"/>
                                      </p:to>
                                    </p:set>
                                    <p:animEffect transition="in" filter="fade">
                                      <p:cBhvr>
                                        <p:cTn id="105" dur="300"/>
                                        <p:tgtEl>
                                          <p:spTgt spid="44"/>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5"/>
                                        </p:tgtEl>
                                        <p:attrNameLst>
                                          <p:attrName>style.visibility</p:attrName>
                                        </p:attrNameLst>
                                      </p:cBhvr>
                                      <p:to>
                                        <p:strVal val="visible"/>
                                      </p:to>
                                    </p:set>
                                    <p:animEffect transition="in" filter="fade">
                                      <p:cBhvr>
                                        <p:cTn id="108" dur="300"/>
                                        <p:tgtEl>
                                          <p:spTgt spid="45"/>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46"/>
                                        </p:tgtEl>
                                        <p:attrNameLst>
                                          <p:attrName>style.visibility</p:attrName>
                                        </p:attrNameLst>
                                      </p:cBhvr>
                                      <p:to>
                                        <p:strVal val="visible"/>
                                      </p:to>
                                    </p:set>
                                    <p:animEffect transition="in" filter="fade">
                                      <p:cBhvr>
                                        <p:cTn id="113" dur="300"/>
                                        <p:tgtEl>
                                          <p:spTgt spid="46"/>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7"/>
                                        </p:tgtEl>
                                        <p:attrNameLst>
                                          <p:attrName>style.visibility</p:attrName>
                                        </p:attrNameLst>
                                      </p:cBhvr>
                                      <p:to>
                                        <p:strVal val="visible"/>
                                      </p:to>
                                    </p:set>
                                    <p:animEffect transition="in" filter="fade">
                                      <p:cBhvr>
                                        <p:cTn id="116" dur="300"/>
                                        <p:tgtEl>
                                          <p:spTgt spid="47"/>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8"/>
                                        </p:tgtEl>
                                        <p:attrNameLst>
                                          <p:attrName>style.visibility</p:attrName>
                                        </p:attrNameLst>
                                      </p:cBhvr>
                                      <p:to>
                                        <p:strVal val="visible"/>
                                      </p:to>
                                    </p:set>
                                    <p:animEffect transition="in" filter="fade">
                                      <p:cBhvr>
                                        <p:cTn id="119" dur="300"/>
                                        <p:tgtEl>
                                          <p:spTgt spid="48"/>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9"/>
                                        </p:tgtEl>
                                        <p:attrNameLst>
                                          <p:attrName>style.visibility</p:attrName>
                                        </p:attrNameLst>
                                      </p:cBhvr>
                                      <p:to>
                                        <p:strVal val="visible"/>
                                      </p:to>
                                    </p:set>
                                    <p:animEffect transition="in" filter="fade">
                                      <p:cBhvr>
                                        <p:cTn id="122" dur="300"/>
                                        <p:tgtEl>
                                          <p:spTgt spid="49"/>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0"/>
                                        </p:tgtEl>
                                        <p:attrNameLst>
                                          <p:attrName>style.visibility</p:attrName>
                                        </p:attrNameLst>
                                      </p:cBhvr>
                                      <p:to>
                                        <p:strVal val="visible"/>
                                      </p:to>
                                    </p:set>
                                    <p:animEffect transition="in" filter="fade">
                                      <p:cBhvr>
                                        <p:cTn id="125" dur="300"/>
                                        <p:tgtEl>
                                          <p:spTgt spid="50"/>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1"/>
                                        </p:tgtEl>
                                        <p:attrNameLst>
                                          <p:attrName>style.visibility</p:attrName>
                                        </p:attrNameLst>
                                      </p:cBhvr>
                                      <p:to>
                                        <p:strVal val="visible"/>
                                      </p:to>
                                    </p:set>
                                    <p:animEffect transition="in" filter="fade">
                                      <p:cBhvr>
                                        <p:cTn id="128" dur="300"/>
                                        <p:tgtEl>
                                          <p:spTgt spid="51"/>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2"/>
                                        </p:tgtEl>
                                        <p:attrNameLst>
                                          <p:attrName>style.visibility</p:attrName>
                                        </p:attrNameLst>
                                      </p:cBhvr>
                                      <p:to>
                                        <p:strVal val="visible"/>
                                      </p:to>
                                    </p:set>
                                    <p:animEffect transition="in" filter="fade">
                                      <p:cBhvr>
                                        <p:cTn id="131" dur="300"/>
                                        <p:tgtEl>
                                          <p:spTgt spid="52"/>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3"/>
                                        </p:tgtEl>
                                        <p:attrNameLst>
                                          <p:attrName>style.visibility</p:attrName>
                                        </p:attrNameLst>
                                      </p:cBhvr>
                                      <p:to>
                                        <p:strVal val="visible"/>
                                      </p:to>
                                    </p:set>
                                    <p:animEffect transition="in" filter="fade">
                                      <p:cBhvr>
                                        <p:cTn id="134" dur="300"/>
                                        <p:tgtEl>
                                          <p:spTgt spid="53"/>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4"/>
                                        </p:tgtEl>
                                        <p:attrNameLst>
                                          <p:attrName>style.visibility</p:attrName>
                                        </p:attrNameLst>
                                      </p:cBhvr>
                                      <p:to>
                                        <p:strVal val="visible"/>
                                      </p:to>
                                    </p:set>
                                    <p:animEffect transition="in" filter="fade">
                                      <p:cBhvr>
                                        <p:cTn id="137" dur="300"/>
                                        <p:tgtEl>
                                          <p:spTgt spid="54"/>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5"/>
                                        </p:tgtEl>
                                        <p:attrNameLst>
                                          <p:attrName>style.visibility</p:attrName>
                                        </p:attrNameLst>
                                      </p:cBhvr>
                                      <p:to>
                                        <p:strVal val="visible"/>
                                      </p:to>
                                    </p:set>
                                    <p:animEffect transition="in" filter="fade">
                                      <p:cBhvr>
                                        <p:cTn id="140" dur="300"/>
                                        <p:tgtEl>
                                          <p:spTgt spid="55"/>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59"/>
                                        </p:tgtEl>
                                        <p:attrNameLst>
                                          <p:attrName>style.visibility</p:attrName>
                                        </p:attrNameLst>
                                      </p:cBhvr>
                                      <p:to>
                                        <p:strVal val="visible"/>
                                      </p:to>
                                    </p:set>
                                    <p:animEffect transition="in" filter="fade">
                                      <p:cBhvr>
                                        <p:cTn id="145" dur="300"/>
                                        <p:tgtEl>
                                          <p:spTgt spid="59"/>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60"/>
                                        </p:tgtEl>
                                        <p:attrNameLst>
                                          <p:attrName>style.visibility</p:attrName>
                                        </p:attrNameLst>
                                      </p:cBhvr>
                                      <p:to>
                                        <p:strVal val="visible"/>
                                      </p:to>
                                    </p:set>
                                    <p:animEffect transition="in" filter="fade">
                                      <p:cBhvr>
                                        <p:cTn id="148" dur="300"/>
                                        <p:tgtEl>
                                          <p:spTgt spid="60"/>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61"/>
                                        </p:tgtEl>
                                        <p:attrNameLst>
                                          <p:attrName>style.visibility</p:attrName>
                                        </p:attrNameLst>
                                      </p:cBhvr>
                                      <p:to>
                                        <p:strVal val="visible"/>
                                      </p:to>
                                    </p:set>
                                    <p:animEffect transition="in" filter="fade">
                                      <p:cBhvr>
                                        <p:cTn id="151" dur="300"/>
                                        <p:tgtEl>
                                          <p:spTgt spid="61"/>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62"/>
                                        </p:tgtEl>
                                        <p:attrNameLst>
                                          <p:attrName>style.visibility</p:attrName>
                                        </p:attrNameLst>
                                      </p:cBhvr>
                                      <p:to>
                                        <p:strVal val="visible"/>
                                      </p:to>
                                    </p:set>
                                    <p:animEffect transition="in" filter="fade">
                                      <p:cBhvr>
                                        <p:cTn id="154" dur="300"/>
                                        <p:tgtEl>
                                          <p:spTgt spid="62"/>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63"/>
                                        </p:tgtEl>
                                        <p:attrNameLst>
                                          <p:attrName>style.visibility</p:attrName>
                                        </p:attrNameLst>
                                      </p:cBhvr>
                                      <p:to>
                                        <p:strVal val="visible"/>
                                      </p:to>
                                    </p:set>
                                    <p:animEffect transition="in" filter="fade">
                                      <p:cBhvr>
                                        <p:cTn id="157" dur="300"/>
                                        <p:tgtEl>
                                          <p:spTgt spid="63"/>
                                        </p:tgtEl>
                                      </p:cBhvr>
                                    </p:animEffect>
                                  </p:childTnLst>
                                </p:cTn>
                              </p:par>
                              <p:par>
                                <p:cTn id="158" presetID="10" presetClass="entr" presetSubtype="0" fill="hold" nodeType="withEffect">
                                  <p:stCondLst>
                                    <p:cond delay="0"/>
                                  </p:stCondLst>
                                  <p:childTnLst>
                                    <p:set>
                                      <p:cBhvr>
                                        <p:cTn id="159" dur="1" fill="hold">
                                          <p:stCondLst>
                                            <p:cond delay="0"/>
                                          </p:stCondLst>
                                        </p:cTn>
                                        <p:tgtEl>
                                          <p:spTgt spid="64"/>
                                        </p:tgtEl>
                                        <p:attrNameLst>
                                          <p:attrName>style.visibility</p:attrName>
                                        </p:attrNameLst>
                                      </p:cBhvr>
                                      <p:to>
                                        <p:strVal val="visible"/>
                                      </p:to>
                                    </p:set>
                                    <p:animEffect transition="in" filter="fade">
                                      <p:cBhvr>
                                        <p:cTn id="160" dur="300"/>
                                        <p:tgtEl>
                                          <p:spTgt spid="64"/>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5"/>
                                        </p:tgtEl>
                                        <p:attrNameLst>
                                          <p:attrName>style.visibility</p:attrName>
                                        </p:attrNameLst>
                                      </p:cBhvr>
                                      <p:to>
                                        <p:strVal val="visible"/>
                                      </p:to>
                                    </p:set>
                                    <p:animEffect transition="in" filter="fade">
                                      <p:cBhvr>
                                        <p:cTn id="163" dur="300"/>
                                        <p:tgtEl>
                                          <p:spTgt spid="65"/>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66"/>
                                        </p:tgtEl>
                                        <p:attrNameLst>
                                          <p:attrName>style.visibility</p:attrName>
                                        </p:attrNameLst>
                                      </p:cBhvr>
                                      <p:to>
                                        <p:strVal val="visible"/>
                                      </p:to>
                                    </p:set>
                                    <p:animEffect transition="in" filter="fade">
                                      <p:cBhvr>
                                        <p:cTn id="166" dur="300"/>
                                        <p:tgtEl>
                                          <p:spTgt spid="66"/>
                                        </p:tgtEl>
                                      </p:cBhvr>
                                    </p:animEffect>
                                  </p:childTnLst>
                                </p:cTn>
                              </p:par>
                              <p:par>
                                <p:cTn id="167" presetID="10" presetClass="entr" presetSubtype="0" fill="hold" nodeType="withEffect">
                                  <p:stCondLst>
                                    <p:cond delay="0"/>
                                  </p:stCondLst>
                                  <p:childTnLst>
                                    <p:set>
                                      <p:cBhvr>
                                        <p:cTn id="168" dur="1" fill="hold">
                                          <p:stCondLst>
                                            <p:cond delay="0"/>
                                          </p:stCondLst>
                                        </p:cTn>
                                        <p:tgtEl>
                                          <p:spTgt spid="67"/>
                                        </p:tgtEl>
                                        <p:attrNameLst>
                                          <p:attrName>style.visibility</p:attrName>
                                        </p:attrNameLst>
                                      </p:cBhvr>
                                      <p:to>
                                        <p:strVal val="visible"/>
                                      </p:to>
                                    </p:set>
                                    <p:animEffect transition="in" filter="fade">
                                      <p:cBhvr>
                                        <p:cTn id="169" dur="300"/>
                                        <p:tgtEl>
                                          <p:spTgt spid="67"/>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8"/>
                                        </p:tgtEl>
                                        <p:attrNameLst>
                                          <p:attrName>style.visibility</p:attrName>
                                        </p:attrNameLst>
                                      </p:cBhvr>
                                      <p:to>
                                        <p:strVal val="visible"/>
                                      </p:to>
                                    </p:set>
                                    <p:animEffect transition="in" filter="fade">
                                      <p:cBhvr>
                                        <p:cTn id="172" dur="300"/>
                                        <p:tgtEl>
                                          <p:spTgt spid="68"/>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9"/>
                                        </p:tgtEl>
                                        <p:attrNameLst>
                                          <p:attrName>style.visibility</p:attrName>
                                        </p:attrNameLst>
                                      </p:cBhvr>
                                      <p:to>
                                        <p:strVal val="visible"/>
                                      </p:to>
                                    </p:set>
                                    <p:animEffect transition="in" filter="fade">
                                      <p:cBhvr>
                                        <p:cTn id="175" dur="300"/>
                                        <p:tgtEl>
                                          <p:spTgt spid="69"/>
                                        </p:tgtEl>
                                      </p:cBhvr>
                                    </p:animEffect>
                                  </p:childTnLst>
                                </p:cTn>
                              </p:par>
                              <p:par>
                                <p:cTn id="176" presetID="10" presetClass="entr" presetSubtype="0" fill="hold" nodeType="withEffect">
                                  <p:stCondLst>
                                    <p:cond delay="0"/>
                                  </p:stCondLst>
                                  <p:childTnLst>
                                    <p:set>
                                      <p:cBhvr>
                                        <p:cTn id="177" dur="1" fill="hold">
                                          <p:stCondLst>
                                            <p:cond delay="0"/>
                                          </p:stCondLst>
                                        </p:cTn>
                                        <p:tgtEl>
                                          <p:spTgt spid="70"/>
                                        </p:tgtEl>
                                        <p:attrNameLst>
                                          <p:attrName>style.visibility</p:attrName>
                                        </p:attrNameLst>
                                      </p:cBhvr>
                                      <p:to>
                                        <p:strVal val="visible"/>
                                      </p:to>
                                    </p:set>
                                    <p:animEffect transition="in" filter="fade">
                                      <p:cBhvr>
                                        <p:cTn id="178" dur="300"/>
                                        <p:tgtEl>
                                          <p:spTgt spid="70"/>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71"/>
                                        </p:tgtEl>
                                        <p:attrNameLst>
                                          <p:attrName>style.visibility</p:attrName>
                                        </p:attrNameLst>
                                      </p:cBhvr>
                                      <p:to>
                                        <p:strVal val="visible"/>
                                      </p:to>
                                    </p:set>
                                    <p:animEffect transition="in" filter="fade">
                                      <p:cBhvr>
                                        <p:cTn id="181" dur="300"/>
                                        <p:tgtEl>
                                          <p:spTgt spid="71"/>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72"/>
                                        </p:tgtEl>
                                        <p:attrNameLst>
                                          <p:attrName>style.visibility</p:attrName>
                                        </p:attrNameLst>
                                      </p:cBhvr>
                                      <p:to>
                                        <p:strVal val="visible"/>
                                      </p:to>
                                    </p:set>
                                    <p:animEffect transition="in" filter="fade">
                                      <p:cBhvr>
                                        <p:cTn id="184" dur="300"/>
                                        <p:tgtEl>
                                          <p:spTgt spid="72"/>
                                        </p:tgtEl>
                                      </p:cBhvr>
                                    </p:animEffect>
                                  </p:childTnLst>
                                </p:cTn>
                              </p:par>
                              <p:par>
                                <p:cTn id="185" presetID="10" presetClass="entr" presetSubtype="0" fill="hold" nodeType="withEffect">
                                  <p:stCondLst>
                                    <p:cond delay="0"/>
                                  </p:stCondLst>
                                  <p:childTnLst>
                                    <p:set>
                                      <p:cBhvr>
                                        <p:cTn id="186" dur="1" fill="hold">
                                          <p:stCondLst>
                                            <p:cond delay="0"/>
                                          </p:stCondLst>
                                        </p:cTn>
                                        <p:tgtEl>
                                          <p:spTgt spid="73"/>
                                        </p:tgtEl>
                                        <p:attrNameLst>
                                          <p:attrName>style.visibility</p:attrName>
                                        </p:attrNameLst>
                                      </p:cBhvr>
                                      <p:to>
                                        <p:strVal val="visible"/>
                                      </p:to>
                                    </p:set>
                                    <p:animEffect transition="in" filter="fade">
                                      <p:cBhvr>
                                        <p:cTn id="187" dur="300"/>
                                        <p:tgtEl>
                                          <p:spTgt spid="73"/>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74"/>
                                        </p:tgtEl>
                                        <p:attrNameLst>
                                          <p:attrName>style.visibility</p:attrName>
                                        </p:attrNameLst>
                                      </p:cBhvr>
                                      <p:to>
                                        <p:strVal val="visible"/>
                                      </p:to>
                                    </p:set>
                                    <p:animEffect transition="in" filter="fade">
                                      <p:cBhvr>
                                        <p:cTn id="190" dur="300"/>
                                        <p:tgtEl>
                                          <p:spTgt spid="74"/>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75"/>
                                        </p:tgtEl>
                                        <p:attrNameLst>
                                          <p:attrName>style.visibility</p:attrName>
                                        </p:attrNameLst>
                                      </p:cBhvr>
                                      <p:to>
                                        <p:strVal val="visible"/>
                                      </p:to>
                                    </p:set>
                                    <p:animEffect transition="in" filter="fade">
                                      <p:cBhvr>
                                        <p:cTn id="193" dur="300"/>
                                        <p:tgtEl>
                                          <p:spTgt spid="75"/>
                                        </p:tgtEl>
                                      </p:cBhvr>
                                    </p:animEffect>
                                  </p:childTnLst>
                                </p:cTn>
                              </p:par>
                              <p:par>
                                <p:cTn id="194" presetID="10" presetClass="entr" presetSubtype="0" fill="hold" nodeType="withEffect">
                                  <p:stCondLst>
                                    <p:cond delay="0"/>
                                  </p:stCondLst>
                                  <p:childTnLst>
                                    <p:set>
                                      <p:cBhvr>
                                        <p:cTn id="195" dur="1" fill="hold">
                                          <p:stCondLst>
                                            <p:cond delay="0"/>
                                          </p:stCondLst>
                                        </p:cTn>
                                        <p:tgtEl>
                                          <p:spTgt spid="76"/>
                                        </p:tgtEl>
                                        <p:attrNameLst>
                                          <p:attrName>style.visibility</p:attrName>
                                        </p:attrNameLst>
                                      </p:cBhvr>
                                      <p:to>
                                        <p:strVal val="visible"/>
                                      </p:to>
                                    </p:set>
                                    <p:animEffect transition="in" filter="fade">
                                      <p:cBhvr>
                                        <p:cTn id="196" dur="300"/>
                                        <p:tgtEl>
                                          <p:spTgt spid="76"/>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77"/>
                                        </p:tgtEl>
                                        <p:attrNameLst>
                                          <p:attrName>style.visibility</p:attrName>
                                        </p:attrNameLst>
                                      </p:cBhvr>
                                      <p:to>
                                        <p:strVal val="visible"/>
                                      </p:to>
                                    </p:set>
                                    <p:animEffect transition="in" filter="fade">
                                      <p:cBhvr>
                                        <p:cTn id="199" dur="300"/>
                                        <p:tgtEl>
                                          <p:spTgt spid="77"/>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78"/>
                                        </p:tgtEl>
                                        <p:attrNameLst>
                                          <p:attrName>style.visibility</p:attrName>
                                        </p:attrNameLst>
                                      </p:cBhvr>
                                      <p:to>
                                        <p:strVal val="visible"/>
                                      </p:to>
                                    </p:set>
                                    <p:animEffect transition="in" filter="fade">
                                      <p:cBhvr>
                                        <p:cTn id="202" dur="300"/>
                                        <p:tgtEl>
                                          <p:spTgt spid="78"/>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79"/>
                                        </p:tgtEl>
                                        <p:attrNameLst>
                                          <p:attrName>style.visibility</p:attrName>
                                        </p:attrNameLst>
                                      </p:cBhvr>
                                      <p:to>
                                        <p:strVal val="visible"/>
                                      </p:to>
                                    </p:set>
                                    <p:animEffect transition="in" filter="fade">
                                      <p:cBhvr>
                                        <p:cTn id="205" dur="3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9" grpId="0" animBg="1"/>
      <p:bldP spid="60" grpId="0" animBg="1"/>
      <p:bldP spid="61" grpId="0" animBg="1"/>
      <p:bldP spid="62" grpId="0" animBg="1"/>
      <p:bldP spid="63" grpId="0" animBg="1"/>
      <p:bldP spid="65" grpId="0" animBg="1"/>
      <p:bldP spid="66" grpId="0" animBg="1"/>
      <p:bldP spid="68" grpId="0" animBg="1"/>
      <p:bldP spid="69" grpId="0" animBg="1"/>
      <p:bldP spid="71" grpId="0" animBg="1"/>
      <p:bldP spid="72" grpId="0" animBg="1"/>
      <p:bldP spid="74" grpId="0" animBg="1"/>
      <p:bldP spid="75" grpId="0" animBg="1"/>
      <p:bldP spid="77" grpId="0" animBg="1"/>
      <p:bldP spid="78" grpId="0" animBg="1"/>
      <p:bldP spid="7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It starts this month and closes every gap within a year; after that, dates trigger each step">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sp>
        <p:nvSpPr>
          <p:cNvPr id="3" name="!!T What happens when"/>
          <p:cNvSpPr txBox="1"/>
          <p:nvPr/>
        </p:nvSpPr>
        <p:spPr>
          <a:xfrm>
            <a:off x="638175" y="324421"/>
            <a:ext cx="1495627"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What happens when</a:t>
            </a:r>
          </a:p>
        </p:txBody>
      </p:sp>
      <p:sp>
        <p:nvSpPr>
          <p:cNvPr id="4" name="!!T It starts this month and closes every ga"/>
          <p:cNvSpPr txBox="1"/>
          <p:nvPr/>
        </p:nvSpPr>
        <p:spPr>
          <a:xfrm>
            <a:off x="638175" y="529852"/>
            <a:ext cx="6460266"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It starts this month and closes every gap within</a:t>
            </a:r>
          </a:p>
          <a:p>
            <a:pPr algn="l">
              <a:lnSpc>
                <a:spcPts val="2523"/>
              </a:lnSpc>
              <a:spcBef>
                <a:spcPts val="0"/>
              </a:spcBef>
              <a:spcAft>
                <a:spcPts val="0"/>
              </a:spcAft>
            </a:pPr>
            <a:r>
              <a:rPr sz="2175" b="1" i="0" kern="100" spc="-38">
                <a:solidFill>
                  <a:srgbClr val="1B1716"/>
                </a:solidFill>
                <a:latin typeface="Plus Jakarta Sans"/>
              </a:rPr>
              <a:t>a year; after that, dates trigger each step</a:t>
            </a:r>
          </a:p>
        </p:txBody>
      </p:sp>
      <p:sp>
        <p:nvSpPr>
          <p:cNvPr id="5" name="!!Rule c58b1ef9"/>
          <p:cNvSpPr/>
          <p:nvPr/>
        </p:nvSpPr>
        <p:spPr>
          <a:xfrm>
            <a:off x="457200" y="1740098"/>
            <a:ext cx="6311801" cy="9525"/>
          </a:xfrm>
          <a:prstGeom prst="rect">
            <a:avLst/>
          </a:prstGeom>
          <a:solidFill>
            <a:srgbClr val="1B1716"/>
          </a:solidFill>
          <a:ln>
            <a:noFill/>
          </a:ln>
        </p:spPr>
        <p:txBody>
          <a:bodyPr rtlCol="0" anchor="ctr"/>
          <a:lstStyle/>
          <a:p>
            <a:pPr algn="ctr"/>
            <a:endParaRPr/>
          </a:p>
        </p:txBody>
      </p:sp>
      <p:sp>
        <p:nvSpPr>
          <p:cNvPr id="6" name="!!T This year: close every gap…"/>
          <p:cNvSpPr txBox="1"/>
          <p:nvPr/>
        </p:nvSpPr>
        <p:spPr>
          <a:xfrm>
            <a:off x="457200" y="1445824"/>
            <a:ext cx="2344838"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This year: close every gap…</a:t>
            </a:r>
          </a:p>
        </p:txBody>
      </p:sp>
      <p:sp>
        <p:nvSpPr>
          <p:cNvPr id="7" name="!!Rule 5fe1fbff"/>
          <p:cNvSpPr/>
          <p:nvPr/>
        </p:nvSpPr>
        <p:spPr>
          <a:xfrm>
            <a:off x="457200" y="2978348"/>
            <a:ext cx="6311652" cy="19050"/>
          </a:xfrm>
          <a:prstGeom prst="rect">
            <a:avLst/>
          </a:prstGeom>
          <a:solidFill>
            <a:srgbClr val="971320"/>
          </a:solidFill>
          <a:ln>
            <a:noFill/>
          </a:ln>
        </p:spPr>
        <p:txBody>
          <a:bodyPr rtlCol="0" anchor="ctr"/>
          <a:lstStyle/>
          <a:p>
            <a:pPr algn="ctr"/>
            <a:endParaRPr/>
          </a:p>
        </p:txBody>
      </p:sp>
      <p:sp>
        <p:nvSpPr>
          <p:cNvPr id="8" name="!!T Month 1"/>
          <p:cNvSpPr txBox="1"/>
          <p:nvPr/>
        </p:nvSpPr>
        <p:spPr>
          <a:xfrm>
            <a:off x="457200" y="2105001"/>
            <a:ext cx="1169700" cy="303847"/>
          </a:xfrm>
          <a:prstGeom prst="rect">
            <a:avLst/>
          </a:prstGeom>
          <a:noFill/>
        </p:spPr>
        <p:txBody>
          <a:bodyPr wrap="none" lIns="0" tIns="0" rIns="0" bIns="0" anchor="t">
            <a:noAutofit/>
          </a:bodyPr>
          <a:lstStyle/>
          <a:p>
            <a:pPr algn="l">
              <a:lnSpc>
                <a:spcPts val="2392"/>
              </a:lnSpc>
              <a:spcBef>
                <a:spcPts val="0"/>
              </a:spcBef>
              <a:spcAft>
                <a:spcPts val="0"/>
              </a:spcAft>
            </a:pPr>
            <a:r>
              <a:rPr sz="2175" b="1" i="0" kern="100" spc="-38">
                <a:solidFill>
                  <a:srgbClr val="C80E1E"/>
                </a:solidFill>
                <a:latin typeface="Plus Jakarta Sans"/>
              </a:rPr>
              <a:t>Month 1</a:t>
            </a:r>
          </a:p>
        </p:txBody>
      </p:sp>
      <p:sp>
        <p:nvSpPr>
          <p:cNvPr id="9" name="!!T Wills and a joint account"/>
          <p:cNvSpPr txBox="1"/>
          <p:nvPr/>
        </p:nvSpPr>
        <p:spPr>
          <a:xfrm>
            <a:off x="457200" y="3431840"/>
            <a:ext cx="1445776" cy="445681"/>
          </a:xfrm>
          <a:prstGeom prst="rect">
            <a:avLst/>
          </a:prstGeom>
          <a:noFill/>
        </p:spPr>
        <p:txBody>
          <a:bodyPr wrap="none" lIns="0" tIns="0" rIns="0" bIns="0" anchor="t">
            <a:noAutofit/>
          </a:bodyPr>
          <a:lstStyle/>
          <a:p>
            <a:pPr algn="l">
              <a:lnSpc>
                <a:spcPts val="1754"/>
              </a:lnSpc>
              <a:spcBef>
                <a:spcPts val="0"/>
              </a:spcBef>
              <a:spcAft>
                <a:spcPts val="0"/>
              </a:spcAft>
            </a:pPr>
            <a:r>
              <a:rPr sz="1350" b="0" i="0" kern="100">
                <a:solidFill>
                  <a:srgbClr val="1B1716"/>
                </a:solidFill>
                <a:latin typeface="Plus Jakarta Sans SemiBold"/>
              </a:rPr>
              <a:t>Wills and a joint</a:t>
            </a:r>
          </a:p>
          <a:p>
            <a:pPr algn="l">
              <a:lnSpc>
                <a:spcPts val="1754"/>
              </a:lnSpc>
              <a:spcBef>
                <a:spcPts val="0"/>
              </a:spcBef>
              <a:spcAft>
                <a:spcPts val="0"/>
              </a:spcAft>
            </a:pPr>
            <a:r>
              <a:rPr sz="1350" b="0" i="0" kern="100">
                <a:solidFill>
                  <a:srgbClr val="1B1716"/>
                </a:solidFill>
                <a:latin typeface="Plus Jakarta Sans SemiBold"/>
              </a:rPr>
              <a:t>account</a:t>
            </a:r>
          </a:p>
        </p:txBody>
      </p:sp>
      <p:sp>
        <p:nvSpPr>
          <p:cNvPr id="10" name="!!T a guardian; powers of attorney"/>
          <p:cNvSpPr txBox="1"/>
          <p:nvPr/>
        </p:nvSpPr>
        <p:spPr>
          <a:xfrm>
            <a:off x="457200" y="3931152"/>
            <a:ext cx="1551000" cy="37332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a:rPr>
              <a:t>a guardian; powers of</a:t>
            </a:r>
          </a:p>
          <a:p>
            <a:pPr algn="l">
              <a:lnSpc>
                <a:spcPts val="1470"/>
              </a:lnSpc>
              <a:spcBef>
                <a:spcPts val="0"/>
              </a:spcBef>
              <a:spcAft>
                <a:spcPts val="0"/>
              </a:spcAft>
            </a:pPr>
            <a:r>
              <a:rPr sz="1050" b="0" i="0" kern="100">
                <a:solidFill>
                  <a:srgbClr val="1B1716"/>
                </a:solidFill>
                <a:latin typeface="Plus Jakarta Sans"/>
              </a:rPr>
              <a:t>attorney</a:t>
            </a:r>
          </a:p>
        </p:txBody>
      </p:sp>
      <p:pic>
        <p:nvPicPr>
          <p:cNvPr id="11" name="!!Picture 6a9345b5" descr="image.jpg"/>
          <p:cNvPicPr>
            <a:picLocks noChangeAspect="1"/>
          </p:cNvPicPr>
          <p:nvPr/>
        </p:nvPicPr>
        <p:blipFill>
          <a:blip r:embed="rId3"/>
          <a:stretch>
            <a:fillRect/>
          </a:stretch>
        </p:blipFill>
        <p:spPr>
          <a:xfrm>
            <a:off x="457200"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12" name="!!Picture abd34fdc" descr="image.jpg"/>
          <p:cNvPicPr>
            <a:picLocks noChangeAspect="1"/>
          </p:cNvPicPr>
          <p:nvPr/>
        </p:nvPicPr>
        <p:blipFill>
          <a:blip r:embed="rId4"/>
          <a:stretch>
            <a:fillRect/>
          </a:stretch>
        </p:blipFill>
        <p:spPr>
          <a:xfrm>
            <a:off x="704850"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sp>
        <p:nvSpPr>
          <p:cNvPr id="13" name="!!T By month 3"/>
          <p:cNvSpPr txBox="1"/>
          <p:nvPr/>
        </p:nvSpPr>
        <p:spPr>
          <a:xfrm>
            <a:off x="2077938" y="2105001"/>
            <a:ext cx="1650546" cy="303847"/>
          </a:xfrm>
          <a:prstGeom prst="rect">
            <a:avLst/>
          </a:prstGeom>
          <a:noFill/>
        </p:spPr>
        <p:txBody>
          <a:bodyPr wrap="none" lIns="0" tIns="0" rIns="0" bIns="0" anchor="t">
            <a:noAutofit/>
          </a:bodyPr>
          <a:lstStyle/>
          <a:p>
            <a:pPr algn="l">
              <a:lnSpc>
                <a:spcPts val="2392"/>
              </a:lnSpc>
              <a:spcBef>
                <a:spcPts val="0"/>
              </a:spcBef>
              <a:spcAft>
                <a:spcPts val="0"/>
              </a:spcAft>
            </a:pPr>
            <a:r>
              <a:rPr sz="2175" b="1" i="0" kern="100" spc="-38">
                <a:solidFill>
                  <a:srgbClr val="1B1716"/>
                </a:solidFill>
                <a:latin typeface="Plus Jakarta Sans"/>
              </a:rPr>
              <a:t>By month 3</a:t>
            </a:r>
          </a:p>
        </p:txBody>
      </p:sp>
      <p:sp>
        <p:nvSpPr>
          <p:cNvPr id="14" name="!!T The cover in place"/>
          <p:cNvSpPr txBox="1"/>
          <p:nvPr/>
        </p:nvSpPr>
        <p:spPr>
          <a:xfrm>
            <a:off x="2077938" y="3431840"/>
            <a:ext cx="1145878" cy="445681"/>
          </a:xfrm>
          <a:prstGeom prst="rect">
            <a:avLst/>
          </a:prstGeom>
          <a:noFill/>
        </p:spPr>
        <p:txBody>
          <a:bodyPr wrap="none" lIns="0" tIns="0" rIns="0" bIns="0" anchor="t">
            <a:noAutofit/>
          </a:bodyPr>
          <a:lstStyle/>
          <a:p>
            <a:pPr algn="l">
              <a:lnSpc>
                <a:spcPts val="1754"/>
              </a:lnSpc>
              <a:spcBef>
                <a:spcPts val="0"/>
              </a:spcBef>
              <a:spcAft>
                <a:spcPts val="0"/>
              </a:spcAft>
            </a:pPr>
            <a:r>
              <a:rPr sz="1350" b="0" i="0" kern="100">
                <a:solidFill>
                  <a:srgbClr val="1B1716"/>
                </a:solidFill>
                <a:latin typeface="Plus Jakarta Sans SemiBold"/>
              </a:rPr>
              <a:t>The cover in</a:t>
            </a:r>
          </a:p>
          <a:p>
            <a:pPr algn="l">
              <a:lnSpc>
                <a:spcPts val="1754"/>
              </a:lnSpc>
              <a:spcBef>
                <a:spcPts val="0"/>
              </a:spcBef>
              <a:spcAft>
                <a:spcPts val="0"/>
              </a:spcAft>
            </a:pPr>
            <a:r>
              <a:rPr sz="1350" b="0" i="0" kern="100">
                <a:solidFill>
                  <a:srgbClr val="1B1716"/>
                </a:solidFill>
                <a:latin typeface="Plus Jakarta Sans SemiBold"/>
              </a:rPr>
              <a:t>place</a:t>
            </a:r>
          </a:p>
        </p:txBody>
      </p:sp>
      <p:sp>
        <p:nvSpPr>
          <p:cNvPr id="15" name="!!T about HK$100K a year"/>
          <p:cNvSpPr txBox="1"/>
          <p:nvPr/>
        </p:nvSpPr>
        <p:spPr>
          <a:xfrm>
            <a:off x="2077938" y="3931152"/>
            <a:ext cx="1180112" cy="37332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a:rPr>
              <a:t>about HK$100K</a:t>
            </a:r>
          </a:p>
          <a:p>
            <a:pPr algn="l">
              <a:lnSpc>
                <a:spcPts val="1470"/>
              </a:lnSpc>
              <a:spcBef>
                <a:spcPts val="0"/>
              </a:spcBef>
              <a:spcAft>
                <a:spcPts val="0"/>
              </a:spcAft>
            </a:pPr>
            <a:r>
              <a:rPr sz="1050" b="0" i="0" kern="100">
                <a:solidFill>
                  <a:srgbClr val="1B1716"/>
                </a:solidFill>
                <a:latin typeface="Plus Jakarta Sans"/>
              </a:rPr>
              <a:t>a year</a:t>
            </a:r>
          </a:p>
        </p:txBody>
      </p:sp>
      <p:pic>
        <p:nvPicPr>
          <p:cNvPr id="16" name="!!Picture ef3cc36d" descr="image.jpg"/>
          <p:cNvPicPr>
            <a:picLocks noChangeAspect="1"/>
          </p:cNvPicPr>
          <p:nvPr/>
        </p:nvPicPr>
        <p:blipFill>
          <a:blip r:embed="rId3"/>
          <a:stretch>
            <a:fillRect/>
          </a:stretch>
        </p:blipFill>
        <p:spPr>
          <a:xfrm>
            <a:off x="2077938"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17" name="!!Picture d2df3b36" descr="image.jpg"/>
          <p:cNvPicPr>
            <a:picLocks noChangeAspect="1"/>
          </p:cNvPicPr>
          <p:nvPr/>
        </p:nvPicPr>
        <p:blipFill>
          <a:blip r:embed="rId4"/>
          <a:stretch>
            <a:fillRect/>
          </a:stretch>
        </p:blipFill>
        <p:spPr>
          <a:xfrm>
            <a:off x="2325588"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18" name="!!Picture da0880d0" descr="image.jpg"/>
          <p:cNvPicPr>
            <a:picLocks noChangeAspect="1"/>
          </p:cNvPicPr>
          <p:nvPr/>
        </p:nvPicPr>
        <p:blipFill>
          <a:blip r:embed="rId5"/>
          <a:stretch>
            <a:fillRect/>
          </a:stretch>
        </p:blipFill>
        <p:spPr>
          <a:xfrm>
            <a:off x="2573238"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sp>
        <p:nvSpPr>
          <p:cNvPr id="19" name="!!T By month 6"/>
          <p:cNvSpPr txBox="1"/>
          <p:nvPr/>
        </p:nvSpPr>
        <p:spPr>
          <a:xfrm>
            <a:off x="3698825" y="2105001"/>
            <a:ext cx="1647864" cy="303847"/>
          </a:xfrm>
          <a:prstGeom prst="rect">
            <a:avLst/>
          </a:prstGeom>
          <a:noFill/>
        </p:spPr>
        <p:txBody>
          <a:bodyPr wrap="none" lIns="0" tIns="0" rIns="0" bIns="0" anchor="t">
            <a:noAutofit/>
          </a:bodyPr>
          <a:lstStyle/>
          <a:p>
            <a:pPr algn="l">
              <a:lnSpc>
                <a:spcPts val="2392"/>
              </a:lnSpc>
              <a:spcBef>
                <a:spcPts val="0"/>
              </a:spcBef>
              <a:spcAft>
                <a:spcPts val="0"/>
              </a:spcAft>
            </a:pPr>
            <a:r>
              <a:rPr sz="2175" b="1" i="0" kern="100" spc="-38">
                <a:solidFill>
                  <a:srgbClr val="1B1716"/>
                </a:solidFill>
                <a:latin typeface="Plus Jakarta Sans"/>
              </a:rPr>
              <a:t>By month 6</a:t>
            </a:r>
          </a:p>
        </p:txBody>
      </p:sp>
      <p:sp>
        <p:nvSpPr>
          <p:cNvPr id="20" name="!!T A portfolio each"/>
          <p:cNvSpPr txBox="1"/>
          <p:nvPr/>
        </p:nvSpPr>
        <p:spPr>
          <a:xfrm>
            <a:off x="3698825" y="3431840"/>
            <a:ext cx="1513454" cy="222885"/>
          </a:xfrm>
          <a:prstGeom prst="rect">
            <a:avLst/>
          </a:prstGeom>
          <a:noFill/>
        </p:spPr>
        <p:txBody>
          <a:bodyPr wrap="none" lIns="0" tIns="0" rIns="0" bIns="0" anchor="t">
            <a:noAutofit/>
          </a:bodyPr>
          <a:lstStyle/>
          <a:p>
            <a:pPr algn="l">
              <a:lnSpc>
                <a:spcPts val="1754"/>
              </a:lnSpc>
              <a:spcBef>
                <a:spcPts val="0"/>
              </a:spcBef>
              <a:spcAft>
                <a:spcPts val="0"/>
              </a:spcAft>
            </a:pPr>
            <a:r>
              <a:rPr sz="1350" b="0" i="0" kern="100">
                <a:solidFill>
                  <a:srgbClr val="1B1716"/>
                </a:solidFill>
                <a:latin typeface="Plus Jakarta Sans SemiBold"/>
              </a:rPr>
              <a:t>A portfolio each</a:t>
            </a:r>
          </a:p>
        </p:txBody>
      </p:sp>
      <p:sp>
        <p:nvSpPr>
          <p:cNvPr id="21" name="!!T HK$45K a year less in fees"/>
          <p:cNvSpPr txBox="1"/>
          <p:nvPr/>
        </p:nvSpPr>
        <p:spPr>
          <a:xfrm>
            <a:off x="3698825" y="3708356"/>
            <a:ext cx="1373996" cy="37332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a:rPr>
              <a:t>HK$45K a year less</a:t>
            </a:r>
          </a:p>
          <a:p>
            <a:pPr algn="l">
              <a:lnSpc>
                <a:spcPts val="1470"/>
              </a:lnSpc>
              <a:spcBef>
                <a:spcPts val="0"/>
              </a:spcBef>
              <a:spcAft>
                <a:spcPts val="0"/>
              </a:spcAft>
            </a:pPr>
            <a:r>
              <a:rPr sz="1050" b="0" i="0" kern="100">
                <a:solidFill>
                  <a:srgbClr val="1B1716"/>
                </a:solidFill>
                <a:latin typeface="Plus Jakarta Sans"/>
              </a:rPr>
              <a:t>in fees</a:t>
            </a:r>
          </a:p>
        </p:txBody>
      </p:sp>
      <p:pic>
        <p:nvPicPr>
          <p:cNvPr id="22" name="!!Picture 5415930d" descr="image.jpg"/>
          <p:cNvPicPr>
            <a:picLocks noChangeAspect="1"/>
          </p:cNvPicPr>
          <p:nvPr/>
        </p:nvPicPr>
        <p:blipFill>
          <a:blip r:embed="rId3"/>
          <a:stretch>
            <a:fillRect/>
          </a:stretch>
        </p:blipFill>
        <p:spPr>
          <a:xfrm>
            <a:off x="3698825"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23" name="!!Picture b5e33b9c" descr="image.jpg"/>
          <p:cNvPicPr>
            <a:picLocks noChangeAspect="1"/>
          </p:cNvPicPr>
          <p:nvPr/>
        </p:nvPicPr>
        <p:blipFill>
          <a:blip r:embed="rId4"/>
          <a:stretch>
            <a:fillRect/>
          </a:stretch>
        </p:blipFill>
        <p:spPr>
          <a:xfrm>
            <a:off x="3946475"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24" name="!!Picture b2f69ffe" descr="image.jpg"/>
          <p:cNvPicPr>
            <a:picLocks noChangeAspect="1"/>
          </p:cNvPicPr>
          <p:nvPr/>
        </p:nvPicPr>
        <p:blipFill>
          <a:blip r:embed="rId5"/>
          <a:stretch>
            <a:fillRect/>
          </a:stretch>
        </p:blipFill>
        <p:spPr>
          <a:xfrm>
            <a:off x="4194125"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sp>
        <p:nvSpPr>
          <p:cNvPr id="25" name="!!T Month 12"/>
          <p:cNvSpPr txBox="1"/>
          <p:nvPr/>
        </p:nvSpPr>
        <p:spPr>
          <a:xfrm>
            <a:off x="5319564" y="2105001"/>
            <a:ext cx="1339447" cy="303847"/>
          </a:xfrm>
          <a:prstGeom prst="rect">
            <a:avLst/>
          </a:prstGeom>
          <a:noFill/>
        </p:spPr>
        <p:txBody>
          <a:bodyPr wrap="none" lIns="0" tIns="0" rIns="0" bIns="0" anchor="t">
            <a:noAutofit/>
          </a:bodyPr>
          <a:lstStyle/>
          <a:p>
            <a:pPr algn="l">
              <a:lnSpc>
                <a:spcPts val="2392"/>
              </a:lnSpc>
              <a:spcBef>
                <a:spcPts val="0"/>
              </a:spcBef>
              <a:spcAft>
                <a:spcPts val="0"/>
              </a:spcAft>
            </a:pPr>
            <a:r>
              <a:rPr sz="2175" b="1" i="0" kern="100" spc="-38">
                <a:solidFill>
                  <a:srgbClr val="1B1716"/>
                </a:solidFill>
                <a:latin typeface="Plus Jakarta Sans"/>
              </a:rPr>
              <a:t>Month 12</a:t>
            </a:r>
          </a:p>
        </p:txBody>
      </p:sp>
      <p:sp>
        <p:nvSpPr>
          <p:cNvPr id="26" name="!!T First family meeting"/>
          <p:cNvSpPr txBox="1"/>
          <p:nvPr/>
        </p:nvSpPr>
        <p:spPr>
          <a:xfrm>
            <a:off x="5319564" y="3431840"/>
            <a:ext cx="1064160" cy="445681"/>
          </a:xfrm>
          <a:prstGeom prst="rect">
            <a:avLst/>
          </a:prstGeom>
          <a:noFill/>
        </p:spPr>
        <p:txBody>
          <a:bodyPr wrap="none" lIns="0" tIns="0" rIns="0" bIns="0" anchor="t">
            <a:noAutofit/>
          </a:bodyPr>
          <a:lstStyle/>
          <a:p>
            <a:pPr algn="l">
              <a:lnSpc>
                <a:spcPts val="1754"/>
              </a:lnSpc>
              <a:spcBef>
                <a:spcPts val="0"/>
              </a:spcBef>
              <a:spcAft>
                <a:spcPts val="0"/>
              </a:spcAft>
            </a:pPr>
            <a:r>
              <a:rPr sz="1350" b="0" i="0" kern="100">
                <a:solidFill>
                  <a:srgbClr val="1B1716"/>
                </a:solidFill>
                <a:latin typeface="Plus Jakarta Sans SemiBold"/>
              </a:rPr>
              <a:t>First family</a:t>
            </a:r>
          </a:p>
          <a:p>
            <a:pPr algn="l">
              <a:lnSpc>
                <a:spcPts val="1754"/>
              </a:lnSpc>
              <a:spcBef>
                <a:spcPts val="0"/>
              </a:spcBef>
              <a:spcAft>
                <a:spcPts val="0"/>
              </a:spcAft>
            </a:pPr>
            <a:r>
              <a:rPr sz="1350" b="0" i="0" kern="100">
                <a:solidFill>
                  <a:srgbClr val="1B1716"/>
                </a:solidFill>
                <a:latin typeface="Plus Jakarta Sans SemiBold"/>
              </a:rPr>
              <a:t>meeting</a:t>
            </a:r>
          </a:p>
        </p:txBody>
      </p:sp>
      <p:sp>
        <p:nvSpPr>
          <p:cNvPr id="27" name="!!T a charter; Ryan's own plan"/>
          <p:cNvSpPr txBox="1"/>
          <p:nvPr/>
        </p:nvSpPr>
        <p:spPr>
          <a:xfrm>
            <a:off x="5319564" y="3931152"/>
            <a:ext cx="1198254" cy="37332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a:rPr>
              <a:t>a charter; Ryan's</a:t>
            </a:r>
          </a:p>
          <a:p>
            <a:pPr algn="l">
              <a:lnSpc>
                <a:spcPts val="1470"/>
              </a:lnSpc>
              <a:spcBef>
                <a:spcPts val="0"/>
              </a:spcBef>
              <a:spcAft>
                <a:spcPts val="0"/>
              </a:spcAft>
            </a:pPr>
            <a:r>
              <a:rPr sz="1050" b="0" i="0" kern="100">
                <a:solidFill>
                  <a:srgbClr val="1B1716"/>
                </a:solidFill>
                <a:latin typeface="Plus Jakarta Sans"/>
              </a:rPr>
              <a:t>own plan</a:t>
            </a:r>
          </a:p>
        </p:txBody>
      </p:sp>
      <p:pic>
        <p:nvPicPr>
          <p:cNvPr id="28" name="!!Picture c493aaa3" descr="image.jpg"/>
          <p:cNvPicPr>
            <a:picLocks noChangeAspect="1"/>
          </p:cNvPicPr>
          <p:nvPr/>
        </p:nvPicPr>
        <p:blipFill>
          <a:blip r:embed="rId3"/>
          <a:stretch>
            <a:fillRect/>
          </a:stretch>
        </p:blipFill>
        <p:spPr>
          <a:xfrm>
            <a:off x="5319564"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29" name="!!Picture 3e1d8c1e" descr="image.jpg"/>
          <p:cNvPicPr>
            <a:picLocks noChangeAspect="1"/>
          </p:cNvPicPr>
          <p:nvPr/>
        </p:nvPicPr>
        <p:blipFill>
          <a:blip r:embed="rId4"/>
          <a:stretch>
            <a:fillRect/>
          </a:stretch>
        </p:blipFill>
        <p:spPr>
          <a:xfrm>
            <a:off x="5567214"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30" name="!!Picture 91210872" descr="image.jpg"/>
          <p:cNvPicPr>
            <a:picLocks noChangeAspect="1"/>
          </p:cNvPicPr>
          <p:nvPr/>
        </p:nvPicPr>
        <p:blipFill>
          <a:blip r:embed="rId5"/>
          <a:stretch>
            <a:fillRect/>
          </a:stretch>
        </p:blipFill>
        <p:spPr>
          <a:xfrm>
            <a:off x="5814864"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31" name="!!Picture a55b9ee3" descr="image.jpg"/>
          <p:cNvPicPr>
            <a:picLocks noChangeAspect="1"/>
          </p:cNvPicPr>
          <p:nvPr/>
        </p:nvPicPr>
        <p:blipFill>
          <a:blip r:embed="rId6"/>
          <a:stretch>
            <a:fillRect/>
          </a:stretch>
        </p:blipFill>
        <p:spPr>
          <a:xfrm>
            <a:off x="6062514" y="4867275"/>
            <a:ext cx="342900" cy="342900"/>
          </a:xfrm>
          <a:prstGeom prst="ellipse">
            <a:avLst/>
          </a:prstGeom>
          <a:ln w="19050">
            <a:solidFill>
              <a:srgbClr val="FFFFFF"/>
            </a:solidFill>
          </a:ln>
          <a:effectLst>
            <a:outerShdw blurRad="28575" dist="9525" dir="5400000" algn="ctr" rotWithShape="0">
              <a:srgbClr val="5A1520">
                <a:alpha val="18000"/>
              </a:srgbClr>
            </a:outerShdw>
          </a:effectLst>
        </p:spPr>
      </p:pic>
      <p:sp>
        <p:nvSpPr>
          <p:cNvPr id="32" name="!!Rule b392e74e"/>
          <p:cNvSpPr/>
          <p:nvPr/>
        </p:nvSpPr>
        <p:spPr>
          <a:xfrm>
            <a:off x="7226201" y="1740098"/>
            <a:ext cx="4508450" cy="9525"/>
          </a:xfrm>
          <a:prstGeom prst="rect">
            <a:avLst/>
          </a:prstGeom>
          <a:solidFill>
            <a:srgbClr val="1B1716"/>
          </a:solidFill>
          <a:ln>
            <a:noFill/>
          </a:ln>
        </p:spPr>
        <p:txBody>
          <a:bodyPr rtlCol="0" anchor="ctr"/>
          <a:lstStyle/>
          <a:p>
            <a:pPr algn="ctr"/>
            <a:endParaRPr/>
          </a:p>
        </p:txBody>
      </p:sp>
      <p:sp>
        <p:nvSpPr>
          <p:cNvPr id="33" name="!!T …then dates trigger each step"/>
          <p:cNvSpPr txBox="1"/>
          <p:nvPr/>
        </p:nvSpPr>
        <p:spPr>
          <a:xfrm>
            <a:off x="7226201" y="1445824"/>
            <a:ext cx="2561912"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a:solidFill>
                  <a:srgbClr val="1B1716"/>
                </a:solidFill>
                <a:latin typeface="Plus Jakarta Sans SemiBold"/>
              </a:rPr>
              <a:t>…then dates trigger each step</a:t>
            </a:r>
          </a:p>
        </p:txBody>
      </p:sp>
      <p:sp>
        <p:nvSpPr>
          <p:cNvPr id="34" name="!!Rule 422da07f"/>
          <p:cNvSpPr/>
          <p:nvPr/>
        </p:nvSpPr>
        <p:spPr>
          <a:xfrm>
            <a:off x="7273826" y="2016323"/>
            <a:ext cx="19050" cy="3041303"/>
          </a:xfrm>
          <a:prstGeom prst="rect">
            <a:avLst/>
          </a:prstGeom>
          <a:solidFill>
            <a:srgbClr val="EFD9DC"/>
          </a:solidFill>
          <a:ln>
            <a:noFill/>
          </a:ln>
        </p:spPr>
        <p:txBody>
          <a:bodyPr rtlCol="0" anchor="ctr"/>
          <a:lstStyle/>
          <a:p>
            <a:pPr algn="ctr"/>
            <a:endParaRPr/>
          </a:p>
        </p:txBody>
      </p:sp>
      <p:sp>
        <p:nvSpPr>
          <p:cNvPr id="35" name="!!ps-el a3cb03a1"/>
          <p:cNvSpPr/>
          <p:nvPr/>
        </p:nvSpPr>
        <p:spPr>
          <a:xfrm>
            <a:off x="7226201" y="2033885"/>
            <a:ext cx="114300" cy="114300"/>
          </a:xfrm>
          <a:prstGeom prst="ellipse">
            <a:avLst/>
          </a:prstGeom>
          <a:solidFill>
            <a:srgbClr val="971320"/>
          </a:solidFill>
          <a:ln>
            <a:noFill/>
          </a:ln>
        </p:spPr>
        <p:txBody>
          <a:bodyPr rtlCol="0" anchor="ctr"/>
          <a:lstStyle/>
          <a:p>
            <a:pPr algn="ctr"/>
            <a:endParaRPr/>
          </a:p>
        </p:txBody>
      </p:sp>
      <p:sp>
        <p:nvSpPr>
          <p:cNvPr id="36" name="!!T 2028"/>
          <p:cNvSpPr txBox="1"/>
          <p:nvPr/>
        </p:nvSpPr>
        <p:spPr>
          <a:xfrm>
            <a:off x="7435751" y="1974199"/>
            <a:ext cx="523682"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1B1716"/>
                </a:solidFill>
                <a:latin typeface="Plus Jakarta Sans"/>
              </a:rPr>
              <a:t>2028</a:t>
            </a:r>
          </a:p>
        </p:txBody>
      </p:sp>
      <p:sp>
        <p:nvSpPr>
          <p:cNvPr id="37" name="!!T Chloe accepts an offer"/>
          <p:cNvSpPr txBox="1"/>
          <p:nvPr/>
        </p:nvSpPr>
        <p:spPr>
          <a:xfrm>
            <a:off x="8464451" y="1884307"/>
            <a:ext cx="1879925"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Chloe accepts an offer</a:t>
            </a:r>
          </a:p>
        </p:txBody>
      </p:sp>
      <p:sp>
        <p:nvSpPr>
          <p:cNvPr id="38" name="!!T fees converted: no currency risk"/>
          <p:cNvSpPr txBox="1"/>
          <p:nvPr/>
        </p:nvSpPr>
        <p:spPr>
          <a:xfrm>
            <a:off x="8464451" y="2087826"/>
            <a:ext cx="2237562"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fees converted: no currency risk</a:t>
            </a:r>
          </a:p>
        </p:txBody>
      </p:sp>
      <p:pic>
        <p:nvPicPr>
          <p:cNvPr id="39" name="!!Picture 10645dc9" descr="image.jpg"/>
          <p:cNvPicPr>
            <a:picLocks noChangeAspect="1"/>
          </p:cNvPicPr>
          <p:nvPr/>
        </p:nvPicPr>
        <p:blipFill>
          <a:blip r:embed="rId6"/>
          <a:stretch>
            <a:fillRect/>
          </a:stretch>
        </p:blipFill>
        <p:spPr>
          <a:xfrm>
            <a:off x="11125051" y="1957685"/>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40" name="!!Picture fa66dd2b" descr="image.jpg"/>
          <p:cNvPicPr>
            <a:picLocks noChangeAspect="1"/>
          </p:cNvPicPr>
          <p:nvPr/>
        </p:nvPicPr>
        <p:blipFill>
          <a:blip r:embed="rId3"/>
          <a:stretch>
            <a:fillRect/>
          </a:stretch>
        </p:blipFill>
        <p:spPr>
          <a:xfrm>
            <a:off x="11296501" y="1957685"/>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41" name="!!Picture 04939d8e" descr="image.jpg"/>
          <p:cNvPicPr>
            <a:picLocks noChangeAspect="1"/>
          </p:cNvPicPr>
          <p:nvPr/>
        </p:nvPicPr>
        <p:blipFill>
          <a:blip r:embed="rId4"/>
          <a:stretch>
            <a:fillRect/>
          </a:stretch>
        </p:blipFill>
        <p:spPr>
          <a:xfrm>
            <a:off x="11467951" y="1957685"/>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sp>
        <p:nvSpPr>
          <p:cNvPr id="42" name="!!ps-el b9a39bfd"/>
          <p:cNvSpPr/>
          <p:nvPr/>
        </p:nvSpPr>
        <p:spPr>
          <a:xfrm>
            <a:off x="7226201" y="2780705"/>
            <a:ext cx="114300" cy="114300"/>
          </a:xfrm>
          <a:prstGeom prst="ellipse">
            <a:avLst/>
          </a:prstGeom>
          <a:solidFill>
            <a:srgbClr val="971320"/>
          </a:solidFill>
          <a:ln>
            <a:noFill/>
          </a:ln>
        </p:spPr>
        <p:txBody>
          <a:bodyPr rtlCol="0" anchor="ctr"/>
          <a:lstStyle/>
          <a:p>
            <a:pPr algn="ctr"/>
            <a:endParaRPr/>
          </a:p>
        </p:txBody>
      </p:sp>
      <p:sp>
        <p:nvSpPr>
          <p:cNvPr id="43" name="!!T 2032"/>
          <p:cNvSpPr txBox="1"/>
          <p:nvPr/>
        </p:nvSpPr>
        <p:spPr>
          <a:xfrm>
            <a:off x="7435751" y="2721019"/>
            <a:ext cx="520369"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1B1716"/>
                </a:solidFill>
                <a:latin typeface="Plus Jakarta Sans"/>
              </a:rPr>
              <a:t>2032</a:t>
            </a:r>
          </a:p>
        </p:txBody>
      </p:sp>
      <p:sp>
        <p:nvSpPr>
          <p:cNvPr id="44" name="!!T Chloe starts work"/>
          <p:cNvSpPr txBox="1"/>
          <p:nvPr/>
        </p:nvSpPr>
        <p:spPr>
          <a:xfrm>
            <a:off x="8464451" y="2631126"/>
            <a:ext cx="1476223"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Chloe starts work</a:t>
            </a:r>
          </a:p>
        </p:txBody>
      </p:sp>
      <p:sp>
        <p:nvSpPr>
          <p:cNvPr id="45" name="!!T with a plan of her own"/>
          <p:cNvSpPr txBox="1"/>
          <p:nvPr/>
        </p:nvSpPr>
        <p:spPr>
          <a:xfrm>
            <a:off x="8464451" y="2834646"/>
            <a:ext cx="1530650"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with a plan of her own</a:t>
            </a:r>
          </a:p>
        </p:txBody>
      </p:sp>
      <p:pic>
        <p:nvPicPr>
          <p:cNvPr id="46" name="!!Picture 3f248ff5" descr="image.jpg"/>
          <p:cNvPicPr>
            <a:picLocks noChangeAspect="1"/>
          </p:cNvPicPr>
          <p:nvPr/>
        </p:nvPicPr>
        <p:blipFill>
          <a:blip r:embed="rId6"/>
          <a:stretch>
            <a:fillRect/>
          </a:stretch>
        </p:blipFill>
        <p:spPr>
          <a:xfrm>
            <a:off x="11467951" y="2704505"/>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sp>
        <p:nvSpPr>
          <p:cNvPr id="47" name="!!ps-el 3717c98e"/>
          <p:cNvSpPr/>
          <p:nvPr/>
        </p:nvSpPr>
        <p:spPr>
          <a:xfrm>
            <a:off x="7226201" y="3527524"/>
            <a:ext cx="114300" cy="114300"/>
          </a:xfrm>
          <a:prstGeom prst="ellipse">
            <a:avLst/>
          </a:prstGeom>
          <a:solidFill>
            <a:srgbClr val="971320"/>
          </a:solidFill>
          <a:ln>
            <a:noFill/>
          </a:ln>
        </p:spPr>
        <p:txBody>
          <a:bodyPr rtlCol="0" anchor="ctr"/>
          <a:lstStyle/>
          <a:p>
            <a:pPr algn="ctr"/>
            <a:endParaRPr/>
          </a:p>
        </p:txBody>
      </p:sp>
      <p:sp>
        <p:nvSpPr>
          <p:cNvPr id="48" name="!!T 2035–39"/>
          <p:cNvSpPr txBox="1"/>
          <p:nvPr/>
        </p:nvSpPr>
        <p:spPr>
          <a:xfrm>
            <a:off x="7435751" y="3467838"/>
            <a:ext cx="824999"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1B1716"/>
                </a:solidFill>
                <a:latin typeface="Plus Jakarta Sans"/>
              </a:rPr>
              <a:t>2035–39</a:t>
            </a:r>
          </a:p>
        </p:txBody>
      </p:sp>
      <p:sp>
        <p:nvSpPr>
          <p:cNvPr id="49" name="!!T Carmen's business"/>
          <p:cNvSpPr txBox="1"/>
          <p:nvPr/>
        </p:nvSpPr>
        <p:spPr>
          <a:xfrm>
            <a:off x="8464451" y="3377946"/>
            <a:ext cx="157419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Carmen's business</a:t>
            </a:r>
          </a:p>
        </p:txBody>
      </p:sp>
      <p:sp>
        <p:nvSpPr>
          <p:cNvPr id="50" name="!!T sold in stages to her team"/>
          <p:cNvSpPr txBox="1"/>
          <p:nvPr/>
        </p:nvSpPr>
        <p:spPr>
          <a:xfrm>
            <a:off x="8464451" y="3581465"/>
            <a:ext cx="1804833"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sold in stages to her team</a:t>
            </a:r>
          </a:p>
        </p:txBody>
      </p:sp>
      <p:pic>
        <p:nvPicPr>
          <p:cNvPr id="51" name="!!Picture d11c9736" descr="image.jpg"/>
          <p:cNvPicPr>
            <a:picLocks noChangeAspect="1"/>
          </p:cNvPicPr>
          <p:nvPr/>
        </p:nvPicPr>
        <p:blipFill>
          <a:blip r:embed="rId4"/>
          <a:stretch>
            <a:fillRect/>
          </a:stretch>
        </p:blipFill>
        <p:spPr>
          <a:xfrm>
            <a:off x="11467951" y="3451324"/>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sp>
        <p:nvSpPr>
          <p:cNvPr id="52" name="!!ps-el e76982b8"/>
          <p:cNvSpPr/>
          <p:nvPr/>
        </p:nvSpPr>
        <p:spPr>
          <a:xfrm>
            <a:off x="7226201" y="4274344"/>
            <a:ext cx="114300" cy="114300"/>
          </a:xfrm>
          <a:prstGeom prst="ellipse">
            <a:avLst/>
          </a:prstGeom>
          <a:solidFill>
            <a:srgbClr val="971320"/>
          </a:solidFill>
          <a:ln>
            <a:noFill/>
          </a:ln>
        </p:spPr>
        <p:txBody>
          <a:bodyPr rtlCol="0" anchor="ctr"/>
          <a:lstStyle/>
          <a:p>
            <a:pPr algn="ctr"/>
            <a:endParaRPr/>
          </a:p>
        </p:txBody>
      </p:sp>
      <p:sp>
        <p:nvSpPr>
          <p:cNvPr id="53" name="!!T 2037–39"/>
          <p:cNvSpPr txBox="1"/>
          <p:nvPr/>
        </p:nvSpPr>
        <p:spPr>
          <a:xfrm>
            <a:off x="7435751" y="4214658"/>
            <a:ext cx="816007"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1B1716"/>
                </a:solidFill>
                <a:latin typeface="Plus Jakarta Sans"/>
              </a:rPr>
              <a:t>2037–39</a:t>
            </a:r>
          </a:p>
        </p:txBody>
      </p:sp>
      <p:sp>
        <p:nvSpPr>
          <p:cNvPr id="54" name="!!T They retire"/>
          <p:cNvSpPr txBox="1"/>
          <p:nvPr/>
        </p:nvSpPr>
        <p:spPr>
          <a:xfrm>
            <a:off x="8464451" y="4124766"/>
            <a:ext cx="934167"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They retire</a:t>
            </a:r>
          </a:p>
        </p:txBody>
      </p:sp>
      <p:sp>
        <p:nvSpPr>
          <p:cNvPr id="55" name="!!T the home released; an annuity each"/>
          <p:cNvSpPr txBox="1"/>
          <p:nvPr/>
        </p:nvSpPr>
        <p:spPr>
          <a:xfrm>
            <a:off x="8464451" y="4328285"/>
            <a:ext cx="2456846" cy="180022"/>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the home released; an annuity each</a:t>
            </a:r>
          </a:p>
        </p:txBody>
      </p:sp>
      <p:pic>
        <p:nvPicPr>
          <p:cNvPr id="56" name="!!Picture 6aeb2954" descr="image.jpg"/>
          <p:cNvPicPr>
            <a:picLocks noChangeAspect="1"/>
          </p:cNvPicPr>
          <p:nvPr/>
        </p:nvPicPr>
        <p:blipFill>
          <a:blip r:embed="rId3"/>
          <a:stretch>
            <a:fillRect/>
          </a:stretch>
        </p:blipFill>
        <p:spPr>
          <a:xfrm>
            <a:off x="11296501" y="4198144"/>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57" name="!!Picture b62b3fad" descr="image.jpg"/>
          <p:cNvPicPr>
            <a:picLocks noChangeAspect="1"/>
          </p:cNvPicPr>
          <p:nvPr/>
        </p:nvPicPr>
        <p:blipFill>
          <a:blip r:embed="rId4"/>
          <a:stretch>
            <a:fillRect/>
          </a:stretch>
        </p:blipFill>
        <p:spPr>
          <a:xfrm>
            <a:off x="11467951" y="4198144"/>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sp>
        <p:nvSpPr>
          <p:cNvPr id="58" name="!!ps-el 771a37b3"/>
          <p:cNvSpPr/>
          <p:nvPr/>
        </p:nvSpPr>
        <p:spPr>
          <a:xfrm>
            <a:off x="7226201" y="5021163"/>
            <a:ext cx="114300" cy="114300"/>
          </a:xfrm>
          <a:prstGeom prst="ellipse">
            <a:avLst/>
          </a:prstGeom>
          <a:solidFill>
            <a:srgbClr val="971320"/>
          </a:solidFill>
          <a:ln>
            <a:noFill/>
          </a:ln>
        </p:spPr>
        <p:txBody>
          <a:bodyPr rtlCol="0" anchor="ctr"/>
          <a:lstStyle/>
          <a:p>
            <a:pPr algn="ctr"/>
            <a:endParaRPr/>
          </a:p>
        </p:txBody>
      </p:sp>
      <p:sp>
        <p:nvSpPr>
          <p:cNvPr id="59" name="!!T 2047"/>
          <p:cNvSpPr txBox="1"/>
          <p:nvPr/>
        </p:nvSpPr>
        <p:spPr>
          <a:xfrm>
            <a:off x="7435751" y="4961477"/>
            <a:ext cx="521157"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1B1716"/>
                </a:solidFill>
                <a:latin typeface="Plus Jakarta Sans"/>
              </a:rPr>
              <a:t>2047</a:t>
            </a:r>
          </a:p>
        </p:txBody>
      </p:sp>
      <p:sp>
        <p:nvSpPr>
          <p:cNvPr id="60" name="!!T The medical review"/>
          <p:cNvSpPr txBox="1"/>
          <p:nvPr/>
        </p:nvSpPr>
        <p:spPr>
          <a:xfrm>
            <a:off x="8464451" y="4871585"/>
            <a:ext cx="159738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The medical review</a:t>
            </a:r>
          </a:p>
        </p:txBody>
      </p:sp>
      <p:sp>
        <p:nvSpPr>
          <p:cNvPr id="61" name="!!T at Adrian's 75"/>
          <p:cNvSpPr txBox="1"/>
          <p:nvPr/>
        </p:nvSpPr>
        <p:spPr>
          <a:xfrm>
            <a:off x="8464451" y="5075105"/>
            <a:ext cx="989856"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1B1716"/>
                </a:solidFill>
                <a:latin typeface="Plus Jakarta Sans"/>
              </a:rPr>
              <a:t>at Adrian's 75</a:t>
            </a:r>
          </a:p>
        </p:txBody>
      </p:sp>
      <p:pic>
        <p:nvPicPr>
          <p:cNvPr id="62" name="!!Picture bb69afc7" descr="image.jpg"/>
          <p:cNvPicPr>
            <a:picLocks noChangeAspect="1"/>
          </p:cNvPicPr>
          <p:nvPr/>
        </p:nvPicPr>
        <p:blipFill>
          <a:blip r:embed="rId3"/>
          <a:stretch>
            <a:fillRect/>
          </a:stretch>
        </p:blipFill>
        <p:spPr>
          <a:xfrm>
            <a:off x="11296501" y="4944963"/>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pic>
        <p:nvPicPr>
          <p:cNvPr id="63" name="!!Picture e76b9a10" descr="image.jpg"/>
          <p:cNvPicPr>
            <a:picLocks noChangeAspect="1"/>
          </p:cNvPicPr>
          <p:nvPr/>
        </p:nvPicPr>
        <p:blipFill>
          <a:blip r:embed="rId4"/>
          <a:stretch>
            <a:fillRect/>
          </a:stretch>
        </p:blipFill>
        <p:spPr>
          <a:xfrm>
            <a:off x="11467951" y="4944963"/>
            <a:ext cx="266700" cy="266700"/>
          </a:xfrm>
          <a:prstGeom prst="ellipse">
            <a:avLst/>
          </a:prstGeom>
          <a:ln w="19050">
            <a:solidFill>
              <a:srgbClr val="FFFFFF"/>
            </a:solidFill>
          </a:ln>
          <a:effectLst>
            <a:outerShdw blurRad="28575" dist="9525" dir="5400000" algn="ctr" rotWithShape="0">
              <a:srgbClr val="5A1520">
                <a:alpha val="18000"/>
              </a:srgbClr>
            </a:outerShdw>
          </a:effectLst>
        </p:spPr>
      </p:pic>
      <p:sp>
        <p:nvSpPr>
          <p:cNvPr id="64" name="!!Rule 15a2d7a3"/>
          <p:cNvSpPr/>
          <p:nvPr/>
        </p:nvSpPr>
        <p:spPr>
          <a:xfrm>
            <a:off x="457200" y="5400675"/>
            <a:ext cx="11277600" cy="9525"/>
          </a:xfrm>
          <a:prstGeom prst="rect">
            <a:avLst/>
          </a:prstGeom>
          <a:solidFill>
            <a:srgbClr val="ECDADD"/>
          </a:solidFill>
          <a:ln>
            <a:noFill/>
          </a:ln>
        </p:spPr>
        <p:txBody>
          <a:bodyPr rtlCol="0" anchor="ctr"/>
          <a:lstStyle/>
          <a:p>
            <a:pPr algn="ctr"/>
            <a:endParaRPr/>
          </a:p>
        </p:txBody>
      </p:sp>
      <p:pic>
        <p:nvPicPr>
          <p:cNvPr id="65" name="!!Drawing b74e5c59" descr="image.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7200" y="5524500"/>
            <a:ext cx="190500" cy="190500"/>
          </a:xfrm>
          <a:prstGeom prst="rect">
            <a:avLst/>
          </a:prstGeom>
        </p:spPr>
      </p:pic>
      <p:sp>
        <p:nvSpPr>
          <p:cNvPr id="66" name="!!T Reviewed as life changes: the portfolio "/>
          <p:cNvSpPr txBox="1"/>
          <p:nvPr/>
        </p:nvSpPr>
        <p:spPr>
          <a:xfrm>
            <a:off x="762000" y="5510814"/>
            <a:ext cx="11592601" cy="186690"/>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1B1716"/>
                </a:solidFill>
                <a:latin typeface="Plus Jakarta Sans"/>
              </a:rPr>
              <a:t>Reviewed as life changes:</a:t>
            </a:r>
            <a:r>
              <a:rPr sz="1050" b="0" i="0" kern="100">
                <a:solidFill>
                  <a:srgbClr val="1B1716"/>
                </a:solidFill>
                <a:latin typeface="Plus Jakarta Sans"/>
              </a:rPr>
              <a:t> the portfolio every quarter; a family meeting every year; at once after a death, a disability, a business sale, a 20% market fall or a 1.5-point rate move</a:t>
            </a:r>
          </a:p>
        </p:txBody>
      </p:sp>
      <p:sp>
        <p:nvSpPr>
          <p:cNvPr id="67"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68" name="!!T For the Wongs, it starts this month; for"/>
          <p:cNvSpPr txBox="1"/>
          <p:nvPr/>
        </p:nvSpPr>
        <p:spPr>
          <a:xfrm>
            <a:off x="2557766" y="5984558"/>
            <a:ext cx="7076468"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For the Wongs, it starts this month; for Ryan and Chloe, it lasts beyond it.</a:t>
            </a:r>
          </a:p>
        </p:txBody>
      </p:sp>
      <p:sp>
        <p:nvSpPr>
          <p:cNvPr id="69" name="!!T The roadmap: written case §10, Figure 23"/>
          <p:cNvSpPr txBox="1"/>
          <p:nvPr/>
        </p:nvSpPr>
        <p:spPr>
          <a:xfrm>
            <a:off x="457200" y="6452104"/>
            <a:ext cx="5222813"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The roadmap: written case §10, Figure 23; the faces are who acts on each step (its owners).</a:t>
            </a:r>
          </a:p>
          <a:p>
            <a:pPr algn="l">
              <a:lnSpc>
                <a:spcPts val="1170"/>
              </a:lnSpc>
              <a:spcBef>
                <a:spcPts val="0"/>
              </a:spcBef>
              <a:spcAft>
                <a:spcPts val="0"/>
              </a:spcAft>
            </a:pPr>
            <a:r>
              <a:rPr sz="900" b="0" i="0" kern="100">
                <a:solidFill>
                  <a:srgbClr val="80606A"/>
                </a:solidFill>
                <a:latin typeface="Plus Jakarta Sans"/>
              </a:rPr>
              <a:t>Illustrations, fictional.</a:t>
            </a:r>
          </a:p>
        </p:txBody>
      </p:sp>
      <p:sp>
        <p:nvSpPr>
          <p:cNvPr id="70" name="!!T The problem"/>
          <p:cNvSpPr txBox="1"/>
          <p:nvPr/>
        </p:nvSpPr>
        <p:spPr>
          <a:xfrm>
            <a:off x="6652617"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71" name="!!T The answer"/>
          <p:cNvSpPr txBox="1"/>
          <p:nvPr/>
        </p:nvSpPr>
        <p:spPr>
          <a:xfrm>
            <a:off x="7598866"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72" name="!!T The five calls"/>
          <p:cNvSpPr txBox="1"/>
          <p:nvPr/>
        </p:nvSpPr>
        <p:spPr>
          <a:xfrm>
            <a:off x="8459093"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73" name="!!T Will it hold"/>
          <p:cNvSpPr txBox="1"/>
          <p:nvPr/>
        </p:nvSpPr>
        <p:spPr>
          <a:xfrm>
            <a:off x="9395966"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74" name="!!T What next"/>
          <p:cNvSpPr txBox="1"/>
          <p:nvPr/>
        </p:nvSpPr>
        <p:spPr>
          <a:xfrm>
            <a:off x="10193982" y="6536246"/>
            <a:ext cx="75369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What next</a:t>
            </a:r>
          </a:p>
        </p:txBody>
      </p:sp>
      <p:sp>
        <p:nvSpPr>
          <p:cNvPr id="75" name="!!T Us"/>
          <p:cNvSpPr txBox="1"/>
          <p:nvPr/>
        </p:nvSpPr>
        <p:spPr>
          <a:xfrm>
            <a:off x="11006733"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76" name="!!T 11 / 15"/>
          <p:cNvSpPr txBox="1"/>
          <p:nvPr/>
        </p:nvSpPr>
        <p:spPr>
          <a:xfrm>
            <a:off x="11385054" y="6535674"/>
            <a:ext cx="485031"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11 / 15</a:t>
            </a:r>
          </a:p>
        </p:txBody>
      </p:sp>
      <p:sp>
        <p:nvSpPr>
          <p:cNvPr id="77" name="!!Ring 4877fa0e"/>
          <p:cNvSpPr/>
          <p:nvPr/>
        </p:nvSpPr>
        <p:spPr>
          <a:xfrm>
            <a:off x="409575" y="2691557"/>
            <a:ext cx="590550" cy="590550"/>
          </a:xfrm>
          <a:prstGeom prst="ellipse">
            <a:avLst/>
          </a:prstGeom>
          <a:solidFill>
            <a:srgbClr val="FFFFFF"/>
          </a:solidFill>
          <a:ln>
            <a:noFill/>
          </a:ln>
        </p:spPr>
        <p:txBody>
          <a:bodyPr rtlCol="0" anchor="ctr"/>
          <a:lstStyle/>
          <a:p>
            <a:pPr algn="ctr"/>
            <a:endParaRPr/>
          </a:p>
        </p:txBody>
      </p:sp>
      <p:sp>
        <p:nvSpPr>
          <p:cNvPr id="78" name="!!span 625ab906"/>
          <p:cNvSpPr/>
          <p:nvPr/>
        </p:nvSpPr>
        <p:spPr>
          <a:xfrm>
            <a:off x="457200" y="2739182"/>
            <a:ext cx="495300" cy="495300"/>
          </a:xfrm>
          <a:prstGeom prst="ellipse">
            <a:avLst/>
          </a:prstGeom>
          <a:gradFill rotWithShape="0">
            <a:gsLst>
              <a:gs pos="0">
                <a:srgbClr val="D40F1F"/>
              </a:gs>
              <a:gs pos="100000">
                <a:srgbClr val="971320"/>
              </a:gs>
            </a:gsLst>
            <a:lin ang="5400000" scaled="0"/>
          </a:gradFill>
          <a:ln>
            <a:noFill/>
          </a:ln>
        </p:spPr>
        <p:txBody>
          <a:bodyPr rtlCol="0" anchor="ctr"/>
          <a:lstStyle/>
          <a:p>
            <a:pPr algn="ctr"/>
            <a:endParaRPr/>
          </a:p>
        </p:txBody>
      </p:sp>
      <p:pic>
        <p:nvPicPr>
          <p:cNvPr id="79" name="!!Drawing d47f8ea3" descr="image.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0550" y="2872532"/>
            <a:ext cx="228600" cy="228600"/>
          </a:xfrm>
          <a:prstGeom prst="rect">
            <a:avLst/>
          </a:prstGeom>
        </p:spPr>
      </p:pic>
      <p:sp>
        <p:nvSpPr>
          <p:cNvPr id="80" name="!!Ring dd7cb4d9"/>
          <p:cNvSpPr/>
          <p:nvPr/>
        </p:nvSpPr>
        <p:spPr>
          <a:xfrm>
            <a:off x="2030313" y="2691557"/>
            <a:ext cx="590550" cy="590550"/>
          </a:xfrm>
          <a:prstGeom prst="ellipse">
            <a:avLst/>
          </a:prstGeom>
          <a:solidFill>
            <a:srgbClr val="FFFFFF"/>
          </a:solidFill>
          <a:ln>
            <a:noFill/>
          </a:ln>
        </p:spPr>
        <p:txBody>
          <a:bodyPr rtlCol="0" anchor="ctr"/>
          <a:lstStyle/>
          <a:p>
            <a:pPr algn="ctr"/>
            <a:endParaRPr/>
          </a:p>
        </p:txBody>
      </p:sp>
      <p:sp>
        <p:nvSpPr>
          <p:cNvPr id="81" name="!!span 2d0c4856"/>
          <p:cNvSpPr/>
          <p:nvPr/>
        </p:nvSpPr>
        <p:spPr>
          <a:xfrm>
            <a:off x="2077938" y="2739182"/>
            <a:ext cx="495300" cy="495300"/>
          </a:xfrm>
          <a:prstGeom prst="ellipse">
            <a:avLst/>
          </a:prstGeom>
          <a:solidFill>
            <a:srgbClr val="F8EFF0"/>
          </a:solidFill>
          <a:ln>
            <a:noFill/>
          </a:ln>
        </p:spPr>
        <p:txBody>
          <a:bodyPr rtlCol="0" anchor="ctr"/>
          <a:lstStyle/>
          <a:p>
            <a:pPr algn="ctr"/>
            <a:endParaRPr/>
          </a:p>
        </p:txBody>
      </p:sp>
      <p:pic>
        <p:nvPicPr>
          <p:cNvPr id="82" name="!!Drawing b078a87f" descr="image.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211288" y="2872532"/>
            <a:ext cx="228600" cy="228600"/>
          </a:xfrm>
          <a:prstGeom prst="rect">
            <a:avLst/>
          </a:prstGeom>
        </p:spPr>
      </p:pic>
      <p:sp>
        <p:nvSpPr>
          <p:cNvPr id="83" name="!!Ring 55aecc8e"/>
          <p:cNvSpPr/>
          <p:nvPr/>
        </p:nvSpPr>
        <p:spPr>
          <a:xfrm>
            <a:off x="3651200" y="2691557"/>
            <a:ext cx="590550" cy="590550"/>
          </a:xfrm>
          <a:prstGeom prst="ellipse">
            <a:avLst/>
          </a:prstGeom>
          <a:solidFill>
            <a:srgbClr val="FFFFFF"/>
          </a:solidFill>
          <a:ln>
            <a:noFill/>
          </a:ln>
        </p:spPr>
        <p:txBody>
          <a:bodyPr rtlCol="0" anchor="ctr"/>
          <a:lstStyle/>
          <a:p>
            <a:pPr algn="ctr"/>
            <a:endParaRPr/>
          </a:p>
        </p:txBody>
      </p:sp>
      <p:sp>
        <p:nvSpPr>
          <p:cNvPr id="84" name="!!span cbd59824"/>
          <p:cNvSpPr/>
          <p:nvPr/>
        </p:nvSpPr>
        <p:spPr>
          <a:xfrm>
            <a:off x="3698825" y="2739182"/>
            <a:ext cx="495300" cy="495300"/>
          </a:xfrm>
          <a:prstGeom prst="ellipse">
            <a:avLst/>
          </a:prstGeom>
          <a:solidFill>
            <a:srgbClr val="F8EFF0"/>
          </a:solidFill>
          <a:ln>
            <a:noFill/>
          </a:ln>
        </p:spPr>
        <p:txBody>
          <a:bodyPr rtlCol="0" anchor="ctr"/>
          <a:lstStyle/>
          <a:p>
            <a:pPr algn="ctr"/>
            <a:endParaRPr/>
          </a:p>
        </p:txBody>
      </p:sp>
      <p:pic>
        <p:nvPicPr>
          <p:cNvPr id="85" name="!!Drawing bd0f25c0" descr="image.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32175" y="2872532"/>
            <a:ext cx="228600" cy="228600"/>
          </a:xfrm>
          <a:prstGeom prst="rect">
            <a:avLst/>
          </a:prstGeom>
        </p:spPr>
      </p:pic>
      <p:sp>
        <p:nvSpPr>
          <p:cNvPr id="86" name="!!Ring 6d8a1c38"/>
          <p:cNvSpPr/>
          <p:nvPr/>
        </p:nvSpPr>
        <p:spPr>
          <a:xfrm>
            <a:off x="5271939" y="2691557"/>
            <a:ext cx="590550" cy="590550"/>
          </a:xfrm>
          <a:prstGeom prst="ellipse">
            <a:avLst/>
          </a:prstGeom>
          <a:solidFill>
            <a:srgbClr val="FFFFFF"/>
          </a:solidFill>
          <a:ln>
            <a:noFill/>
          </a:ln>
        </p:spPr>
        <p:txBody>
          <a:bodyPr rtlCol="0" anchor="ctr"/>
          <a:lstStyle/>
          <a:p>
            <a:pPr algn="ctr"/>
            <a:endParaRPr/>
          </a:p>
        </p:txBody>
      </p:sp>
      <p:sp>
        <p:nvSpPr>
          <p:cNvPr id="87" name="!!span d0d204da"/>
          <p:cNvSpPr/>
          <p:nvPr/>
        </p:nvSpPr>
        <p:spPr>
          <a:xfrm>
            <a:off x="5319564" y="2739182"/>
            <a:ext cx="495300" cy="495300"/>
          </a:xfrm>
          <a:prstGeom prst="ellipse">
            <a:avLst/>
          </a:prstGeom>
          <a:solidFill>
            <a:srgbClr val="F8EFF0"/>
          </a:solidFill>
          <a:ln>
            <a:noFill/>
          </a:ln>
        </p:spPr>
        <p:txBody>
          <a:bodyPr rtlCol="0" anchor="ctr"/>
          <a:lstStyle/>
          <a:p>
            <a:pPr algn="ctr"/>
            <a:endParaRPr/>
          </a:p>
        </p:txBody>
      </p:sp>
      <p:pic>
        <p:nvPicPr>
          <p:cNvPr id="88" name="!!Drawing 9d1c2717" descr="image.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52914" y="2872532"/>
            <a:ext cx="228600" cy="228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300"/>
                                        <p:tgtEl>
                                          <p:spTgt spid="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300"/>
                                        <p:tgtEl>
                                          <p:spTgt spid="3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300"/>
                                        <p:tgtEl>
                                          <p:spTgt spid="3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300"/>
                                        <p:tgtEl>
                                          <p:spTgt spid="3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300"/>
                                        <p:tgtEl>
                                          <p:spTgt spid="3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300"/>
                                        <p:tgtEl>
                                          <p:spTgt spid="3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300"/>
                                        <p:tgtEl>
                                          <p:spTgt spid="38"/>
                                        </p:tgtEl>
                                      </p:cBhvr>
                                    </p:animEffect>
                                  </p:childTnLst>
                                </p:cTn>
                              </p:par>
                              <p:par>
                                <p:cTn id="26" presetID="10" presetClass="entr" presetSubtype="0" fill="hold" nodeType="with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300"/>
                                        <p:tgtEl>
                                          <p:spTgt spid="39"/>
                                        </p:tgtEl>
                                      </p:cBhvr>
                                    </p:animEffect>
                                  </p:childTnLst>
                                </p:cTn>
                              </p:par>
                              <p:par>
                                <p:cTn id="29" presetID="10" presetClass="entr" presetSubtype="0"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300"/>
                                        <p:tgtEl>
                                          <p:spTgt spid="40"/>
                                        </p:tgtEl>
                                      </p:cBhvr>
                                    </p:animEffect>
                                  </p:childTnLst>
                                </p:cTn>
                              </p:par>
                              <p:par>
                                <p:cTn id="32" presetID="10" presetClass="entr" presetSubtype="0" fill="hold" nodeType="with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fade">
                                      <p:cBhvr>
                                        <p:cTn id="34" dur="300"/>
                                        <p:tgtEl>
                                          <p:spTgt spid="4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300"/>
                                        <p:tgtEl>
                                          <p:spTgt spid="4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300"/>
                                        <p:tgtEl>
                                          <p:spTgt spid="4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300"/>
                                        <p:tgtEl>
                                          <p:spTgt spid="4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fade">
                                      <p:cBhvr>
                                        <p:cTn id="46" dur="300"/>
                                        <p:tgtEl>
                                          <p:spTgt spid="45"/>
                                        </p:tgtEl>
                                      </p:cBhvr>
                                    </p:animEffect>
                                  </p:childTnLst>
                                </p:cTn>
                              </p:par>
                              <p:par>
                                <p:cTn id="47" presetID="10" presetClass="entr" presetSubtype="0" fill="hold" nodeType="withEffect">
                                  <p:stCondLst>
                                    <p:cond delay="0"/>
                                  </p:stCondLst>
                                  <p:childTnLst>
                                    <p:set>
                                      <p:cBhvr>
                                        <p:cTn id="48" dur="1" fill="hold">
                                          <p:stCondLst>
                                            <p:cond delay="0"/>
                                          </p:stCondLst>
                                        </p:cTn>
                                        <p:tgtEl>
                                          <p:spTgt spid="46"/>
                                        </p:tgtEl>
                                        <p:attrNameLst>
                                          <p:attrName>style.visibility</p:attrName>
                                        </p:attrNameLst>
                                      </p:cBhvr>
                                      <p:to>
                                        <p:strVal val="visible"/>
                                      </p:to>
                                    </p:set>
                                    <p:animEffect transition="in" filter="fade">
                                      <p:cBhvr>
                                        <p:cTn id="49" dur="300"/>
                                        <p:tgtEl>
                                          <p:spTgt spid="4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300"/>
                                        <p:tgtEl>
                                          <p:spTgt spid="4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300"/>
                                        <p:tgtEl>
                                          <p:spTgt spid="4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300"/>
                                        <p:tgtEl>
                                          <p:spTgt spid="4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fade">
                                      <p:cBhvr>
                                        <p:cTn id="61" dur="300"/>
                                        <p:tgtEl>
                                          <p:spTgt spid="50"/>
                                        </p:tgtEl>
                                      </p:cBhvr>
                                    </p:animEffect>
                                  </p:childTnLst>
                                </p:cTn>
                              </p:par>
                              <p:par>
                                <p:cTn id="62" presetID="10" presetClass="entr" presetSubtype="0" fill="hold" nodeType="withEffect">
                                  <p:stCondLst>
                                    <p:cond delay="0"/>
                                  </p:stCondLst>
                                  <p:childTnLst>
                                    <p:set>
                                      <p:cBhvr>
                                        <p:cTn id="63" dur="1" fill="hold">
                                          <p:stCondLst>
                                            <p:cond delay="0"/>
                                          </p:stCondLst>
                                        </p:cTn>
                                        <p:tgtEl>
                                          <p:spTgt spid="51"/>
                                        </p:tgtEl>
                                        <p:attrNameLst>
                                          <p:attrName>style.visibility</p:attrName>
                                        </p:attrNameLst>
                                      </p:cBhvr>
                                      <p:to>
                                        <p:strVal val="visible"/>
                                      </p:to>
                                    </p:set>
                                    <p:animEffect transition="in" filter="fade">
                                      <p:cBhvr>
                                        <p:cTn id="64" dur="300"/>
                                        <p:tgtEl>
                                          <p:spTgt spid="5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animEffect transition="in" filter="fade">
                                      <p:cBhvr>
                                        <p:cTn id="67" dur="300"/>
                                        <p:tgtEl>
                                          <p:spTgt spid="5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3"/>
                                        </p:tgtEl>
                                        <p:attrNameLst>
                                          <p:attrName>style.visibility</p:attrName>
                                        </p:attrNameLst>
                                      </p:cBhvr>
                                      <p:to>
                                        <p:strVal val="visible"/>
                                      </p:to>
                                    </p:set>
                                    <p:animEffect transition="in" filter="fade">
                                      <p:cBhvr>
                                        <p:cTn id="70" dur="300"/>
                                        <p:tgtEl>
                                          <p:spTgt spid="5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4"/>
                                        </p:tgtEl>
                                        <p:attrNameLst>
                                          <p:attrName>style.visibility</p:attrName>
                                        </p:attrNameLst>
                                      </p:cBhvr>
                                      <p:to>
                                        <p:strVal val="visible"/>
                                      </p:to>
                                    </p:set>
                                    <p:animEffect transition="in" filter="fade">
                                      <p:cBhvr>
                                        <p:cTn id="73" dur="300"/>
                                        <p:tgtEl>
                                          <p:spTgt spid="5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55"/>
                                        </p:tgtEl>
                                        <p:attrNameLst>
                                          <p:attrName>style.visibility</p:attrName>
                                        </p:attrNameLst>
                                      </p:cBhvr>
                                      <p:to>
                                        <p:strVal val="visible"/>
                                      </p:to>
                                    </p:set>
                                    <p:animEffect transition="in" filter="fade">
                                      <p:cBhvr>
                                        <p:cTn id="76" dur="300"/>
                                        <p:tgtEl>
                                          <p:spTgt spid="55"/>
                                        </p:tgtEl>
                                      </p:cBhvr>
                                    </p:animEffect>
                                  </p:childTnLst>
                                </p:cTn>
                              </p:par>
                              <p:par>
                                <p:cTn id="77" presetID="10" presetClass="entr" presetSubtype="0" fill="hold" nodeType="withEffect">
                                  <p:stCondLst>
                                    <p:cond delay="0"/>
                                  </p:stCondLst>
                                  <p:childTnLst>
                                    <p:set>
                                      <p:cBhvr>
                                        <p:cTn id="78" dur="1" fill="hold">
                                          <p:stCondLst>
                                            <p:cond delay="0"/>
                                          </p:stCondLst>
                                        </p:cTn>
                                        <p:tgtEl>
                                          <p:spTgt spid="56"/>
                                        </p:tgtEl>
                                        <p:attrNameLst>
                                          <p:attrName>style.visibility</p:attrName>
                                        </p:attrNameLst>
                                      </p:cBhvr>
                                      <p:to>
                                        <p:strVal val="visible"/>
                                      </p:to>
                                    </p:set>
                                    <p:animEffect transition="in" filter="fade">
                                      <p:cBhvr>
                                        <p:cTn id="79" dur="300"/>
                                        <p:tgtEl>
                                          <p:spTgt spid="56"/>
                                        </p:tgtEl>
                                      </p:cBhvr>
                                    </p:animEffect>
                                  </p:childTnLst>
                                </p:cTn>
                              </p:par>
                              <p:par>
                                <p:cTn id="80" presetID="10" presetClass="entr" presetSubtype="0" fill="hold" nodeType="withEffect">
                                  <p:stCondLst>
                                    <p:cond delay="0"/>
                                  </p:stCondLst>
                                  <p:childTnLst>
                                    <p:set>
                                      <p:cBhvr>
                                        <p:cTn id="81" dur="1" fill="hold">
                                          <p:stCondLst>
                                            <p:cond delay="0"/>
                                          </p:stCondLst>
                                        </p:cTn>
                                        <p:tgtEl>
                                          <p:spTgt spid="57"/>
                                        </p:tgtEl>
                                        <p:attrNameLst>
                                          <p:attrName>style.visibility</p:attrName>
                                        </p:attrNameLst>
                                      </p:cBhvr>
                                      <p:to>
                                        <p:strVal val="visible"/>
                                      </p:to>
                                    </p:set>
                                    <p:animEffect transition="in" filter="fade">
                                      <p:cBhvr>
                                        <p:cTn id="82" dur="300"/>
                                        <p:tgtEl>
                                          <p:spTgt spid="5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8"/>
                                        </p:tgtEl>
                                        <p:attrNameLst>
                                          <p:attrName>style.visibility</p:attrName>
                                        </p:attrNameLst>
                                      </p:cBhvr>
                                      <p:to>
                                        <p:strVal val="visible"/>
                                      </p:to>
                                    </p:set>
                                    <p:animEffect transition="in" filter="fade">
                                      <p:cBhvr>
                                        <p:cTn id="85" dur="300"/>
                                        <p:tgtEl>
                                          <p:spTgt spid="5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9"/>
                                        </p:tgtEl>
                                        <p:attrNameLst>
                                          <p:attrName>style.visibility</p:attrName>
                                        </p:attrNameLst>
                                      </p:cBhvr>
                                      <p:to>
                                        <p:strVal val="visible"/>
                                      </p:to>
                                    </p:set>
                                    <p:animEffect transition="in" filter="fade">
                                      <p:cBhvr>
                                        <p:cTn id="88" dur="300"/>
                                        <p:tgtEl>
                                          <p:spTgt spid="5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0"/>
                                        </p:tgtEl>
                                        <p:attrNameLst>
                                          <p:attrName>style.visibility</p:attrName>
                                        </p:attrNameLst>
                                      </p:cBhvr>
                                      <p:to>
                                        <p:strVal val="visible"/>
                                      </p:to>
                                    </p:set>
                                    <p:animEffect transition="in" filter="fade">
                                      <p:cBhvr>
                                        <p:cTn id="91" dur="300"/>
                                        <p:tgtEl>
                                          <p:spTgt spid="6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1"/>
                                        </p:tgtEl>
                                        <p:attrNameLst>
                                          <p:attrName>style.visibility</p:attrName>
                                        </p:attrNameLst>
                                      </p:cBhvr>
                                      <p:to>
                                        <p:strVal val="visible"/>
                                      </p:to>
                                    </p:set>
                                    <p:animEffect transition="in" filter="fade">
                                      <p:cBhvr>
                                        <p:cTn id="94" dur="300"/>
                                        <p:tgtEl>
                                          <p:spTgt spid="61"/>
                                        </p:tgtEl>
                                      </p:cBhvr>
                                    </p:animEffect>
                                  </p:childTnLst>
                                </p:cTn>
                              </p:par>
                              <p:par>
                                <p:cTn id="95" presetID="10" presetClass="entr" presetSubtype="0" fill="hold" nodeType="withEffect">
                                  <p:stCondLst>
                                    <p:cond delay="0"/>
                                  </p:stCondLst>
                                  <p:childTnLst>
                                    <p:set>
                                      <p:cBhvr>
                                        <p:cTn id="96" dur="1" fill="hold">
                                          <p:stCondLst>
                                            <p:cond delay="0"/>
                                          </p:stCondLst>
                                        </p:cTn>
                                        <p:tgtEl>
                                          <p:spTgt spid="62"/>
                                        </p:tgtEl>
                                        <p:attrNameLst>
                                          <p:attrName>style.visibility</p:attrName>
                                        </p:attrNameLst>
                                      </p:cBhvr>
                                      <p:to>
                                        <p:strVal val="visible"/>
                                      </p:to>
                                    </p:set>
                                    <p:animEffect transition="in" filter="fade">
                                      <p:cBhvr>
                                        <p:cTn id="97" dur="300"/>
                                        <p:tgtEl>
                                          <p:spTgt spid="62"/>
                                        </p:tgtEl>
                                      </p:cBhvr>
                                    </p:animEffect>
                                  </p:childTnLst>
                                </p:cTn>
                              </p:par>
                              <p:par>
                                <p:cTn id="98" presetID="10" presetClass="entr" presetSubtype="0" fill="hold" nodeType="withEffect">
                                  <p:stCondLst>
                                    <p:cond delay="0"/>
                                  </p:stCondLst>
                                  <p:childTnLst>
                                    <p:set>
                                      <p:cBhvr>
                                        <p:cTn id="99" dur="1" fill="hold">
                                          <p:stCondLst>
                                            <p:cond delay="0"/>
                                          </p:stCondLst>
                                        </p:cTn>
                                        <p:tgtEl>
                                          <p:spTgt spid="63"/>
                                        </p:tgtEl>
                                        <p:attrNameLst>
                                          <p:attrName>style.visibility</p:attrName>
                                        </p:attrNameLst>
                                      </p:cBhvr>
                                      <p:to>
                                        <p:strVal val="visible"/>
                                      </p:to>
                                    </p:set>
                                    <p:animEffect transition="in" filter="fade">
                                      <p:cBhvr>
                                        <p:cTn id="100" dur="300"/>
                                        <p:tgtEl>
                                          <p:spTgt spid="63"/>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64"/>
                                        </p:tgtEl>
                                        <p:attrNameLst>
                                          <p:attrName>style.visibility</p:attrName>
                                        </p:attrNameLst>
                                      </p:cBhvr>
                                      <p:to>
                                        <p:strVal val="visible"/>
                                      </p:to>
                                    </p:set>
                                    <p:animEffect transition="in" filter="fade">
                                      <p:cBhvr>
                                        <p:cTn id="105" dur="300"/>
                                        <p:tgtEl>
                                          <p:spTgt spid="64"/>
                                        </p:tgtEl>
                                      </p:cBhvr>
                                    </p:animEffect>
                                  </p:childTnLst>
                                </p:cTn>
                              </p:par>
                              <p:par>
                                <p:cTn id="106" presetID="10" presetClass="entr" presetSubtype="0" fill="hold" nodeType="withEffect">
                                  <p:stCondLst>
                                    <p:cond delay="0"/>
                                  </p:stCondLst>
                                  <p:childTnLst>
                                    <p:set>
                                      <p:cBhvr>
                                        <p:cTn id="107" dur="1" fill="hold">
                                          <p:stCondLst>
                                            <p:cond delay="0"/>
                                          </p:stCondLst>
                                        </p:cTn>
                                        <p:tgtEl>
                                          <p:spTgt spid="65"/>
                                        </p:tgtEl>
                                        <p:attrNameLst>
                                          <p:attrName>style.visibility</p:attrName>
                                        </p:attrNameLst>
                                      </p:cBhvr>
                                      <p:to>
                                        <p:strVal val="visible"/>
                                      </p:to>
                                    </p:set>
                                    <p:animEffect transition="in" filter="fade">
                                      <p:cBhvr>
                                        <p:cTn id="108" dur="300"/>
                                        <p:tgtEl>
                                          <p:spTgt spid="65"/>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66"/>
                                        </p:tgtEl>
                                        <p:attrNameLst>
                                          <p:attrName>style.visibility</p:attrName>
                                        </p:attrNameLst>
                                      </p:cBhvr>
                                      <p:to>
                                        <p:strVal val="visible"/>
                                      </p:to>
                                    </p:set>
                                    <p:animEffect transition="in" filter="fade">
                                      <p:cBhvr>
                                        <p:cTn id="111" dur="300"/>
                                        <p:tgtEl>
                                          <p:spTgt spid="66"/>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67"/>
                                        </p:tgtEl>
                                        <p:attrNameLst>
                                          <p:attrName>style.visibility</p:attrName>
                                        </p:attrNameLst>
                                      </p:cBhvr>
                                      <p:to>
                                        <p:strVal val="visible"/>
                                      </p:to>
                                    </p:set>
                                    <p:animEffect transition="in" filter="fade">
                                      <p:cBhvr>
                                        <p:cTn id="114" dur="300"/>
                                        <p:tgtEl>
                                          <p:spTgt spid="67"/>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8"/>
                                        </p:tgtEl>
                                        <p:attrNameLst>
                                          <p:attrName>style.visibility</p:attrName>
                                        </p:attrNameLst>
                                      </p:cBhvr>
                                      <p:to>
                                        <p:strVal val="visible"/>
                                      </p:to>
                                    </p:set>
                                    <p:animEffect transition="in" filter="fade">
                                      <p:cBhvr>
                                        <p:cTn id="117" dur="3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42" grpId="0" animBg="1"/>
      <p:bldP spid="43" grpId="0" animBg="1"/>
      <p:bldP spid="44" grpId="0" animBg="1"/>
      <p:bldP spid="45" grpId="0" animBg="1"/>
      <p:bldP spid="47" grpId="0" animBg="1"/>
      <p:bldP spid="48" grpId="0" animBg="1"/>
      <p:bldP spid="49" grpId="0" animBg="1"/>
      <p:bldP spid="50" grpId="0" animBg="1"/>
      <p:bldP spid="52" grpId="0" animBg="1"/>
      <p:bldP spid="53" grpId="0" animBg="1"/>
      <p:bldP spid="54" grpId="0" animBg="1"/>
      <p:bldP spid="55" grpId="0" animBg="1"/>
      <p:bldP spid="58" grpId="0" animBg="1"/>
      <p:bldP spid="59" grpId="0" animBg="1"/>
      <p:bldP spid="60" grpId="0" animBg="1"/>
      <p:bldP spid="61" grpId="0" animBg="1"/>
      <p:bldP spid="64" grpId="0" animBg="1"/>
      <p:bldP spid="66" grpId="0" animBg="1"/>
      <p:bldP spid="67" grpId="0" animBg="1"/>
      <p:bldP spid="6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In the very futures where their own way sells the home, the plan leaves Ryan and Chloe HK$7.7M, not HK$2.3M">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pic>
        <p:nvPicPr>
          <p:cNvPr id="3"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6150" y="247650"/>
            <a:ext cx="628650" cy="600075"/>
          </a:xfrm>
          <a:prstGeom prst="rect">
            <a:avLst/>
          </a:prstGeom>
        </p:spPr>
      </p:pic>
      <p:sp>
        <p:nvSpPr>
          <p:cNvPr id="4" name="!!T What passes on"/>
          <p:cNvSpPr txBox="1"/>
          <p:nvPr/>
        </p:nvSpPr>
        <p:spPr>
          <a:xfrm>
            <a:off x="638175" y="324421"/>
            <a:ext cx="1182005"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What passes on</a:t>
            </a:r>
          </a:p>
        </p:txBody>
      </p:sp>
      <p:sp>
        <p:nvSpPr>
          <p:cNvPr id="5" name="!!T In the very futures where their own way "/>
          <p:cNvSpPr txBox="1"/>
          <p:nvPr/>
        </p:nvSpPr>
        <p:spPr>
          <a:xfrm>
            <a:off x="638175" y="529852"/>
            <a:ext cx="7551634"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In the very futures where their own way sells the home,</a:t>
            </a:r>
          </a:p>
          <a:p>
            <a:pPr algn="l">
              <a:lnSpc>
                <a:spcPts val="2523"/>
              </a:lnSpc>
              <a:spcBef>
                <a:spcPts val="0"/>
              </a:spcBef>
              <a:spcAft>
                <a:spcPts val="0"/>
              </a:spcAft>
            </a:pPr>
            <a:r>
              <a:rPr sz="2175" b="1" i="0" kern="100" spc="-38">
                <a:solidFill>
                  <a:srgbClr val="1B1716"/>
                </a:solidFill>
                <a:latin typeface="Plus Jakarta Sans"/>
              </a:rPr>
              <a:t>the plan leaves Ryan and Chloe HK$7.7M, not HK$2.3M</a:t>
            </a:r>
          </a:p>
        </p:txBody>
      </p:sp>
      <p:sp>
        <p:nvSpPr>
          <p:cNvPr id="6" name="!!Rule 9b9ff67d"/>
          <p:cNvSpPr/>
          <p:nvPr/>
        </p:nvSpPr>
        <p:spPr>
          <a:xfrm>
            <a:off x="457200" y="1740098"/>
            <a:ext cx="6483251" cy="9525"/>
          </a:xfrm>
          <a:prstGeom prst="rect">
            <a:avLst/>
          </a:prstGeom>
          <a:solidFill>
            <a:srgbClr val="1B1716"/>
          </a:solidFill>
          <a:ln>
            <a:noFill/>
          </a:ln>
        </p:spPr>
        <p:txBody>
          <a:bodyPr rtlCol="0" anchor="ctr"/>
          <a:lstStyle/>
          <a:p>
            <a:pPr algn="ctr"/>
            <a:endParaRPr/>
          </a:p>
        </p:txBody>
      </p:sp>
      <p:sp>
        <p:nvSpPr>
          <p:cNvPr id="7" name="!!T What their wealth does, and what is left"/>
          <p:cNvSpPr txBox="1"/>
          <p:nvPr/>
        </p:nvSpPr>
        <p:spPr>
          <a:xfrm>
            <a:off x="457200" y="1445824"/>
            <a:ext cx="3417118"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What their wealth does, and what is left…</a:t>
            </a:r>
          </a:p>
        </p:txBody>
      </p:sp>
      <p:sp>
        <p:nvSpPr>
          <p:cNvPr id="8" name="!!T HK$24.4M"/>
          <p:cNvSpPr txBox="1"/>
          <p:nvPr/>
        </p:nvSpPr>
        <p:spPr>
          <a:xfrm>
            <a:off x="457200" y="1866781"/>
            <a:ext cx="1151242" cy="228600"/>
          </a:xfrm>
          <a:prstGeom prst="rect">
            <a:avLst/>
          </a:prstGeom>
          <a:noFill/>
        </p:spPr>
        <p:txBody>
          <a:bodyPr wrap="none" lIns="0" tIns="0" rIns="0" bIns="0" anchor="t">
            <a:noAutofit/>
          </a:bodyPr>
          <a:lstStyle/>
          <a:p>
            <a:pPr algn="l">
              <a:lnSpc>
                <a:spcPts val="1800"/>
              </a:lnSpc>
              <a:spcBef>
                <a:spcPts val="0"/>
              </a:spcBef>
              <a:spcAft>
                <a:spcPts val="0"/>
              </a:spcAft>
            </a:pPr>
            <a:r>
              <a:rPr sz="1500" b="1" i="0" kern="100" spc="-15">
                <a:solidFill>
                  <a:srgbClr val="1B1716"/>
                </a:solidFill>
                <a:latin typeface="Plus Jakarta Sans"/>
              </a:rPr>
              <a:t>HK$24.4M</a:t>
            </a:r>
          </a:p>
        </p:txBody>
      </p:sp>
      <p:sp>
        <p:nvSpPr>
          <p:cNvPr id="9" name="!!T Today, their net worth"/>
          <p:cNvSpPr txBox="1"/>
          <p:nvPr/>
        </p:nvSpPr>
        <p:spPr>
          <a:xfrm>
            <a:off x="1530697" y="1903357"/>
            <a:ext cx="1797891" cy="198120"/>
          </a:xfrm>
          <a:prstGeom prst="rect">
            <a:avLst/>
          </a:prstGeom>
          <a:noFill/>
        </p:spPr>
        <p:txBody>
          <a:bodyPr wrap="none" lIns="0" tIns="0" rIns="0" bIns="0" anchor="t">
            <a:noAutofit/>
          </a:bodyPr>
          <a:lstStyle/>
          <a:p>
            <a:pPr algn="l">
              <a:lnSpc>
                <a:spcPts val="1560"/>
              </a:lnSpc>
              <a:spcBef>
                <a:spcPts val="0"/>
              </a:spcBef>
              <a:spcAft>
                <a:spcPts val="0"/>
              </a:spcAft>
            </a:pPr>
            <a:r>
              <a:rPr sz="1200" b="0" i="0" kern="100">
                <a:solidFill>
                  <a:srgbClr val="1B1716"/>
                </a:solidFill>
                <a:latin typeface="Plus Jakarta Sans SemiBold"/>
              </a:rPr>
              <a:t>Today, their net worth</a:t>
            </a:r>
          </a:p>
        </p:txBody>
      </p:sp>
      <p:sp>
        <p:nvSpPr>
          <p:cNvPr id="10" name="!!T with their pay until they retire"/>
          <p:cNvSpPr txBox="1"/>
          <p:nvPr/>
        </p:nvSpPr>
        <p:spPr>
          <a:xfrm>
            <a:off x="1530697" y="2103543"/>
            <a:ext cx="2005974" cy="18669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a:rPr>
              <a:t>with their pay until they retire</a:t>
            </a:r>
          </a:p>
        </p:txBody>
      </p:sp>
      <p:sp>
        <p:nvSpPr>
          <p:cNvPr id="11" name="!!Rule 92589817"/>
          <p:cNvSpPr/>
          <p:nvPr/>
        </p:nvSpPr>
        <p:spPr>
          <a:xfrm>
            <a:off x="590550" y="2420094"/>
            <a:ext cx="19050" cy="430411"/>
          </a:xfrm>
          <a:prstGeom prst="rect">
            <a:avLst/>
          </a:prstGeom>
          <a:solidFill>
            <a:srgbClr val="EFD9DC"/>
          </a:solidFill>
          <a:ln>
            <a:noFill/>
          </a:ln>
        </p:spPr>
        <p:txBody>
          <a:bodyPr rtlCol="0" anchor="ctr"/>
          <a:lstStyle/>
          <a:p>
            <a:pPr algn="ctr"/>
            <a:endParaRPr/>
          </a:p>
        </p:txBody>
      </p:sp>
      <p:sp>
        <p:nvSpPr>
          <p:cNvPr id="12" name="!!Arrowhead 5d09b9b1"/>
          <p:cNvSpPr/>
          <p:nvPr/>
        </p:nvSpPr>
        <p:spPr>
          <a:xfrm rot="10800000">
            <a:off x="542925" y="2831455"/>
            <a:ext cx="114300" cy="76200"/>
          </a:xfrm>
          <a:prstGeom prst="triangle">
            <a:avLst/>
          </a:prstGeom>
          <a:solidFill>
            <a:srgbClr val="EFD9DC"/>
          </a:solidFill>
          <a:ln>
            <a:noFill/>
          </a:ln>
        </p:spPr>
        <p:txBody>
          <a:bodyPr rtlCol="0" anchor="ctr"/>
          <a:lstStyle/>
          <a:p>
            <a:pPr algn="ctr"/>
            <a:endParaRPr/>
          </a:p>
        </p:txBody>
      </p:sp>
      <p:sp>
        <p:nvSpPr>
          <p:cNvPr id="13" name="!!T First, it pays for 40 years of the life "/>
          <p:cNvSpPr txBox="1"/>
          <p:nvPr/>
        </p:nvSpPr>
        <p:spPr>
          <a:xfrm>
            <a:off x="742950" y="2423523"/>
            <a:ext cx="6035108" cy="373320"/>
          </a:xfrm>
          <a:prstGeom prst="rect">
            <a:avLst/>
          </a:prstGeom>
          <a:noFill/>
        </p:spPr>
        <p:txBody>
          <a:bodyPr wrap="none" lIns="0" tIns="0" rIns="0" bIns="0" anchor="t">
            <a:noAutofit/>
          </a:bodyPr>
          <a:lstStyle/>
          <a:p>
            <a:pPr algn="l">
              <a:lnSpc>
                <a:spcPts val="1470"/>
              </a:lnSpc>
              <a:spcBef>
                <a:spcPts val="0"/>
              </a:spcBef>
              <a:spcAft>
                <a:spcPts val="0"/>
              </a:spcAft>
            </a:pPr>
            <a:r>
              <a:rPr sz="1050" b="0" i="0" kern="100">
                <a:solidFill>
                  <a:srgbClr val="1B1716"/>
                </a:solidFill>
                <a:latin typeface="Plus Jakarta Sans SemiBold"/>
              </a:rPr>
              <a:t>First, it pays for 40 years of the life they chose:</a:t>
            </a:r>
            <a:r>
              <a:rPr sz="1050" b="0" i="0" kern="100">
                <a:solidFill>
                  <a:srgbClr val="1B1716"/>
                </a:solidFill>
                <a:latin typeface="Plus Jakarta Sans"/>
              </a:rPr>
              <a:t> their HK$780K a year, Chloe's degree, the</a:t>
            </a:r>
          </a:p>
          <a:p>
            <a:pPr algn="l">
              <a:lnSpc>
                <a:spcPts val="1470"/>
              </a:lnSpc>
              <a:spcBef>
                <a:spcPts val="0"/>
              </a:spcBef>
              <a:spcAft>
                <a:spcPts val="0"/>
              </a:spcAft>
            </a:pPr>
            <a:r>
              <a:rPr sz="1050" b="0" i="0" kern="100">
                <a:solidFill>
                  <a:srgbClr val="1B1716"/>
                </a:solidFill>
                <a:latin typeface="Plus Jakarta Sans"/>
              </a:rPr>
              <a:t>medical cover</a:t>
            </a:r>
          </a:p>
        </p:txBody>
      </p:sp>
      <p:sp>
        <p:nvSpPr>
          <p:cNvPr id="14" name="!!Rule e20d4f7a"/>
          <p:cNvSpPr/>
          <p:nvPr/>
        </p:nvSpPr>
        <p:spPr>
          <a:xfrm>
            <a:off x="457200" y="3031034"/>
            <a:ext cx="6483251" cy="9525"/>
          </a:xfrm>
          <a:prstGeom prst="rect">
            <a:avLst/>
          </a:prstGeom>
          <a:solidFill>
            <a:srgbClr val="ECDADD"/>
          </a:solidFill>
          <a:ln>
            <a:noFill/>
          </a:ln>
        </p:spPr>
        <p:txBody>
          <a:bodyPr rtlCol="0" anchor="ctr"/>
          <a:lstStyle/>
          <a:p>
            <a:pPr algn="ctr"/>
            <a:endParaRPr/>
          </a:p>
        </p:txBody>
      </p:sp>
      <p:sp>
        <p:nvSpPr>
          <p:cNvPr id="15" name="!!T Left to Ryan and Chloe at Carmen's 89, i"/>
          <p:cNvSpPr txBox="1"/>
          <p:nvPr/>
        </p:nvSpPr>
        <p:spPr>
          <a:xfrm>
            <a:off x="457200" y="3180957"/>
            <a:ext cx="6883845" cy="411420"/>
          </a:xfrm>
          <a:prstGeom prst="rect">
            <a:avLst/>
          </a:prstGeom>
          <a:noFill/>
        </p:spPr>
        <p:txBody>
          <a:bodyPr wrap="none" lIns="0" tIns="0" rIns="0" bIns="0" anchor="t">
            <a:noAutofit/>
          </a:bodyPr>
          <a:lstStyle/>
          <a:p>
            <a:pPr algn="l">
              <a:lnSpc>
                <a:spcPts val="1620"/>
              </a:lnSpc>
              <a:spcBef>
                <a:spcPts val="0"/>
              </a:spcBef>
              <a:spcAft>
                <a:spcPts val="0"/>
              </a:spcAft>
            </a:pPr>
            <a:r>
              <a:rPr sz="1200" b="0" i="0" kern="100">
                <a:solidFill>
                  <a:srgbClr val="1B1716"/>
                </a:solidFill>
                <a:latin typeface="Plus Jakarta Sans SemiBold"/>
              </a:rPr>
              <a:t>Left to Ryan and Chloe at Carmen's 89, in the futures where their own way sells the home</a:t>
            </a:r>
          </a:p>
          <a:p>
            <a:pPr algn="l">
              <a:lnSpc>
                <a:spcPts val="1620"/>
              </a:lnSpc>
              <a:spcBef>
                <a:spcPts val="0"/>
              </a:spcBef>
              <a:spcAft>
                <a:spcPts val="0"/>
              </a:spcAft>
            </a:pPr>
            <a:r>
              <a:rPr sz="1200" b="0" i="0" kern="100">
                <a:solidFill>
                  <a:srgbClr val="1B1716"/>
                </a:solidFill>
                <a:latin typeface="Plus Jakarta Sans SemiBold"/>
              </a:rPr>
              <a:t>(today's money)</a:t>
            </a:r>
          </a:p>
        </p:txBody>
      </p:sp>
      <p:sp>
        <p:nvSpPr>
          <p:cNvPr id="16" name="!!T Their own way"/>
          <p:cNvSpPr txBox="1"/>
          <p:nvPr/>
        </p:nvSpPr>
        <p:spPr>
          <a:xfrm>
            <a:off x="457200" y="3990463"/>
            <a:ext cx="1165598"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80606A"/>
                </a:solidFill>
                <a:latin typeface="Plus Jakarta Sans"/>
              </a:rPr>
              <a:t>Their own way</a:t>
            </a:r>
          </a:p>
        </p:txBody>
      </p:sp>
      <p:sp>
        <p:nvSpPr>
          <p:cNvPr id="17" name="!!i 25051afd"/>
          <p:cNvSpPr/>
          <p:nvPr/>
        </p:nvSpPr>
        <p:spPr>
          <a:xfrm>
            <a:off x="1733550" y="3890070"/>
            <a:ext cx="622697" cy="419100"/>
          </a:xfrm>
          <a:prstGeom prst="rect">
            <a:avLst/>
          </a:prstGeom>
          <a:solidFill>
            <a:srgbClr val="D3A6AD"/>
          </a:solidFill>
          <a:ln>
            <a:noFill/>
          </a:ln>
        </p:spPr>
        <p:txBody>
          <a:bodyPr rtlCol="0" anchor="ctr"/>
          <a:lstStyle/>
          <a:p>
            <a:pPr algn="ctr"/>
            <a:endParaRPr/>
          </a:p>
        </p:txBody>
      </p:sp>
      <p:sp>
        <p:nvSpPr>
          <p:cNvPr id="18" name="!!T HK$2.3M"/>
          <p:cNvSpPr txBox="1"/>
          <p:nvPr/>
        </p:nvSpPr>
        <p:spPr>
          <a:xfrm>
            <a:off x="2508647" y="3881497"/>
            <a:ext cx="1849794" cy="381000"/>
          </a:xfrm>
          <a:prstGeom prst="rect">
            <a:avLst/>
          </a:prstGeom>
          <a:noFill/>
        </p:spPr>
        <p:txBody>
          <a:bodyPr wrap="none" lIns="0" tIns="0" rIns="0" bIns="0" anchor="t">
            <a:noAutofit/>
          </a:bodyPr>
          <a:lstStyle/>
          <a:p>
            <a:pPr algn="l">
              <a:lnSpc>
                <a:spcPts val="3000"/>
              </a:lnSpc>
              <a:spcBef>
                <a:spcPts val="0"/>
              </a:spcBef>
              <a:spcAft>
                <a:spcPts val="0"/>
              </a:spcAft>
            </a:pPr>
            <a:r>
              <a:rPr sz="3000" b="0" i="0" kern="100" spc="-75">
                <a:solidFill>
                  <a:srgbClr val="80606A"/>
                </a:solidFill>
                <a:latin typeface="Plus Jakarta Sans SemiBold"/>
              </a:rPr>
              <a:t>HK$2.3M</a:t>
            </a:r>
          </a:p>
        </p:txBody>
      </p:sp>
      <p:sp>
        <p:nvSpPr>
          <p:cNvPr id="19" name="!!T With the plan"/>
          <p:cNvSpPr txBox="1"/>
          <p:nvPr/>
        </p:nvSpPr>
        <p:spPr>
          <a:xfrm>
            <a:off x="457200" y="4828663"/>
            <a:ext cx="1128367"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1B1716"/>
                </a:solidFill>
                <a:latin typeface="Plus Jakarta Sans SemiBold"/>
              </a:rPr>
              <a:t>With the plan</a:t>
            </a:r>
          </a:p>
        </p:txBody>
      </p:sp>
      <p:sp>
        <p:nvSpPr>
          <p:cNvPr id="20" name="!!i 7a5a3a1d"/>
          <p:cNvSpPr/>
          <p:nvPr/>
        </p:nvSpPr>
        <p:spPr>
          <a:xfrm>
            <a:off x="1733550" y="4728270"/>
            <a:ext cx="2082701" cy="419100"/>
          </a:xfrm>
          <a:prstGeom prst="rect">
            <a:avLst/>
          </a:prstGeom>
          <a:gradFill rotWithShape="0">
            <a:gsLst>
              <a:gs pos="0">
                <a:srgbClr val="D40F1F"/>
              </a:gs>
              <a:gs pos="100000">
                <a:srgbClr val="971320"/>
              </a:gs>
            </a:gsLst>
            <a:lin ang="5400000" scaled="0"/>
          </a:gradFill>
          <a:ln>
            <a:noFill/>
          </a:ln>
        </p:spPr>
        <p:txBody>
          <a:bodyPr rtlCol="0" anchor="ctr"/>
          <a:lstStyle/>
          <a:p>
            <a:pPr algn="ctr"/>
            <a:endParaRPr/>
          </a:p>
        </p:txBody>
      </p:sp>
      <p:sp>
        <p:nvSpPr>
          <p:cNvPr id="21" name="!!T HK$7.7M"/>
          <p:cNvSpPr txBox="1"/>
          <p:nvPr/>
        </p:nvSpPr>
        <p:spPr>
          <a:xfrm>
            <a:off x="3968651" y="4549009"/>
            <a:ext cx="3154135" cy="685800"/>
          </a:xfrm>
          <a:prstGeom prst="rect">
            <a:avLst/>
          </a:prstGeom>
          <a:noFill/>
        </p:spPr>
        <p:txBody>
          <a:bodyPr wrap="none" lIns="0" tIns="0" rIns="0" bIns="0" anchor="t">
            <a:noAutofit/>
          </a:bodyPr>
          <a:lstStyle/>
          <a:p>
            <a:pPr algn="l">
              <a:lnSpc>
                <a:spcPts val="5400"/>
              </a:lnSpc>
              <a:spcBef>
                <a:spcPts val="0"/>
              </a:spcBef>
              <a:spcAft>
                <a:spcPts val="0"/>
              </a:spcAft>
            </a:pPr>
            <a:r>
              <a:rPr sz="5400" b="1" i="0" kern="100" spc="-150">
                <a:solidFill>
                  <a:srgbClr val="C80E1E"/>
                </a:solidFill>
                <a:latin typeface="Plus Jakarta Sans"/>
              </a:rPr>
              <a:t>HK$7.7M</a:t>
            </a:r>
          </a:p>
        </p:txBody>
      </p:sp>
      <p:sp>
        <p:nvSpPr>
          <p:cNvPr id="22" name="!!T More than three times as much, and more "/>
          <p:cNvSpPr txBox="1"/>
          <p:nvPr/>
        </p:nvSpPr>
        <p:spPr>
          <a:xfrm>
            <a:off x="457200" y="5459218"/>
            <a:ext cx="5091401" cy="205740"/>
          </a:xfrm>
          <a:prstGeom prst="rect">
            <a:avLst/>
          </a:prstGeom>
          <a:noFill/>
        </p:spPr>
        <p:txBody>
          <a:bodyPr wrap="none" lIns="0" tIns="0" rIns="0" bIns="0" anchor="t">
            <a:noAutofit/>
          </a:bodyPr>
          <a:lstStyle/>
          <a:p>
            <a:pPr algn="l">
              <a:lnSpc>
                <a:spcPts val="1620"/>
              </a:lnSpc>
              <a:spcBef>
                <a:spcPts val="0"/>
              </a:spcBef>
              <a:spcAft>
                <a:spcPts val="0"/>
              </a:spcAft>
            </a:pPr>
            <a:r>
              <a:rPr sz="1200" b="0" i="0" kern="100">
                <a:solidFill>
                  <a:srgbClr val="1B1716"/>
                </a:solidFill>
                <a:latin typeface="Plus Jakarta Sans SemiBold"/>
              </a:rPr>
              <a:t>More than three times as much, and more in 97% of those futures</a:t>
            </a:r>
          </a:p>
        </p:txBody>
      </p:sp>
      <p:sp>
        <p:nvSpPr>
          <p:cNvPr id="23" name="!!Rule d1bf885b"/>
          <p:cNvSpPr/>
          <p:nvPr/>
        </p:nvSpPr>
        <p:spPr>
          <a:xfrm>
            <a:off x="7169051" y="1740098"/>
            <a:ext cx="4565600" cy="9525"/>
          </a:xfrm>
          <a:prstGeom prst="rect">
            <a:avLst/>
          </a:prstGeom>
          <a:solidFill>
            <a:srgbClr val="1B1716"/>
          </a:solidFill>
          <a:ln>
            <a:noFill/>
          </a:ln>
        </p:spPr>
        <p:txBody>
          <a:bodyPr rtlCol="0" anchor="ctr"/>
          <a:lstStyle/>
          <a:p>
            <a:pPr algn="ctr"/>
            <a:endParaRPr/>
          </a:p>
        </p:txBody>
      </p:sp>
      <p:sp>
        <p:nvSpPr>
          <p:cNvPr id="24" name="!!T …and if a parent dies early, it still pa"/>
          <p:cNvSpPr txBox="1"/>
          <p:nvPr/>
        </p:nvSpPr>
        <p:spPr>
          <a:xfrm>
            <a:off x="7169051" y="1445824"/>
            <a:ext cx="4057772" cy="202406"/>
          </a:xfrm>
          <a:prstGeom prst="rect">
            <a:avLst/>
          </a:prstGeom>
          <a:noFill/>
        </p:spPr>
        <p:txBody>
          <a:bodyPr wrap="none" lIns="0" tIns="0" rIns="0" bIns="0" anchor="t">
            <a:noAutofit/>
          </a:bodyPr>
          <a:lstStyle/>
          <a:p>
            <a:pPr algn="l">
              <a:lnSpc>
                <a:spcPts val="1593"/>
              </a:lnSpc>
              <a:spcBef>
                <a:spcPts val="0"/>
              </a:spcBef>
              <a:spcAft>
                <a:spcPts val="0"/>
              </a:spcAft>
            </a:pPr>
            <a:r>
              <a:rPr sz="1275" b="0" i="0" kern="100" spc="-8">
                <a:solidFill>
                  <a:srgbClr val="1B1716"/>
                </a:solidFill>
                <a:latin typeface="Plus Jakarta Sans SemiBold"/>
              </a:rPr>
              <a:t>…and if a parent dies early, it still passes on safely</a:t>
            </a:r>
          </a:p>
        </p:txBody>
      </p:sp>
      <p:sp>
        <p:nvSpPr>
          <p:cNvPr id="25" name="!!T Wills, a guardian and trusts, signed in "/>
          <p:cNvSpPr txBox="1"/>
          <p:nvPr/>
        </p:nvSpPr>
        <p:spPr>
          <a:xfrm>
            <a:off x="7169051" y="1817251"/>
            <a:ext cx="4791030" cy="200025"/>
          </a:xfrm>
          <a:prstGeom prst="rect">
            <a:avLst/>
          </a:prstGeom>
          <a:noFill/>
        </p:spPr>
        <p:txBody>
          <a:bodyPr wrap="none" lIns="0" tIns="0" rIns="0" bIns="0" anchor="t">
            <a:noAutofit/>
          </a:bodyPr>
          <a:lstStyle/>
          <a:p>
            <a:pPr algn="l">
              <a:lnSpc>
                <a:spcPts val="1575"/>
              </a:lnSpc>
              <a:spcBef>
                <a:spcPts val="0"/>
              </a:spcBef>
              <a:spcAft>
                <a:spcPts val="0"/>
              </a:spcAft>
            </a:pPr>
            <a:r>
              <a:rPr sz="1125" b="0" i="0" kern="100">
                <a:solidFill>
                  <a:srgbClr val="80606A"/>
                </a:solidFill>
                <a:latin typeface="Plus Jakarta Sans"/>
              </a:rPr>
              <a:t>Wills, a guardian and trusts, signed in month one for under HK$25K</a:t>
            </a:r>
          </a:p>
        </p:txBody>
      </p:sp>
      <p:sp>
        <p:nvSpPr>
          <p:cNvPr id="26" name="!!span 57a85e08"/>
          <p:cNvSpPr/>
          <p:nvPr/>
        </p:nvSpPr>
        <p:spPr>
          <a:xfrm>
            <a:off x="9023152" y="2130623"/>
            <a:ext cx="476250" cy="476250"/>
          </a:xfrm>
          <a:prstGeom prst="ellipse">
            <a:avLst/>
          </a:prstGeom>
          <a:solidFill>
            <a:srgbClr val="F8EFF0"/>
          </a:solidFill>
          <a:ln w="19050">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27" name="!!Picture 756929ab" descr="image.jpg"/>
          <p:cNvPicPr>
            <a:picLocks noChangeAspect="1"/>
          </p:cNvPicPr>
          <p:nvPr/>
        </p:nvPicPr>
        <p:blipFill>
          <a:blip r:embed="rId4"/>
          <a:stretch>
            <a:fillRect/>
          </a:stretch>
        </p:blipFill>
        <p:spPr>
          <a:xfrm>
            <a:off x="9032677" y="2140148"/>
            <a:ext cx="457200" cy="457200"/>
          </a:xfrm>
          <a:prstGeom prst="ellipse">
            <a:avLst/>
          </a:prstGeom>
        </p:spPr>
      </p:pic>
      <p:sp>
        <p:nvSpPr>
          <p:cNvPr id="28" name="!!span 238e4fb2"/>
          <p:cNvSpPr/>
          <p:nvPr/>
        </p:nvSpPr>
        <p:spPr>
          <a:xfrm>
            <a:off x="9404152" y="2130623"/>
            <a:ext cx="476250" cy="476250"/>
          </a:xfrm>
          <a:prstGeom prst="ellipse">
            <a:avLst/>
          </a:prstGeom>
          <a:solidFill>
            <a:srgbClr val="F8EFF0"/>
          </a:solidFill>
          <a:ln w="19050">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29" name="!!Picture bc75644c" descr="image.jpg"/>
          <p:cNvPicPr>
            <a:picLocks noChangeAspect="1"/>
          </p:cNvPicPr>
          <p:nvPr/>
        </p:nvPicPr>
        <p:blipFill>
          <a:blip r:embed="rId5"/>
          <a:stretch>
            <a:fillRect/>
          </a:stretch>
        </p:blipFill>
        <p:spPr>
          <a:xfrm>
            <a:off x="9413677" y="2140148"/>
            <a:ext cx="457200" cy="457200"/>
          </a:xfrm>
          <a:prstGeom prst="ellipse">
            <a:avLst/>
          </a:prstGeom>
        </p:spPr>
      </p:pic>
      <p:sp>
        <p:nvSpPr>
          <p:cNvPr id="30" name="!!T Adrian and Carmen: each to the other fir"/>
          <p:cNvSpPr txBox="1"/>
          <p:nvPr/>
        </p:nvSpPr>
        <p:spPr>
          <a:xfrm>
            <a:off x="7770510" y="2655832"/>
            <a:ext cx="3362533" cy="198120"/>
          </a:xfrm>
          <a:prstGeom prst="rect">
            <a:avLst/>
          </a:prstGeom>
          <a:noFill/>
        </p:spPr>
        <p:txBody>
          <a:bodyPr wrap="none" lIns="0" tIns="0" rIns="0" bIns="0" anchor="t">
            <a:noAutofit/>
          </a:bodyPr>
          <a:lstStyle/>
          <a:p>
            <a:pPr algn="ctr">
              <a:lnSpc>
                <a:spcPts val="1560"/>
              </a:lnSpc>
              <a:spcBef>
                <a:spcPts val="0"/>
              </a:spcBef>
              <a:spcAft>
                <a:spcPts val="0"/>
              </a:spcAft>
            </a:pPr>
            <a:r>
              <a:rPr sz="1200" b="1" i="0" kern="100">
                <a:solidFill>
                  <a:srgbClr val="1B1716"/>
                </a:solidFill>
                <a:latin typeface="Plus Jakarta Sans"/>
              </a:rPr>
              <a:t>Adrian and Carmen: each to the other first</a:t>
            </a:r>
          </a:p>
        </p:txBody>
      </p:sp>
      <p:sp>
        <p:nvSpPr>
          <p:cNvPr id="31" name="!!T then to Ryan and Chloe"/>
          <p:cNvSpPr txBox="1"/>
          <p:nvPr/>
        </p:nvSpPr>
        <p:spPr>
          <a:xfrm>
            <a:off x="8630610" y="2859351"/>
            <a:ext cx="1642184" cy="180022"/>
          </a:xfrm>
          <a:prstGeom prst="rect">
            <a:avLst/>
          </a:prstGeom>
          <a:noFill/>
        </p:spPr>
        <p:txBody>
          <a:bodyPr wrap="none" lIns="0" tIns="0" rIns="0" bIns="0" anchor="t">
            <a:noAutofit/>
          </a:bodyPr>
          <a:lstStyle/>
          <a:p>
            <a:pPr algn="ctr">
              <a:lnSpc>
                <a:spcPts val="1417"/>
              </a:lnSpc>
              <a:spcBef>
                <a:spcPts val="0"/>
              </a:spcBef>
              <a:spcAft>
                <a:spcPts val="0"/>
              </a:spcAft>
            </a:pPr>
            <a:r>
              <a:rPr sz="1050" b="0" i="0" kern="100">
                <a:solidFill>
                  <a:srgbClr val="1B1716"/>
                </a:solidFill>
                <a:latin typeface="Plus Jakarta Sans"/>
              </a:rPr>
              <a:t>then to Ryan and Chloe</a:t>
            </a:r>
          </a:p>
        </p:txBody>
      </p:sp>
      <p:sp>
        <p:nvSpPr>
          <p:cNvPr id="32" name="!!Rule c682b590"/>
          <p:cNvSpPr/>
          <p:nvPr/>
        </p:nvSpPr>
        <p:spPr>
          <a:xfrm>
            <a:off x="9451628" y="3127772"/>
            <a:ext cx="19050" cy="133350"/>
          </a:xfrm>
          <a:prstGeom prst="rect">
            <a:avLst/>
          </a:prstGeom>
          <a:solidFill>
            <a:srgbClr val="D3A6AD"/>
          </a:solidFill>
          <a:ln>
            <a:noFill/>
          </a:ln>
        </p:spPr>
        <p:txBody>
          <a:bodyPr rtlCol="0" anchor="ctr"/>
          <a:lstStyle/>
          <a:p>
            <a:pPr algn="ctr"/>
            <a:endParaRPr/>
          </a:p>
        </p:txBody>
      </p:sp>
      <p:sp>
        <p:nvSpPr>
          <p:cNvPr id="33" name="!!Rule 6e7f88ae"/>
          <p:cNvSpPr/>
          <p:nvPr/>
        </p:nvSpPr>
        <p:spPr>
          <a:xfrm>
            <a:off x="8310414" y="3261122"/>
            <a:ext cx="2282577" cy="19050"/>
          </a:xfrm>
          <a:prstGeom prst="rect">
            <a:avLst/>
          </a:prstGeom>
          <a:solidFill>
            <a:srgbClr val="D3A6AD"/>
          </a:solidFill>
          <a:ln>
            <a:noFill/>
          </a:ln>
        </p:spPr>
        <p:txBody>
          <a:bodyPr rtlCol="0" anchor="ctr"/>
          <a:lstStyle/>
          <a:p>
            <a:pPr algn="ctr"/>
            <a:endParaRPr/>
          </a:p>
        </p:txBody>
      </p:sp>
      <p:sp>
        <p:nvSpPr>
          <p:cNvPr id="34" name="!!Rule fc56e7a9"/>
          <p:cNvSpPr/>
          <p:nvPr/>
        </p:nvSpPr>
        <p:spPr>
          <a:xfrm>
            <a:off x="10573941" y="3261122"/>
            <a:ext cx="19050" cy="152400"/>
          </a:xfrm>
          <a:prstGeom prst="rect">
            <a:avLst/>
          </a:prstGeom>
          <a:solidFill>
            <a:srgbClr val="D3A6AD"/>
          </a:solidFill>
          <a:ln>
            <a:noFill/>
          </a:ln>
        </p:spPr>
        <p:txBody>
          <a:bodyPr rtlCol="0" anchor="ctr"/>
          <a:lstStyle/>
          <a:p>
            <a:pPr algn="ctr"/>
            <a:endParaRPr/>
          </a:p>
        </p:txBody>
      </p:sp>
      <p:sp>
        <p:nvSpPr>
          <p:cNvPr id="35" name="!!Rule 90ca56c0"/>
          <p:cNvSpPr/>
          <p:nvPr/>
        </p:nvSpPr>
        <p:spPr>
          <a:xfrm>
            <a:off x="8310414" y="3261122"/>
            <a:ext cx="19050" cy="152400"/>
          </a:xfrm>
          <a:prstGeom prst="rect">
            <a:avLst/>
          </a:prstGeom>
          <a:solidFill>
            <a:srgbClr val="D3A6AD"/>
          </a:solidFill>
          <a:ln>
            <a:noFill/>
          </a:ln>
        </p:spPr>
        <p:txBody>
          <a:bodyPr rtlCol="0" anchor="ctr"/>
          <a:lstStyle/>
          <a:p>
            <a:pPr algn="ctr"/>
            <a:endParaRPr/>
          </a:p>
        </p:txBody>
      </p:sp>
      <p:sp>
        <p:nvSpPr>
          <p:cNvPr id="36" name="!!span fe056c79"/>
          <p:cNvSpPr/>
          <p:nvPr/>
        </p:nvSpPr>
        <p:spPr>
          <a:xfrm>
            <a:off x="8072289" y="3423047"/>
            <a:ext cx="476250" cy="476250"/>
          </a:xfrm>
          <a:prstGeom prst="ellipse">
            <a:avLst/>
          </a:prstGeom>
          <a:solidFill>
            <a:srgbClr val="F8EFF0"/>
          </a:solidFill>
          <a:ln w="19050">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37" name="!!Picture 739430f6" descr="image.jpg"/>
          <p:cNvPicPr>
            <a:picLocks noChangeAspect="1"/>
          </p:cNvPicPr>
          <p:nvPr/>
        </p:nvPicPr>
        <p:blipFill>
          <a:blip r:embed="rId6"/>
          <a:stretch>
            <a:fillRect/>
          </a:stretch>
        </p:blipFill>
        <p:spPr>
          <a:xfrm>
            <a:off x="8081814" y="3432572"/>
            <a:ext cx="457200" cy="457200"/>
          </a:xfrm>
          <a:prstGeom prst="ellipse">
            <a:avLst/>
          </a:prstGeom>
        </p:spPr>
      </p:pic>
      <p:sp>
        <p:nvSpPr>
          <p:cNvPr id="38" name="!!T Ryan, 24"/>
          <p:cNvSpPr txBox="1"/>
          <p:nvPr/>
        </p:nvSpPr>
        <p:spPr>
          <a:xfrm>
            <a:off x="7916766" y="3948255"/>
            <a:ext cx="787295" cy="198120"/>
          </a:xfrm>
          <a:prstGeom prst="rect">
            <a:avLst/>
          </a:prstGeom>
          <a:noFill/>
        </p:spPr>
        <p:txBody>
          <a:bodyPr wrap="none" lIns="0" tIns="0" rIns="0" bIns="0" anchor="t">
            <a:noAutofit/>
          </a:bodyPr>
          <a:lstStyle/>
          <a:p>
            <a:pPr algn="ctr">
              <a:lnSpc>
                <a:spcPts val="1560"/>
              </a:lnSpc>
              <a:spcBef>
                <a:spcPts val="0"/>
              </a:spcBef>
              <a:spcAft>
                <a:spcPts val="0"/>
              </a:spcAft>
            </a:pPr>
            <a:r>
              <a:rPr sz="1200" b="1" i="0" kern="100">
                <a:solidFill>
                  <a:srgbClr val="1B1716"/>
                </a:solidFill>
                <a:latin typeface="Plus Jakarta Sans"/>
              </a:rPr>
              <a:t>Ryan, 24</a:t>
            </a:r>
          </a:p>
        </p:txBody>
      </p:sp>
      <p:sp>
        <p:nvSpPr>
          <p:cNvPr id="39" name="!!T his share held in trust, paid at"/>
          <p:cNvSpPr txBox="1"/>
          <p:nvPr/>
        </p:nvSpPr>
        <p:spPr>
          <a:xfrm>
            <a:off x="7307979" y="4151775"/>
            <a:ext cx="2004870" cy="180022"/>
          </a:xfrm>
          <a:prstGeom prst="rect">
            <a:avLst/>
          </a:prstGeom>
          <a:noFill/>
        </p:spPr>
        <p:txBody>
          <a:bodyPr wrap="none" lIns="0" tIns="0" rIns="0" bIns="0" anchor="t">
            <a:noAutofit/>
          </a:bodyPr>
          <a:lstStyle/>
          <a:p>
            <a:pPr algn="ctr">
              <a:lnSpc>
                <a:spcPts val="1417"/>
              </a:lnSpc>
              <a:spcBef>
                <a:spcPts val="0"/>
              </a:spcBef>
              <a:spcAft>
                <a:spcPts val="0"/>
              </a:spcAft>
            </a:pPr>
            <a:r>
              <a:rPr sz="1050" b="0" i="0" kern="100">
                <a:solidFill>
                  <a:srgbClr val="1B1716"/>
                </a:solidFill>
                <a:latin typeface="Plus Jakarta Sans"/>
              </a:rPr>
              <a:t>his share held in trust, paid at</a:t>
            </a:r>
          </a:p>
        </p:txBody>
      </p:sp>
      <p:sp>
        <p:nvSpPr>
          <p:cNvPr id="40" name="!!Rule 57d8066d"/>
          <p:cNvSpPr/>
          <p:nvPr/>
        </p:nvSpPr>
        <p:spPr>
          <a:xfrm>
            <a:off x="7695902" y="4467820"/>
            <a:ext cx="1228874" cy="19050"/>
          </a:xfrm>
          <a:prstGeom prst="rect">
            <a:avLst/>
          </a:prstGeom>
          <a:solidFill>
            <a:srgbClr val="EFD9DC"/>
          </a:solidFill>
          <a:ln>
            <a:noFill/>
          </a:ln>
        </p:spPr>
        <p:txBody>
          <a:bodyPr rtlCol="0" anchor="ctr"/>
          <a:lstStyle/>
          <a:p>
            <a:pPr algn="ctr"/>
            <a:endParaRPr/>
          </a:p>
        </p:txBody>
      </p:sp>
      <p:sp>
        <p:nvSpPr>
          <p:cNvPr id="41" name="!!ps-el 9efda5e3"/>
          <p:cNvSpPr/>
          <p:nvPr/>
        </p:nvSpPr>
        <p:spPr>
          <a:xfrm>
            <a:off x="7727603" y="4420195"/>
            <a:ext cx="114300" cy="114300"/>
          </a:xfrm>
          <a:prstGeom prst="ellipse">
            <a:avLst/>
          </a:prstGeom>
          <a:solidFill>
            <a:srgbClr val="971320"/>
          </a:solidFill>
          <a:ln>
            <a:noFill/>
          </a:ln>
        </p:spPr>
        <p:txBody>
          <a:bodyPr rtlCol="0" anchor="ctr"/>
          <a:lstStyle/>
          <a:p>
            <a:pPr algn="ctr"/>
            <a:endParaRPr/>
          </a:p>
        </p:txBody>
      </p:sp>
      <p:sp>
        <p:nvSpPr>
          <p:cNvPr id="42" name="!!T 2027"/>
          <p:cNvSpPr txBox="1"/>
          <p:nvPr/>
        </p:nvSpPr>
        <p:spPr>
          <a:xfrm>
            <a:off x="7552649" y="4736044"/>
            <a:ext cx="464207" cy="133350"/>
          </a:xfrm>
          <a:prstGeom prst="rect">
            <a:avLst/>
          </a:prstGeom>
          <a:noFill/>
        </p:spPr>
        <p:txBody>
          <a:bodyPr wrap="none" lIns="0" tIns="0" rIns="0" bIns="0" anchor="t">
            <a:noAutofit/>
          </a:bodyPr>
          <a:lstStyle/>
          <a:p>
            <a:pPr algn="ctr">
              <a:lnSpc>
                <a:spcPts val="1050"/>
              </a:lnSpc>
              <a:spcBef>
                <a:spcPts val="0"/>
              </a:spcBef>
              <a:spcAft>
                <a:spcPts val="0"/>
              </a:spcAft>
            </a:pPr>
            <a:r>
              <a:rPr sz="1050" b="0" i="0" kern="100">
                <a:solidFill>
                  <a:srgbClr val="80606A"/>
                </a:solidFill>
                <a:latin typeface="Plus Jakarta Sans"/>
              </a:rPr>
              <a:t>2027</a:t>
            </a:r>
          </a:p>
        </p:txBody>
      </p:sp>
      <p:sp>
        <p:nvSpPr>
          <p:cNvPr id="43" name="!!T 25"/>
          <p:cNvSpPr txBox="1"/>
          <p:nvPr/>
        </p:nvSpPr>
        <p:spPr>
          <a:xfrm>
            <a:off x="7641940" y="4564594"/>
            <a:ext cx="285625" cy="133350"/>
          </a:xfrm>
          <a:prstGeom prst="rect">
            <a:avLst/>
          </a:prstGeom>
          <a:noFill/>
        </p:spPr>
        <p:txBody>
          <a:bodyPr wrap="none" lIns="0" tIns="0" rIns="0" bIns="0" anchor="t">
            <a:noAutofit/>
          </a:bodyPr>
          <a:lstStyle/>
          <a:p>
            <a:pPr algn="ctr">
              <a:lnSpc>
                <a:spcPts val="1050"/>
              </a:lnSpc>
              <a:spcBef>
                <a:spcPts val="0"/>
              </a:spcBef>
              <a:spcAft>
                <a:spcPts val="0"/>
              </a:spcAft>
            </a:pPr>
            <a:r>
              <a:rPr sz="1050" b="1" i="0" kern="100">
                <a:solidFill>
                  <a:srgbClr val="1B1716"/>
                </a:solidFill>
                <a:latin typeface="Plus Jakarta Sans"/>
              </a:rPr>
              <a:t>25</a:t>
            </a:r>
          </a:p>
        </p:txBody>
      </p:sp>
      <p:sp>
        <p:nvSpPr>
          <p:cNvPr id="44" name="!!ps-el eb0ee99b"/>
          <p:cNvSpPr/>
          <p:nvPr/>
        </p:nvSpPr>
        <p:spPr>
          <a:xfrm>
            <a:off x="8252520" y="4420195"/>
            <a:ext cx="114300" cy="114300"/>
          </a:xfrm>
          <a:prstGeom prst="ellipse">
            <a:avLst/>
          </a:prstGeom>
          <a:solidFill>
            <a:srgbClr val="971320"/>
          </a:solidFill>
          <a:ln>
            <a:noFill/>
          </a:ln>
        </p:spPr>
        <p:txBody>
          <a:bodyPr rtlCol="0" anchor="ctr"/>
          <a:lstStyle/>
          <a:p>
            <a:pPr algn="ctr"/>
            <a:endParaRPr/>
          </a:p>
        </p:txBody>
      </p:sp>
      <p:sp>
        <p:nvSpPr>
          <p:cNvPr id="45" name="!!T 2032"/>
          <p:cNvSpPr txBox="1"/>
          <p:nvPr/>
        </p:nvSpPr>
        <p:spPr>
          <a:xfrm>
            <a:off x="8072987" y="4736044"/>
            <a:ext cx="473515" cy="133350"/>
          </a:xfrm>
          <a:prstGeom prst="rect">
            <a:avLst/>
          </a:prstGeom>
          <a:noFill/>
        </p:spPr>
        <p:txBody>
          <a:bodyPr wrap="none" lIns="0" tIns="0" rIns="0" bIns="0" anchor="t">
            <a:noAutofit/>
          </a:bodyPr>
          <a:lstStyle/>
          <a:p>
            <a:pPr algn="ctr">
              <a:lnSpc>
                <a:spcPts val="1050"/>
              </a:lnSpc>
              <a:spcBef>
                <a:spcPts val="0"/>
              </a:spcBef>
              <a:spcAft>
                <a:spcPts val="0"/>
              </a:spcAft>
            </a:pPr>
            <a:r>
              <a:rPr sz="1050" b="0" i="0" kern="100">
                <a:solidFill>
                  <a:srgbClr val="80606A"/>
                </a:solidFill>
                <a:latin typeface="Plus Jakarta Sans"/>
              </a:rPr>
              <a:t>2032</a:t>
            </a:r>
          </a:p>
        </p:txBody>
      </p:sp>
      <p:sp>
        <p:nvSpPr>
          <p:cNvPr id="46" name="!!T 30"/>
          <p:cNvSpPr txBox="1"/>
          <p:nvPr/>
        </p:nvSpPr>
        <p:spPr>
          <a:xfrm>
            <a:off x="8159285" y="4564594"/>
            <a:ext cx="300770" cy="133350"/>
          </a:xfrm>
          <a:prstGeom prst="rect">
            <a:avLst/>
          </a:prstGeom>
          <a:noFill/>
        </p:spPr>
        <p:txBody>
          <a:bodyPr wrap="none" lIns="0" tIns="0" rIns="0" bIns="0" anchor="t">
            <a:noAutofit/>
          </a:bodyPr>
          <a:lstStyle/>
          <a:p>
            <a:pPr algn="ctr">
              <a:lnSpc>
                <a:spcPts val="1050"/>
              </a:lnSpc>
              <a:spcBef>
                <a:spcPts val="0"/>
              </a:spcBef>
              <a:spcAft>
                <a:spcPts val="0"/>
              </a:spcAft>
            </a:pPr>
            <a:r>
              <a:rPr sz="1050" b="1" i="0" kern="100">
                <a:solidFill>
                  <a:srgbClr val="1B1716"/>
                </a:solidFill>
                <a:latin typeface="Plus Jakarta Sans"/>
              </a:rPr>
              <a:t>30</a:t>
            </a:r>
          </a:p>
        </p:txBody>
      </p:sp>
      <p:sp>
        <p:nvSpPr>
          <p:cNvPr id="47" name="!!ps-el 6319f708"/>
          <p:cNvSpPr/>
          <p:nvPr/>
        </p:nvSpPr>
        <p:spPr>
          <a:xfrm>
            <a:off x="8778180" y="4420195"/>
            <a:ext cx="114300" cy="114300"/>
          </a:xfrm>
          <a:prstGeom prst="ellipse">
            <a:avLst/>
          </a:prstGeom>
          <a:solidFill>
            <a:srgbClr val="971320"/>
          </a:solidFill>
          <a:ln>
            <a:noFill/>
          </a:ln>
        </p:spPr>
        <p:txBody>
          <a:bodyPr rtlCol="0" anchor="ctr"/>
          <a:lstStyle/>
          <a:p>
            <a:pPr algn="ctr"/>
            <a:endParaRPr/>
          </a:p>
        </p:txBody>
      </p:sp>
      <p:sp>
        <p:nvSpPr>
          <p:cNvPr id="48" name="!!T 2037"/>
          <p:cNvSpPr txBox="1"/>
          <p:nvPr/>
        </p:nvSpPr>
        <p:spPr>
          <a:xfrm>
            <a:off x="8602596" y="4736044"/>
            <a:ext cx="465469" cy="133350"/>
          </a:xfrm>
          <a:prstGeom prst="rect">
            <a:avLst/>
          </a:prstGeom>
          <a:noFill/>
        </p:spPr>
        <p:txBody>
          <a:bodyPr wrap="none" lIns="0" tIns="0" rIns="0" bIns="0" anchor="t">
            <a:noAutofit/>
          </a:bodyPr>
          <a:lstStyle/>
          <a:p>
            <a:pPr algn="ctr">
              <a:lnSpc>
                <a:spcPts val="1050"/>
              </a:lnSpc>
              <a:spcBef>
                <a:spcPts val="0"/>
              </a:spcBef>
              <a:spcAft>
                <a:spcPts val="0"/>
              </a:spcAft>
            </a:pPr>
            <a:r>
              <a:rPr sz="1050" b="0" i="0" kern="100">
                <a:solidFill>
                  <a:srgbClr val="80606A"/>
                </a:solidFill>
                <a:latin typeface="Plus Jakarta Sans"/>
              </a:rPr>
              <a:t>2037</a:t>
            </a:r>
          </a:p>
        </p:txBody>
      </p:sp>
      <p:sp>
        <p:nvSpPr>
          <p:cNvPr id="49" name="!!T 35"/>
          <p:cNvSpPr txBox="1"/>
          <p:nvPr/>
        </p:nvSpPr>
        <p:spPr>
          <a:xfrm>
            <a:off x="8691418" y="4564594"/>
            <a:ext cx="287676" cy="133350"/>
          </a:xfrm>
          <a:prstGeom prst="rect">
            <a:avLst/>
          </a:prstGeom>
          <a:noFill/>
        </p:spPr>
        <p:txBody>
          <a:bodyPr wrap="none" lIns="0" tIns="0" rIns="0" bIns="0" anchor="t">
            <a:noAutofit/>
          </a:bodyPr>
          <a:lstStyle/>
          <a:p>
            <a:pPr algn="ctr">
              <a:lnSpc>
                <a:spcPts val="1050"/>
              </a:lnSpc>
              <a:spcBef>
                <a:spcPts val="0"/>
              </a:spcBef>
              <a:spcAft>
                <a:spcPts val="0"/>
              </a:spcAft>
            </a:pPr>
            <a:r>
              <a:rPr sz="1050" b="1" i="0" kern="100">
                <a:solidFill>
                  <a:srgbClr val="1B1716"/>
                </a:solidFill>
                <a:latin typeface="Plus Jakarta Sans"/>
              </a:rPr>
              <a:t>35</a:t>
            </a:r>
          </a:p>
        </p:txBody>
      </p:sp>
      <p:sp>
        <p:nvSpPr>
          <p:cNvPr id="50" name="!!span dfbc7a02"/>
          <p:cNvSpPr/>
          <p:nvPr/>
        </p:nvSpPr>
        <p:spPr>
          <a:xfrm>
            <a:off x="10355014" y="3423047"/>
            <a:ext cx="476250" cy="476250"/>
          </a:xfrm>
          <a:prstGeom prst="ellipse">
            <a:avLst/>
          </a:prstGeom>
          <a:solidFill>
            <a:srgbClr val="F8EFF0"/>
          </a:solidFill>
          <a:ln w="19050">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51" name="!!Picture f8ee2500" descr="image.jpg"/>
          <p:cNvPicPr>
            <a:picLocks noChangeAspect="1"/>
          </p:cNvPicPr>
          <p:nvPr/>
        </p:nvPicPr>
        <p:blipFill>
          <a:blip r:embed="rId7"/>
          <a:stretch>
            <a:fillRect/>
          </a:stretch>
        </p:blipFill>
        <p:spPr>
          <a:xfrm>
            <a:off x="10364539" y="3432572"/>
            <a:ext cx="457200" cy="457200"/>
          </a:xfrm>
          <a:prstGeom prst="ellipse">
            <a:avLst/>
          </a:prstGeom>
        </p:spPr>
      </p:pic>
      <p:sp>
        <p:nvSpPr>
          <p:cNvPr id="52" name="!!T Chloe, 16"/>
          <p:cNvSpPr txBox="1"/>
          <p:nvPr/>
        </p:nvSpPr>
        <p:spPr>
          <a:xfrm>
            <a:off x="10179610" y="3948255"/>
            <a:ext cx="827208" cy="198120"/>
          </a:xfrm>
          <a:prstGeom prst="rect">
            <a:avLst/>
          </a:prstGeom>
          <a:noFill/>
        </p:spPr>
        <p:txBody>
          <a:bodyPr wrap="none" lIns="0" tIns="0" rIns="0" bIns="0" anchor="t">
            <a:noAutofit/>
          </a:bodyPr>
          <a:lstStyle/>
          <a:p>
            <a:pPr algn="ctr">
              <a:lnSpc>
                <a:spcPts val="1560"/>
              </a:lnSpc>
              <a:spcBef>
                <a:spcPts val="0"/>
              </a:spcBef>
              <a:spcAft>
                <a:spcPts val="0"/>
              </a:spcAft>
            </a:pPr>
            <a:r>
              <a:rPr sz="1200" b="1" i="0" kern="100">
                <a:solidFill>
                  <a:srgbClr val="1B1716"/>
                </a:solidFill>
                <a:latin typeface="Plus Jakarta Sans"/>
              </a:rPr>
              <a:t>Chloe, 16</a:t>
            </a:r>
          </a:p>
        </p:txBody>
      </p:sp>
      <p:sp>
        <p:nvSpPr>
          <p:cNvPr id="53" name="!!T a guardian until 18; her share paid at"/>
          <p:cNvSpPr txBox="1"/>
          <p:nvPr/>
        </p:nvSpPr>
        <p:spPr>
          <a:xfrm>
            <a:off x="9372521" y="4151775"/>
            <a:ext cx="2441385" cy="180022"/>
          </a:xfrm>
          <a:prstGeom prst="rect">
            <a:avLst/>
          </a:prstGeom>
          <a:noFill/>
        </p:spPr>
        <p:txBody>
          <a:bodyPr wrap="none" lIns="0" tIns="0" rIns="0" bIns="0" anchor="t">
            <a:noAutofit/>
          </a:bodyPr>
          <a:lstStyle/>
          <a:p>
            <a:pPr algn="ctr">
              <a:lnSpc>
                <a:spcPts val="1417"/>
              </a:lnSpc>
              <a:spcBef>
                <a:spcPts val="0"/>
              </a:spcBef>
              <a:spcAft>
                <a:spcPts val="0"/>
              </a:spcAft>
            </a:pPr>
            <a:r>
              <a:rPr sz="1050" b="0" i="0" kern="100">
                <a:solidFill>
                  <a:srgbClr val="1B1716"/>
                </a:solidFill>
                <a:latin typeface="Plus Jakarta Sans"/>
              </a:rPr>
              <a:t>a guardian until 18; her share paid at</a:t>
            </a:r>
          </a:p>
        </p:txBody>
      </p:sp>
      <p:sp>
        <p:nvSpPr>
          <p:cNvPr id="54" name="!!Rule 57d427b7"/>
          <p:cNvSpPr/>
          <p:nvPr/>
        </p:nvSpPr>
        <p:spPr>
          <a:xfrm>
            <a:off x="9956750" y="4467820"/>
            <a:ext cx="1272778" cy="19050"/>
          </a:xfrm>
          <a:prstGeom prst="rect">
            <a:avLst/>
          </a:prstGeom>
          <a:solidFill>
            <a:srgbClr val="EFD9DC"/>
          </a:solidFill>
          <a:ln>
            <a:noFill/>
          </a:ln>
        </p:spPr>
        <p:txBody>
          <a:bodyPr rtlCol="0" anchor="ctr"/>
          <a:lstStyle/>
          <a:p>
            <a:pPr algn="ctr"/>
            <a:endParaRPr/>
          </a:p>
        </p:txBody>
      </p:sp>
      <p:sp>
        <p:nvSpPr>
          <p:cNvPr id="55" name="!!ps-el c2c751aa"/>
          <p:cNvSpPr/>
          <p:nvPr/>
        </p:nvSpPr>
        <p:spPr>
          <a:xfrm>
            <a:off x="9993957" y="4420195"/>
            <a:ext cx="114300" cy="114300"/>
          </a:xfrm>
          <a:prstGeom prst="ellipse">
            <a:avLst/>
          </a:prstGeom>
          <a:solidFill>
            <a:srgbClr val="971320"/>
          </a:solidFill>
          <a:ln>
            <a:noFill/>
          </a:ln>
        </p:spPr>
        <p:txBody>
          <a:bodyPr rtlCol="0" anchor="ctr"/>
          <a:lstStyle/>
          <a:p>
            <a:pPr algn="ctr"/>
            <a:endParaRPr/>
          </a:p>
        </p:txBody>
      </p:sp>
      <p:sp>
        <p:nvSpPr>
          <p:cNvPr id="56" name="!!T 2035"/>
          <p:cNvSpPr txBox="1"/>
          <p:nvPr/>
        </p:nvSpPr>
        <p:spPr>
          <a:xfrm>
            <a:off x="9813167" y="4736044"/>
            <a:ext cx="475881" cy="133350"/>
          </a:xfrm>
          <a:prstGeom prst="rect">
            <a:avLst/>
          </a:prstGeom>
          <a:noFill/>
        </p:spPr>
        <p:txBody>
          <a:bodyPr wrap="none" lIns="0" tIns="0" rIns="0" bIns="0" anchor="t">
            <a:noAutofit/>
          </a:bodyPr>
          <a:lstStyle/>
          <a:p>
            <a:pPr algn="ctr">
              <a:lnSpc>
                <a:spcPts val="1050"/>
              </a:lnSpc>
              <a:spcBef>
                <a:spcPts val="0"/>
              </a:spcBef>
              <a:spcAft>
                <a:spcPts val="0"/>
              </a:spcAft>
            </a:pPr>
            <a:r>
              <a:rPr sz="1050" b="0" i="0" kern="100">
                <a:solidFill>
                  <a:srgbClr val="80606A"/>
                </a:solidFill>
                <a:latin typeface="Plus Jakarta Sans"/>
              </a:rPr>
              <a:t>2035</a:t>
            </a:r>
          </a:p>
        </p:txBody>
      </p:sp>
      <p:sp>
        <p:nvSpPr>
          <p:cNvPr id="57" name="!!T 25 #2"/>
          <p:cNvSpPr txBox="1"/>
          <p:nvPr/>
        </p:nvSpPr>
        <p:spPr>
          <a:xfrm>
            <a:off x="9908295" y="4564594"/>
            <a:ext cx="285625" cy="133350"/>
          </a:xfrm>
          <a:prstGeom prst="rect">
            <a:avLst/>
          </a:prstGeom>
          <a:noFill/>
        </p:spPr>
        <p:txBody>
          <a:bodyPr wrap="none" lIns="0" tIns="0" rIns="0" bIns="0" anchor="t">
            <a:noAutofit/>
          </a:bodyPr>
          <a:lstStyle/>
          <a:p>
            <a:pPr algn="ctr">
              <a:lnSpc>
                <a:spcPts val="1050"/>
              </a:lnSpc>
              <a:spcBef>
                <a:spcPts val="0"/>
              </a:spcBef>
              <a:spcAft>
                <a:spcPts val="0"/>
              </a:spcAft>
            </a:pPr>
            <a:r>
              <a:rPr sz="1050" b="1" i="0" kern="100">
                <a:solidFill>
                  <a:srgbClr val="1B1716"/>
                </a:solidFill>
                <a:latin typeface="Plus Jakarta Sans"/>
              </a:rPr>
              <a:t>25</a:t>
            </a:r>
          </a:p>
        </p:txBody>
      </p:sp>
      <p:sp>
        <p:nvSpPr>
          <p:cNvPr id="58" name="!!ps-el f4aea058"/>
          <p:cNvSpPr/>
          <p:nvPr/>
        </p:nvSpPr>
        <p:spPr>
          <a:xfrm>
            <a:off x="10534650" y="4420195"/>
            <a:ext cx="114300" cy="114300"/>
          </a:xfrm>
          <a:prstGeom prst="ellipse">
            <a:avLst/>
          </a:prstGeom>
          <a:solidFill>
            <a:srgbClr val="971320"/>
          </a:solidFill>
          <a:ln>
            <a:noFill/>
          </a:ln>
        </p:spPr>
        <p:txBody>
          <a:bodyPr rtlCol="0" anchor="ctr"/>
          <a:lstStyle/>
          <a:p>
            <a:pPr algn="ctr"/>
            <a:endParaRPr/>
          </a:p>
        </p:txBody>
      </p:sp>
      <p:sp>
        <p:nvSpPr>
          <p:cNvPr id="59" name="!!T 2040"/>
          <p:cNvSpPr txBox="1"/>
          <p:nvPr/>
        </p:nvSpPr>
        <p:spPr>
          <a:xfrm>
            <a:off x="10344236" y="4736044"/>
            <a:ext cx="495127" cy="133350"/>
          </a:xfrm>
          <a:prstGeom prst="rect">
            <a:avLst/>
          </a:prstGeom>
          <a:noFill/>
        </p:spPr>
        <p:txBody>
          <a:bodyPr wrap="none" lIns="0" tIns="0" rIns="0" bIns="0" anchor="t">
            <a:noAutofit/>
          </a:bodyPr>
          <a:lstStyle/>
          <a:p>
            <a:pPr algn="ctr">
              <a:lnSpc>
                <a:spcPts val="1050"/>
              </a:lnSpc>
              <a:spcBef>
                <a:spcPts val="0"/>
              </a:spcBef>
              <a:spcAft>
                <a:spcPts val="0"/>
              </a:spcAft>
            </a:pPr>
            <a:r>
              <a:rPr sz="1050" b="0" i="0" kern="100">
                <a:solidFill>
                  <a:srgbClr val="80606A"/>
                </a:solidFill>
                <a:latin typeface="Plus Jakarta Sans"/>
              </a:rPr>
              <a:t>2040</a:t>
            </a:r>
          </a:p>
        </p:txBody>
      </p:sp>
      <p:sp>
        <p:nvSpPr>
          <p:cNvPr id="60" name="!!T 30 #2"/>
          <p:cNvSpPr txBox="1"/>
          <p:nvPr/>
        </p:nvSpPr>
        <p:spPr>
          <a:xfrm>
            <a:off x="10441415" y="4564594"/>
            <a:ext cx="300770" cy="133350"/>
          </a:xfrm>
          <a:prstGeom prst="rect">
            <a:avLst/>
          </a:prstGeom>
          <a:noFill/>
        </p:spPr>
        <p:txBody>
          <a:bodyPr wrap="none" lIns="0" tIns="0" rIns="0" bIns="0" anchor="t">
            <a:noAutofit/>
          </a:bodyPr>
          <a:lstStyle/>
          <a:p>
            <a:pPr algn="ctr">
              <a:lnSpc>
                <a:spcPts val="1050"/>
              </a:lnSpc>
              <a:spcBef>
                <a:spcPts val="0"/>
              </a:spcBef>
              <a:spcAft>
                <a:spcPts val="0"/>
              </a:spcAft>
            </a:pPr>
            <a:r>
              <a:rPr sz="1050" b="1" i="0" kern="100">
                <a:solidFill>
                  <a:srgbClr val="1B1716"/>
                </a:solidFill>
                <a:latin typeface="Plus Jakarta Sans"/>
              </a:rPr>
              <a:t>30</a:t>
            </a:r>
          </a:p>
        </p:txBody>
      </p:sp>
      <p:sp>
        <p:nvSpPr>
          <p:cNvPr id="61" name="!!ps-el 0f01393b"/>
          <p:cNvSpPr/>
          <p:nvPr/>
        </p:nvSpPr>
        <p:spPr>
          <a:xfrm>
            <a:off x="11076682" y="4420195"/>
            <a:ext cx="114300" cy="114300"/>
          </a:xfrm>
          <a:prstGeom prst="ellipse">
            <a:avLst/>
          </a:prstGeom>
          <a:solidFill>
            <a:srgbClr val="971320"/>
          </a:solidFill>
          <a:ln>
            <a:noFill/>
          </a:ln>
        </p:spPr>
        <p:txBody>
          <a:bodyPr rtlCol="0" anchor="ctr"/>
          <a:lstStyle/>
          <a:p>
            <a:pPr algn="ctr"/>
            <a:endParaRPr/>
          </a:p>
        </p:txBody>
      </p:sp>
      <p:sp>
        <p:nvSpPr>
          <p:cNvPr id="62" name="!!T 2045"/>
          <p:cNvSpPr txBox="1"/>
          <p:nvPr/>
        </p:nvSpPr>
        <p:spPr>
          <a:xfrm>
            <a:off x="10894472" y="4736044"/>
            <a:ext cx="478721" cy="133350"/>
          </a:xfrm>
          <a:prstGeom prst="rect">
            <a:avLst/>
          </a:prstGeom>
          <a:noFill/>
        </p:spPr>
        <p:txBody>
          <a:bodyPr wrap="none" lIns="0" tIns="0" rIns="0" bIns="0" anchor="t">
            <a:noAutofit/>
          </a:bodyPr>
          <a:lstStyle/>
          <a:p>
            <a:pPr algn="ctr">
              <a:lnSpc>
                <a:spcPts val="1050"/>
              </a:lnSpc>
              <a:spcBef>
                <a:spcPts val="0"/>
              </a:spcBef>
              <a:spcAft>
                <a:spcPts val="0"/>
              </a:spcAft>
            </a:pPr>
            <a:r>
              <a:rPr sz="1050" b="0" i="0" kern="100">
                <a:solidFill>
                  <a:srgbClr val="80606A"/>
                </a:solidFill>
                <a:latin typeface="Plus Jakarta Sans"/>
              </a:rPr>
              <a:t>2045</a:t>
            </a:r>
          </a:p>
        </p:txBody>
      </p:sp>
      <p:sp>
        <p:nvSpPr>
          <p:cNvPr id="63" name="!!T 35 #2"/>
          <p:cNvSpPr txBox="1"/>
          <p:nvPr/>
        </p:nvSpPr>
        <p:spPr>
          <a:xfrm>
            <a:off x="10989920" y="4564594"/>
            <a:ext cx="287676" cy="133350"/>
          </a:xfrm>
          <a:prstGeom prst="rect">
            <a:avLst/>
          </a:prstGeom>
          <a:noFill/>
        </p:spPr>
        <p:txBody>
          <a:bodyPr wrap="none" lIns="0" tIns="0" rIns="0" bIns="0" anchor="t">
            <a:noAutofit/>
          </a:bodyPr>
          <a:lstStyle/>
          <a:p>
            <a:pPr algn="ctr">
              <a:lnSpc>
                <a:spcPts val="1050"/>
              </a:lnSpc>
              <a:spcBef>
                <a:spcPts val="0"/>
              </a:spcBef>
              <a:spcAft>
                <a:spcPts val="0"/>
              </a:spcAft>
            </a:pPr>
            <a:r>
              <a:rPr sz="1050" b="1" i="0" kern="100">
                <a:solidFill>
                  <a:srgbClr val="1B1716"/>
                </a:solidFill>
                <a:latin typeface="Plus Jakarta Sans"/>
              </a:rPr>
              <a:t>35</a:t>
            </a:r>
          </a:p>
        </p:txBody>
      </p:sp>
      <p:sp>
        <p:nvSpPr>
          <p:cNvPr id="64" name="!!p 7d04d5fb"/>
          <p:cNvSpPr/>
          <p:nvPr/>
        </p:nvSpPr>
        <p:spPr>
          <a:xfrm>
            <a:off x="7169051" y="4926509"/>
            <a:ext cx="4565600" cy="750391"/>
          </a:xfrm>
          <a:prstGeom prst="rect">
            <a:avLst/>
          </a:prstGeom>
          <a:solidFill>
            <a:srgbClr val="F8EFF0"/>
          </a:solidFill>
          <a:ln>
            <a:noFill/>
          </a:ln>
        </p:spPr>
        <p:txBody>
          <a:bodyPr rtlCol="0" anchor="ctr"/>
          <a:lstStyle/>
          <a:p>
            <a:pPr algn="ctr"/>
            <a:endParaRPr/>
          </a:p>
        </p:txBody>
      </p:sp>
      <p:sp>
        <p:nvSpPr>
          <p:cNvPr id="65" name="!!span 937dc11d"/>
          <p:cNvSpPr/>
          <p:nvPr/>
        </p:nvSpPr>
        <p:spPr>
          <a:xfrm>
            <a:off x="7302401" y="5149304"/>
            <a:ext cx="304800" cy="304800"/>
          </a:xfrm>
          <a:prstGeom prst="ellipse">
            <a:avLst/>
          </a:prstGeom>
          <a:solidFill>
            <a:srgbClr val="FFFFFF"/>
          </a:solidFill>
          <a:ln>
            <a:noFill/>
          </a:ln>
        </p:spPr>
        <p:txBody>
          <a:bodyPr rtlCol="0" anchor="ctr"/>
          <a:lstStyle/>
          <a:p>
            <a:pPr algn="ctr"/>
            <a:endParaRPr/>
          </a:p>
        </p:txBody>
      </p:sp>
      <p:pic>
        <p:nvPicPr>
          <p:cNvPr id="66" name="!!Drawing d26ae75c" descr="image.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364313" y="5211217"/>
            <a:ext cx="180975" cy="180975"/>
          </a:xfrm>
          <a:prstGeom prst="rect">
            <a:avLst/>
          </a:prstGeom>
        </p:spPr>
      </p:pic>
      <p:sp>
        <p:nvSpPr>
          <p:cNvPr id="67" name="!!T A legacy with purpose: about HK$30K a ye"/>
          <p:cNvSpPr txBox="1"/>
          <p:nvPr/>
        </p:nvSpPr>
        <p:spPr>
          <a:xfrm>
            <a:off x="7721501" y="5006138"/>
            <a:ext cx="4195652" cy="559951"/>
          </a:xfrm>
          <a:prstGeom prst="rect">
            <a:avLst/>
          </a:prstGeom>
          <a:noFill/>
        </p:spPr>
        <p:txBody>
          <a:bodyPr wrap="none" lIns="0" tIns="0" rIns="0" bIns="0" anchor="t">
            <a:noAutofit/>
          </a:bodyPr>
          <a:lstStyle/>
          <a:p>
            <a:pPr algn="l">
              <a:lnSpc>
                <a:spcPts val="1470"/>
              </a:lnSpc>
              <a:spcBef>
                <a:spcPts val="0"/>
              </a:spcBef>
              <a:spcAft>
                <a:spcPts val="0"/>
              </a:spcAft>
            </a:pPr>
            <a:r>
              <a:rPr sz="1050" b="1" i="0" kern="100">
                <a:solidFill>
                  <a:srgbClr val="1B1716"/>
                </a:solidFill>
                <a:latin typeface="Plus Jakarta Sans"/>
              </a:rPr>
              <a:t>A legacy with purpose:</a:t>
            </a:r>
            <a:r>
              <a:rPr sz="1050" b="0" i="0" kern="100">
                <a:solidFill>
                  <a:srgbClr val="1B1716"/>
                </a:solidFill>
                <a:latin typeface="Plus Jakarta Sans"/>
              </a:rPr>
              <a:t> about HK$30K a year to a scholarship</a:t>
            </a:r>
          </a:p>
          <a:p>
            <a:pPr algn="l">
              <a:lnSpc>
                <a:spcPts val="1470"/>
              </a:lnSpc>
              <a:spcBef>
                <a:spcPts val="0"/>
              </a:spcBef>
              <a:spcAft>
                <a:spcPts val="0"/>
              </a:spcAft>
            </a:pPr>
            <a:r>
              <a:rPr sz="1050" b="0" i="0" kern="100">
                <a:solidFill>
                  <a:srgbClr val="1B1716"/>
                </a:solidFill>
                <a:latin typeface="Plus Jakarta Sans"/>
              </a:rPr>
              <a:t>in sustainable design, the education and environmental</a:t>
            </a:r>
          </a:p>
          <a:p>
            <a:pPr algn="l">
              <a:lnSpc>
                <a:spcPts val="1470"/>
              </a:lnSpc>
              <a:spcBef>
                <a:spcPts val="0"/>
              </a:spcBef>
              <a:spcAft>
                <a:spcPts val="0"/>
              </a:spcAft>
            </a:pPr>
            <a:r>
              <a:rPr sz="1050" b="0" i="0" kern="100">
                <a:solidFill>
                  <a:srgbClr val="1B1716"/>
                </a:solidFill>
                <a:latin typeface="Plus Jakarta Sans"/>
              </a:rPr>
              <a:t>causes the family asked to support</a:t>
            </a:r>
          </a:p>
        </p:txBody>
      </p:sp>
      <p:sp>
        <p:nvSpPr>
          <p:cNvPr id="68"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69" name="!!T Built to last: for their lifetimes, and "/>
          <p:cNvSpPr txBox="1"/>
          <p:nvPr/>
        </p:nvSpPr>
        <p:spPr>
          <a:xfrm>
            <a:off x="4104897" y="5984558"/>
            <a:ext cx="3982206"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Built to last: for their lifetimes, and after.</a:t>
            </a:r>
          </a:p>
        </p:txBody>
      </p:sp>
      <p:sp>
        <p:nvSpPr>
          <p:cNvPr id="70" name="!!T Inheritance at Carmen's 89: savings and "/>
          <p:cNvSpPr txBox="1"/>
          <p:nvPr/>
        </p:nvSpPr>
        <p:spPr>
          <a:xfrm>
            <a:off x="457200" y="6452104"/>
            <a:ext cx="5978000"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Inheritance at Carmen's 89: savings and home equity, less unpaid bills, today's money; the same 10,000</a:t>
            </a:r>
          </a:p>
          <a:p>
            <a:pPr algn="l">
              <a:lnSpc>
                <a:spcPts val="1170"/>
              </a:lnSpc>
              <a:spcBef>
                <a:spcPts val="0"/>
              </a:spcBef>
              <a:spcAft>
                <a:spcPts val="0"/>
              </a:spcAft>
            </a:pPr>
            <a:r>
              <a:rPr sz="900" b="0" i="0" kern="100">
                <a:solidFill>
                  <a:srgbClr val="80606A"/>
                </a:solidFill>
                <a:latin typeface="Plus Jakarta Sans"/>
              </a:rPr>
              <a:t>markets (measured). Succession: written case §9, Figure 22.</a:t>
            </a:r>
          </a:p>
        </p:txBody>
      </p:sp>
      <p:sp>
        <p:nvSpPr>
          <p:cNvPr id="71" name="!!T The problem"/>
          <p:cNvSpPr txBox="1"/>
          <p:nvPr/>
        </p:nvSpPr>
        <p:spPr>
          <a:xfrm>
            <a:off x="6625233"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72" name="!!T The answer"/>
          <p:cNvSpPr txBox="1"/>
          <p:nvPr/>
        </p:nvSpPr>
        <p:spPr>
          <a:xfrm>
            <a:off x="7571482"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73" name="!!T The five calls"/>
          <p:cNvSpPr txBox="1"/>
          <p:nvPr/>
        </p:nvSpPr>
        <p:spPr>
          <a:xfrm>
            <a:off x="8431709"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74" name="!!T Will it hold"/>
          <p:cNvSpPr txBox="1"/>
          <p:nvPr/>
        </p:nvSpPr>
        <p:spPr>
          <a:xfrm>
            <a:off x="9368582"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75" name="!!T What next"/>
          <p:cNvSpPr txBox="1"/>
          <p:nvPr/>
        </p:nvSpPr>
        <p:spPr>
          <a:xfrm>
            <a:off x="10166598" y="6536246"/>
            <a:ext cx="75369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What next</a:t>
            </a:r>
          </a:p>
        </p:txBody>
      </p:sp>
      <p:sp>
        <p:nvSpPr>
          <p:cNvPr id="76" name="!!T Us"/>
          <p:cNvSpPr txBox="1"/>
          <p:nvPr/>
        </p:nvSpPr>
        <p:spPr>
          <a:xfrm>
            <a:off x="10979348" y="6536246"/>
            <a:ext cx="27300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Us</a:t>
            </a:r>
          </a:p>
        </p:txBody>
      </p:sp>
      <p:sp>
        <p:nvSpPr>
          <p:cNvPr id="77" name="!!T 12 / 15"/>
          <p:cNvSpPr txBox="1"/>
          <p:nvPr/>
        </p:nvSpPr>
        <p:spPr>
          <a:xfrm>
            <a:off x="11357670" y="6535674"/>
            <a:ext cx="514058"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12 / 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3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3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3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3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300"/>
                                        <p:tgtEl>
                                          <p:spTgt spid="2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300"/>
                                        <p:tgtEl>
                                          <p:spTgt spid="2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300"/>
                                        <p:tgtEl>
                                          <p:spTgt spid="26"/>
                                        </p:tgtEl>
                                      </p:cBhvr>
                                    </p:animEffect>
                                  </p:childTnLst>
                                </p:cTn>
                              </p:par>
                              <p:par>
                                <p:cTn id="31" presetID="10"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300"/>
                                        <p:tgtEl>
                                          <p:spTgt spid="2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300"/>
                                        <p:tgtEl>
                                          <p:spTgt spid="28"/>
                                        </p:tgtEl>
                                      </p:cBhvr>
                                    </p:animEffect>
                                  </p:childTnLst>
                                </p:cTn>
                              </p:par>
                              <p:par>
                                <p:cTn id="37" presetID="10"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300"/>
                                        <p:tgtEl>
                                          <p:spTgt spid="2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300"/>
                                        <p:tgtEl>
                                          <p:spTgt spid="3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300"/>
                                        <p:tgtEl>
                                          <p:spTgt spid="3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300"/>
                                        <p:tgtEl>
                                          <p:spTgt spid="3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300"/>
                                        <p:tgtEl>
                                          <p:spTgt spid="3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300"/>
                                        <p:tgtEl>
                                          <p:spTgt spid="3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300"/>
                                        <p:tgtEl>
                                          <p:spTgt spid="3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300"/>
                                        <p:tgtEl>
                                          <p:spTgt spid="36"/>
                                        </p:tgtEl>
                                      </p:cBhvr>
                                    </p:animEffect>
                                  </p:childTnLst>
                                </p:cTn>
                              </p:par>
                              <p:par>
                                <p:cTn id="61" presetID="10" presetClass="entr" presetSubtype="0" fill="hold" nodeType="with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300"/>
                                        <p:tgtEl>
                                          <p:spTgt spid="3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300"/>
                                        <p:tgtEl>
                                          <p:spTgt spid="3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300"/>
                                        <p:tgtEl>
                                          <p:spTgt spid="3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3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300"/>
                                        <p:tgtEl>
                                          <p:spTgt spid="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300"/>
                                        <p:tgtEl>
                                          <p:spTgt spid="4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300"/>
                                        <p:tgtEl>
                                          <p:spTgt spid="4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300"/>
                                        <p:tgtEl>
                                          <p:spTgt spid="4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300"/>
                                        <p:tgtEl>
                                          <p:spTgt spid="4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fade">
                                      <p:cBhvr>
                                        <p:cTn id="90" dur="300"/>
                                        <p:tgtEl>
                                          <p:spTgt spid="4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fade">
                                      <p:cBhvr>
                                        <p:cTn id="93" dur="300"/>
                                        <p:tgtEl>
                                          <p:spTgt spid="4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8"/>
                                        </p:tgtEl>
                                        <p:attrNameLst>
                                          <p:attrName>style.visibility</p:attrName>
                                        </p:attrNameLst>
                                      </p:cBhvr>
                                      <p:to>
                                        <p:strVal val="visible"/>
                                      </p:to>
                                    </p:set>
                                    <p:animEffect transition="in" filter="fade">
                                      <p:cBhvr>
                                        <p:cTn id="96" dur="300"/>
                                        <p:tgtEl>
                                          <p:spTgt spid="4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9"/>
                                        </p:tgtEl>
                                        <p:attrNameLst>
                                          <p:attrName>style.visibility</p:attrName>
                                        </p:attrNameLst>
                                      </p:cBhvr>
                                      <p:to>
                                        <p:strVal val="visible"/>
                                      </p:to>
                                    </p:set>
                                    <p:animEffect transition="in" filter="fade">
                                      <p:cBhvr>
                                        <p:cTn id="99" dur="300"/>
                                        <p:tgtEl>
                                          <p:spTgt spid="4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0"/>
                                        </p:tgtEl>
                                        <p:attrNameLst>
                                          <p:attrName>style.visibility</p:attrName>
                                        </p:attrNameLst>
                                      </p:cBhvr>
                                      <p:to>
                                        <p:strVal val="visible"/>
                                      </p:to>
                                    </p:set>
                                    <p:animEffect transition="in" filter="fade">
                                      <p:cBhvr>
                                        <p:cTn id="102" dur="300"/>
                                        <p:tgtEl>
                                          <p:spTgt spid="50"/>
                                        </p:tgtEl>
                                      </p:cBhvr>
                                    </p:animEffect>
                                  </p:childTnLst>
                                </p:cTn>
                              </p:par>
                              <p:par>
                                <p:cTn id="103" presetID="10" presetClass="entr" presetSubtype="0" fill="hold" nodeType="withEffect">
                                  <p:stCondLst>
                                    <p:cond delay="0"/>
                                  </p:stCondLst>
                                  <p:childTnLst>
                                    <p:set>
                                      <p:cBhvr>
                                        <p:cTn id="104" dur="1" fill="hold">
                                          <p:stCondLst>
                                            <p:cond delay="0"/>
                                          </p:stCondLst>
                                        </p:cTn>
                                        <p:tgtEl>
                                          <p:spTgt spid="51"/>
                                        </p:tgtEl>
                                        <p:attrNameLst>
                                          <p:attrName>style.visibility</p:attrName>
                                        </p:attrNameLst>
                                      </p:cBhvr>
                                      <p:to>
                                        <p:strVal val="visible"/>
                                      </p:to>
                                    </p:set>
                                    <p:animEffect transition="in" filter="fade">
                                      <p:cBhvr>
                                        <p:cTn id="105" dur="300"/>
                                        <p:tgtEl>
                                          <p:spTgt spid="51"/>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2"/>
                                        </p:tgtEl>
                                        <p:attrNameLst>
                                          <p:attrName>style.visibility</p:attrName>
                                        </p:attrNameLst>
                                      </p:cBhvr>
                                      <p:to>
                                        <p:strVal val="visible"/>
                                      </p:to>
                                    </p:set>
                                    <p:animEffect transition="in" filter="fade">
                                      <p:cBhvr>
                                        <p:cTn id="108" dur="300"/>
                                        <p:tgtEl>
                                          <p:spTgt spid="52"/>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3"/>
                                        </p:tgtEl>
                                        <p:attrNameLst>
                                          <p:attrName>style.visibility</p:attrName>
                                        </p:attrNameLst>
                                      </p:cBhvr>
                                      <p:to>
                                        <p:strVal val="visible"/>
                                      </p:to>
                                    </p:set>
                                    <p:animEffect transition="in" filter="fade">
                                      <p:cBhvr>
                                        <p:cTn id="111" dur="300"/>
                                        <p:tgtEl>
                                          <p:spTgt spid="53"/>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54"/>
                                        </p:tgtEl>
                                        <p:attrNameLst>
                                          <p:attrName>style.visibility</p:attrName>
                                        </p:attrNameLst>
                                      </p:cBhvr>
                                      <p:to>
                                        <p:strVal val="visible"/>
                                      </p:to>
                                    </p:set>
                                    <p:animEffect transition="in" filter="fade">
                                      <p:cBhvr>
                                        <p:cTn id="114" dur="300"/>
                                        <p:tgtEl>
                                          <p:spTgt spid="54"/>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55"/>
                                        </p:tgtEl>
                                        <p:attrNameLst>
                                          <p:attrName>style.visibility</p:attrName>
                                        </p:attrNameLst>
                                      </p:cBhvr>
                                      <p:to>
                                        <p:strVal val="visible"/>
                                      </p:to>
                                    </p:set>
                                    <p:animEffect transition="in" filter="fade">
                                      <p:cBhvr>
                                        <p:cTn id="117" dur="300"/>
                                        <p:tgtEl>
                                          <p:spTgt spid="55"/>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6"/>
                                        </p:tgtEl>
                                        <p:attrNameLst>
                                          <p:attrName>style.visibility</p:attrName>
                                        </p:attrNameLst>
                                      </p:cBhvr>
                                      <p:to>
                                        <p:strVal val="visible"/>
                                      </p:to>
                                    </p:set>
                                    <p:animEffect transition="in" filter="fade">
                                      <p:cBhvr>
                                        <p:cTn id="120" dur="300"/>
                                        <p:tgtEl>
                                          <p:spTgt spid="56"/>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57"/>
                                        </p:tgtEl>
                                        <p:attrNameLst>
                                          <p:attrName>style.visibility</p:attrName>
                                        </p:attrNameLst>
                                      </p:cBhvr>
                                      <p:to>
                                        <p:strVal val="visible"/>
                                      </p:to>
                                    </p:set>
                                    <p:animEffect transition="in" filter="fade">
                                      <p:cBhvr>
                                        <p:cTn id="123" dur="300"/>
                                        <p:tgtEl>
                                          <p:spTgt spid="57"/>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8"/>
                                        </p:tgtEl>
                                        <p:attrNameLst>
                                          <p:attrName>style.visibility</p:attrName>
                                        </p:attrNameLst>
                                      </p:cBhvr>
                                      <p:to>
                                        <p:strVal val="visible"/>
                                      </p:to>
                                    </p:set>
                                    <p:animEffect transition="in" filter="fade">
                                      <p:cBhvr>
                                        <p:cTn id="126" dur="300"/>
                                        <p:tgtEl>
                                          <p:spTgt spid="58"/>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9"/>
                                        </p:tgtEl>
                                        <p:attrNameLst>
                                          <p:attrName>style.visibility</p:attrName>
                                        </p:attrNameLst>
                                      </p:cBhvr>
                                      <p:to>
                                        <p:strVal val="visible"/>
                                      </p:to>
                                    </p:set>
                                    <p:animEffect transition="in" filter="fade">
                                      <p:cBhvr>
                                        <p:cTn id="129" dur="300"/>
                                        <p:tgtEl>
                                          <p:spTgt spid="5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0"/>
                                        </p:tgtEl>
                                        <p:attrNameLst>
                                          <p:attrName>style.visibility</p:attrName>
                                        </p:attrNameLst>
                                      </p:cBhvr>
                                      <p:to>
                                        <p:strVal val="visible"/>
                                      </p:to>
                                    </p:set>
                                    <p:animEffect transition="in" filter="fade">
                                      <p:cBhvr>
                                        <p:cTn id="132" dur="300"/>
                                        <p:tgtEl>
                                          <p:spTgt spid="60"/>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61"/>
                                        </p:tgtEl>
                                        <p:attrNameLst>
                                          <p:attrName>style.visibility</p:attrName>
                                        </p:attrNameLst>
                                      </p:cBhvr>
                                      <p:to>
                                        <p:strVal val="visible"/>
                                      </p:to>
                                    </p:set>
                                    <p:animEffect transition="in" filter="fade">
                                      <p:cBhvr>
                                        <p:cTn id="135" dur="300"/>
                                        <p:tgtEl>
                                          <p:spTgt spid="61"/>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62"/>
                                        </p:tgtEl>
                                        <p:attrNameLst>
                                          <p:attrName>style.visibility</p:attrName>
                                        </p:attrNameLst>
                                      </p:cBhvr>
                                      <p:to>
                                        <p:strVal val="visible"/>
                                      </p:to>
                                    </p:set>
                                    <p:animEffect transition="in" filter="fade">
                                      <p:cBhvr>
                                        <p:cTn id="138" dur="300"/>
                                        <p:tgtEl>
                                          <p:spTgt spid="62"/>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63"/>
                                        </p:tgtEl>
                                        <p:attrNameLst>
                                          <p:attrName>style.visibility</p:attrName>
                                        </p:attrNameLst>
                                      </p:cBhvr>
                                      <p:to>
                                        <p:strVal val="visible"/>
                                      </p:to>
                                    </p:set>
                                    <p:animEffect transition="in" filter="fade">
                                      <p:cBhvr>
                                        <p:cTn id="141" dur="300"/>
                                        <p:tgtEl>
                                          <p:spTgt spid="63"/>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64"/>
                                        </p:tgtEl>
                                        <p:attrNameLst>
                                          <p:attrName>style.visibility</p:attrName>
                                        </p:attrNameLst>
                                      </p:cBhvr>
                                      <p:to>
                                        <p:strVal val="visible"/>
                                      </p:to>
                                    </p:set>
                                    <p:animEffect transition="in" filter="fade">
                                      <p:cBhvr>
                                        <p:cTn id="144" dur="300"/>
                                        <p:tgtEl>
                                          <p:spTgt spid="64"/>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65"/>
                                        </p:tgtEl>
                                        <p:attrNameLst>
                                          <p:attrName>style.visibility</p:attrName>
                                        </p:attrNameLst>
                                      </p:cBhvr>
                                      <p:to>
                                        <p:strVal val="visible"/>
                                      </p:to>
                                    </p:set>
                                    <p:animEffect transition="in" filter="fade">
                                      <p:cBhvr>
                                        <p:cTn id="147" dur="300"/>
                                        <p:tgtEl>
                                          <p:spTgt spid="65"/>
                                        </p:tgtEl>
                                      </p:cBhvr>
                                    </p:animEffect>
                                  </p:childTnLst>
                                </p:cTn>
                              </p:par>
                              <p:par>
                                <p:cTn id="148" presetID="10" presetClass="entr" presetSubtype="0" fill="hold" nodeType="withEffect">
                                  <p:stCondLst>
                                    <p:cond delay="0"/>
                                  </p:stCondLst>
                                  <p:childTnLst>
                                    <p:set>
                                      <p:cBhvr>
                                        <p:cTn id="149" dur="1" fill="hold">
                                          <p:stCondLst>
                                            <p:cond delay="0"/>
                                          </p:stCondLst>
                                        </p:cTn>
                                        <p:tgtEl>
                                          <p:spTgt spid="66"/>
                                        </p:tgtEl>
                                        <p:attrNameLst>
                                          <p:attrName>style.visibility</p:attrName>
                                        </p:attrNameLst>
                                      </p:cBhvr>
                                      <p:to>
                                        <p:strVal val="visible"/>
                                      </p:to>
                                    </p:set>
                                    <p:animEffect transition="in" filter="fade">
                                      <p:cBhvr>
                                        <p:cTn id="150" dur="300"/>
                                        <p:tgtEl>
                                          <p:spTgt spid="66"/>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67"/>
                                        </p:tgtEl>
                                        <p:attrNameLst>
                                          <p:attrName>style.visibility</p:attrName>
                                        </p:attrNameLst>
                                      </p:cBhvr>
                                      <p:to>
                                        <p:strVal val="visible"/>
                                      </p:to>
                                    </p:set>
                                    <p:animEffect transition="in" filter="fade">
                                      <p:cBhvr>
                                        <p:cTn id="153" dur="300"/>
                                        <p:tgtEl>
                                          <p:spTgt spid="67"/>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68"/>
                                        </p:tgtEl>
                                        <p:attrNameLst>
                                          <p:attrName>style.visibility</p:attrName>
                                        </p:attrNameLst>
                                      </p:cBhvr>
                                      <p:to>
                                        <p:strVal val="visible"/>
                                      </p:to>
                                    </p:set>
                                    <p:animEffect transition="in" filter="fade">
                                      <p:cBhvr>
                                        <p:cTn id="156" dur="300"/>
                                        <p:tgtEl>
                                          <p:spTgt spid="68"/>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69"/>
                                        </p:tgtEl>
                                        <p:attrNameLst>
                                          <p:attrName>style.visibility</p:attrName>
                                        </p:attrNameLst>
                                      </p:cBhvr>
                                      <p:to>
                                        <p:strVal val="visible"/>
                                      </p:to>
                                    </p:set>
                                    <p:animEffect transition="in" filter="fade">
                                      <p:cBhvr>
                                        <p:cTn id="159" dur="3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8" grpId="0" animBg="1"/>
      <p:bldP spid="30" grpId="0" animBg="1"/>
      <p:bldP spid="31"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7" grpId="0" animBg="1"/>
      <p:bldP spid="68" grpId="0" animBg="1"/>
      <p:bldP spid="6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The Connect is growing both ways: for the Wongs a tool for later, for us the market we want to serve">
    <p:spTree>
      <p:nvGrpSpPr>
        <p:cNvPr id="1" name=""/>
        <p:cNvGrpSpPr/>
        <p:nvPr/>
      </p:nvGrpSpPr>
      <p:grpSpPr>
        <a:xfrm>
          <a:off x="0" y="0"/>
          <a:ext cx="0" cy="0"/>
          <a:chOff x="0" y="0"/>
          <a:chExt cx="0" cy="0"/>
        </a:xfrm>
      </p:grpSpPr>
      <p:sp>
        <p:nvSpPr>
          <p:cNvPr id="2" name="!!Rule 2286b0a1"/>
          <p:cNvSpPr/>
          <p:nvPr/>
        </p:nvSpPr>
        <p:spPr>
          <a:xfrm>
            <a:off x="457200" y="323850"/>
            <a:ext cx="47625" cy="889992"/>
          </a:xfrm>
          <a:prstGeom prst="rect">
            <a:avLst/>
          </a:prstGeom>
          <a:solidFill>
            <a:srgbClr val="C80E1E"/>
          </a:solidFill>
          <a:ln>
            <a:noFill/>
          </a:ln>
        </p:spPr>
        <p:txBody>
          <a:bodyPr rtlCol="0" anchor="ctr"/>
          <a:lstStyle/>
          <a:p>
            <a:pPr algn="ctr"/>
            <a:endParaRPr/>
          </a:p>
        </p:txBody>
      </p:sp>
      <p:sp>
        <p:nvSpPr>
          <p:cNvPr id="3" name="!!T Wealth Management Connect"/>
          <p:cNvSpPr txBox="1"/>
          <p:nvPr/>
        </p:nvSpPr>
        <p:spPr>
          <a:xfrm>
            <a:off x="638175" y="324421"/>
            <a:ext cx="2145274"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Wealth Management Connect</a:t>
            </a:r>
          </a:p>
        </p:txBody>
      </p:sp>
      <p:sp>
        <p:nvSpPr>
          <p:cNvPr id="4" name="!!T The Connect is growing both ways: for th"/>
          <p:cNvSpPr txBox="1"/>
          <p:nvPr/>
        </p:nvSpPr>
        <p:spPr>
          <a:xfrm>
            <a:off x="638175" y="529852"/>
            <a:ext cx="6873591" cy="640699"/>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The Connect is growing both ways: for the Wongs</a:t>
            </a:r>
          </a:p>
          <a:p>
            <a:pPr algn="l">
              <a:lnSpc>
                <a:spcPts val="2523"/>
              </a:lnSpc>
              <a:spcBef>
                <a:spcPts val="0"/>
              </a:spcBef>
              <a:spcAft>
                <a:spcPts val="0"/>
              </a:spcAft>
            </a:pPr>
            <a:r>
              <a:rPr sz="2175" b="1" i="0" kern="100" spc="-38">
                <a:solidFill>
                  <a:srgbClr val="1B1716"/>
                </a:solidFill>
                <a:latin typeface="Plus Jakarta Sans"/>
              </a:rPr>
              <a:t>a tool for later, for us the market we want to serve</a:t>
            </a:r>
          </a:p>
        </p:txBody>
      </p:sp>
      <p:sp>
        <p:nvSpPr>
          <p:cNvPr id="5" name="!!Rule 3c8f3311"/>
          <p:cNvSpPr/>
          <p:nvPr/>
        </p:nvSpPr>
        <p:spPr>
          <a:xfrm>
            <a:off x="457200" y="1961555"/>
            <a:ext cx="3581400" cy="9525"/>
          </a:xfrm>
          <a:prstGeom prst="rect">
            <a:avLst/>
          </a:prstGeom>
          <a:solidFill>
            <a:srgbClr val="ECDADD"/>
          </a:solidFill>
          <a:ln>
            <a:noFill/>
          </a:ln>
        </p:spPr>
        <p:txBody>
          <a:bodyPr rtlCol="0" anchor="ctr"/>
          <a:lstStyle/>
          <a:p>
            <a:pPr algn="ctr"/>
            <a:endParaRPr/>
          </a:p>
        </p:txBody>
      </p:sp>
      <p:sp>
        <p:nvSpPr>
          <p:cNvPr id="6" name="!!T 2021"/>
          <p:cNvSpPr txBox="1"/>
          <p:nvPr/>
        </p:nvSpPr>
        <p:spPr>
          <a:xfrm>
            <a:off x="457200" y="1436251"/>
            <a:ext cx="1004843"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1B1716"/>
                </a:solidFill>
                <a:latin typeface="Plus Jakarta Sans"/>
              </a:rPr>
              <a:t>2021</a:t>
            </a:r>
          </a:p>
        </p:txBody>
      </p:sp>
      <p:sp>
        <p:nvSpPr>
          <p:cNvPr id="7" name="!!T launched across Hong Kong, Macao and nin"/>
          <p:cNvSpPr txBox="1"/>
          <p:nvPr/>
        </p:nvSpPr>
        <p:spPr>
          <a:xfrm>
            <a:off x="1430685" y="1446967"/>
            <a:ext cx="2675340" cy="385762"/>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1B1716"/>
                </a:solidFill>
                <a:latin typeface="Plus Jakarta Sans"/>
              </a:rPr>
              <a:t>launched across Hong Kong, Macao</a:t>
            </a:r>
          </a:p>
          <a:p>
            <a:pPr algn="l">
              <a:lnSpc>
                <a:spcPts val="1518"/>
              </a:lnSpc>
              <a:spcBef>
                <a:spcPts val="0"/>
              </a:spcBef>
              <a:spcAft>
                <a:spcPts val="0"/>
              </a:spcAft>
            </a:pPr>
            <a:r>
              <a:rPr sz="1125" b="0" i="0" kern="100">
                <a:solidFill>
                  <a:srgbClr val="1B1716"/>
                </a:solidFill>
                <a:latin typeface="Plus Jakarta Sans"/>
              </a:rPr>
              <a:t>and nine mainland cities</a:t>
            </a:r>
          </a:p>
        </p:txBody>
      </p:sp>
      <p:sp>
        <p:nvSpPr>
          <p:cNvPr id="8" name="!!Rule edb157e3"/>
          <p:cNvSpPr/>
          <p:nvPr/>
        </p:nvSpPr>
        <p:spPr>
          <a:xfrm>
            <a:off x="4305300" y="1961555"/>
            <a:ext cx="3581400" cy="9525"/>
          </a:xfrm>
          <a:prstGeom prst="rect">
            <a:avLst/>
          </a:prstGeom>
          <a:solidFill>
            <a:srgbClr val="ECDADD"/>
          </a:solidFill>
          <a:ln>
            <a:noFill/>
          </a:ln>
        </p:spPr>
        <p:txBody>
          <a:bodyPr rtlCol="0" anchor="ctr"/>
          <a:lstStyle/>
          <a:p>
            <a:pPr algn="ctr"/>
            <a:endParaRPr/>
          </a:p>
        </p:txBody>
      </p:sp>
      <p:sp>
        <p:nvSpPr>
          <p:cNvPr id="9" name="!!T RMB 3M"/>
          <p:cNvSpPr txBox="1"/>
          <p:nvPr/>
        </p:nvSpPr>
        <p:spPr>
          <a:xfrm>
            <a:off x="4305300" y="1436251"/>
            <a:ext cx="1639818"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1B1716"/>
                </a:solidFill>
                <a:latin typeface="Plus Jakarta Sans"/>
              </a:rPr>
              <a:t>RMB 3M</a:t>
            </a:r>
          </a:p>
        </p:txBody>
      </p:sp>
      <p:sp>
        <p:nvSpPr>
          <p:cNvPr id="10" name="!!T each investor's limit since 2024, up fro"/>
          <p:cNvSpPr txBox="1"/>
          <p:nvPr/>
        </p:nvSpPr>
        <p:spPr>
          <a:xfrm>
            <a:off x="5877818" y="1446967"/>
            <a:ext cx="1917630" cy="385762"/>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1B1716"/>
                </a:solidFill>
                <a:latin typeface="Plus Jakarta Sans"/>
              </a:rPr>
              <a:t>each investor's limit since</a:t>
            </a:r>
          </a:p>
          <a:p>
            <a:pPr algn="l">
              <a:lnSpc>
                <a:spcPts val="1518"/>
              </a:lnSpc>
              <a:spcBef>
                <a:spcPts val="0"/>
              </a:spcBef>
              <a:spcAft>
                <a:spcPts val="0"/>
              </a:spcAft>
            </a:pPr>
            <a:r>
              <a:rPr sz="1125" b="0" i="0" kern="100">
                <a:solidFill>
                  <a:srgbClr val="1B1716"/>
                </a:solidFill>
                <a:latin typeface="Plus Jakarta Sans"/>
              </a:rPr>
              <a:t>2024, up from RMB 1M</a:t>
            </a:r>
          </a:p>
        </p:txBody>
      </p:sp>
      <p:sp>
        <p:nvSpPr>
          <p:cNvPr id="11" name="!!Rule 06d10fa9"/>
          <p:cNvSpPr/>
          <p:nvPr/>
        </p:nvSpPr>
        <p:spPr>
          <a:xfrm>
            <a:off x="8153400" y="1961555"/>
            <a:ext cx="3581400" cy="9525"/>
          </a:xfrm>
          <a:prstGeom prst="rect">
            <a:avLst/>
          </a:prstGeom>
          <a:solidFill>
            <a:srgbClr val="ECDADD"/>
          </a:solidFill>
          <a:ln>
            <a:noFill/>
          </a:ln>
        </p:spPr>
        <p:txBody>
          <a:bodyPr rtlCol="0" anchor="ctr"/>
          <a:lstStyle/>
          <a:p>
            <a:pPr algn="ctr"/>
            <a:endParaRPr/>
          </a:p>
        </p:txBody>
      </p:sp>
      <p:sp>
        <p:nvSpPr>
          <p:cNvPr id="12" name="!!T 2024"/>
          <p:cNvSpPr txBox="1"/>
          <p:nvPr/>
        </p:nvSpPr>
        <p:spPr>
          <a:xfrm>
            <a:off x="8153400" y="1436251"/>
            <a:ext cx="1102179"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1B1716"/>
                </a:solidFill>
                <a:latin typeface="Plus Jakarta Sans"/>
              </a:rPr>
              <a:t>2024</a:t>
            </a:r>
          </a:p>
        </p:txBody>
      </p:sp>
      <p:sp>
        <p:nvSpPr>
          <p:cNvPr id="13" name="!!T securities firms admitted beside the ban"/>
          <p:cNvSpPr txBox="1"/>
          <p:nvPr/>
        </p:nvSpPr>
        <p:spPr>
          <a:xfrm>
            <a:off x="9218712" y="1446967"/>
            <a:ext cx="2675971" cy="385762"/>
          </a:xfrm>
          <a:prstGeom prst="rect">
            <a:avLst/>
          </a:prstGeom>
          <a:noFill/>
        </p:spPr>
        <p:txBody>
          <a:bodyPr wrap="none" lIns="0" tIns="0" rIns="0" bIns="0" anchor="t">
            <a:noAutofit/>
          </a:bodyPr>
          <a:lstStyle/>
          <a:p>
            <a:pPr algn="l">
              <a:lnSpc>
                <a:spcPts val="1518"/>
              </a:lnSpc>
              <a:spcBef>
                <a:spcPts val="0"/>
              </a:spcBef>
              <a:spcAft>
                <a:spcPts val="0"/>
              </a:spcAft>
            </a:pPr>
            <a:r>
              <a:rPr sz="1125" b="0" i="0" kern="100">
                <a:solidFill>
                  <a:srgbClr val="1B1716"/>
                </a:solidFill>
                <a:latin typeface="Plus Jakarta Sans"/>
              </a:rPr>
              <a:t>securities firms admitted beside the</a:t>
            </a:r>
          </a:p>
          <a:p>
            <a:pPr algn="l">
              <a:lnSpc>
                <a:spcPts val="1518"/>
              </a:lnSpc>
              <a:spcBef>
                <a:spcPts val="0"/>
              </a:spcBef>
              <a:spcAft>
                <a:spcPts val="0"/>
              </a:spcAft>
            </a:pPr>
            <a:r>
              <a:rPr sz="1125" b="0" i="0" kern="100">
                <a:solidFill>
                  <a:srgbClr val="1B1716"/>
                </a:solidFill>
                <a:latin typeface="Plus Jakarta Sans"/>
              </a:rPr>
              <a:t>banks; more funds on offer</a:t>
            </a:r>
          </a:p>
        </p:txBody>
      </p:sp>
      <p:pic>
        <p:nvPicPr>
          <p:cNvPr id="14" name="!!Drawing 6e2db72c"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9400" y="2028230"/>
            <a:ext cx="6553200" cy="3788569"/>
          </a:xfrm>
          <a:prstGeom prst="rect">
            <a:avLst/>
          </a:prstGeom>
        </p:spPr>
      </p:pic>
      <p:sp>
        <p:nvSpPr>
          <p:cNvPr id="15" name="!!p 33df08eb"/>
          <p:cNvSpPr/>
          <p:nvPr/>
        </p:nvSpPr>
        <p:spPr>
          <a:xfrm>
            <a:off x="4097015" y="2995464"/>
            <a:ext cx="1769715" cy="414338"/>
          </a:xfrm>
          <a:prstGeom prst="roundRect">
            <a:avLst>
              <a:gd name="adj" fmla="val 11494"/>
            </a:avLst>
          </a:prstGeom>
          <a:solidFill>
            <a:srgbClr val="FFFFFF">
              <a:alpha val="90000"/>
            </a:srgbClr>
          </a:solidFill>
          <a:ln>
            <a:noFill/>
          </a:ln>
          <a:effectLst>
            <a:outerShdw blurRad="28575" dist="9525" dir="5400000" algn="ctr" rotWithShape="0">
              <a:srgbClr val="5A1520">
                <a:alpha val="14000"/>
              </a:srgbClr>
            </a:outerShdw>
          </a:effectLst>
        </p:spPr>
        <p:txBody>
          <a:bodyPr rtlCol="0" anchor="ctr"/>
          <a:lstStyle/>
          <a:p>
            <a:pPr algn="ctr"/>
            <a:endParaRPr/>
          </a:p>
        </p:txBody>
      </p:sp>
      <p:sp>
        <p:nvSpPr>
          <p:cNvPr id="16" name="!!T The nine mainland cities of the Greater "/>
          <p:cNvSpPr txBox="1"/>
          <p:nvPr/>
        </p:nvSpPr>
        <p:spPr>
          <a:xfrm>
            <a:off x="4067546" y="3007132"/>
            <a:ext cx="1828654" cy="357188"/>
          </a:xfrm>
          <a:prstGeom prst="rect">
            <a:avLst/>
          </a:prstGeom>
          <a:noFill/>
        </p:spPr>
        <p:txBody>
          <a:bodyPr wrap="none" lIns="0" tIns="0" rIns="0" bIns="0" anchor="t">
            <a:noAutofit/>
          </a:bodyPr>
          <a:lstStyle/>
          <a:p>
            <a:pPr algn="ctr">
              <a:lnSpc>
                <a:spcPts val="1406"/>
              </a:lnSpc>
              <a:spcBef>
                <a:spcPts val="0"/>
              </a:spcBef>
              <a:spcAft>
                <a:spcPts val="0"/>
              </a:spcAft>
            </a:pPr>
            <a:r>
              <a:rPr sz="1125" b="0" i="0" kern="100">
                <a:solidFill>
                  <a:srgbClr val="1B1716"/>
                </a:solidFill>
                <a:latin typeface="Plus Jakarta Sans SemiBold"/>
              </a:rPr>
              <a:t>The nine mainland cities</a:t>
            </a:r>
          </a:p>
          <a:p>
            <a:pPr algn="ctr">
              <a:lnSpc>
                <a:spcPts val="1406"/>
              </a:lnSpc>
              <a:spcBef>
                <a:spcPts val="0"/>
              </a:spcBef>
              <a:spcAft>
                <a:spcPts val="0"/>
              </a:spcAft>
            </a:pPr>
            <a:r>
              <a:rPr sz="1125" b="0" i="0" kern="100">
                <a:solidFill>
                  <a:srgbClr val="1B1716"/>
                </a:solidFill>
                <a:latin typeface="Plus Jakarta Sans SemiBold"/>
              </a:rPr>
              <a:t>of the Greater Bay Area</a:t>
            </a:r>
          </a:p>
        </p:txBody>
      </p:sp>
      <p:sp>
        <p:nvSpPr>
          <p:cNvPr id="17" name="!!p b61877f1"/>
          <p:cNvSpPr/>
          <p:nvPr/>
        </p:nvSpPr>
        <p:spPr>
          <a:xfrm>
            <a:off x="7537698" y="4410670"/>
            <a:ext cx="918865" cy="235744"/>
          </a:xfrm>
          <a:prstGeom prst="roundRect">
            <a:avLst>
              <a:gd name="adj" fmla="val 20202"/>
            </a:avLst>
          </a:prstGeom>
          <a:solidFill>
            <a:srgbClr val="FFFFFF">
              <a:alpha val="90000"/>
            </a:srgbClr>
          </a:solidFill>
          <a:ln>
            <a:noFill/>
          </a:ln>
          <a:effectLst>
            <a:outerShdw blurRad="28575" dist="9525" dir="5400000" algn="ctr" rotWithShape="0">
              <a:srgbClr val="5A1520">
                <a:alpha val="14000"/>
              </a:srgbClr>
            </a:outerShdw>
          </a:effectLst>
        </p:spPr>
        <p:txBody>
          <a:bodyPr rtlCol="0" anchor="ctr"/>
          <a:lstStyle/>
          <a:p>
            <a:pPr algn="ctr"/>
            <a:endParaRPr/>
          </a:p>
        </p:txBody>
      </p:sp>
      <p:sp>
        <p:nvSpPr>
          <p:cNvPr id="18" name="!!T Hong Kong"/>
          <p:cNvSpPr txBox="1"/>
          <p:nvPr/>
        </p:nvSpPr>
        <p:spPr>
          <a:xfrm>
            <a:off x="7613898" y="4422338"/>
            <a:ext cx="926753" cy="178594"/>
          </a:xfrm>
          <a:prstGeom prst="rect">
            <a:avLst/>
          </a:prstGeom>
          <a:noFill/>
        </p:spPr>
        <p:txBody>
          <a:bodyPr wrap="none" lIns="0" tIns="0" rIns="0" bIns="0" anchor="t">
            <a:noAutofit/>
          </a:bodyPr>
          <a:lstStyle/>
          <a:p>
            <a:pPr algn="l">
              <a:lnSpc>
                <a:spcPts val="1406"/>
              </a:lnSpc>
              <a:spcBef>
                <a:spcPts val="0"/>
              </a:spcBef>
              <a:spcAft>
                <a:spcPts val="0"/>
              </a:spcAft>
            </a:pPr>
            <a:r>
              <a:rPr sz="1125" b="1" i="0" kern="100">
                <a:solidFill>
                  <a:srgbClr val="971320"/>
                </a:solidFill>
                <a:latin typeface="Plus Jakarta Sans"/>
              </a:rPr>
              <a:t>Hong Kong</a:t>
            </a:r>
          </a:p>
        </p:txBody>
      </p:sp>
      <p:sp>
        <p:nvSpPr>
          <p:cNvPr id="19" name="!!p dd5c34b3"/>
          <p:cNvSpPr/>
          <p:nvPr/>
        </p:nvSpPr>
        <p:spPr>
          <a:xfrm>
            <a:off x="5572571" y="4675882"/>
            <a:ext cx="621655" cy="235744"/>
          </a:xfrm>
          <a:prstGeom prst="roundRect">
            <a:avLst>
              <a:gd name="adj" fmla="val 20202"/>
            </a:avLst>
          </a:prstGeom>
          <a:solidFill>
            <a:srgbClr val="FFFFFF">
              <a:alpha val="90000"/>
            </a:srgbClr>
          </a:solidFill>
          <a:ln>
            <a:noFill/>
          </a:ln>
          <a:effectLst>
            <a:outerShdw blurRad="28575" dist="9525" dir="5400000" algn="ctr" rotWithShape="0">
              <a:srgbClr val="5A1520">
                <a:alpha val="14000"/>
              </a:srgbClr>
            </a:outerShdw>
          </a:effectLst>
        </p:spPr>
        <p:txBody>
          <a:bodyPr rtlCol="0" anchor="ctr"/>
          <a:lstStyle/>
          <a:p>
            <a:pPr algn="ctr"/>
            <a:endParaRPr/>
          </a:p>
        </p:txBody>
      </p:sp>
      <p:sp>
        <p:nvSpPr>
          <p:cNvPr id="20" name="!!T Macao"/>
          <p:cNvSpPr txBox="1"/>
          <p:nvPr/>
        </p:nvSpPr>
        <p:spPr>
          <a:xfrm>
            <a:off x="5506316" y="4687550"/>
            <a:ext cx="611710" cy="178594"/>
          </a:xfrm>
          <a:prstGeom prst="rect">
            <a:avLst/>
          </a:prstGeom>
          <a:noFill/>
        </p:spPr>
        <p:txBody>
          <a:bodyPr wrap="none" lIns="0" tIns="0" rIns="0" bIns="0" anchor="t">
            <a:noAutofit/>
          </a:bodyPr>
          <a:lstStyle/>
          <a:p>
            <a:pPr algn="r">
              <a:lnSpc>
                <a:spcPts val="1406"/>
              </a:lnSpc>
              <a:spcBef>
                <a:spcPts val="0"/>
              </a:spcBef>
              <a:spcAft>
                <a:spcPts val="0"/>
              </a:spcAft>
            </a:pPr>
            <a:r>
              <a:rPr sz="1125" b="0" i="0" kern="100">
                <a:solidFill>
                  <a:srgbClr val="1B1716"/>
                </a:solidFill>
                <a:latin typeface="Plus Jakarta Sans SemiBold"/>
              </a:rPr>
              <a:t>Macao</a:t>
            </a:r>
          </a:p>
        </p:txBody>
      </p:sp>
      <p:sp>
        <p:nvSpPr>
          <p:cNvPr id="21"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22" name="!!T Under the Connect, an adviser's value is"/>
          <p:cNvSpPr txBox="1"/>
          <p:nvPr/>
        </p:nvSpPr>
        <p:spPr>
          <a:xfrm>
            <a:off x="1959237" y="5984558"/>
            <a:ext cx="8273376"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Under the Connect, an adviser's value is a clear, suitable answer when the client asks.</a:t>
            </a:r>
          </a:p>
        </p:txBody>
      </p:sp>
      <p:sp>
        <p:nvSpPr>
          <p:cNvPr id="23" name="!!T HKMA, Wealth Management Connect, Southbo"/>
          <p:cNvSpPr txBox="1"/>
          <p:nvPr/>
        </p:nvSpPr>
        <p:spPr>
          <a:xfrm>
            <a:off x="457200" y="6452104"/>
            <a:ext cx="6378863"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HKMA, Wealth Management Connect, Southbound Scheme (page revised 11 May 2026, checked 24 Oct 2026):</a:t>
            </a:r>
          </a:p>
          <a:p>
            <a:pPr algn="l">
              <a:lnSpc>
                <a:spcPts val="1170"/>
              </a:lnSpc>
              <a:spcBef>
                <a:spcPts val="0"/>
              </a:spcBef>
              <a:spcAft>
                <a:spcPts val="0"/>
              </a:spcAft>
            </a:pPr>
            <a:r>
              <a:rPr sz="900" b="0" i="0" kern="100">
                <a:solidFill>
                  <a:srgbClr val="80606A"/>
                </a:solidFill>
                <a:latin typeface="Plus Jakarta Sans"/>
              </a:rPr>
              <a:t>the quota, the eligible funds, the solicitation rule (sourced). Map: geoBoundaries, OCHA/HDX (CC BY 3.0 IGO).</a:t>
            </a:r>
          </a:p>
        </p:txBody>
      </p:sp>
      <p:sp>
        <p:nvSpPr>
          <p:cNvPr id="24" name="!!T The problem"/>
          <p:cNvSpPr txBox="1"/>
          <p:nvPr/>
        </p:nvSpPr>
        <p:spPr>
          <a:xfrm>
            <a:off x="6638925"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25" name="!!T The answer"/>
          <p:cNvSpPr txBox="1"/>
          <p:nvPr/>
        </p:nvSpPr>
        <p:spPr>
          <a:xfrm>
            <a:off x="7585174"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26" name="!!T The five calls"/>
          <p:cNvSpPr txBox="1"/>
          <p:nvPr/>
        </p:nvSpPr>
        <p:spPr>
          <a:xfrm>
            <a:off x="8445401"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27" name="!!T Will it hold"/>
          <p:cNvSpPr txBox="1"/>
          <p:nvPr/>
        </p:nvSpPr>
        <p:spPr>
          <a:xfrm>
            <a:off x="9382274"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28" name="!!T What next"/>
          <p:cNvSpPr txBox="1"/>
          <p:nvPr/>
        </p:nvSpPr>
        <p:spPr>
          <a:xfrm>
            <a:off x="10180290"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29" name="!!T Us"/>
          <p:cNvSpPr txBox="1"/>
          <p:nvPr/>
        </p:nvSpPr>
        <p:spPr>
          <a:xfrm>
            <a:off x="10975628" y="6536246"/>
            <a:ext cx="27505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Us</a:t>
            </a:r>
          </a:p>
        </p:txBody>
      </p:sp>
      <p:sp>
        <p:nvSpPr>
          <p:cNvPr id="30" name="!!T 13 / 15"/>
          <p:cNvSpPr txBox="1"/>
          <p:nvPr/>
        </p:nvSpPr>
        <p:spPr>
          <a:xfrm>
            <a:off x="11355884" y="6535674"/>
            <a:ext cx="515951"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13 / 15</a:t>
            </a:r>
          </a:p>
        </p:txBody>
      </p:sp>
      <p:sp>
        <p:nvSpPr>
          <p:cNvPr id="31" name="!!Rule 9307caaa"/>
          <p:cNvSpPr/>
          <p:nvPr/>
        </p:nvSpPr>
        <p:spPr>
          <a:xfrm>
            <a:off x="1651992" y="2555677"/>
            <a:ext cx="1472208" cy="9525"/>
          </a:xfrm>
          <a:prstGeom prst="rect">
            <a:avLst/>
          </a:prstGeom>
          <a:solidFill>
            <a:srgbClr val="971320"/>
          </a:solidFill>
          <a:ln>
            <a:noFill/>
          </a:ln>
        </p:spPr>
        <p:txBody>
          <a:bodyPr rtlCol="0" anchor="ctr"/>
          <a:lstStyle/>
          <a:p>
            <a:pPr algn="ctr"/>
            <a:endParaRPr/>
          </a:p>
        </p:txBody>
      </p:sp>
      <p:sp>
        <p:nvSpPr>
          <p:cNvPr id="32" name="!!T Northbound"/>
          <p:cNvSpPr txBox="1"/>
          <p:nvPr/>
        </p:nvSpPr>
        <p:spPr>
          <a:xfrm>
            <a:off x="457200" y="2428137"/>
            <a:ext cx="1259622" cy="226219"/>
          </a:xfrm>
          <a:prstGeom prst="rect">
            <a:avLst/>
          </a:prstGeom>
          <a:noFill/>
        </p:spPr>
        <p:txBody>
          <a:bodyPr wrap="none" lIns="0" tIns="0" rIns="0" bIns="0" anchor="t">
            <a:noAutofit/>
          </a:bodyPr>
          <a:lstStyle/>
          <a:p>
            <a:pPr algn="l">
              <a:lnSpc>
                <a:spcPts val="1781"/>
              </a:lnSpc>
              <a:spcBef>
                <a:spcPts val="0"/>
              </a:spcBef>
              <a:spcAft>
                <a:spcPts val="0"/>
              </a:spcAft>
            </a:pPr>
            <a:r>
              <a:rPr sz="1425" b="1" i="0" kern="100">
                <a:solidFill>
                  <a:srgbClr val="971320"/>
                </a:solidFill>
                <a:latin typeface="Plus Jakarta Sans"/>
              </a:rPr>
              <a:t>Northbound</a:t>
            </a:r>
          </a:p>
        </p:txBody>
      </p:sp>
      <p:sp>
        <p:nvSpPr>
          <p:cNvPr id="33" name="!!T Hong Kong and Macao residents buy mainla"/>
          <p:cNvSpPr txBox="1"/>
          <p:nvPr/>
        </p:nvSpPr>
        <p:spPr>
          <a:xfrm>
            <a:off x="457200" y="2718554"/>
            <a:ext cx="2727716" cy="621506"/>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B1716"/>
                </a:solidFill>
                <a:latin typeface="Plus Jakarta Sans"/>
              </a:rPr>
              <a:t>Hong Kong and Macao residents buy</a:t>
            </a:r>
          </a:p>
          <a:p>
            <a:pPr algn="l">
              <a:lnSpc>
                <a:spcPts val="1631"/>
              </a:lnSpc>
              <a:spcBef>
                <a:spcPts val="0"/>
              </a:spcBef>
              <a:spcAft>
                <a:spcPts val="0"/>
              </a:spcAft>
            </a:pPr>
            <a:r>
              <a:rPr sz="1125" b="1" i="0" kern="100">
                <a:solidFill>
                  <a:srgbClr val="1B1716"/>
                </a:solidFill>
                <a:latin typeface="Plus Jakarta Sans"/>
              </a:rPr>
              <a:t>mainland wealth products</a:t>
            </a:r>
            <a:r>
              <a:rPr sz="1125" b="0" i="0" kern="100">
                <a:solidFill>
                  <a:srgbClr val="1B1716"/>
                </a:solidFill>
                <a:latin typeface="Plus Jakarta Sans"/>
              </a:rPr>
              <a:t>, through</a:t>
            </a:r>
          </a:p>
          <a:p>
            <a:pPr algn="l">
              <a:lnSpc>
                <a:spcPts val="1631"/>
              </a:lnSpc>
              <a:spcBef>
                <a:spcPts val="0"/>
              </a:spcBef>
              <a:spcAft>
                <a:spcPts val="0"/>
              </a:spcAft>
            </a:pPr>
            <a:r>
              <a:rPr sz="1125" b="0" i="0" kern="100">
                <a:solidFill>
                  <a:srgbClr val="1B1716"/>
                </a:solidFill>
                <a:latin typeface="Plus Jakarta Sans"/>
              </a:rPr>
              <a:t>banks in the nine cities</a:t>
            </a:r>
          </a:p>
        </p:txBody>
      </p:sp>
      <p:sp>
        <p:nvSpPr>
          <p:cNvPr id="34" name="!!Rule b23448fe"/>
          <p:cNvSpPr/>
          <p:nvPr/>
        </p:nvSpPr>
        <p:spPr>
          <a:xfrm>
            <a:off x="457200" y="3504605"/>
            <a:ext cx="2667000" cy="9525"/>
          </a:xfrm>
          <a:prstGeom prst="rect">
            <a:avLst/>
          </a:prstGeom>
          <a:solidFill>
            <a:srgbClr val="ECDADD"/>
          </a:solidFill>
          <a:ln>
            <a:noFill/>
          </a:ln>
        </p:spPr>
        <p:txBody>
          <a:bodyPr rtlCol="0" anchor="ctr"/>
          <a:lstStyle/>
          <a:p>
            <a:pPr algn="ctr"/>
            <a:endParaRPr/>
          </a:p>
        </p:txBody>
      </p:sp>
      <p:sp>
        <p:nvSpPr>
          <p:cNvPr id="35" name="!!T For the Wongs: a tool for later"/>
          <p:cNvSpPr txBox="1"/>
          <p:nvPr/>
        </p:nvSpPr>
        <p:spPr>
          <a:xfrm>
            <a:off x="457200" y="3610713"/>
            <a:ext cx="2414724"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971320"/>
                </a:solidFill>
                <a:latin typeface="Plus Jakarta Sans"/>
              </a:rPr>
              <a:t>For the Wongs: a tool for later</a:t>
            </a:r>
          </a:p>
        </p:txBody>
      </p:sp>
      <p:sp>
        <p:nvSpPr>
          <p:cNvPr id="36" name="!!T Kept out today: their home, income and b"/>
          <p:cNvSpPr txBox="1"/>
          <p:nvPr/>
        </p:nvSpPr>
        <p:spPr>
          <a:xfrm>
            <a:off x="457200" y="3871526"/>
            <a:ext cx="2939269" cy="828675"/>
          </a:xfrm>
          <a:prstGeom prst="rect">
            <a:avLst/>
          </a:prstGeom>
          <a:noFill/>
        </p:spPr>
        <p:txBody>
          <a:bodyPr wrap="none" lIns="0" tIns="0" rIns="0" bIns="0" anchor="t">
            <a:noAutofit/>
          </a:bodyPr>
          <a:lstStyle/>
          <a:p>
            <a:pPr algn="l">
              <a:lnSpc>
                <a:spcPts val="1631"/>
              </a:lnSpc>
              <a:spcBef>
                <a:spcPts val="0"/>
              </a:spcBef>
              <a:spcAft>
                <a:spcPts val="0"/>
              </a:spcAft>
            </a:pPr>
            <a:r>
              <a:rPr sz="1125" b="1" i="0" kern="100">
                <a:solidFill>
                  <a:srgbClr val="1B1716"/>
                </a:solidFill>
                <a:latin typeface="Plus Jakarta Sans"/>
              </a:rPr>
              <a:t>Kept out today</a:t>
            </a:r>
            <a:r>
              <a:rPr sz="1125" b="0" i="0" kern="100">
                <a:solidFill>
                  <a:srgbClr val="1B1716"/>
                </a:solidFill>
                <a:latin typeface="Plus Jakarta Sans"/>
              </a:rPr>
              <a:t>: their home, income</a:t>
            </a:r>
          </a:p>
          <a:p>
            <a:pPr algn="l">
              <a:lnSpc>
                <a:spcPts val="1631"/>
              </a:lnSpc>
              <a:spcBef>
                <a:spcPts val="0"/>
              </a:spcBef>
              <a:spcAft>
                <a:spcPts val="0"/>
              </a:spcAft>
            </a:pPr>
            <a:r>
              <a:rPr sz="1125" b="0" i="0" kern="100">
                <a:solidFill>
                  <a:srgbClr val="1B1716"/>
                </a:solidFill>
                <a:latin typeface="Plus Jakarta Sans"/>
              </a:rPr>
              <a:t>and business are all in Hong Kong. It</a:t>
            </a:r>
          </a:p>
          <a:p>
            <a:pPr algn="l">
              <a:lnSpc>
                <a:spcPts val="1631"/>
              </a:lnSpc>
              <a:spcBef>
                <a:spcPts val="0"/>
              </a:spcBef>
              <a:spcAft>
                <a:spcPts val="0"/>
              </a:spcAft>
            </a:pPr>
            <a:r>
              <a:rPr sz="1125" b="0" i="0" kern="100">
                <a:solidFill>
                  <a:srgbClr val="1B1716"/>
                </a:solidFill>
                <a:latin typeface="Plus Jakarta Sans"/>
              </a:rPr>
              <a:t>comes in at the annual review </a:t>
            </a:r>
            <a:r>
              <a:rPr sz="1125" b="1" i="0" kern="100">
                <a:solidFill>
                  <a:srgbClr val="1B1716"/>
                </a:solidFill>
                <a:latin typeface="Plus Jakarta Sans"/>
              </a:rPr>
              <a:t>if Adrian's</a:t>
            </a:r>
          </a:p>
          <a:p>
            <a:pPr algn="l">
              <a:lnSpc>
                <a:spcPts val="1631"/>
              </a:lnSpc>
              <a:spcBef>
                <a:spcPts val="0"/>
              </a:spcBef>
              <a:spcAft>
                <a:spcPts val="0"/>
              </a:spcAft>
            </a:pPr>
            <a:r>
              <a:rPr sz="1125" b="1" i="0" kern="100">
                <a:solidFill>
                  <a:srgbClr val="1B1716"/>
                </a:solidFill>
                <a:latin typeface="Plus Jakarta Sans"/>
              </a:rPr>
              <a:t>work moves across the boundary</a:t>
            </a:r>
            <a:r>
              <a:rPr sz="1125" b="0" i="0" kern="100">
                <a:solidFill>
                  <a:srgbClr val="1B1716"/>
                </a:solidFill>
                <a:latin typeface="Plus Jakarta Sans"/>
              </a:rPr>
              <a:t>.</a:t>
            </a:r>
          </a:p>
        </p:txBody>
      </p:sp>
      <p:sp>
        <p:nvSpPr>
          <p:cNvPr id="37" name="!!T Southbound"/>
          <p:cNvSpPr txBox="1"/>
          <p:nvPr/>
        </p:nvSpPr>
        <p:spPr>
          <a:xfrm>
            <a:off x="9067800" y="2428137"/>
            <a:ext cx="1280761" cy="226219"/>
          </a:xfrm>
          <a:prstGeom prst="rect">
            <a:avLst/>
          </a:prstGeom>
          <a:noFill/>
        </p:spPr>
        <p:txBody>
          <a:bodyPr wrap="none" lIns="0" tIns="0" rIns="0" bIns="0" anchor="t">
            <a:noAutofit/>
          </a:bodyPr>
          <a:lstStyle/>
          <a:p>
            <a:pPr algn="l">
              <a:lnSpc>
                <a:spcPts val="1781"/>
              </a:lnSpc>
              <a:spcBef>
                <a:spcPts val="0"/>
              </a:spcBef>
              <a:spcAft>
                <a:spcPts val="0"/>
              </a:spcAft>
            </a:pPr>
            <a:r>
              <a:rPr sz="1425" b="1" i="0" kern="100">
                <a:solidFill>
                  <a:srgbClr val="C80E1E"/>
                </a:solidFill>
                <a:latin typeface="Plus Jakarta Sans"/>
              </a:rPr>
              <a:t>Southbound</a:t>
            </a:r>
          </a:p>
        </p:txBody>
      </p:sp>
      <p:sp>
        <p:nvSpPr>
          <p:cNvPr id="38" name="!!T Mainland residents buy Hong Kong funds, "/>
          <p:cNvSpPr txBox="1"/>
          <p:nvPr/>
        </p:nvSpPr>
        <p:spPr>
          <a:xfrm>
            <a:off x="9067800" y="2718554"/>
            <a:ext cx="2863545" cy="621506"/>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B1716"/>
                </a:solidFill>
                <a:latin typeface="Plus Jakarta Sans"/>
              </a:rPr>
              <a:t>Mainland residents buy </a:t>
            </a:r>
            <a:r>
              <a:rPr sz="1125" b="1" i="0" kern="100">
                <a:solidFill>
                  <a:srgbClr val="1B1716"/>
                </a:solidFill>
                <a:latin typeface="Plus Jakarta Sans"/>
              </a:rPr>
              <a:t>Hong Kong</a:t>
            </a:r>
          </a:p>
          <a:p>
            <a:pPr algn="l">
              <a:lnSpc>
                <a:spcPts val="1631"/>
              </a:lnSpc>
              <a:spcBef>
                <a:spcPts val="0"/>
              </a:spcBef>
              <a:spcAft>
                <a:spcPts val="0"/>
              </a:spcAft>
            </a:pPr>
            <a:r>
              <a:rPr sz="1125" b="1" i="0" kern="100">
                <a:solidFill>
                  <a:srgbClr val="1B1716"/>
                </a:solidFill>
                <a:latin typeface="Plus Jakarta Sans"/>
              </a:rPr>
              <a:t>funds, bonds and deposits</a:t>
            </a:r>
            <a:r>
              <a:rPr sz="1125" b="0" i="0" kern="100">
                <a:solidFill>
                  <a:srgbClr val="1B1716"/>
                </a:solidFill>
                <a:latin typeface="Plus Jakarta Sans"/>
              </a:rPr>
              <a:t>: funds of</a:t>
            </a:r>
          </a:p>
          <a:p>
            <a:pPr algn="l">
              <a:lnSpc>
                <a:spcPts val="1631"/>
              </a:lnSpc>
              <a:spcBef>
                <a:spcPts val="0"/>
              </a:spcBef>
              <a:spcAft>
                <a:spcPts val="0"/>
              </a:spcAft>
            </a:pPr>
            <a:r>
              <a:rPr sz="1125" b="0" i="0" kern="100">
                <a:solidFill>
                  <a:srgbClr val="1B1716"/>
                </a:solidFill>
                <a:latin typeface="Plus Jakarta Sans"/>
              </a:rPr>
              <a:t>low to medium-high risk, non-complex</a:t>
            </a:r>
          </a:p>
        </p:txBody>
      </p:sp>
      <p:sp>
        <p:nvSpPr>
          <p:cNvPr id="39" name="!!Rule e8e771bd"/>
          <p:cNvSpPr/>
          <p:nvPr/>
        </p:nvSpPr>
        <p:spPr>
          <a:xfrm>
            <a:off x="9067800" y="3504605"/>
            <a:ext cx="2667000" cy="9525"/>
          </a:xfrm>
          <a:prstGeom prst="rect">
            <a:avLst/>
          </a:prstGeom>
          <a:solidFill>
            <a:srgbClr val="ECDADD"/>
          </a:solidFill>
          <a:ln>
            <a:noFill/>
          </a:ln>
        </p:spPr>
        <p:txBody>
          <a:bodyPr rtlCol="0" anchor="ctr"/>
          <a:lstStyle/>
          <a:p>
            <a:pPr algn="ctr"/>
            <a:endParaRPr/>
          </a:p>
        </p:txBody>
      </p:sp>
      <p:sp>
        <p:nvSpPr>
          <p:cNvPr id="40" name="!!T For us: the market we want to serve"/>
          <p:cNvSpPr txBox="1"/>
          <p:nvPr/>
        </p:nvSpPr>
        <p:spPr>
          <a:xfrm>
            <a:off x="9067800" y="3610713"/>
            <a:ext cx="2873642" cy="198120"/>
          </a:xfrm>
          <a:prstGeom prst="rect">
            <a:avLst/>
          </a:prstGeom>
          <a:noFill/>
        </p:spPr>
        <p:txBody>
          <a:bodyPr wrap="none" lIns="0" tIns="0" rIns="0" bIns="0" anchor="t">
            <a:noAutofit/>
          </a:bodyPr>
          <a:lstStyle/>
          <a:p>
            <a:pPr algn="l">
              <a:lnSpc>
                <a:spcPts val="1560"/>
              </a:lnSpc>
              <a:spcBef>
                <a:spcPts val="0"/>
              </a:spcBef>
              <a:spcAft>
                <a:spcPts val="0"/>
              </a:spcAft>
            </a:pPr>
            <a:r>
              <a:rPr sz="1200" b="1" i="0" kern="100">
                <a:solidFill>
                  <a:srgbClr val="C80E1E"/>
                </a:solidFill>
                <a:latin typeface="Plus Jakarta Sans"/>
              </a:rPr>
              <a:t>For us: the market we want to serve</a:t>
            </a:r>
          </a:p>
        </p:txBody>
      </p:sp>
      <p:sp>
        <p:nvSpPr>
          <p:cNvPr id="41" name="!!T A Hong Kong bank won't solicit or recomm"/>
          <p:cNvSpPr txBox="1"/>
          <p:nvPr/>
        </p:nvSpPr>
        <p:spPr>
          <a:xfrm>
            <a:off x="9067800" y="3871526"/>
            <a:ext cx="2794447" cy="828675"/>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B1716"/>
                </a:solidFill>
                <a:latin typeface="Plus Jakarta Sans"/>
              </a:rPr>
              <a:t>A Hong Kong bank </a:t>
            </a:r>
            <a:r>
              <a:rPr sz="1125" b="1" i="0" kern="100">
                <a:solidFill>
                  <a:srgbClr val="1B1716"/>
                </a:solidFill>
                <a:latin typeface="Plus Jakarta Sans"/>
              </a:rPr>
              <a:t>won't solicit or</a:t>
            </a:r>
          </a:p>
          <a:p>
            <a:pPr algn="l">
              <a:lnSpc>
                <a:spcPts val="1631"/>
              </a:lnSpc>
              <a:spcBef>
                <a:spcPts val="0"/>
              </a:spcBef>
              <a:spcAft>
                <a:spcPts val="0"/>
              </a:spcAft>
            </a:pPr>
            <a:r>
              <a:rPr sz="1125" b="1" i="0" kern="100">
                <a:solidFill>
                  <a:srgbClr val="1B1716"/>
                </a:solidFill>
                <a:latin typeface="Plus Jakarta Sans"/>
              </a:rPr>
              <a:t>recommend</a:t>
            </a:r>
            <a:r>
              <a:rPr sz="1125" b="0" i="0" kern="100">
                <a:solidFill>
                  <a:srgbClr val="1B1716"/>
                </a:solidFill>
                <a:latin typeface="Plus Jakarta Sans"/>
              </a:rPr>
              <a:t> across the boundary</a:t>
            </a:r>
          </a:p>
          <a:p>
            <a:pPr algn="l">
              <a:lnSpc>
                <a:spcPts val="1631"/>
              </a:lnSpc>
              <a:spcBef>
                <a:spcPts val="0"/>
              </a:spcBef>
              <a:spcAft>
                <a:spcPts val="0"/>
              </a:spcAft>
            </a:pPr>
            <a:r>
              <a:rPr sz="1125" b="1" i="0" kern="100">
                <a:solidFill>
                  <a:srgbClr val="1B1716"/>
                </a:solidFill>
                <a:latin typeface="Plus Jakarta Sans"/>
              </a:rPr>
              <a:t>unless the investor asks or agrees</a:t>
            </a:r>
            <a:r>
              <a:rPr sz="1125" b="0" i="0" kern="100">
                <a:solidFill>
                  <a:srgbClr val="1B1716"/>
                </a:solidFill>
                <a:latin typeface="Plus Jakarta Sans"/>
              </a:rPr>
              <a:t>, so</a:t>
            </a:r>
          </a:p>
          <a:p>
            <a:pPr algn="l">
              <a:lnSpc>
                <a:spcPts val="1631"/>
              </a:lnSpc>
              <a:spcBef>
                <a:spcPts val="0"/>
              </a:spcBef>
              <a:spcAft>
                <a:spcPts val="0"/>
              </a:spcAft>
            </a:pPr>
            <a:r>
              <a:rPr sz="1125" b="0" i="0" kern="100">
                <a:solidFill>
                  <a:srgbClr val="1B1716"/>
                </a:solidFill>
                <a:latin typeface="Plus Jakarta Sans"/>
              </a:rPr>
              <a:t>the client's question comes first.</a:t>
            </a:r>
          </a:p>
        </p:txBody>
      </p:sp>
      <p:pic>
        <p:nvPicPr>
          <p:cNvPr id="42" name="!!Drawing 3173ff20" descr="imag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48000" y="2484239"/>
            <a:ext cx="3425577" cy="1665982"/>
          </a:xfrm>
          <a:prstGeom prst="rect">
            <a:avLst/>
          </a:prstGeom>
        </p:spPr>
      </p:pic>
      <p:pic>
        <p:nvPicPr>
          <p:cNvPr id="43" name="!!Drawing 58632ecf" descr="imag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82768" y="2484239"/>
            <a:ext cx="1665982" cy="16052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30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3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300"/>
                                        <p:tgtEl>
                                          <p:spTgt spid="3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300"/>
                                        <p:tgtEl>
                                          <p:spTgt spid="3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300"/>
                                        <p:tgtEl>
                                          <p:spTgt spid="3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300"/>
                                        <p:tgtEl>
                                          <p:spTgt spid="36"/>
                                        </p:tgtEl>
                                      </p:cBhvr>
                                    </p:animEffect>
                                  </p:childTnLst>
                                </p:cTn>
                              </p:par>
                              <p:par>
                                <p:cTn id="23" presetID="10"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300"/>
                                        <p:tgtEl>
                                          <p:spTgt spid="4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3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3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300"/>
                                        <p:tgtEl>
                                          <p:spTgt spid="3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300"/>
                                        <p:tgtEl>
                                          <p:spTgt spid="3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300"/>
                                        <p:tgtEl>
                                          <p:spTgt spid="3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300"/>
                                        <p:tgtEl>
                                          <p:spTgt spid="4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300"/>
                                        <p:tgtEl>
                                          <p:spTgt spid="41"/>
                                        </p:tgtEl>
                                      </p:cBhvr>
                                    </p:animEffect>
                                  </p:childTnLst>
                                </p:cTn>
                              </p:par>
                              <p:par>
                                <p:cTn id="49" presetID="10" presetClass="entr" presetSubtype="0" fill="hold"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fade">
                                      <p:cBhvr>
                                        <p:cTn id="51" dur="3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Four planners, one aim: families like the Wongs, on both sides of the boundary">
    <p:spTree>
      <p:nvGrpSpPr>
        <p:cNvPr id="1" name=""/>
        <p:cNvGrpSpPr/>
        <p:nvPr/>
      </p:nvGrpSpPr>
      <p:grpSpPr>
        <a:xfrm>
          <a:off x="0" y="0"/>
          <a:ext cx="0" cy="0"/>
          <a:chOff x="0" y="0"/>
          <a:chExt cx="0" cy="0"/>
        </a:xfrm>
      </p:grpSpPr>
      <p:sp>
        <p:nvSpPr>
          <p:cNvPr id="2" name="!!Rule 6ff153ce"/>
          <p:cNvSpPr/>
          <p:nvPr/>
        </p:nvSpPr>
        <p:spPr>
          <a:xfrm>
            <a:off x="457200" y="323850"/>
            <a:ext cx="47625" cy="569714"/>
          </a:xfrm>
          <a:prstGeom prst="rect">
            <a:avLst/>
          </a:prstGeom>
          <a:solidFill>
            <a:srgbClr val="C80E1E"/>
          </a:solidFill>
          <a:ln>
            <a:noFill/>
          </a:ln>
        </p:spPr>
        <p:txBody>
          <a:bodyPr rtlCol="0" anchor="ctr"/>
          <a:lstStyle/>
          <a:p>
            <a:pPr algn="ctr"/>
            <a:endParaRPr/>
          </a:p>
        </p:txBody>
      </p:sp>
      <p:sp>
        <p:nvSpPr>
          <p:cNvPr id="3" name="!!T Who we want to become"/>
          <p:cNvSpPr txBox="1"/>
          <p:nvPr/>
        </p:nvSpPr>
        <p:spPr>
          <a:xfrm>
            <a:off x="638175" y="324421"/>
            <a:ext cx="180088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C80E1E"/>
                </a:solidFill>
                <a:latin typeface="Plus Jakarta Sans SemiBold"/>
              </a:rPr>
              <a:t>Who we want to become</a:t>
            </a:r>
          </a:p>
        </p:txBody>
      </p:sp>
      <p:sp>
        <p:nvSpPr>
          <p:cNvPr id="4" name="!!T Four planners, one aim: families like th"/>
          <p:cNvSpPr txBox="1"/>
          <p:nvPr/>
        </p:nvSpPr>
        <p:spPr>
          <a:xfrm>
            <a:off x="638175" y="529852"/>
            <a:ext cx="10671926" cy="320421"/>
          </a:xfrm>
          <a:prstGeom prst="rect">
            <a:avLst/>
          </a:prstGeom>
          <a:noFill/>
        </p:spPr>
        <p:txBody>
          <a:bodyPr wrap="none" lIns="0" tIns="0" rIns="0" bIns="0" anchor="t">
            <a:noAutofit/>
          </a:bodyPr>
          <a:lstStyle/>
          <a:p>
            <a:pPr algn="l">
              <a:lnSpc>
                <a:spcPts val="2523"/>
              </a:lnSpc>
              <a:spcBef>
                <a:spcPts val="0"/>
              </a:spcBef>
              <a:spcAft>
                <a:spcPts val="0"/>
              </a:spcAft>
            </a:pPr>
            <a:r>
              <a:rPr sz="2175" b="1" i="0" kern="100" spc="-38">
                <a:solidFill>
                  <a:srgbClr val="1B1716"/>
                </a:solidFill>
                <a:latin typeface="Plus Jakarta Sans"/>
              </a:rPr>
              <a:t>Four planners, one aim: families like the Wongs, on both sides of the boundary</a:t>
            </a:r>
          </a:p>
        </p:txBody>
      </p:sp>
      <p:sp>
        <p:nvSpPr>
          <p:cNvPr id="5" name="!!Rule 3c84bd39"/>
          <p:cNvSpPr/>
          <p:nvPr/>
        </p:nvSpPr>
        <p:spPr>
          <a:xfrm>
            <a:off x="457200" y="1141214"/>
            <a:ext cx="2647950" cy="28575"/>
          </a:xfrm>
          <a:prstGeom prst="rect">
            <a:avLst/>
          </a:prstGeom>
          <a:solidFill>
            <a:srgbClr val="971320"/>
          </a:solidFill>
          <a:ln>
            <a:noFill/>
          </a:ln>
        </p:spPr>
        <p:txBody>
          <a:bodyPr rtlCol="0" anchor="ctr"/>
          <a:lstStyle/>
          <a:p>
            <a:pPr algn="ctr"/>
            <a:endParaRPr/>
          </a:p>
        </p:txBody>
      </p:sp>
      <p:sp>
        <p:nvSpPr>
          <p:cNvPr id="6" name="!!span 6eca2b03"/>
          <p:cNvSpPr/>
          <p:nvPr/>
        </p:nvSpPr>
        <p:spPr>
          <a:xfrm>
            <a:off x="471488" y="1336477"/>
            <a:ext cx="695325" cy="695325"/>
          </a:xfrm>
          <a:prstGeom prst="ellipse">
            <a:avLst/>
          </a:prstGeom>
          <a:solidFill>
            <a:srgbClr val="F8EFF0"/>
          </a:solidFill>
          <a:ln w="28575">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7" name="!!Picture 967a1172" descr="image.jpg"/>
          <p:cNvPicPr>
            <a:picLocks noChangeAspect="1"/>
          </p:cNvPicPr>
          <p:nvPr/>
        </p:nvPicPr>
        <p:blipFill>
          <a:blip r:embed="rId3"/>
          <a:stretch>
            <a:fillRect/>
          </a:stretch>
        </p:blipFill>
        <p:spPr>
          <a:xfrm>
            <a:off x="485775" y="1350764"/>
            <a:ext cx="666750" cy="666750"/>
          </a:xfrm>
          <a:prstGeom prst="ellipse">
            <a:avLst/>
          </a:prstGeom>
        </p:spPr>
      </p:pic>
      <p:sp>
        <p:nvSpPr>
          <p:cNvPr id="8" name="!!T Pete"/>
          <p:cNvSpPr txBox="1"/>
          <p:nvPr/>
        </p:nvSpPr>
        <p:spPr>
          <a:xfrm>
            <a:off x="1314450" y="1445449"/>
            <a:ext cx="570693" cy="228600"/>
          </a:xfrm>
          <a:prstGeom prst="rect">
            <a:avLst/>
          </a:prstGeom>
          <a:noFill/>
        </p:spPr>
        <p:txBody>
          <a:bodyPr wrap="none" lIns="0" tIns="0" rIns="0" bIns="0" anchor="t">
            <a:noAutofit/>
          </a:bodyPr>
          <a:lstStyle/>
          <a:p>
            <a:pPr algn="l">
              <a:lnSpc>
                <a:spcPts val="1800"/>
              </a:lnSpc>
              <a:spcBef>
                <a:spcPts val="0"/>
              </a:spcBef>
              <a:spcAft>
                <a:spcPts val="0"/>
              </a:spcAft>
            </a:pPr>
            <a:r>
              <a:rPr sz="1500" b="1" i="0" kern="100">
                <a:solidFill>
                  <a:srgbClr val="1B1716"/>
                </a:solidFill>
                <a:latin typeface="Plus Jakarta Sans"/>
              </a:rPr>
              <a:t>Pete</a:t>
            </a:r>
          </a:p>
        </p:txBody>
      </p:sp>
      <p:sp>
        <p:nvSpPr>
          <p:cNvPr id="9" name="!!T Lead adviser"/>
          <p:cNvSpPr txBox="1"/>
          <p:nvPr/>
        </p:nvSpPr>
        <p:spPr>
          <a:xfrm>
            <a:off x="1314450" y="1688812"/>
            <a:ext cx="1021881"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a:rPr>
              <a:t>Lead adviser</a:t>
            </a:r>
          </a:p>
        </p:txBody>
      </p:sp>
      <p:sp>
        <p:nvSpPr>
          <p:cNvPr id="10" name="!!T In five years"/>
          <p:cNvSpPr txBox="1"/>
          <p:nvPr/>
        </p:nvSpPr>
        <p:spPr>
          <a:xfrm>
            <a:off x="457200" y="2208586"/>
            <a:ext cx="90450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In five years</a:t>
            </a:r>
          </a:p>
        </p:txBody>
      </p:sp>
      <p:sp>
        <p:nvSpPr>
          <p:cNvPr id="11" name="!!T An investment specialist in a Hong Kong "/>
          <p:cNvSpPr txBox="1"/>
          <p:nvPr/>
        </p:nvSpPr>
        <p:spPr>
          <a:xfrm>
            <a:off x="457200" y="2414683"/>
            <a:ext cx="2719986" cy="705564"/>
          </a:xfrm>
          <a:prstGeom prst="rect">
            <a:avLst/>
          </a:prstGeom>
          <a:noFill/>
        </p:spPr>
        <p:txBody>
          <a:bodyPr wrap="none" lIns="0" tIns="0" rIns="0" bIns="0" anchor="t">
            <a:noAutofit/>
          </a:bodyPr>
          <a:lstStyle/>
          <a:p>
            <a:pPr algn="l">
              <a:lnSpc>
                <a:spcPts val="1852"/>
              </a:lnSpc>
              <a:spcBef>
                <a:spcPts val="0"/>
              </a:spcBef>
              <a:spcAft>
                <a:spcPts val="0"/>
              </a:spcAft>
            </a:pPr>
            <a:r>
              <a:rPr sz="1425" b="1" i="0" kern="100">
                <a:solidFill>
                  <a:srgbClr val="1B1716"/>
                </a:solidFill>
                <a:latin typeface="Plus Jakarta Sans"/>
              </a:rPr>
              <a:t>An investment specialist in a</a:t>
            </a:r>
          </a:p>
          <a:p>
            <a:pPr algn="l">
              <a:lnSpc>
                <a:spcPts val="1852"/>
              </a:lnSpc>
              <a:spcBef>
                <a:spcPts val="0"/>
              </a:spcBef>
              <a:spcAft>
                <a:spcPts val="0"/>
              </a:spcAft>
            </a:pPr>
            <a:r>
              <a:rPr sz="1425" b="1" i="0" kern="100">
                <a:solidFill>
                  <a:srgbClr val="1B1716"/>
                </a:solidFill>
                <a:latin typeface="Plus Jakarta Sans"/>
              </a:rPr>
              <a:t>Hong Kong bank's wealth</a:t>
            </a:r>
          </a:p>
          <a:p>
            <a:pPr algn="l">
              <a:lnSpc>
                <a:spcPts val="1852"/>
              </a:lnSpc>
              <a:spcBef>
                <a:spcPts val="0"/>
              </a:spcBef>
              <a:spcAft>
                <a:spcPts val="0"/>
              </a:spcAft>
            </a:pPr>
            <a:r>
              <a:rPr sz="1425" b="1" i="0" kern="100">
                <a:solidFill>
                  <a:srgbClr val="1B1716"/>
                </a:solidFill>
                <a:latin typeface="Plus Jakarta Sans"/>
              </a:rPr>
              <a:t>team</a:t>
            </a:r>
          </a:p>
        </p:txBody>
      </p:sp>
      <p:sp>
        <p:nvSpPr>
          <p:cNvPr id="12" name="!!T matching each Connect client's portfolio"/>
          <p:cNvSpPr txBox="1"/>
          <p:nvPr/>
        </p:nvSpPr>
        <p:spPr>
          <a:xfrm>
            <a:off x="457200" y="3198376"/>
            <a:ext cx="2861810" cy="621506"/>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B1716"/>
                </a:solidFill>
                <a:latin typeface="Plus Jakarta Sans"/>
              </a:rPr>
              <a:t>matching each </a:t>
            </a:r>
            <a:r>
              <a:rPr sz="1125" b="1" i="0" kern="100">
                <a:solidFill>
                  <a:srgbClr val="1B1716"/>
                </a:solidFill>
                <a:latin typeface="Plus Jakarta Sans"/>
              </a:rPr>
              <a:t>Connect client's</a:t>
            </a:r>
          </a:p>
          <a:p>
            <a:pPr algn="l">
              <a:lnSpc>
                <a:spcPts val="1631"/>
              </a:lnSpc>
              <a:spcBef>
                <a:spcPts val="0"/>
              </a:spcBef>
              <a:spcAft>
                <a:spcPts val="0"/>
              </a:spcAft>
            </a:pPr>
            <a:r>
              <a:rPr sz="1125" b="1" i="0" kern="100">
                <a:solidFill>
                  <a:srgbClr val="1B1716"/>
                </a:solidFill>
                <a:latin typeface="Plus Jakarta Sans"/>
              </a:rPr>
              <a:t>portfolio</a:t>
            </a:r>
            <a:r>
              <a:rPr sz="1125" b="0" i="0" kern="100">
                <a:solidFill>
                  <a:srgbClr val="1B1716"/>
                </a:solidFill>
                <a:latin typeface="Plus Jakarta Sans"/>
              </a:rPr>
              <a:t> to their risk, with the currency</a:t>
            </a:r>
          </a:p>
          <a:p>
            <a:pPr algn="l">
              <a:lnSpc>
                <a:spcPts val="1631"/>
              </a:lnSpc>
              <a:spcBef>
                <a:spcPts val="0"/>
              </a:spcBef>
              <a:spcAft>
                <a:spcPts val="0"/>
              </a:spcAft>
            </a:pPr>
            <a:r>
              <a:rPr sz="1125" b="0" i="0" kern="100">
                <a:solidFill>
                  <a:srgbClr val="1B1716"/>
                </a:solidFill>
                <a:latin typeface="Plus Jakarta Sans"/>
              </a:rPr>
              <a:t>risk made clear</a:t>
            </a:r>
          </a:p>
        </p:txBody>
      </p:sp>
      <p:sp>
        <p:nvSpPr>
          <p:cNvPr id="13" name="!!div fd31cf9f"/>
          <p:cNvSpPr/>
          <p:nvPr/>
        </p:nvSpPr>
        <p:spPr>
          <a:xfrm>
            <a:off x="457200" y="4286250"/>
            <a:ext cx="2647950" cy="1428750"/>
          </a:xfrm>
          <a:prstGeom prst="rect">
            <a:avLst/>
          </a:prstGeom>
          <a:solidFill>
            <a:srgbClr val="F8EFF0"/>
          </a:solidFill>
          <a:ln>
            <a:noFill/>
          </a:ln>
        </p:spPr>
        <p:txBody>
          <a:bodyPr rtlCol="0" anchor="ctr"/>
          <a:lstStyle/>
          <a:p>
            <a:pPr algn="ctr"/>
            <a:endParaRPr/>
          </a:p>
        </p:txBody>
      </p:sp>
      <p:sp>
        <p:nvSpPr>
          <p:cNvPr id="14" name="!!T What this plan taught me"/>
          <p:cNvSpPr txBox="1"/>
          <p:nvPr/>
        </p:nvSpPr>
        <p:spPr>
          <a:xfrm>
            <a:off x="628650" y="4429696"/>
            <a:ext cx="178747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What this plan taught me</a:t>
            </a:r>
          </a:p>
        </p:txBody>
      </p:sp>
      <p:sp>
        <p:nvSpPr>
          <p:cNvPr id="15" name="!!T “Fitting the Wongs' three risk profiles "/>
          <p:cNvSpPr txBox="1"/>
          <p:nvPr/>
        </p:nvSpPr>
        <p:spPr>
          <a:xfrm>
            <a:off x="628650" y="4638746"/>
            <a:ext cx="2363769" cy="719852"/>
          </a:xfrm>
          <a:prstGeom prst="rect">
            <a:avLst/>
          </a:prstGeom>
          <a:noFill/>
        </p:spPr>
        <p:txBody>
          <a:bodyPr wrap="none" lIns="0" tIns="0" rIns="0" bIns="0" anchor="t">
            <a:noAutofit/>
          </a:bodyPr>
          <a:lstStyle/>
          <a:p>
            <a:pPr algn="l">
              <a:lnSpc>
                <a:spcPts val="1889"/>
              </a:lnSpc>
              <a:spcBef>
                <a:spcPts val="0"/>
              </a:spcBef>
              <a:spcAft>
                <a:spcPts val="0"/>
              </a:spcAft>
            </a:pPr>
            <a:r>
              <a:rPr sz="1350" b="0" i="0" kern="100">
                <a:solidFill>
                  <a:srgbClr val="1B1716"/>
                </a:solidFill>
                <a:latin typeface="Plus Jakarta Sans SemiBold"/>
              </a:rPr>
              <a:t>“Fitting the Wongs' three</a:t>
            </a:r>
          </a:p>
          <a:p>
            <a:pPr algn="l">
              <a:lnSpc>
                <a:spcPts val="1889"/>
              </a:lnSpc>
              <a:spcBef>
                <a:spcPts val="0"/>
              </a:spcBef>
              <a:spcAft>
                <a:spcPts val="0"/>
              </a:spcAft>
            </a:pPr>
            <a:r>
              <a:rPr sz="1350" b="0" i="0" kern="100">
                <a:solidFill>
                  <a:srgbClr val="1B1716"/>
                </a:solidFill>
                <a:latin typeface="Plus Jakarta Sans SemiBold"/>
              </a:rPr>
              <a:t>risk profiles into one plan</a:t>
            </a:r>
          </a:p>
          <a:p>
            <a:pPr algn="l">
              <a:lnSpc>
                <a:spcPts val="1889"/>
              </a:lnSpc>
              <a:spcBef>
                <a:spcPts val="0"/>
              </a:spcBef>
              <a:spcAft>
                <a:spcPts val="0"/>
              </a:spcAft>
            </a:pPr>
            <a:r>
              <a:rPr sz="1350" b="0" i="0" kern="100">
                <a:solidFill>
                  <a:srgbClr val="1B1716"/>
                </a:solidFill>
                <a:latin typeface="Plus Jakarta Sans SemiBold"/>
              </a:rPr>
              <a:t>was that job in miniature.”</a:t>
            </a:r>
          </a:p>
        </p:txBody>
      </p:sp>
      <p:sp>
        <p:nvSpPr>
          <p:cNvPr id="16" name="!!Rule 4df0efd2"/>
          <p:cNvSpPr/>
          <p:nvPr/>
        </p:nvSpPr>
        <p:spPr>
          <a:xfrm>
            <a:off x="3333750" y="1141214"/>
            <a:ext cx="2647950" cy="28575"/>
          </a:xfrm>
          <a:prstGeom prst="rect">
            <a:avLst/>
          </a:prstGeom>
          <a:solidFill>
            <a:srgbClr val="3C3C3C">
              <a:alpha val="30000"/>
            </a:srgbClr>
          </a:solidFill>
          <a:ln>
            <a:noFill/>
          </a:ln>
        </p:spPr>
        <p:txBody>
          <a:bodyPr rtlCol="0" anchor="ctr"/>
          <a:lstStyle/>
          <a:p>
            <a:pPr algn="ctr"/>
            <a:endParaRPr/>
          </a:p>
        </p:txBody>
      </p:sp>
      <p:sp>
        <p:nvSpPr>
          <p:cNvPr id="17" name="!!Rule fcd5f05c"/>
          <p:cNvSpPr/>
          <p:nvPr/>
        </p:nvSpPr>
        <p:spPr>
          <a:xfrm>
            <a:off x="3333750" y="1141214"/>
            <a:ext cx="2647950" cy="28575"/>
          </a:xfrm>
          <a:prstGeom prst="rect">
            <a:avLst/>
          </a:prstGeom>
          <a:solidFill>
            <a:srgbClr val="971320"/>
          </a:solidFill>
          <a:ln>
            <a:noFill/>
          </a:ln>
        </p:spPr>
        <p:txBody>
          <a:bodyPr rtlCol="0" anchor="ctr"/>
          <a:lstStyle/>
          <a:p>
            <a:pPr algn="ctr"/>
            <a:endParaRPr/>
          </a:p>
        </p:txBody>
      </p:sp>
      <p:sp>
        <p:nvSpPr>
          <p:cNvPr id="18" name="!!span 0f0f8c1c"/>
          <p:cNvSpPr/>
          <p:nvPr/>
        </p:nvSpPr>
        <p:spPr>
          <a:xfrm>
            <a:off x="3348038" y="1336477"/>
            <a:ext cx="695325" cy="695325"/>
          </a:xfrm>
          <a:prstGeom prst="ellipse">
            <a:avLst/>
          </a:prstGeom>
          <a:solidFill>
            <a:srgbClr val="F2F2F2">
              <a:alpha val="30000"/>
            </a:srgbClr>
          </a:solidFill>
          <a:ln w="28575">
            <a:solidFill>
              <a:srgbClr val="FFFFFF">
                <a:alpha val="30000"/>
              </a:srgbClr>
            </a:solidFill>
          </a:ln>
          <a:effectLst>
            <a:outerShdw blurRad="171450" dist="57150" dir="5400000" algn="ctr" rotWithShape="0">
              <a:srgbClr val="2B2B2B">
                <a:alpha val="4200"/>
              </a:srgbClr>
            </a:outerShdw>
          </a:effectLst>
        </p:spPr>
        <p:txBody>
          <a:bodyPr rtlCol="0" anchor="ctr"/>
          <a:lstStyle/>
          <a:p>
            <a:pPr algn="ctr"/>
            <a:endParaRPr/>
          </a:p>
        </p:txBody>
      </p:sp>
      <p:sp>
        <p:nvSpPr>
          <p:cNvPr id="19" name="!!span 2424d96d"/>
          <p:cNvSpPr/>
          <p:nvPr/>
        </p:nvSpPr>
        <p:spPr>
          <a:xfrm>
            <a:off x="3348038" y="1336477"/>
            <a:ext cx="695325" cy="695325"/>
          </a:xfrm>
          <a:prstGeom prst="ellipse">
            <a:avLst/>
          </a:prstGeom>
          <a:solidFill>
            <a:srgbClr val="F8EFF0"/>
          </a:solidFill>
          <a:ln w="28575">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20" name="!!Picture 59db1258" descr="image.jpg"/>
          <p:cNvPicPr>
            <a:picLocks noChangeAspect="1"/>
          </p:cNvPicPr>
          <p:nvPr/>
        </p:nvPicPr>
        <p:blipFill>
          <a:blip r:embed="rId4">
            <a:alphaModFix amt="30000"/>
            <a:grayscl/>
          </a:blip>
          <a:stretch>
            <a:fillRect/>
          </a:stretch>
        </p:blipFill>
        <p:spPr>
          <a:xfrm>
            <a:off x="3362325" y="1350764"/>
            <a:ext cx="666750" cy="666750"/>
          </a:xfrm>
          <a:prstGeom prst="ellipse">
            <a:avLst/>
          </a:prstGeom>
        </p:spPr>
      </p:pic>
      <p:pic>
        <p:nvPicPr>
          <p:cNvPr id="21" name="!!Picture 59db1258 #2" descr="image.jpg"/>
          <p:cNvPicPr>
            <a:picLocks noChangeAspect="1"/>
          </p:cNvPicPr>
          <p:nvPr/>
        </p:nvPicPr>
        <p:blipFill>
          <a:blip r:embed="rId4"/>
          <a:stretch>
            <a:fillRect/>
          </a:stretch>
        </p:blipFill>
        <p:spPr>
          <a:xfrm>
            <a:off x="3362325" y="1350764"/>
            <a:ext cx="666750" cy="666750"/>
          </a:xfrm>
          <a:prstGeom prst="ellipse">
            <a:avLst/>
          </a:prstGeom>
        </p:spPr>
      </p:pic>
      <p:sp>
        <p:nvSpPr>
          <p:cNvPr id="22" name="!!T Fahtai"/>
          <p:cNvSpPr txBox="1"/>
          <p:nvPr/>
        </p:nvSpPr>
        <p:spPr>
          <a:xfrm>
            <a:off x="4191000" y="1445449"/>
            <a:ext cx="716146" cy="228600"/>
          </a:xfrm>
          <a:prstGeom prst="rect">
            <a:avLst/>
          </a:prstGeom>
          <a:noFill/>
        </p:spPr>
        <p:txBody>
          <a:bodyPr wrap="none" lIns="0" tIns="0" rIns="0" bIns="0" anchor="t">
            <a:noAutofit/>
          </a:bodyPr>
          <a:lstStyle/>
          <a:p>
            <a:pPr algn="l">
              <a:lnSpc>
                <a:spcPts val="1800"/>
              </a:lnSpc>
              <a:spcBef>
                <a:spcPts val="0"/>
              </a:spcBef>
              <a:spcAft>
                <a:spcPts val="0"/>
              </a:spcAft>
            </a:pPr>
            <a:r>
              <a:rPr sz="1500" b="1" i="0" kern="100">
                <a:solidFill>
                  <a:srgbClr val="181818">
                    <a:alpha val="30000"/>
                  </a:srgbClr>
                </a:solidFill>
                <a:latin typeface="Plus Jakarta Sans"/>
              </a:rPr>
              <a:t>Fahtai</a:t>
            </a:r>
          </a:p>
        </p:txBody>
      </p:sp>
      <p:sp>
        <p:nvSpPr>
          <p:cNvPr id="23" name="!!T Fahtai #2"/>
          <p:cNvSpPr txBox="1"/>
          <p:nvPr/>
        </p:nvSpPr>
        <p:spPr>
          <a:xfrm>
            <a:off x="4191000" y="1445449"/>
            <a:ext cx="716146" cy="228600"/>
          </a:xfrm>
          <a:prstGeom prst="rect">
            <a:avLst/>
          </a:prstGeom>
          <a:noFill/>
        </p:spPr>
        <p:txBody>
          <a:bodyPr wrap="none" lIns="0" tIns="0" rIns="0" bIns="0" anchor="t">
            <a:noAutofit/>
          </a:bodyPr>
          <a:lstStyle/>
          <a:p>
            <a:pPr algn="l">
              <a:lnSpc>
                <a:spcPts val="1800"/>
              </a:lnSpc>
              <a:spcBef>
                <a:spcPts val="0"/>
              </a:spcBef>
              <a:spcAft>
                <a:spcPts val="0"/>
              </a:spcAft>
            </a:pPr>
            <a:r>
              <a:rPr sz="1500" b="1" i="0" kern="100">
                <a:solidFill>
                  <a:srgbClr val="1B1716"/>
                </a:solidFill>
                <a:latin typeface="Plus Jakarta Sans"/>
              </a:rPr>
              <a:t>Fahtai</a:t>
            </a:r>
          </a:p>
        </p:txBody>
      </p:sp>
      <p:sp>
        <p:nvSpPr>
          <p:cNvPr id="24" name="!!T Retirement"/>
          <p:cNvSpPr txBox="1"/>
          <p:nvPr/>
        </p:nvSpPr>
        <p:spPr>
          <a:xfrm>
            <a:off x="4191000" y="1688812"/>
            <a:ext cx="913974"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81818">
                    <a:alpha val="30000"/>
                  </a:srgbClr>
                </a:solidFill>
                <a:latin typeface="Plus Jakarta Sans"/>
              </a:rPr>
              <a:t>Retirement</a:t>
            </a:r>
          </a:p>
        </p:txBody>
      </p:sp>
      <p:sp>
        <p:nvSpPr>
          <p:cNvPr id="25" name="!!T Retirement #2"/>
          <p:cNvSpPr txBox="1"/>
          <p:nvPr/>
        </p:nvSpPr>
        <p:spPr>
          <a:xfrm>
            <a:off x="4191000" y="1688812"/>
            <a:ext cx="913974"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a:rPr>
              <a:t>Retirement</a:t>
            </a:r>
          </a:p>
        </p:txBody>
      </p:sp>
      <p:sp>
        <p:nvSpPr>
          <p:cNvPr id="26" name="!!T In five years #2"/>
          <p:cNvSpPr txBox="1"/>
          <p:nvPr/>
        </p:nvSpPr>
        <p:spPr>
          <a:xfrm>
            <a:off x="3333750" y="2208586"/>
            <a:ext cx="90450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3C3C3C">
                    <a:alpha val="30000"/>
                  </a:srgbClr>
                </a:solidFill>
                <a:latin typeface="Plus Jakarta Sans SemiBold"/>
              </a:rPr>
              <a:t>In five years</a:t>
            </a:r>
          </a:p>
        </p:txBody>
      </p:sp>
      <p:sp>
        <p:nvSpPr>
          <p:cNvPr id="27" name="!!T In five years #3"/>
          <p:cNvSpPr txBox="1"/>
          <p:nvPr/>
        </p:nvSpPr>
        <p:spPr>
          <a:xfrm>
            <a:off x="3333750" y="2208586"/>
            <a:ext cx="90450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In five years</a:t>
            </a:r>
          </a:p>
        </p:txBody>
      </p:sp>
      <p:sp>
        <p:nvSpPr>
          <p:cNvPr id="28" name="!!T Building the data and risk models wealth"/>
          <p:cNvSpPr txBox="1"/>
          <p:nvPr/>
        </p:nvSpPr>
        <p:spPr>
          <a:xfrm>
            <a:off x="3333750" y="2414683"/>
            <a:ext cx="2805648" cy="705564"/>
          </a:xfrm>
          <a:prstGeom prst="rect">
            <a:avLst/>
          </a:prstGeom>
          <a:noFill/>
        </p:spPr>
        <p:txBody>
          <a:bodyPr wrap="none" lIns="0" tIns="0" rIns="0" bIns="0" anchor="t">
            <a:noAutofit/>
          </a:bodyPr>
          <a:lstStyle/>
          <a:p>
            <a:pPr algn="l">
              <a:lnSpc>
                <a:spcPts val="1852"/>
              </a:lnSpc>
              <a:spcBef>
                <a:spcPts val="0"/>
              </a:spcBef>
              <a:spcAft>
                <a:spcPts val="0"/>
              </a:spcAft>
            </a:pPr>
            <a:r>
              <a:rPr sz="1425" b="1" i="0" kern="100">
                <a:solidFill>
                  <a:srgbClr val="181818">
                    <a:alpha val="30000"/>
                  </a:srgbClr>
                </a:solidFill>
                <a:latin typeface="Plus Jakarta Sans"/>
              </a:rPr>
              <a:t>Building the data and risk</a:t>
            </a:r>
          </a:p>
          <a:p>
            <a:pPr algn="l">
              <a:lnSpc>
                <a:spcPts val="1852"/>
              </a:lnSpc>
              <a:spcBef>
                <a:spcPts val="0"/>
              </a:spcBef>
              <a:spcAft>
                <a:spcPts val="0"/>
              </a:spcAft>
            </a:pPr>
            <a:r>
              <a:rPr sz="1425" b="1" i="0" kern="100">
                <a:solidFill>
                  <a:srgbClr val="181818">
                    <a:alpha val="30000"/>
                  </a:srgbClr>
                </a:solidFill>
                <a:latin typeface="Plus Jakarta Sans"/>
              </a:rPr>
              <a:t>models wealth managers use</a:t>
            </a:r>
          </a:p>
          <a:p>
            <a:pPr algn="l">
              <a:lnSpc>
                <a:spcPts val="1852"/>
              </a:lnSpc>
              <a:spcBef>
                <a:spcPts val="0"/>
              </a:spcBef>
              <a:spcAft>
                <a:spcPts val="0"/>
              </a:spcAft>
            </a:pPr>
            <a:r>
              <a:rPr sz="1425" b="1" i="0" kern="100">
                <a:solidFill>
                  <a:srgbClr val="181818">
                    <a:alpha val="30000"/>
                  </a:srgbClr>
                </a:solidFill>
                <a:latin typeface="Plus Jakarta Sans"/>
              </a:rPr>
              <a:t>for families</a:t>
            </a:r>
          </a:p>
        </p:txBody>
      </p:sp>
      <p:sp>
        <p:nvSpPr>
          <p:cNvPr id="29" name="!!T Building the data and risk models wealth #2"/>
          <p:cNvSpPr txBox="1"/>
          <p:nvPr/>
        </p:nvSpPr>
        <p:spPr>
          <a:xfrm>
            <a:off x="3333750" y="2414683"/>
            <a:ext cx="2805648" cy="705564"/>
          </a:xfrm>
          <a:prstGeom prst="rect">
            <a:avLst/>
          </a:prstGeom>
          <a:noFill/>
        </p:spPr>
        <p:txBody>
          <a:bodyPr wrap="none" lIns="0" tIns="0" rIns="0" bIns="0" anchor="t">
            <a:noAutofit/>
          </a:bodyPr>
          <a:lstStyle/>
          <a:p>
            <a:pPr algn="l">
              <a:lnSpc>
                <a:spcPts val="1852"/>
              </a:lnSpc>
              <a:spcBef>
                <a:spcPts val="0"/>
              </a:spcBef>
              <a:spcAft>
                <a:spcPts val="0"/>
              </a:spcAft>
            </a:pPr>
            <a:r>
              <a:rPr sz="1425" b="1" i="0" kern="100">
                <a:solidFill>
                  <a:srgbClr val="1B1716"/>
                </a:solidFill>
                <a:latin typeface="Plus Jakarta Sans"/>
              </a:rPr>
              <a:t>Building the data and risk</a:t>
            </a:r>
          </a:p>
          <a:p>
            <a:pPr algn="l">
              <a:lnSpc>
                <a:spcPts val="1852"/>
              </a:lnSpc>
              <a:spcBef>
                <a:spcPts val="0"/>
              </a:spcBef>
              <a:spcAft>
                <a:spcPts val="0"/>
              </a:spcAft>
            </a:pPr>
            <a:r>
              <a:rPr sz="1425" b="1" i="0" kern="100">
                <a:solidFill>
                  <a:srgbClr val="1B1716"/>
                </a:solidFill>
                <a:latin typeface="Plus Jakarta Sans"/>
              </a:rPr>
              <a:t>models wealth managers use</a:t>
            </a:r>
          </a:p>
          <a:p>
            <a:pPr algn="l">
              <a:lnSpc>
                <a:spcPts val="1852"/>
              </a:lnSpc>
              <a:spcBef>
                <a:spcPts val="0"/>
              </a:spcBef>
              <a:spcAft>
                <a:spcPts val="0"/>
              </a:spcAft>
            </a:pPr>
            <a:r>
              <a:rPr sz="1425" b="1" i="0" kern="100">
                <a:solidFill>
                  <a:srgbClr val="1B1716"/>
                </a:solidFill>
                <a:latin typeface="Plus Jakarta Sans"/>
              </a:rPr>
              <a:t>for families</a:t>
            </a:r>
          </a:p>
        </p:txBody>
      </p:sp>
      <p:sp>
        <p:nvSpPr>
          <p:cNvPr id="30" name="!!T across East and Southeast Asia; next, th"/>
          <p:cNvSpPr txBox="1"/>
          <p:nvPr/>
        </p:nvSpPr>
        <p:spPr>
          <a:xfrm>
            <a:off x="3333750" y="3198376"/>
            <a:ext cx="2753430" cy="621506"/>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81818">
                    <a:alpha val="30000"/>
                  </a:srgbClr>
                </a:solidFill>
                <a:latin typeface="Plus Jakarta Sans"/>
              </a:rPr>
              <a:t>across East and Southeast Asia; next,</a:t>
            </a:r>
          </a:p>
          <a:p>
            <a:pPr algn="l">
              <a:lnSpc>
                <a:spcPts val="1631"/>
              </a:lnSpc>
              <a:spcBef>
                <a:spcPts val="0"/>
              </a:spcBef>
              <a:spcAft>
                <a:spcPts val="0"/>
              </a:spcAft>
            </a:pPr>
            <a:r>
              <a:rPr sz="1125" b="0" i="0" kern="100">
                <a:solidFill>
                  <a:srgbClr val="181818">
                    <a:alpha val="30000"/>
                  </a:srgbClr>
                </a:solidFill>
                <a:latin typeface="Plus Jakarta Sans"/>
              </a:rPr>
              <a:t>the FRM, with </a:t>
            </a:r>
            <a:r>
              <a:rPr sz="1125" b="1" i="0" kern="100">
                <a:solidFill>
                  <a:srgbClr val="181818">
                    <a:alpha val="30000"/>
                  </a:srgbClr>
                </a:solidFill>
                <a:latin typeface="Plus Jakarta Sans"/>
              </a:rPr>
              <a:t>Connect funds as the</a:t>
            </a:r>
          </a:p>
          <a:p>
            <a:pPr algn="l">
              <a:lnSpc>
                <a:spcPts val="1631"/>
              </a:lnSpc>
              <a:spcBef>
                <a:spcPts val="0"/>
              </a:spcBef>
              <a:spcAft>
                <a:spcPts val="0"/>
              </a:spcAft>
            </a:pPr>
            <a:r>
              <a:rPr sz="1125" b="1" i="0" kern="100">
                <a:solidFill>
                  <a:srgbClr val="181818">
                    <a:alpha val="30000"/>
                  </a:srgbClr>
                </a:solidFill>
                <a:latin typeface="Plus Jakarta Sans"/>
              </a:rPr>
              <a:t>first case</a:t>
            </a:r>
          </a:p>
        </p:txBody>
      </p:sp>
      <p:sp>
        <p:nvSpPr>
          <p:cNvPr id="31" name="!!T across East and Southeast Asia; next, th #2"/>
          <p:cNvSpPr txBox="1"/>
          <p:nvPr/>
        </p:nvSpPr>
        <p:spPr>
          <a:xfrm>
            <a:off x="3333750" y="3198376"/>
            <a:ext cx="2753430" cy="621506"/>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B1716"/>
                </a:solidFill>
                <a:latin typeface="Plus Jakarta Sans"/>
              </a:rPr>
              <a:t>across East and Southeast Asia; next,</a:t>
            </a:r>
          </a:p>
          <a:p>
            <a:pPr algn="l">
              <a:lnSpc>
                <a:spcPts val="1631"/>
              </a:lnSpc>
              <a:spcBef>
                <a:spcPts val="0"/>
              </a:spcBef>
              <a:spcAft>
                <a:spcPts val="0"/>
              </a:spcAft>
            </a:pPr>
            <a:r>
              <a:rPr sz="1125" b="0" i="0" kern="100">
                <a:solidFill>
                  <a:srgbClr val="1B1716"/>
                </a:solidFill>
                <a:latin typeface="Plus Jakarta Sans"/>
              </a:rPr>
              <a:t>the FRM, with </a:t>
            </a:r>
            <a:r>
              <a:rPr sz="1125" b="1" i="0" kern="100">
                <a:solidFill>
                  <a:srgbClr val="1B1716"/>
                </a:solidFill>
                <a:latin typeface="Plus Jakarta Sans"/>
              </a:rPr>
              <a:t>Connect funds as the</a:t>
            </a:r>
          </a:p>
          <a:p>
            <a:pPr algn="l">
              <a:lnSpc>
                <a:spcPts val="1631"/>
              </a:lnSpc>
              <a:spcBef>
                <a:spcPts val="0"/>
              </a:spcBef>
              <a:spcAft>
                <a:spcPts val="0"/>
              </a:spcAft>
            </a:pPr>
            <a:r>
              <a:rPr sz="1125" b="1" i="0" kern="100">
                <a:solidFill>
                  <a:srgbClr val="1B1716"/>
                </a:solidFill>
                <a:latin typeface="Plus Jakarta Sans"/>
              </a:rPr>
              <a:t>first case</a:t>
            </a:r>
          </a:p>
        </p:txBody>
      </p:sp>
      <p:sp>
        <p:nvSpPr>
          <p:cNvPr id="32" name="!!div fc8545ea"/>
          <p:cNvSpPr/>
          <p:nvPr/>
        </p:nvSpPr>
        <p:spPr>
          <a:xfrm>
            <a:off x="3333750" y="4286250"/>
            <a:ext cx="2647950" cy="1428750"/>
          </a:xfrm>
          <a:prstGeom prst="rect">
            <a:avLst/>
          </a:prstGeom>
          <a:solidFill>
            <a:srgbClr val="F2F2F2">
              <a:alpha val="30000"/>
            </a:srgbClr>
          </a:solidFill>
          <a:ln>
            <a:noFill/>
          </a:ln>
        </p:spPr>
        <p:txBody>
          <a:bodyPr rtlCol="0" anchor="ctr"/>
          <a:lstStyle/>
          <a:p>
            <a:pPr algn="ctr"/>
            <a:endParaRPr/>
          </a:p>
        </p:txBody>
      </p:sp>
      <p:sp>
        <p:nvSpPr>
          <p:cNvPr id="33" name="!!div f5d9e52b"/>
          <p:cNvSpPr/>
          <p:nvPr/>
        </p:nvSpPr>
        <p:spPr>
          <a:xfrm>
            <a:off x="3333750" y="4286250"/>
            <a:ext cx="2647950" cy="1428750"/>
          </a:xfrm>
          <a:prstGeom prst="rect">
            <a:avLst/>
          </a:prstGeom>
          <a:solidFill>
            <a:srgbClr val="F8EFF0"/>
          </a:solidFill>
          <a:ln>
            <a:noFill/>
          </a:ln>
        </p:spPr>
        <p:txBody>
          <a:bodyPr rtlCol="0" anchor="ctr"/>
          <a:lstStyle/>
          <a:p>
            <a:pPr algn="ctr"/>
            <a:endParaRPr/>
          </a:p>
        </p:txBody>
      </p:sp>
      <p:sp>
        <p:nvSpPr>
          <p:cNvPr id="34" name="!!T What this plan taught me #2"/>
          <p:cNvSpPr txBox="1"/>
          <p:nvPr/>
        </p:nvSpPr>
        <p:spPr>
          <a:xfrm>
            <a:off x="3505200" y="4429696"/>
            <a:ext cx="178747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3C3C3C">
                    <a:alpha val="30000"/>
                  </a:srgbClr>
                </a:solidFill>
                <a:latin typeface="Plus Jakarta Sans SemiBold"/>
              </a:rPr>
              <a:t>What this plan taught me</a:t>
            </a:r>
          </a:p>
        </p:txBody>
      </p:sp>
      <p:sp>
        <p:nvSpPr>
          <p:cNvPr id="35" name="!!T What this plan taught me #3"/>
          <p:cNvSpPr txBox="1"/>
          <p:nvPr/>
        </p:nvSpPr>
        <p:spPr>
          <a:xfrm>
            <a:off x="3505200" y="4429696"/>
            <a:ext cx="178747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What this plan taught me</a:t>
            </a:r>
          </a:p>
        </p:txBody>
      </p:sp>
      <p:sp>
        <p:nvSpPr>
          <p:cNvPr id="36" name="!!T “A model's job is to price the trade-off"/>
          <p:cNvSpPr txBox="1"/>
          <p:nvPr/>
        </p:nvSpPr>
        <p:spPr>
          <a:xfrm>
            <a:off x="3505200" y="4638746"/>
            <a:ext cx="1856735" cy="719852"/>
          </a:xfrm>
          <a:prstGeom prst="rect">
            <a:avLst/>
          </a:prstGeom>
          <a:noFill/>
        </p:spPr>
        <p:txBody>
          <a:bodyPr wrap="none" lIns="0" tIns="0" rIns="0" bIns="0" anchor="t">
            <a:noAutofit/>
          </a:bodyPr>
          <a:lstStyle/>
          <a:p>
            <a:pPr algn="l">
              <a:lnSpc>
                <a:spcPts val="1889"/>
              </a:lnSpc>
              <a:spcBef>
                <a:spcPts val="0"/>
              </a:spcBef>
              <a:spcAft>
                <a:spcPts val="0"/>
              </a:spcAft>
            </a:pPr>
            <a:r>
              <a:rPr sz="1350" b="0" i="0" kern="100">
                <a:solidFill>
                  <a:srgbClr val="181818">
                    <a:alpha val="30000"/>
                  </a:srgbClr>
                </a:solidFill>
                <a:latin typeface="Plus Jakarta Sans SemiBold"/>
              </a:rPr>
              <a:t>“A model's job is to</a:t>
            </a:r>
          </a:p>
          <a:p>
            <a:pPr algn="l">
              <a:lnSpc>
                <a:spcPts val="1889"/>
              </a:lnSpc>
              <a:spcBef>
                <a:spcPts val="0"/>
              </a:spcBef>
              <a:spcAft>
                <a:spcPts val="0"/>
              </a:spcAft>
            </a:pPr>
            <a:r>
              <a:rPr sz="1350" b="0" i="0" kern="100">
                <a:solidFill>
                  <a:srgbClr val="181818">
                    <a:alpha val="30000"/>
                  </a:srgbClr>
                </a:solidFill>
                <a:latin typeface="Plus Jakarta Sans SemiBold"/>
              </a:rPr>
              <a:t>price the trade-offs</a:t>
            </a:r>
          </a:p>
          <a:p>
            <a:pPr algn="l">
              <a:lnSpc>
                <a:spcPts val="1889"/>
              </a:lnSpc>
              <a:spcBef>
                <a:spcPts val="0"/>
              </a:spcBef>
              <a:spcAft>
                <a:spcPts val="0"/>
              </a:spcAft>
            </a:pPr>
            <a:r>
              <a:rPr sz="1350" b="0" i="0" kern="100">
                <a:solidFill>
                  <a:srgbClr val="181818">
                    <a:alpha val="30000"/>
                  </a:srgbClr>
                </a:solidFill>
                <a:latin typeface="Plus Jakarta Sans SemiBold"/>
              </a:rPr>
              <a:t>between people.”</a:t>
            </a:r>
          </a:p>
        </p:txBody>
      </p:sp>
      <p:sp>
        <p:nvSpPr>
          <p:cNvPr id="37" name="!!T “A model's job is to price the trade-off #2"/>
          <p:cNvSpPr txBox="1"/>
          <p:nvPr/>
        </p:nvSpPr>
        <p:spPr>
          <a:xfrm>
            <a:off x="3505200" y="4638746"/>
            <a:ext cx="1856735" cy="719852"/>
          </a:xfrm>
          <a:prstGeom prst="rect">
            <a:avLst/>
          </a:prstGeom>
          <a:noFill/>
        </p:spPr>
        <p:txBody>
          <a:bodyPr wrap="none" lIns="0" tIns="0" rIns="0" bIns="0" anchor="t">
            <a:noAutofit/>
          </a:bodyPr>
          <a:lstStyle/>
          <a:p>
            <a:pPr algn="l">
              <a:lnSpc>
                <a:spcPts val="1889"/>
              </a:lnSpc>
              <a:spcBef>
                <a:spcPts val="0"/>
              </a:spcBef>
              <a:spcAft>
                <a:spcPts val="0"/>
              </a:spcAft>
            </a:pPr>
            <a:r>
              <a:rPr sz="1350" b="0" i="0" kern="100">
                <a:solidFill>
                  <a:srgbClr val="1B1716"/>
                </a:solidFill>
                <a:latin typeface="Plus Jakarta Sans SemiBold"/>
              </a:rPr>
              <a:t>“A model's job is to</a:t>
            </a:r>
          </a:p>
          <a:p>
            <a:pPr algn="l">
              <a:lnSpc>
                <a:spcPts val="1889"/>
              </a:lnSpc>
              <a:spcBef>
                <a:spcPts val="0"/>
              </a:spcBef>
              <a:spcAft>
                <a:spcPts val="0"/>
              </a:spcAft>
            </a:pPr>
            <a:r>
              <a:rPr sz="1350" b="0" i="0" kern="100">
                <a:solidFill>
                  <a:srgbClr val="1B1716"/>
                </a:solidFill>
                <a:latin typeface="Plus Jakarta Sans SemiBold"/>
              </a:rPr>
              <a:t>price the trade-offs</a:t>
            </a:r>
          </a:p>
          <a:p>
            <a:pPr algn="l">
              <a:lnSpc>
                <a:spcPts val="1889"/>
              </a:lnSpc>
              <a:spcBef>
                <a:spcPts val="0"/>
              </a:spcBef>
              <a:spcAft>
                <a:spcPts val="0"/>
              </a:spcAft>
            </a:pPr>
            <a:r>
              <a:rPr sz="1350" b="0" i="0" kern="100">
                <a:solidFill>
                  <a:srgbClr val="1B1716"/>
                </a:solidFill>
                <a:latin typeface="Plus Jakarta Sans SemiBold"/>
              </a:rPr>
              <a:t>between people.”</a:t>
            </a:r>
          </a:p>
        </p:txBody>
      </p:sp>
      <p:sp>
        <p:nvSpPr>
          <p:cNvPr id="38" name="!!Rule 47be3e99"/>
          <p:cNvSpPr/>
          <p:nvPr/>
        </p:nvSpPr>
        <p:spPr>
          <a:xfrm>
            <a:off x="6210300" y="1141214"/>
            <a:ext cx="2647950" cy="28575"/>
          </a:xfrm>
          <a:prstGeom prst="rect">
            <a:avLst/>
          </a:prstGeom>
          <a:solidFill>
            <a:srgbClr val="3C3C3C">
              <a:alpha val="30000"/>
            </a:srgbClr>
          </a:solidFill>
          <a:ln>
            <a:noFill/>
          </a:ln>
        </p:spPr>
        <p:txBody>
          <a:bodyPr rtlCol="0" anchor="ctr"/>
          <a:lstStyle/>
          <a:p>
            <a:pPr algn="ctr"/>
            <a:endParaRPr/>
          </a:p>
        </p:txBody>
      </p:sp>
      <p:sp>
        <p:nvSpPr>
          <p:cNvPr id="39" name="!!Rule ab73177e"/>
          <p:cNvSpPr/>
          <p:nvPr/>
        </p:nvSpPr>
        <p:spPr>
          <a:xfrm>
            <a:off x="6210300" y="1141214"/>
            <a:ext cx="2647950" cy="28575"/>
          </a:xfrm>
          <a:prstGeom prst="rect">
            <a:avLst/>
          </a:prstGeom>
          <a:solidFill>
            <a:srgbClr val="971320"/>
          </a:solidFill>
          <a:ln>
            <a:noFill/>
          </a:ln>
        </p:spPr>
        <p:txBody>
          <a:bodyPr rtlCol="0" anchor="ctr"/>
          <a:lstStyle/>
          <a:p>
            <a:pPr algn="ctr"/>
            <a:endParaRPr/>
          </a:p>
        </p:txBody>
      </p:sp>
      <p:sp>
        <p:nvSpPr>
          <p:cNvPr id="40" name="!!span 28c9db79"/>
          <p:cNvSpPr/>
          <p:nvPr/>
        </p:nvSpPr>
        <p:spPr>
          <a:xfrm>
            <a:off x="6224588" y="1336477"/>
            <a:ext cx="695325" cy="695325"/>
          </a:xfrm>
          <a:prstGeom prst="ellipse">
            <a:avLst/>
          </a:prstGeom>
          <a:solidFill>
            <a:srgbClr val="F2F2F2">
              <a:alpha val="30000"/>
            </a:srgbClr>
          </a:solidFill>
          <a:ln w="28575">
            <a:solidFill>
              <a:srgbClr val="FFFFFF">
                <a:alpha val="30000"/>
              </a:srgbClr>
            </a:solidFill>
          </a:ln>
          <a:effectLst>
            <a:outerShdw blurRad="171450" dist="57150" dir="5400000" algn="ctr" rotWithShape="0">
              <a:srgbClr val="2B2B2B">
                <a:alpha val="4200"/>
              </a:srgbClr>
            </a:outerShdw>
          </a:effectLst>
        </p:spPr>
        <p:txBody>
          <a:bodyPr rtlCol="0" anchor="ctr"/>
          <a:lstStyle/>
          <a:p>
            <a:pPr algn="ctr"/>
            <a:endParaRPr/>
          </a:p>
        </p:txBody>
      </p:sp>
      <p:sp>
        <p:nvSpPr>
          <p:cNvPr id="41" name="!!span 8434223d"/>
          <p:cNvSpPr/>
          <p:nvPr/>
        </p:nvSpPr>
        <p:spPr>
          <a:xfrm>
            <a:off x="6224588" y="1336477"/>
            <a:ext cx="695325" cy="695325"/>
          </a:xfrm>
          <a:prstGeom prst="ellipse">
            <a:avLst/>
          </a:prstGeom>
          <a:solidFill>
            <a:srgbClr val="F8EFF0"/>
          </a:solidFill>
          <a:ln w="28575">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42" name="!!Picture d4927092" descr="image.jpg"/>
          <p:cNvPicPr>
            <a:picLocks noChangeAspect="1"/>
          </p:cNvPicPr>
          <p:nvPr/>
        </p:nvPicPr>
        <p:blipFill>
          <a:blip r:embed="rId5">
            <a:alphaModFix amt="30000"/>
            <a:grayscl/>
          </a:blip>
          <a:stretch>
            <a:fillRect/>
          </a:stretch>
        </p:blipFill>
        <p:spPr>
          <a:xfrm>
            <a:off x="6238875" y="1350764"/>
            <a:ext cx="666750" cy="666750"/>
          </a:xfrm>
          <a:prstGeom prst="ellipse">
            <a:avLst/>
          </a:prstGeom>
        </p:spPr>
      </p:pic>
      <p:pic>
        <p:nvPicPr>
          <p:cNvPr id="43" name="!!Picture d4927092 #2" descr="image.jpg"/>
          <p:cNvPicPr>
            <a:picLocks noChangeAspect="1"/>
          </p:cNvPicPr>
          <p:nvPr/>
        </p:nvPicPr>
        <p:blipFill>
          <a:blip r:embed="rId5"/>
          <a:stretch>
            <a:fillRect/>
          </a:stretch>
        </p:blipFill>
        <p:spPr>
          <a:xfrm>
            <a:off x="6238875" y="1350764"/>
            <a:ext cx="666750" cy="666750"/>
          </a:xfrm>
          <a:prstGeom prst="ellipse">
            <a:avLst/>
          </a:prstGeom>
        </p:spPr>
      </p:pic>
      <p:sp>
        <p:nvSpPr>
          <p:cNvPr id="44" name="!!T Win"/>
          <p:cNvSpPr txBox="1"/>
          <p:nvPr/>
        </p:nvSpPr>
        <p:spPr>
          <a:xfrm>
            <a:off x="7067550" y="1445449"/>
            <a:ext cx="491026" cy="228600"/>
          </a:xfrm>
          <a:prstGeom prst="rect">
            <a:avLst/>
          </a:prstGeom>
          <a:noFill/>
        </p:spPr>
        <p:txBody>
          <a:bodyPr wrap="none" lIns="0" tIns="0" rIns="0" bIns="0" anchor="t">
            <a:noAutofit/>
          </a:bodyPr>
          <a:lstStyle/>
          <a:p>
            <a:pPr algn="l">
              <a:lnSpc>
                <a:spcPts val="1800"/>
              </a:lnSpc>
              <a:spcBef>
                <a:spcPts val="0"/>
              </a:spcBef>
              <a:spcAft>
                <a:spcPts val="0"/>
              </a:spcAft>
            </a:pPr>
            <a:r>
              <a:rPr sz="1500" b="1" i="0" kern="100">
                <a:solidFill>
                  <a:srgbClr val="181818">
                    <a:alpha val="30000"/>
                  </a:srgbClr>
                </a:solidFill>
                <a:latin typeface="Plus Jakarta Sans"/>
              </a:rPr>
              <a:t>Win</a:t>
            </a:r>
          </a:p>
        </p:txBody>
      </p:sp>
      <p:sp>
        <p:nvSpPr>
          <p:cNvPr id="45" name="!!T Win #2"/>
          <p:cNvSpPr txBox="1"/>
          <p:nvPr/>
        </p:nvSpPr>
        <p:spPr>
          <a:xfrm>
            <a:off x="7067550" y="1445449"/>
            <a:ext cx="491026" cy="228600"/>
          </a:xfrm>
          <a:prstGeom prst="rect">
            <a:avLst/>
          </a:prstGeom>
          <a:noFill/>
        </p:spPr>
        <p:txBody>
          <a:bodyPr wrap="none" lIns="0" tIns="0" rIns="0" bIns="0" anchor="t">
            <a:noAutofit/>
          </a:bodyPr>
          <a:lstStyle/>
          <a:p>
            <a:pPr algn="l">
              <a:lnSpc>
                <a:spcPts val="1800"/>
              </a:lnSpc>
              <a:spcBef>
                <a:spcPts val="0"/>
              </a:spcBef>
              <a:spcAft>
                <a:spcPts val="0"/>
              </a:spcAft>
            </a:pPr>
            <a:r>
              <a:rPr sz="1500" b="1" i="0" kern="100">
                <a:solidFill>
                  <a:srgbClr val="1B1716"/>
                </a:solidFill>
                <a:latin typeface="Plus Jakarta Sans"/>
              </a:rPr>
              <a:t>Win</a:t>
            </a:r>
          </a:p>
        </p:txBody>
      </p:sp>
      <p:sp>
        <p:nvSpPr>
          <p:cNvPr id="46" name="!!T Investment"/>
          <p:cNvSpPr txBox="1"/>
          <p:nvPr/>
        </p:nvSpPr>
        <p:spPr>
          <a:xfrm>
            <a:off x="7067550" y="1688812"/>
            <a:ext cx="920442"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81818">
                    <a:alpha val="30000"/>
                  </a:srgbClr>
                </a:solidFill>
                <a:latin typeface="Plus Jakarta Sans"/>
              </a:rPr>
              <a:t>Investment</a:t>
            </a:r>
          </a:p>
        </p:txBody>
      </p:sp>
      <p:sp>
        <p:nvSpPr>
          <p:cNvPr id="47" name="!!T Investment #2"/>
          <p:cNvSpPr txBox="1"/>
          <p:nvPr/>
        </p:nvSpPr>
        <p:spPr>
          <a:xfrm>
            <a:off x="7067550" y="1688812"/>
            <a:ext cx="920442"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a:rPr>
              <a:t>Investment</a:t>
            </a:r>
          </a:p>
        </p:txBody>
      </p:sp>
      <p:sp>
        <p:nvSpPr>
          <p:cNvPr id="48" name="!!T In five years #4"/>
          <p:cNvSpPr txBox="1"/>
          <p:nvPr/>
        </p:nvSpPr>
        <p:spPr>
          <a:xfrm>
            <a:off x="6210300" y="2208586"/>
            <a:ext cx="90450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3C3C3C">
                    <a:alpha val="30000"/>
                  </a:srgbClr>
                </a:solidFill>
                <a:latin typeface="Plus Jakarta Sans SemiBold"/>
              </a:rPr>
              <a:t>In five years</a:t>
            </a:r>
          </a:p>
        </p:txBody>
      </p:sp>
      <p:sp>
        <p:nvSpPr>
          <p:cNvPr id="49" name="!!T In five years #5"/>
          <p:cNvSpPr txBox="1"/>
          <p:nvPr/>
        </p:nvSpPr>
        <p:spPr>
          <a:xfrm>
            <a:off x="6210300" y="2208586"/>
            <a:ext cx="90450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In five years</a:t>
            </a:r>
          </a:p>
        </p:txBody>
      </p:sp>
      <p:sp>
        <p:nvSpPr>
          <p:cNvPr id="50" name="!!T An investment strategist for family clie"/>
          <p:cNvSpPr txBox="1"/>
          <p:nvPr/>
        </p:nvSpPr>
        <p:spPr>
          <a:xfrm>
            <a:off x="6210300" y="2414683"/>
            <a:ext cx="2694587" cy="470416"/>
          </a:xfrm>
          <a:prstGeom prst="rect">
            <a:avLst/>
          </a:prstGeom>
          <a:noFill/>
        </p:spPr>
        <p:txBody>
          <a:bodyPr wrap="none" lIns="0" tIns="0" rIns="0" bIns="0" anchor="t">
            <a:noAutofit/>
          </a:bodyPr>
          <a:lstStyle/>
          <a:p>
            <a:pPr algn="l">
              <a:lnSpc>
                <a:spcPts val="1852"/>
              </a:lnSpc>
              <a:spcBef>
                <a:spcPts val="0"/>
              </a:spcBef>
              <a:spcAft>
                <a:spcPts val="0"/>
              </a:spcAft>
            </a:pPr>
            <a:r>
              <a:rPr sz="1425" b="1" i="0" kern="100">
                <a:solidFill>
                  <a:srgbClr val="181818">
                    <a:alpha val="30000"/>
                  </a:srgbClr>
                </a:solidFill>
                <a:latin typeface="Plus Jakarta Sans"/>
              </a:rPr>
              <a:t>An investment strategist for</a:t>
            </a:r>
          </a:p>
          <a:p>
            <a:pPr algn="l">
              <a:lnSpc>
                <a:spcPts val="1852"/>
              </a:lnSpc>
              <a:spcBef>
                <a:spcPts val="0"/>
              </a:spcBef>
              <a:spcAft>
                <a:spcPts val="0"/>
              </a:spcAft>
            </a:pPr>
            <a:r>
              <a:rPr sz="1425" b="1" i="0" kern="100">
                <a:solidFill>
                  <a:srgbClr val="181818">
                    <a:alpha val="30000"/>
                  </a:srgbClr>
                </a:solidFill>
                <a:latin typeface="Plus Jakarta Sans"/>
              </a:rPr>
              <a:t>family clients</a:t>
            </a:r>
          </a:p>
        </p:txBody>
      </p:sp>
      <p:sp>
        <p:nvSpPr>
          <p:cNvPr id="51" name="!!T An investment strategist for family clie #2"/>
          <p:cNvSpPr txBox="1"/>
          <p:nvPr/>
        </p:nvSpPr>
        <p:spPr>
          <a:xfrm>
            <a:off x="6210300" y="2414683"/>
            <a:ext cx="2694587" cy="470416"/>
          </a:xfrm>
          <a:prstGeom prst="rect">
            <a:avLst/>
          </a:prstGeom>
          <a:noFill/>
        </p:spPr>
        <p:txBody>
          <a:bodyPr wrap="none" lIns="0" tIns="0" rIns="0" bIns="0" anchor="t">
            <a:noAutofit/>
          </a:bodyPr>
          <a:lstStyle/>
          <a:p>
            <a:pPr algn="l">
              <a:lnSpc>
                <a:spcPts val="1852"/>
              </a:lnSpc>
              <a:spcBef>
                <a:spcPts val="0"/>
              </a:spcBef>
              <a:spcAft>
                <a:spcPts val="0"/>
              </a:spcAft>
            </a:pPr>
            <a:r>
              <a:rPr sz="1425" b="1" i="0" kern="100">
                <a:solidFill>
                  <a:srgbClr val="1B1716"/>
                </a:solidFill>
                <a:latin typeface="Plus Jakarta Sans"/>
              </a:rPr>
              <a:t>An investment strategist for</a:t>
            </a:r>
          </a:p>
          <a:p>
            <a:pPr algn="l">
              <a:lnSpc>
                <a:spcPts val="1852"/>
              </a:lnSpc>
              <a:spcBef>
                <a:spcPts val="0"/>
              </a:spcBef>
              <a:spcAft>
                <a:spcPts val="0"/>
              </a:spcAft>
            </a:pPr>
            <a:r>
              <a:rPr sz="1425" b="1" i="0" kern="100">
                <a:solidFill>
                  <a:srgbClr val="1B1716"/>
                </a:solidFill>
                <a:latin typeface="Plus Jakarta Sans"/>
              </a:rPr>
              <a:t>family clients</a:t>
            </a:r>
          </a:p>
        </p:txBody>
      </p:sp>
      <p:sp>
        <p:nvSpPr>
          <p:cNvPr id="52" name="!!T across Asia-Pacific, fitting each portfo"/>
          <p:cNvSpPr txBox="1"/>
          <p:nvPr/>
        </p:nvSpPr>
        <p:spPr>
          <a:xfrm>
            <a:off x="6210300" y="2963228"/>
            <a:ext cx="2796025" cy="621506"/>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81818">
                    <a:alpha val="30000"/>
                  </a:srgbClr>
                </a:solidFill>
                <a:latin typeface="Plus Jakarta Sans"/>
              </a:rPr>
              <a:t>across Asia-Pacific, fitting each</a:t>
            </a:r>
          </a:p>
          <a:p>
            <a:pPr algn="l">
              <a:lnSpc>
                <a:spcPts val="1631"/>
              </a:lnSpc>
              <a:spcBef>
                <a:spcPts val="0"/>
              </a:spcBef>
              <a:spcAft>
                <a:spcPts val="0"/>
              </a:spcAft>
            </a:pPr>
            <a:r>
              <a:rPr sz="1125" b="0" i="0" kern="100">
                <a:solidFill>
                  <a:srgbClr val="181818">
                    <a:alpha val="30000"/>
                  </a:srgbClr>
                </a:solidFill>
                <a:latin typeface="Plus Jakarta Sans"/>
              </a:rPr>
              <a:t>portfolio to its owner </a:t>
            </a:r>
            <a:r>
              <a:rPr sz="1125" b="1" i="0" kern="100">
                <a:solidFill>
                  <a:srgbClr val="181818">
                    <a:alpha val="30000"/>
                  </a:srgbClr>
                </a:solidFill>
                <a:latin typeface="Plus Jakarta Sans"/>
              </a:rPr>
              <a:t>on either side of</a:t>
            </a:r>
          </a:p>
          <a:p>
            <a:pPr algn="l">
              <a:lnSpc>
                <a:spcPts val="1631"/>
              </a:lnSpc>
              <a:spcBef>
                <a:spcPts val="0"/>
              </a:spcBef>
              <a:spcAft>
                <a:spcPts val="0"/>
              </a:spcAft>
            </a:pPr>
            <a:r>
              <a:rPr sz="1125" b="1" i="0" kern="100">
                <a:solidFill>
                  <a:srgbClr val="181818">
                    <a:alpha val="30000"/>
                  </a:srgbClr>
                </a:solidFill>
                <a:latin typeface="Plus Jakarta Sans"/>
              </a:rPr>
              <a:t>the boundary</a:t>
            </a:r>
          </a:p>
        </p:txBody>
      </p:sp>
      <p:sp>
        <p:nvSpPr>
          <p:cNvPr id="53" name="!!T across Asia-Pacific, fitting each portfo #2"/>
          <p:cNvSpPr txBox="1"/>
          <p:nvPr/>
        </p:nvSpPr>
        <p:spPr>
          <a:xfrm>
            <a:off x="6210300" y="2963228"/>
            <a:ext cx="2796025" cy="621506"/>
          </a:xfrm>
          <a:prstGeom prst="rect">
            <a:avLst/>
          </a:prstGeom>
          <a:noFill/>
        </p:spPr>
        <p:txBody>
          <a:bodyPr wrap="none" lIns="0" tIns="0" rIns="0" bIns="0" anchor="t">
            <a:noAutofit/>
          </a:bodyPr>
          <a:lstStyle/>
          <a:p>
            <a:pPr algn="l">
              <a:lnSpc>
                <a:spcPts val="1631"/>
              </a:lnSpc>
              <a:spcBef>
                <a:spcPts val="0"/>
              </a:spcBef>
              <a:spcAft>
                <a:spcPts val="0"/>
              </a:spcAft>
            </a:pPr>
            <a:r>
              <a:rPr sz="1125" b="0" i="0" kern="100">
                <a:solidFill>
                  <a:srgbClr val="1B1716"/>
                </a:solidFill>
                <a:latin typeface="Plus Jakarta Sans"/>
              </a:rPr>
              <a:t>across Asia-Pacific, fitting each</a:t>
            </a:r>
          </a:p>
          <a:p>
            <a:pPr algn="l">
              <a:lnSpc>
                <a:spcPts val="1631"/>
              </a:lnSpc>
              <a:spcBef>
                <a:spcPts val="0"/>
              </a:spcBef>
              <a:spcAft>
                <a:spcPts val="0"/>
              </a:spcAft>
            </a:pPr>
            <a:r>
              <a:rPr sz="1125" b="0" i="0" kern="100">
                <a:solidFill>
                  <a:srgbClr val="1B1716"/>
                </a:solidFill>
                <a:latin typeface="Plus Jakarta Sans"/>
              </a:rPr>
              <a:t>portfolio to its owner </a:t>
            </a:r>
            <a:r>
              <a:rPr sz="1125" b="1" i="0" kern="100">
                <a:solidFill>
                  <a:srgbClr val="1B1716"/>
                </a:solidFill>
                <a:latin typeface="Plus Jakarta Sans"/>
              </a:rPr>
              <a:t>on either side of</a:t>
            </a:r>
          </a:p>
          <a:p>
            <a:pPr algn="l">
              <a:lnSpc>
                <a:spcPts val="1631"/>
              </a:lnSpc>
              <a:spcBef>
                <a:spcPts val="0"/>
              </a:spcBef>
              <a:spcAft>
                <a:spcPts val="0"/>
              </a:spcAft>
            </a:pPr>
            <a:r>
              <a:rPr sz="1125" b="1" i="0" kern="100">
                <a:solidFill>
                  <a:srgbClr val="1B1716"/>
                </a:solidFill>
                <a:latin typeface="Plus Jakarta Sans"/>
              </a:rPr>
              <a:t>the boundary</a:t>
            </a:r>
          </a:p>
        </p:txBody>
      </p:sp>
      <p:sp>
        <p:nvSpPr>
          <p:cNvPr id="54" name="!!div 8a4a4c6a"/>
          <p:cNvSpPr/>
          <p:nvPr/>
        </p:nvSpPr>
        <p:spPr>
          <a:xfrm>
            <a:off x="6215062" y="4291012"/>
            <a:ext cx="2638425" cy="1419225"/>
          </a:xfrm>
          <a:prstGeom prst="rect">
            <a:avLst/>
          </a:prstGeom>
          <a:noFill/>
          <a:ln w="9525">
            <a:solidFill>
              <a:srgbClr val="A1A1A1">
                <a:alpha val="30000"/>
              </a:srgbClr>
            </a:solidFill>
            <a:prstDash val="dash"/>
          </a:ln>
        </p:spPr>
        <p:txBody>
          <a:bodyPr rtlCol="0" anchor="ctr"/>
          <a:lstStyle/>
          <a:p>
            <a:pPr algn="ctr"/>
            <a:endParaRPr/>
          </a:p>
        </p:txBody>
      </p:sp>
      <p:sp>
        <p:nvSpPr>
          <p:cNvPr id="55" name="!!div fb8cba3e"/>
          <p:cNvSpPr/>
          <p:nvPr/>
        </p:nvSpPr>
        <p:spPr>
          <a:xfrm>
            <a:off x="6215062" y="4291012"/>
            <a:ext cx="2638425" cy="1419225"/>
          </a:xfrm>
          <a:prstGeom prst="rect">
            <a:avLst/>
          </a:prstGeom>
          <a:noFill/>
          <a:ln w="9525">
            <a:solidFill>
              <a:srgbClr val="B5979D"/>
            </a:solidFill>
            <a:prstDash val="dash"/>
          </a:ln>
        </p:spPr>
        <p:txBody>
          <a:bodyPr rtlCol="0" anchor="ctr"/>
          <a:lstStyle/>
          <a:p>
            <a:pPr algn="ctr"/>
            <a:endParaRPr/>
          </a:p>
        </p:txBody>
      </p:sp>
      <p:sp>
        <p:nvSpPr>
          <p:cNvPr id="56" name="!!T What this plan taught me #4"/>
          <p:cNvSpPr txBox="1"/>
          <p:nvPr/>
        </p:nvSpPr>
        <p:spPr>
          <a:xfrm>
            <a:off x="6391275" y="4439222"/>
            <a:ext cx="178747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3C3C3C">
                    <a:alpha val="30000"/>
                  </a:srgbClr>
                </a:solidFill>
                <a:latin typeface="Plus Jakarta Sans SemiBold"/>
              </a:rPr>
              <a:t>What this plan taught me</a:t>
            </a:r>
          </a:p>
        </p:txBody>
      </p:sp>
      <p:sp>
        <p:nvSpPr>
          <p:cNvPr id="57" name="!!T What this plan taught me #5"/>
          <p:cNvSpPr txBox="1"/>
          <p:nvPr/>
        </p:nvSpPr>
        <p:spPr>
          <a:xfrm>
            <a:off x="6391275" y="4439222"/>
            <a:ext cx="178747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What this plan taught me</a:t>
            </a:r>
          </a:p>
        </p:txBody>
      </p:sp>
      <p:sp>
        <p:nvSpPr>
          <p:cNvPr id="58" name="!!T Win's line, to confirm"/>
          <p:cNvSpPr txBox="1"/>
          <p:nvPr/>
        </p:nvSpPr>
        <p:spPr>
          <a:xfrm>
            <a:off x="6391275" y="4648271"/>
            <a:ext cx="1867305" cy="240030"/>
          </a:xfrm>
          <a:prstGeom prst="rect">
            <a:avLst/>
          </a:prstGeom>
          <a:noFill/>
        </p:spPr>
        <p:txBody>
          <a:bodyPr wrap="none" lIns="0" tIns="0" rIns="0" bIns="0" anchor="t">
            <a:noAutofit/>
          </a:bodyPr>
          <a:lstStyle/>
          <a:p>
            <a:pPr algn="l">
              <a:lnSpc>
                <a:spcPts val="1889"/>
              </a:lnSpc>
              <a:spcBef>
                <a:spcPts val="0"/>
              </a:spcBef>
              <a:spcAft>
                <a:spcPts val="0"/>
              </a:spcAft>
            </a:pPr>
            <a:r>
              <a:rPr sz="1350" b="0" i="0" kern="100">
                <a:solidFill>
                  <a:srgbClr val="6B6B6B">
                    <a:alpha val="30000"/>
                  </a:srgbClr>
                </a:solidFill>
                <a:latin typeface="Plus Jakarta Sans"/>
              </a:rPr>
              <a:t>Win's line, to confirm</a:t>
            </a:r>
          </a:p>
        </p:txBody>
      </p:sp>
      <p:sp>
        <p:nvSpPr>
          <p:cNvPr id="59" name="!!T Win's line, to confirm #2"/>
          <p:cNvSpPr txBox="1"/>
          <p:nvPr/>
        </p:nvSpPr>
        <p:spPr>
          <a:xfrm>
            <a:off x="6391275" y="4648271"/>
            <a:ext cx="1867305" cy="240030"/>
          </a:xfrm>
          <a:prstGeom prst="rect">
            <a:avLst/>
          </a:prstGeom>
          <a:noFill/>
        </p:spPr>
        <p:txBody>
          <a:bodyPr wrap="none" lIns="0" tIns="0" rIns="0" bIns="0" anchor="t">
            <a:noAutofit/>
          </a:bodyPr>
          <a:lstStyle/>
          <a:p>
            <a:pPr algn="l">
              <a:lnSpc>
                <a:spcPts val="1889"/>
              </a:lnSpc>
              <a:spcBef>
                <a:spcPts val="0"/>
              </a:spcBef>
              <a:spcAft>
                <a:spcPts val="0"/>
              </a:spcAft>
            </a:pPr>
            <a:r>
              <a:rPr sz="1350" b="0" i="0" kern="100">
                <a:solidFill>
                  <a:srgbClr val="80606A"/>
                </a:solidFill>
                <a:latin typeface="Plus Jakarta Sans"/>
              </a:rPr>
              <a:t>Win's line, to confirm</a:t>
            </a:r>
          </a:p>
        </p:txBody>
      </p:sp>
      <p:sp>
        <p:nvSpPr>
          <p:cNvPr id="60" name="!!Rule c5222483"/>
          <p:cNvSpPr/>
          <p:nvPr/>
        </p:nvSpPr>
        <p:spPr>
          <a:xfrm>
            <a:off x="9086850" y="1141214"/>
            <a:ext cx="2647950" cy="28575"/>
          </a:xfrm>
          <a:prstGeom prst="rect">
            <a:avLst/>
          </a:prstGeom>
          <a:solidFill>
            <a:srgbClr val="3C3C3C">
              <a:alpha val="30000"/>
            </a:srgbClr>
          </a:solidFill>
          <a:ln>
            <a:noFill/>
          </a:ln>
        </p:spPr>
        <p:txBody>
          <a:bodyPr rtlCol="0" anchor="ctr"/>
          <a:lstStyle/>
          <a:p>
            <a:pPr algn="ctr"/>
            <a:endParaRPr/>
          </a:p>
        </p:txBody>
      </p:sp>
      <p:sp>
        <p:nvSpPr>
          <p:cNvPr id="61" name="!!Rule 6863439a"/>
          <p:cNvSpPr/>
          <p:nvPr/>
        </p:nvSpPr>
        <p:spPr>
          <a:xfrm>
            <a:off x="9086850" y="1141214"/>
            <a:ext cx="2647950" cy="28575"/>
          </a:xfrm>
          <a:prstGeom prst="rect">
            <a:avLst/>
          </a:prstGeom>
          <a:solidFill>
            <a:srgbClr val="971320"/>
          </a:solidFill>
          <a:ln>
            <a:noFill/>
          </a:ln>
        </p:spPr>
        <p:txBody>
          <a:bodyPr rtlCol="0" anchor="ctr"/>
          <a:lstStyle/>
          <a:p>
            <a:pPr algn="ctr"/>
            <a:endParaRPr/>
          </a:p>
        </p:txBody>
      </p:sp>
      <p:sp>
        <p:nvSpPr>
          <p:cNvPr id="62" name="!!span ca5a50b4"/>
          <p:cNvSpPr/>
          <p:nvPr/>
        </p:nvSpPr>
        <p:spPr>
          <a:xfrm>
            <a:off x="9101138" y="1336477"/>
            <a:ext cx="695325" cy="695325"/>
          </a:xfrm>
          <a:prstGeom prst="ellipse">
            <a:avLst/>
          </a:prstGeom>
          <a:gradFill rotWithShape="0">
            <a:gsLst>
              <a:gs pos="0">
                <a:srgbClr val="4C4C4C">
                  <a:alpha val="30000"/>
                </a:srgbClr>
              </a:gs>
              <a:gs pos="100000">
                <a:srgbClr val="2D2D2D">
                  <a:alpha val="30000"/>
                </a:srgbClr>
              </a:gs>
            </a:gsLst>
            <a:lin ang="5400000" scaled="0"/>
          </a:gradFill>
          <a:ln w="28575">
            <a:solidFill>
              <a:srgbClr val="FFFFFF">
                <a:alpha val="30000"/>
              </a:srgbClr>
            </a:solidFill>
          </a:ln>
          <a:effectLst>
            <a:outerShdw blurRad="171450" dist="57150" dir="5400000" algn="ctr" rotWithShape="0">
              <a:srgbClr val="2B2B2B">
                <a:alpha val="4200"/>
              </a:srgbClr>
            </a:outerShdw>
          </a:effectLst>
        </p:spPr>
        <p:txBody>
          <a:bodyPr rtlCol="0" anchor="ctr"/>
          <a:lstStyle/>
          <a:p>
            <a:pPr algn="ctr"/>
            <a:endParaRPr/>
          </a:p>
        </p:txBody>
      </p:sp>
      <p:sp>
        <p:nvSpPr>
          <p:cNvPr id="63" name="!!span 79bc03e5"/>
          <p:cNvSpPr/>
          <p:nvPr/>
        </p:nvSpPr>
        <p:spPr>
          <a:xfrm>
            <a:off x="9101138" y="1336477"/>
            <a:ext cx="695325" cy="695325"/>
          </a:xfrm>
          <a:prstGeom prst="ellipse">
            <a:avLst/>
          </a:prstGeom>
          <a:gradFill rotWithShape="0">
            <a:gsLst>
              <a:gs pos="0">
                <a:srgbClr val="C41627"/>
              </a:gs>
              <a:gs pos="100000">
                <a:srgbClr val="700E19"/>
              </a:gs>
            </a:gsLst>
            <a:lin ang="5400000" scaled="0"/>
          </a:gradFill>
          <a:ln w="28575">
            <a:solidFill>
              <a:srgbClr val="FFFFFF"/>
            </a:solidFill>
          </a:ln>
          <a:effectLst>
            <a:outerShdw blurRad="171450" dist="57150" dir="5400000" algn="ctr" rotWithShape="0">
              <a:srgbClr val="5A1520">
                <a:alpha val="14000"/>
              </a:srgbClr>
            </a:outerShdw>
          </a:effectLst>
        </p:spPr>
        <p:txBody>
          <a:bodyPr rtlCol="0" anchor="ctr"/>
          <a:lstStyle/>
          <a:p>
            <a:pPr algn="ctr"/>
            <a:endParaRPr/>
          </a:p>
        </p:txBody>
      </p:sp>
      <p:pic>
        <p:nvPicPr>
          <p:cNvPr id="64" name="!!Drawing 6bdc6dc6" descr="image.png"/>
          <p:cNvPicPr>
            <a:picLocks noChangeAspect="1"/>
          </p:cNvPicPr>
          <p:nvPr/>
        </p:nvPicPr>
        <p:blipFill>
          <a:blip>
            <a:alphaModFix amt="30000"/>
            <a:grayscl/>
            <a:extLst>
              <a:ext uri="{96DAC541-7B7A-43D3-8B79-37D633B846F1}">
                <asvg:svgBlip xmlns:asvg="http://schemas.microsoft.com/office/drawing/2016/SVG/main" r:embed="rId6"/>
              </a:ext>
            </a:extLst>
          </a:blip>
          <a:stretch>
            <a:fillRect/>
          </a:stretch>
        </p:blipFill>
        <p:spPr>
          <a:xfrm>
            <a:off x="9296400" y="1531739"/>
            <a:ext cx="304800" cy="304800"/>
          </a:xfrm>
          <a:prstGeom prst="rect">
            <a:avLst/>
          </a:prstGeom>
        </p:spPr>
      </p:pic>
      <p:pic>
        <p:nvPicPr>
          <p:cNvPr id="65" name="!!Drawing 6bdc6dc6 #2" descr="imag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96400" y="1531739"/>
            <a:ext cx="304800" cy="304800"/>
          </a:xfrm>
          <a:prstGeom prst="rect">
            <a:avLst/>
          </a:prstGeom>
        </p:spPr>
      </p:pic>
      <p:sp>
        <p:nvSpPr>
          <p:cNvPr id="66" name="!!T Lookbua"/>
          <p:cNvSpPr txBox="1"/>
          <p:nvPr/>
        </p:nvSpPr>
        <p:spPr>
          <a:xfrm>
            <a:off x="9944100" y="1445449"/>
            <a:ext cx="976446" cy="228600"/>
          </a:xfrm>
          <a:prstGeom prst="rect">
            <a:avLst/>
          </a:prstGeom>
          <a:noFill/>
        </p:spPr>
        <p:txBody>
          <a:bodyPr wrap="none" lIns="0" tIns="0" rIns="0" bIns="0" anchor="t">
            <a:noAutofit/>
          </a:bodyPr>
          <a:lstStyle/>
          <a:p>
            <a:pPr algn="l">
              <a:lnSpc>
                <a:spcPts val="1800"/>
              </a:lnSpc>
              <a:spcBef>
                <a:spcPts val="0"/>
              </a:spcBef>
              <a:spcAft>
                <a:spcPts val="0"/>
              </a:spcAft>
            </a:pPr>
            <a:r>
              <a:rPr sz="1500" b="1" i="0" kern="100">
                <a:solidFill>
                  <a:srgbClr val="181818">
                    <a:alpha val="30000"/>
                  </a:srgbClr>
                </a:solidFill>
                <a:latin typeface="Plus Jakarta Sans"/>
              </a:rPr>
              <a:t>Lookbua</a:t>
            </a:r>
          </a:p>
        </p:txBody>
      </p:sp>
      <p:sp>
        <p:nvSpPr>
          <p:cNvPr id="67" name="!!T Lookbua #2"/>
          <p:cNvSpPr txBox="1"/>
          <p:nvPr/>
        </p:nvSpPr>
        <p:spPr>
          <a:xfrm>
            <a:off x="9944100" y="1445449"/>
            <a:ext cx="976446" cy="228600"/>
          </a:xfrm>
          <a:prstGeom prst="rect">
            <a:avLst/>
          </a:prstGeom>
          <a:noFill/>
        </p:spPr>
        <p:txBody>
          <a:bodyPr wrap="none" lIns="0" tIns="0" rIns="0" bIns="0" anchor="t">
            <a:noAutofit/>
          </a:bodyPr>
          <a:lstStyle/>
          <a:p>
            <a:pPr algn="l">
              <a:lnSpc>
                <a:spcPts val="1800"/>
              </a:lnSpc>
              <a:spcBef>
                <a:spcPts val="0"/>
              </a:spcBef>
              <a:spcAft>
                <a:spcPts val="0"/>
              </a:spcAft>
            </a:pPr>
            <a:r>
              <a:rPr sz="1500" b="1" i="0" kern="100">
                <a:solidFill>
                  <a:srgbClr val="1B1716"/>
                </a:solidFill>
                <a:latin typeface="Plus Jakarta Sans"/>
              </a:rPr>
              <a:t>Lookbua</a:t>
            </a:r>
          </a:p>
        </p:txBody>
      </p:sp>
      <p:sp>
        <p:nvSpPr>
          <p:cNvPr id="68" name="!!T Protection and risk"/>
          <p:cNvSpPr txBox="1"/>
          <p:nvPr/>
        </p:nvSpPr>
        <p:spPr>
          <a:xfrm>
            <a:off x="9944100" y="1688812"/>
            <a:ext cx="1451613"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81818">
                    <a:alpha val="30000"/>
                  </a:srgbClr>
                </a:solidFill>
                <a:latin typeface="Plus Jakarta Sans"/>
              </a:rPr>
              <a:t>Protection and risk</a:t>
            </a:r>
          </a:p>
        </p:txBody>
      </p:sp>
      <p:sp>
        <p:nvSpPr>
          <p:cNvPr id="69" name="!!T Protection and risk #2"/>
          <p:cNvSpPr txBox="1"/>
          <p:nvPr/>
        </p:nvSpPr>
        <p:spPr>
          <a:xfrm>
            <a:off x="9944100" y="1688812"/>
            <a:ext cx="1451613" cy="185738"/>
          </a:xfrm>
          <a:prstGeom prst="rect">
            <a:avLst/>
          </a:prstGeom>
          <a:noFill/>
        </p:spPr>
        <p:txBody>
          <a:bodyPr wrap="none" lIns="0" tIns="0" rIns="0" bIns="0" anchor="t">
            <a:noAutofit/>
          </a:bodyPr>
          <a:lstStyle/>
          <a:p>
            <a:pPr algn="l">
              <a:lnSpc>
                <a:spcPts val="1462"/>
              </a:lnSpc>
              <a:spcBef>
                <a:spcPts val="0"/>
              </a:spcBef>
              <a:spcAft>
                <a:spcPts val="0"/>
              </a:spcAft>
            </a:pPr>
            <a:r>
              <a:rPr sz="1125" b="0" i="0" kern="100">
                <a:solidFill>
                  <a:srgbClr val="1B1716"/>
                </a:solidFill>
                <a:latin typeface="Plus Jakarta Sans"/>
              </a:rPr>
              <a:t>Protection and risk</a:t>
            </a:r>
          </a:p>
        </p:txBody>
      </p:sp>
      <p:sp>
        <p:nvSpPr>
          <p:cNvPr id="70" name="!!T In five years #6"/>
          <p:cNvSpPr txBox="1"/>
          <p:nvPr/>
        </p:nvSpPr>
        <p:spPr>
          <a:xfrm>
            <a:off x="9086850" y="2208586"/>
            <a:ext cx="90450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3C3C3C">
                    <a:alpha val="30000"/>
                  </a:srgbClr>
                </a:solidFill>
                <a:latin typeface="Plus Jakarta Sans SemiBold"/>
              </a:rPr>
              <a:t>In five years</a:t>
            </a:r>
          </a:p>
        </p:txBody>
      </p:sp>
      <p:sp>
        <p:nvSpPr>
          <p:cNvPr id="71" name="!!T In five years #7"/>
          <p:cNvSpPr txBox="1"/>
          <p:nvPr/>
        </p:nvSpPr>
        <p:spPr>
          <a:xfrm>
            <a:off x="9086850" y="2208586"/>
            <a:ext cx="90450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In five years</a:t>
            </a:r>
          </a:p>
        </p:txBody>
      </p:sp>
      <p:sp>
        <p:nvSpPr>
          <p:cNvPr id="72" name="!!T A specialist in systems risk"/>
          <p:cNvSpPr txBox="1"/>
          <p:nvPr/>
        </p:nvSpPr>
        <p:spPr>
          <a:xfrm>
            <a:off x="9086850" y="2414683"/>
            <a:ext cx="2553867" cy="235268"/>
          </a:xfrm>
          <a:prstGeom prst="rect">
            <a:avLst/>
          </a:prstGeom>
          <a:noFill/>
        </p:spPr>
        <p:txBody>
          <a:bodyPr wrap="none" lIns="0" tIns="0" rIns="0" bIns="0" anchor="t">
            <a:noAutofit/>
          </a:bodyPr>
          <a:lstStyle/>
          <a:p>
            <a:pPr algn="l">
              <a:lnSpc>
                <a:spcPts val="1852"/>
              </a:lnSpc>
              <a:spcBef>
                <a:spcPts val="0"/>
              </a:spcBef>
              <a:spcAft>
                <a:spcPts val="0"/>
              </a:spcAft>
            </a:pPr>
            <a:r>
              <a:rPr sz="1425" b="1" i="0" kern="100">
                <a:solidFill>
                  <a:srgbClr val="181818">
                    <a:alpha val="30000"/>
                  </a:srgbClr>
                </a:solidFill>
                <a:latin typeface="Plus Jakarta Sans"/>
              </a:rPr>
              <a:t>A specialist in systems risk</a:t>
            </a:r>
          </a:p>
        </p:txBody>
      </p:sp>
      <p:sp>
        <p:nvSpPr>
          <p:cNvPr id="73" name="!!T A specialist in systems risk #2"/>
          <p:cNvSpPr txBox="1"/>
          <p:nvPr/>
        </p:nvSpPr>
        <p:spPr>
          <a:xfrm>
            <a:off x="9086850" y="2414683"/>
            <a:ext cx="2553867" cy="235268"/>
          </a:xfrm>
          <a:prstGeom prst="rect">
            <a:avLst/>
          </a:prstGeom>
          <a:noFill/>
        </p:spPr>
        <p:txBody>
          <a:bodyPr wrap="none" lIns="0" tIns="0" rIns="0" bIns="0" anchor="t">
            <a:noAutofit/>
          </a:bodyPr>
          <a:lstStyle/>
          <a:p>
            <a:pPr algn="l">
              <a:lnSpc>
                <a:spcPts val="1852"/>
              </a:lnSpc>
              <a:spcBef>
                <a:spcPts val="0"/>
              </a:spcBef>
              <a:spcAft>
                <a:spcPts val="0"/>
              </a:spcAft>
            </a:pPr>
            <a:r>
              <a:rPr sz="1425" b="1" i="0" kern="100">
                <a:solidFill>
                  <a:srgbClr val="1B1716"/>
                </a:solidFill>
                <a:latin typeface="Plus Jakarta Sans"/>
              </a:rPr>
              <a:t>A specialist in systems risk</a:t>
            </a:r>
          </a:p>
        </p:txBody>
      </p:sp>
      <p:sp>
        <p:nvSpPr>
          <p:cNvPr id="74" name="!!T the Connect links two markets with diffe"/>
          <p:cNvSpPr txBox="1"/>
          <p:nvPr/>
        </p:nvSpPr>
        <p:spPr>
          <a:xfrm>
            <a:off x="9086850" y="2728079"/>
            <a:ext cx="2673289" cy="621506"/>
          </a:xfrm>
          <a:prstGeom prst="rect">
            <a:avLst/>
          </a:prstGeom>
          <a:noFill/>
        </p:spPr>
        <p:txBody>
          <a:bodyPr wrap="none" lIns="0" tIns="0" rIns="0" bIns="0" anchor="t">
            <a:noAutofit/>
          </a:bodyPr>
          <a:lstStyle/>
          <a:p>
            <a:pPr algn="l">
              <a:lnSpc>
                <a:spcPts val="1631"/>
              </a:lnSpc>
              <a:spcBef>
                <a:spcPts val="0"/>
              </a:spcBef>
              <a:spcAft>
                <a:spcPts val="0"/>
              </a:spcAft>
            </a:pPr>
            <a:r>
              <a:rPr sz="1125" b="1" i="0" kern="100">
                <a:solidFill>
                  <a:srgbClr val="181818">
                    <a:alpha val="30000"/>
                  </a:srgbClr>
                </a:solidFill>
                <a:latin typeface="Plus Jakarta Sans"/>
              </a:rPr>
              <a:t>the Connect links two markets</a:t>
            </a:r>
            <a:r>
              <a:rPr sz="1125" b="0" i="0" kern="100">
                <a:solidFill>
                  <a:srgbClr val="181818">
                    <a:alpha val="30000"/>
                  </a:srgbClr>
                </a:solidFill>
                <a:latin typeface="Plus Jakarta Sans"/>
              </a:rPr>
              <a:t> with</a:t>
            </a:r>
          </a:p>
          <a:p>
            <a:pPr algn="l">
              <a:lnSpc>
                <a:spcPts val="1631"/>
              </a:lnSpc>
              <a:spcBef>
                <a:spcPts val="0"/>
              </a:spcBef>
              <a:spcAft>
                <a:spcPts val="0"/>
              </a:spcAft>
            </a:pPr>
            <a:r>
              <a:rPr sz="1125" b="0" i="0" kern="100">
                <a:solidFill>
                  <a:srgbClr val="181818">
                    <a:alpha val="30000"/>
                  </a:srgbClr>
                </a:solidFill>
                <a:latin typeface="Plus Jakarta Sans"/>
              </a:rPr>
              <a:t>different rules, so a shock in one can</a:t>
            </a:r>
          </a:p>
          <a:p>
            <a:pPr algn="l">
              <a:lnSpc>
                <a:spcPts val="1631"/>
              </a:lnSpc>
              <a:spcBef>
                <a:spcPts val="0"/>
              </a:spcBef>
              <a:spcAft>
                <a:spcPts val="0"/>
              </a:spcAft>
            </a:pPr>
            <a:r>
              <a:rPr sz="1125" b="0" i="0" kern="100">
                <a:solidFill>
                  <a:srgbClr val="181818">
                    <a:alpha val="30000"/>
                  </a:srgbClr>
                </a:solidFill>
                <a:latin typeface="Plus Jakarta Sans"/>
              </a:rPr>
              <a:t>reach the other</a:t>
            </a:r>
          </a:p>
        </p:txBody>
      </p:sp>
      <p:sp>
        <p:nvSpPr>
          <p:cNvPr id="75" name="!!T the Connect links two markets with diffe #2"/>
          <p:cNvSpPr txBox="1"/>
          <p:nvPr/>
        </p:nvSpPr>
        <p:spPr>
          <a:xfrm>
            <a:off x="9086850" y="2728079"/>
            <a:ext cx="2673289" cy="621506"/>
          </a:xfrm>
          <a:prstGeom prst="rect">
            <a:avLst/>
          </a:prstGeom>
          <a:noFill/>
        </p:spPr>
        <p:txBody>
          <a:bodyPr wrap="none" lIns="0" tIns="0" rIns="0" bIns="0" anchor="t">
            <a:noAutofit/>
          </a:bodyPr>
          <a:lstStyle/>
          <a:p>
            <a:pPr algn="l">
              <a:lnSpc>
                <a:spcPts val="1631"/>
              </a:lnSpc>
              <a:spcBef>
                <a:spcPts val="0"/>
              </a:spcBef>
              <a:spcAft>
                <a:spcPts val="0"/>
              </a:spcAft>
            </a:pPr>
            <a:r>
              <a:rPr sz="1125" b="1" i="0" kern="100">
                <a:solidFill>
                  <a:srgbClr val="1B1716"/>
                </a:solidFill>
                <a:latin typeface="Plus Jakarta Sans"/>
              </a:rPr>
              <a:t>the Connect links two markets</a:t>
            </a:r>
            <a:r>
              <a:rPr sz="1125" b="0" i="0" kern="100">
                <a:solidFill>
                  <a:srgbClr val="1B1716"/>
                </a:solidFill>
                <a:latin typeface="Plus Jakarta Sans"/>
              </a:rPr>
              <a:t> with</a:t>
            </a:r>
          </a:p>
          <a:p>
            <a:pPr algn="l">
              <a:lnSpc>
                <a:spcPts val="1631"/>
              </a:lnSpc>
              <a:spcBef>
                <a:spcPts val="0"/>
              </a:spcBef>
              <a:spcAft>
                <a:spcPts val="0"/>
              </a:spcAft>
            </a:pPr>
            <a:r>
              <a:rPr sz="1125" b="0" i="0" kern="100">
                <a:solidFill>
                  <a:srgbClr val="1B1716"/>
                </a:solidFill>
                <a:latin typeface="Plus Jakarta Sans"/>
              </a:rPr>
              <a:t>different rules, so a shock in one can</a:t>
            </a:r>
          </a:p>
          <a:p>
            <a:pPr algn="l">
              <a:lnSpc>
                <a:spcPts val="1631"/>
              </a:lnSpc>
              <a:spcBef>
                <a:spcPts val="0"/>
              </a:spcBef>
              <a:spcAft>
                <a:spcPts val="0"/>
              </a:spcAft>
            </a:pPr>
            <a:r>
              <a:rPr sz="1125" b="0" i="0" kern="100">
                <a:solidFill>
                  <a:srgbClr val="1B1716"/>
                </a:solidFill>
                <a:latin typeface="Plus Jakarta Sans"/>
              </a:rPr>
              <a:t>reach the other</a:t>
            </a:r>
          </a:p>
        </p:txBody>
      </p:sp>
      <p:sp>
        <p:nvSpPr>
          <p:cNvPr id="76" name="!!div dd9e70f6"/>
          <p:cNvSpPr/>
          <p:nvPr/>
        </p:nvSpPr>
        <p:spPr>
          <a:xfrm>
            <a:off x="9086850" y="4286250"/>
            <a:ext cx="2647950" cy="1428750"/>
          </a:xfrm>
          <a:prstGeom prst="rect">
            <a:avLst/>
          </a:prstGeom>
          <a:solidFill>
            <a:srgbClr val="F2F2F2">
              <a:alpha val="30000"/>
            </a:srgbClr>
          </a:solidFill>
          <a:ln>
            <a:noFill/>
          </a:ln>
        </p:spPr>
        <p:txBody>
          <a:bodyPr rtlCol="0" anchor="ctr"/>
          <a:lstStyle/>
          <a:p>
            <a:pPr algn="ctr"/>
            <a:endParaRPr/>
          </a:p>
        </p:txBody>
      </p:sp>
      <p:sp>
        <p:nvSpPr>
          <p:cNvPr id="77" name="!!div b98891b5"/>
          <p:cNvSpPr/>
          <p:nvPr/>
        </p:nvSpPr>
        <p:spPr>
          <a:xfrm>
            <a:off x="9086850" y="4286250"/>
            <a:ext cx="2647950" cy="1428750"/>
          </a:xfrm>
          <a:prstGeom prst="rect">
            <a:avLst/>
          </a:prstGeom>
          <a:solidFill>
            <a:srgbClr val="F8EFF0"/>
          </a:solidFill>
          <a:ln>
            <a:noFill/>
          </a:ln>
        </p:spPr>
        <p:txBody>
          <a:bodyPr rtlCol="0" anchor="ctr"/>
          <a:lstStyle/>
          <a:p>
            <a:pPr algn="ctr"/>
            <a:endParaRPr/>
          </a:p>
        </p:txBody>
      </p:sp>
      <p:sp>
        <p:nvSpPr>
          <p:cNvPr id="78" name="!!T What this plan taught me #6"/>
          <p:cNvSpPr txBox="1"/>
          <p:nvPr/>
        </p:nvSpPr>
        <p:spPr>
          <a:xfrm>
            <a:off x="9258300" y="4429696"/>
            <a:ext cx="178747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3C3C3C">
                    <a:alpha val="30000"/>
                  </a:srgbClr>
                </a:solidFill>
                <a:latin typeface="Plus Jakarta Sans SemiBold"/>
              </a:rPr>
              <a:t>What this plan taught me</a:t>
            </a:r>
          </a:p>
        </p:txBody>
      </p:sp>
      <p:sp>
        <p:nvSpPr>
          <p:cNvPr id="79" name="!!T What this plan taught me #7"/>
          <p:cNvSpPr txBox="1"/>
          <p:nvPr/>
        </p:nvSpPr>
        <p:spPr>
          <a:xfrm>
            <a:off x="9258300" y="4429696"/>
            <a:ext cx="1787479"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971320"/>
                </a:solidFill>
                <a:latin typeface="Plus Jakarta Sans SemiBold"/>
              </a:rPr>
              <a:t>What this plan taught me</a:t>
            </a:r>
          </a:p>
        </p:txBody>
      </p:sp>
      <p:sp>
        <p:nvSpPr>
          <p:cNvPr id="80" name="!!T “Every risk needs a named defence.”"/>
          <p:cNvSpPr txBox="1"/>
          <p:nvPr/>
        </p:nvSpPr>
        <p:spPr>
          <a:xfrm>
            <a:off x="9258300" y="4638746"/>
            <a:ext cx="2390114" cy="479941"/>
          </a:xfrm>
          <a:prstGeom prst="rect">
            <a:avLst/>
          </a:prstGeom>
          <a:noFill/>
        </p:spPr>
        <p:txBody>
          <a:bodyPr wrap="none" lIns="0" tIns="0" rIns="0" bIns="0" anchor="t">
            <a:noAutofit/>
          </a:bodyPr>
          <a:lstStyle/>
          <a:p>
            <a:pPr algn="l">
              <a:lnSpc>
                <a:spcPts val="1889"/>
              </a:lnSpc>
              <a:spcBef>
                <a:spcPts val="0"/>
              </a:spcBef>
              <a:spcAft>
                <a:spcPts val="0"/>
              </a:spcAft>
            </a:pPr>
            <a:r>
              <a:rPr sz="1350" b="0" i="0" kern="100">
                <a:solidFill>
                  <a:srgbClr val="181818">
                    <a:alpha val="30000"/>
                  </a:srgbClr>
                </a:solidFill>
                <a:latin typeface="Plus Jakarta Sans SemiBold"/>
              </a:rPr>
              <a:t>“Every risk needs a named</a:t>
            </a:r>
          </a:p>
          <a:p>
            <a:pPr algn="l">
              <a:lnSpc>
                <a:spcPts val="1889"/>
              </a:lnSpc>
              <a:spcBef>
                <a:spcPts val="0"/>
              </a:spcBef>
              <a:spcAft>
                <a:spcPts val="0"/>
              </a:spcAft>
            </a:pPr>
            <a:r>
              <a:rPr sz="1350" b="0" i="0" kern="100">
                <a:solidFill>
                  <a:srgbClr val="181818">
                    <a:alpha val="30000"/>
                  </a:srgbClr>
                </a:solidFill>
                <a:latin typeface="Plus Jakarta Sans SemiBold"/>
              </a:rPr>
              <a:t>defence.”</a:t>
            </a:r>
          </a:p>
        </p:txBody>
      </p:sp>
      <p:sp>
        <p:nvSpPr>
          <p:cNvPr id="81" name="!!T “Every risk needs a named defence.” #2"/>
          <p:cNvSpPr txBox="1"/>
          <p:nvPr/>
        </p:nvSpPr>
        <p:spPr>
          <a:xfrm>
            <a:off x="9258300" y="4638746"/>
            <a:ext cx="2390114" cy="479941"/>
          </a:xfrm>
          <a:prstGeom prst="rect">
            <a:avLst/>
          </a:prstGeom>
          <a:noFill/>
        </p:spPr>
        <p:txBody>
          <a:bodyPr wrap="none" lIns="0" tIns="0" rIns="0" bIns="0" anchor="t">
            <a:noAutofit/>
          </a:bodyPr>
          <a:lstStyle/>
          <a:p>
            <a:pPr algn="l">
              <a:lnSpc>
                <a:spcPts val="1889"/>
              </a:lnSpc>
              <a:spcBef>
                <a:spcPts val="0"/>
              </a:spcBef>
              <a:spcAft>
                <a:spcPts val="0"/>
              </a:spcAft>
            </a:pPr>
            <a:r>
              <a:rPr sz="1350" b="0" i="0" kern="100">
                <a:solidFill>
                  <a:srgbClr val="1B1716"/>
                </a:solidFill>
                <a:latin typeface="Plus Jakarta Sans SemiBold"/>
              </a:rPr>
              <a:t>“Every risk needs a named</a:t>
            </a:r>
          </a:p>
          <a:p>
            <a:pPr algn="l">
              <a:lnSpc>
                <a:spcPts val="1889"/>
              </a:lnSpc>
              <a:spcBef>
                <a:spcPts val="0"/>
              </a:spcBef>
              <a:spcAft>
                <a:spcPts val="0"/>
              </a:spcAft>
            </a:pPr>
            <a:r>
              <a:rPr sz="1350" b="0" i="0" kern="100">
                <a:solidFill>
                  <a:srgbClr val="1B1716"/>
                </a:solidFill>
                <a:latin typeface="Plus Jakarta Sans SemiBold"/>
              </a:rPr>
              <a:t>defence.”</a:t>
            </a:r>
          </a:p>
        </p:txBody>
      </p:sp>
      <p:sp>
        <p:nvSpPr>
          <p:cNvPr id="82" name="!!p 141984eb"/>
          <p:cNvSpPr/>
          <p:nvPr/>
        </p:nvSpPr>
        <p:spPr>
          <a:xfrm>
            <a:off x="457200" y="5886450"/>
            <a:ext cx="11277600" cy="476250"/>
          </a:xfrm>
          <a:prstGeom prst="rect">
            <a:avLst/>
          </a:prstGeom>
          <a:solidFill>
            <a:srgbClr val="181818">
              <a:alpha val="30000"/>
            </a:srgbClr>
          </a:solidFill>
          <a:ln>
            <a:noFill/>
          </a:ln>
        </p:spPr>
        <p:txBody>
          <a:bodyPr rtlCol="0" anchor="ctr"/>
          <a:lstStyle/>
          <a:p>
            <a:pPr algn="ctr"/>
            <a:endParaRPr/>
          </a:p>
        </p:txBody>
      </p:sp>
      <p:sp>
        <p:nvSpPr>
          <p:cNvPr id="83" name="!!p 442bdd76"/>
          <p:cNvSpPr/>
          <p:nvPr/>
        </p:nvSpPr>
        <p:spPr>
          <a:xfrm>
            <a:off x="457200" y="5886450"/>
            <a:ext cx="11277600" cy="476250"/>
          </a:xfrm>
          <a:prstGeom prst="rect">
            <a:avLst/>
          </a:prstGeom>
          <a:solidFill>
            <a:srgbClr val="1B1716"/>
          </a:solidFill>
          <a:ln>
            <a:noFill/>
          </a:ln>
        </p:spPr>
        <p:txBody>
          <a:bodyPr rtlCol="0" anchor="ctr"/>
          <a:lstStyle/>
          <a:p>
            <a:pPr algn="ctr"/>
            <a:endParaRPr/>
          </a:p>
        </p:txBody>
      </p:sp>
      <p:sp>
        <p:nvSpPr>
          <p:cNvPr id="84" name="!!T What the Wongs taught all four of us: a "/>
          <p:cNvSpPr txBox="1"/>
          <p:nvPr/>
        </p:nvSpPr>
        <p:spPr>
          <a:xfrm>
            <a:off x="1393833" y="5984558"/>
            <a:ext cx="9404184"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alpha val="30000"/>
                  </a:srgbClr>
                </a:solidFill>
                <a:latin typeface="Plus Jakarta Sans SemiBold"/>
              </a:rPr>
              <a:t>What the Wongs taught all four of us: a plan is a set of choices between people, each made clear.</a:t>
            </a:r>
          </a:p>
        </p:txBody>
      </p:sp>
      <p:sp>
        <p:nvSpPr>
          <p:cNvPr id="85" name="!!T What the Wongs taught all four of us: a  #2"/>
          <p:cNvSpPr txBox="1"/>
          <p:nvPr/>
        </p:nvSpPr>
        <p:spPr>
          <a:xfrm>
            <a:off x="1393833" y="5984558"/>
            <a:ext cx="9404184" cy="247650"/>
          </a:xfrm>
          <a:prstGeom prst="rect">
            <a:avLst/>
          </a:prstGeom>
          <a:noFill/>
        </p:spPr>
        <p:txBody>
          <a:bodyPr wrap="none" lIns="0" tIns="0" rIns="0" bIns="0" anchor="t">
            <a:noAutofit/>
          </a:bodyPr>
          <a:lstStyle/>
          <a:p>
            <a:pPr algn="ctr">
              <a:lnSpc>
                <a:spcPts val="1950"/>
              </a:lnSpc>
              <a:spcBef>
                <a:spcPts val="0"/>
              </a:spcBef>
              <a:spcAft>
                <a:spcPts val="0"/>
              </a:spcAft>
            </a:pPr>
            <a:r>
              <a:rPr sz="1500" b="0" i="0" kern="100">
                <a:solidFill>
                  <a:srgbClr val="FFFFFF"/>
                </a:solidFill>
                <a:latin typeface="Plus Jakarta Sans SemiBold"/>
              </a:rPr>
              <a:t>What the Wongs taught all four of us: a plan is a set of choices between people, each made clear.</a:t>
            </a:r>
          </a:p>
        </p:txBody>
      </p:sp>
      <p:sp>
        <p:nvSpPr>
          <p:cNvPr id="86" name="!!T Personal statements: written case p.14. "/>
          <p:cNvSpPr txBox="1"/>
          <p:nvPr/>
        </p:nvSpPr>
        <p:spPr>
          <a:xfrm>
            <a:off x="457200" y="6452104"/>
            <a:ext cx="6082751" cy="29712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Personal statements: written case p.14. Win's line is a draft for Win to confirm; Lookbua's edited line needs</a:t>
            </a:r>
          </a:p>
          <a:p>
            <a:pPr algn="l">
              <a:lnSpc>
                <a:spcPts val="1170"/>
              </a:lnSpc>
              <a:spcBef>
                <a:spcPts val="0"/>
              </a:spcBef>
              <a:spcAft>
                <a:spcPts val="0"/>
              </a:spcAft>
            </a:pPr>
            <a:r>
              <a:rPr sz="900" b="0" i="0" kern="100">
                <a:solidFill>
                  <a:srgbClr val="80606A"/>
                </a:solidFill>
                <a:latin typeface="Plus Jakarta Sans"/>
              </a:rPr>
              <a:t>his OK.</a:t>
            </a:r>
          </a:p>
        </p:txBody>
      </p:sp>
      <p:sp>
        <p:nvSpPr>
          <p:cNvPr id="87" name="!!T The problem"/>
          <p:cNvSpPr txBox="1"/>
          <p:nvPr/>
        </p:nvSpPr>
        <p:spPr>
          <a:xfrm>
            <a:off x="6634311" y="6536246"/>
            <a:ext cx="895201"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problem</a:t>
            </a:r>
          </a:p>
        </p:txBody>
      </p:sp>
      <p:sp>
        <p:nvSpPr>
          <p:cNvPr id="88" name="!!T The answer"/>
          <p:cNvSpPr txBox="1"/>
          <p:nvPr/>
        </p:nvSpPr>
        <p:spPr>
          <a:xfrm>
            <a:off x="7580561" y="6536246"/>
            <a:ext cx="804017"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answer</a:t>
            </a:r>
          </a:p>
        </p:txBody>
      </p:sp>
      <p:sp>
        <p:nvSpPr>
          <p:cNvPr id="89" name="!!T The five calls"/>
          <p:cNvSpPr txBox="1"/>
          <p:nvPr/>
        </p:nvSpPr>
        <p:spPr>
          <a:xfrm>
            <a:off x="8440787" y="6536246"/>
            <a:ext cx="885262"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The five calls</a:t>
            </a:r>
          </a:p>
        </p:txBody>
      </p:sp>
      <p:sp>
        <p:nvSpPr>
          <p:cNvPr id="90" name="!!T Will it hold"/>
          <p:cNvSpPr txBox="1"/>
          <p:nvPr/>
        </p:nvSpPr>
        <p:spPr>
          <a:xfrm>
            <a:off x="9377660" y="6536246"/>
            <a:ext cx="738074"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Will it hold</a:t>
            </a:r>
          </a:p>
        </p:txBody>
      </p:sp>
      <p:sp>
        <p:nvSpPr>
          <p:cNvPr id="91" name="!!T What next"/>
          <p:cNvSpPr txBox="1"/>
          <p:nvPr/>
        </p:nvSpPr>
        <p:spPr>
          <a:xfrm>
            <a:off x="10175677" y="6536246"/>
            <a:ext cx="73523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B5979D"/>
                </a:solidFill>
                <a:latin typeface="Plus Jakarta Sans"/>
              </a:rPr>
              <a:t>What next</a:t>
            </a:r>
          </a:p>
        </p:txBody>
      </p:sp>
      <p:sp>
        <p:nvSpPr>
          <p:cNvPr id="92" name="!!T Us"/>
          <p:cNvSpPr txBox="1"/>
          <p:nvPr/>
        </p:nvSpPr>
        <p:spPr>
          <a:xfrm>
            <a:off x="10971014" y="6536246"/>
            <a:ext cx="275055" cy="123825"/>
          </a:xfrm>
          <a:prstGeom prst="rect">
            <a:avLst/>
          </a:prstGeom>
          <a:noFill/>
        </p:spPr>
        <p:txBody>
          <a:bodyPr wrap="none" lIns="0" tIns="0" rIns="0" bIns="0" anchor="t">
            <a:noAutofit/>
          </a:bodyPr>
          <a:lstStyle/>
          <a:p>
            <a:pPr algn="l">
              <a:lnSpc>
                <a:spcPts val="975"/>
              </a:lnSpc>
              <a:spcBef>
                <a:spcPts val="0"/>
              </a:spcBef>
              <a:spcAft>
                <a:spcPts val="0"/>
              </a:spcAft>
            </a:pPr>
            <a:r>
              <a:rPr sz="975" b="0" i="0" kern="100">
                <a:solidFill>
                  <a:srgbClr val="1B1716"/>
                </a:solidFill>
                <a:latin typeface="Plus Jakarta Sans SemiBold"/>
              </a:rPr>
              <a:t>Us</a:t>
            </a:r>
          </a:p>
        </p:txBody>
      </p:sp>
      <p:sp>
        <p:nvSpPr>
          <p:cNvPr id="93" name="!!T 14 / 15"/>
          <p:cNvSpPr txBox="1"/>
          <p:nvPr/>
        </p:nvSpPr>
        <p:spPr>
          <a:xfrm>
            <a:off x="11351270" y="6535674"/>
            <a:ext cx="520842" cy="133350"/>
          </a:xfrm>
          <a:prstGeom prst="rect">
            <a:avLst/>
          </a:prstGeom>
          <a:noFill/>
        </p:spPr>
        <p:txBody>
          <a:bodyPr wrap="none" lIns="0" tIns="0" rIns="0" bIns="0" anchor="t">
            <a:noAutofit/>
          </a:bodyPr>
          <a:lstStyle/>
          <a:p>
            <a:pPr algn="l">
              <a:lnSpc>
                <a:spcPts val="1050"/>
              </a:lnSpc>
              <a:spcBef>
                <a:spcPts val="0"/>
              </a:spcBef>
              <a:spcAft>
                <a:spcPts val="0"/>
              </a:spcAft>
            </a:pPr>
            <a:r>
              <a:rPr sz="1050" b="0" i="0" kern="100">
                <a:solidFill>
                  <a:srgbClr val="1B1716"/>
                </a:solidFill>
                <a:latin typeface="Plus Jakarta Sans SemiBold"/>
              </a:rPr>
              <a:t>14 / 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3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3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3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3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3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30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30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3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3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300"/>
                                        <p:tgtEl>
                                          <p:spTgt spid="3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3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300"/>
                                        <p:tgtEl>
                                          <p:spTgt spid="3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300"/>
                                        <p:tgtEl>
                                          <p:spTgt spid="41"/>
                                        </p:tgtEl>
                                      </p:cBhvr>
                                    </p:animEffect>
                                  </p:childTnLst>
                                </p:cTn>
                              </p:par>
                              <p:par>
                                <p:cTn id="46" presetID="10" presetClass="entr" presetSubtype="0" fill="hold" nodeType="with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300"/>
                                        <p:tgtEl>
                                          <p:spTgt spid="4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fade">
                                      <p:cBhvr>
                                        <p:cTn id="51" dur="300"/>
                                        <p:tgtEl>
                                          <p:spTgt spid="4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fade">
                                      <p:cBhvr>
                                        <p:cTn id="54" dur="300"/>
                                        <p:tgtEl>
                                          <p:spTgt spid="4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300"/>
                                        <p:tgtEl>
                                          <p:spTgt spid="4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1"/>
                                        </p:tgtEl>
                                        <p:attrNameLst>
                                          <p:attrName>style.visibility</p:attrName>
                                        </p:attrNameLst>
                                      </p:cBhvr>
                                      <p:to>
                                        <p:strVal val="visible"/>
                                      </p:to>
                                    </p:set>
                                    <p:animEffect transition="in" filter="fade">
                                      <p:cBhvr>
                                        <p:cTn id="60" dur="300"/>
                                        <p:tgtEl>
                                          <p:spTgt spid="5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fade">
                                      <p:cBhvr>
                                        <p:cTn id="63" dur="300"/>
                                        <p:tgtEl>
                                          <p:spTgt spid="5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5"/>
                                        </p:tgtEl>
                                        <p:attrNameLst>
                                          <p:attrName>style.visibility</p:attrName>
                                        </p:attrNameLst>
                                      </p:cBhvr>
                                      <p:to>
                                        <p:strVal val="visible"/>
                                      </p:to>
                                    </p:set>
                                    <p:animEffect transition="in" filter="fade">
                                      <p:cBhvr>
                                        <p:cTn id="66" dur="300"/>
                                        <p:tgtEl>
                                          <p:spTgt spid="5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7"/>
                                        </p:tgtEl>
                                        <p:attrNameLst>
                                          <p:attrName>style.visibility</p:attrName>
                                        </p:attrNameLst>
                                      </p:cBhvr>
                                      <p:to>
                                        <p:strVal val="visible"/>
                                      </p:to>
                                    </p:set>
                                    <p:animEffect transition="in" filter="fade">
                                      <p:cBhvr>
                                        <p:cTn id="69" dur="300"/>
                                        <p:tgtEl>
                                          <p:spTgt spid="5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9"/>
                                        </p:tgtEl>
                                        <p:attrNameLst>
                                          <p:attrName>style.visibility</p:attrName>
                                        </p:attrNameLst>
                                      </p:cBhvr>
                                      <p:to>
                                        <p:strVal val="visible"/>
                                      </p:to>
                                    </p:set>
                                    <p:animEffect transition="in" filter="fade">
                                      <p:cBhvr>
                                        <p:cTn id="72" dur="300"/>
                                        <p:tgtEl>
                                          <p:spTgt spid="5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61"/>
                                        </p:tgtEl>
                                        <p:attrNameLst>
                                          <p:attrName>style.visibility</p:attrName>
                                        </p:attrNameLst>
                                      </p:cBhvr>
                                      <p:to>
                                        <p:strVal val="visible"/>
                                      </p:to>
                                    </p:set>
                                    <p:animEffect transition="in" filter="fade">
                                      <p:cBhvr>
                                        <p:cTn id="77" dur="300"/>
                                        <p:tgtEl>
                                          <p:spTgt spid="6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3"/>
                                        </p:tgtEl>
                                        <p:attrNameLst>
                                          <p:attrName>style.visibility</p:attrName>
                                        </p:attrNameLst>
                                      </p:cBhvr>
                                      <p:to>
                                        <p:strVal val="visible"/>
                                      </p:to>
                                    </p:set>
                                    <p:animEffect transition="in" filter="fade">
                                      <p:cBhvr>
                                        <p:cTn id="80" dur="300"/>
                                        <p:tgtEl>
                                          <p:spTgt spid="63"/>
                                        </p:tgtEl>
                                      </p:cBhvr>
                                    </p:animEffect>
                                  </p:childTnLst>
                                </p:cTn>
                              </p:par>
                              <p:par>
                                <p:cTn id="81" presetID="10" presetClass="entr" presetSubtype="0" fill="hold" nodeType="withEffect">
                                  <p:stCondLst>
                                    <p:cond delay="0"/>
                                  </p:stCondLst>
                                  <p:childTnLst>
                                    <p:set>
                                      <p:cBhvr>
                                        <p:cTn id="82" dur="1" fill="hold">
                                          <p:stCondLst>
                                            <p:cond delay="0"/>
                                          </p:stCondLst>
                                        </p:cTn>
                                        <p:tgtEl>
                                          <p:spTgt spid="65"/>
                                        </p:tgtEl>
                                        <p:attrNameLst>
                                          <p:attrName>style.visibility</p:attrName>
                                        </p:attrNameLst>
                                      </p:cBhvr>
                                      <p:to>
                                        <p:strVal val="visible"/>
                                      </p:to>
                                    </p:set>
                                    <p:animEffect transition="in" filter="fade">
                                      <p:cBhvr>
                                        <p:cTn id="83" dur="300"/>
                                        <p:tgtEl>
                                          <p:spTgt spid="6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7"/>
                                        </p:tgtEl>
                                        <p:attrNameLst>
                                          <p:attrName>style.visibility</p:attrName>
                                        </p:attrNameLst>
                                      </p:cBhvr>
                                      <p:to>
                                        <p:strVal val="visible"/>
                                      </p:to>
                                    </p:set>
                                    <p:animEffect transition="in" filter="fade">
                                      <p:cBhvr>
                                        <p:cTn id="86" dur="300"/>
                                        <p:tgtEl>
                                          <p:spTgt spid="6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9"/>
                                        </p:tgtEl>
                                        <p:attrNameLst>
                                          <p:attrName>style.visibility</p:attrName>
                                        </p:attrNameLst>
                                      </p:cBhvr>
                                      <p:to>
                                        <p:strVal val="visible"/>
                                      </p:to>
                                    </p:set>
                                    <p:animEffect transition="in" filter="fade">
                                      <p:cBhvr>
                                        <p:cTn id="89" dur="300"/>
                                        <p:tgtEl>
                                          <p:spTgt spid="6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71"/>
                                        </p:tgtEl>
                                        <p:attrNameLst>
                                          <p:attrName>style.visibility</p:attrName>
                                        </p:attrNameLst>
                                      </p:cBhvr>
                                      <p:to>
                                        <p:strVal val="visible"/>
                                      </p:to>
                                    </p:set>
                                    <p:animEffect transition="in" filter="fade">
                                      <p:cBhvr>
                                        <p:cTn id="92" dur="300"/>
                                        <p:tgtEl>
                                          <p:spTgt spid="7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73"/>
                                        </p:tgtEl>
                                        <p:attrNameLst>
                                          <p:attrName>style.visibility</p:attrName>
                                        </p:attrNameLst>
                                      </p:cBhvr>
                                      <p:to>
                                        <p:strVal val="visible"/>
                                      </p:to>
                                    </p:set>
                                    <p:animEffect transition="in" filter="fade">
                                      <p:cBhvr>
                                        <p:cTn id="95" dur="300"/>
                                        <p:tgtEl>
                                          <p:spTgt spid="7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75"/>
                                        </p:tgtEl>
                                        <p:attrNameLst>
                                          <p:attrName>style.visibility</p:attrName>
                                        </p:attrNameLst>
                                      </p:cBhvr>
                                      <p:to>
                                        <p:strVal val="visible"/>
                                      </p:to>
                                    </p:set>
                                    <p:animEffect transition="in" filter="fade">
                                      <p:cBhvr>
                                        <p:cTn id="98" dur="300"/>
                                        <p:tgtEl>
                                          <p:spTgt spid="75"/>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77"/>
                                        </p:tgtEl>
                                        <p:attrNameLst>
                                          <p:attrName>style.visibility</p:attrName>
                                        </p:attrNameLst>
                                      </p:cBhvr>
                                      <p:to>
                                        <p:strVal val="visible"/>
                                      </p:to>
                                    </p:set>
                                    <p:animEffect transition="in" filter="fade">
                                      <p:cBhvr>
                                        <p:cTn id="101" dur="300"/>
                                        <p:tgtEl>
                                          <p:spTgt spid="7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79"/>
                                        </p:tgtEl>
                                        <p:attrNameLst>
                                          <p:attrName>style.visibility</p:attrName>
                                        </p:attrNameLst>
                                      </p:cBhvr>
                                      <p:to>
                                        <p:strVal val="visible"/>
                                      </p:to>
                                    </p:set>
                                    <p:animEffect transition="in" filter="fade">
                                      <p:cBhvr>
                                        <p:cTn id="104" dur="300"/>
                                        <p:tgtEl>
                                          <p:spTgt spid="79"/>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81"/>
                                        </p:tgtEl>
                                        <p:attrNameLst>
                                          <p:attrName>style.visibility</p:attrName>
                                        </p:attrNameLst>
                                      </p:cBhvr>
                                      <p:to>
                                        <p:strVal val="visible"/>
                                      </p:to>
                                    </p:set>
                                    <p:animEffect transition="in" filter="fade">
                                      <p:cBhvr>
                                        <p:cTn id="107" dur="300"/>
                                        <p:tgtEl>
                                          <p:spTgt spid="8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83"/>
                                        </p:tgtEl>
                                        <p:attrNameLst>
                                          <p:attrName>style.visibility</p:attrName>
                                        </p:attrNameLst>
                                      </p:cBhvr>
                                      <p:to>
                                        <p:strVal val="visible"/>
                                      </p:to>
                                    </p:set>
                                    <p:animEffect transition="in" filter="fade">
                                      <p:cBhvr>
                                        <p:cTn id="110" dur="300"/>
                                        <p:tgtEl>
                                          <p:spTgt spid="8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85"/>
                                        </p:tgtEl>
                                        <p:attrNameLst>
                                          <p:attrName>style.visibility</p:attrName>
                                        </p:attrNameLst>
                                      </p:cBhvr>
                                      <p:to>
                                        <p:strVal val="visible"/>
                                      </p:to>
                                    </p:set>
                                    <p:animEffect transition="in" filter="fade">
                                      <p:cBhvr>
                                        <p:cTn id="113" dur="3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5" grpId="0" animBg="1"/>
      <p:bldP spid="47" grpId="0" animBg="1"/>
      <p:bldP spid="49" grpId="0" animBg="1"/>
      <p:bldP spid="51" grpId="0" animBg="1"/>
      <p:bldP spid="53" grpId="0" animBg="1"/>
      <p:bldP spid="55" grpId="0" animBg="1"/>
      <p:bldP spid="57" grpId="0" animBg="1"/>
      <p:bldP spid="59" grpId="0" animBg="1"/>
      <p:bldP spid="61" grpId="0" animBg="1"/>
      <p:bldP spid="63" grpId="0" animBg="1"/>
      <p:bldP spid="67" grpId="0" animBg="1"/>
      <p:bldP spid="69" grpId="0" animBg="1"/>
      <p:bldP spid="71" grpId="0" animBg="1"/>
      <p:bldP spid="73" grpId="0" animBg="1"/>
      <p:bldP spid="75" grpId="0" animBg="1"/>
      <p:bldP spid="77" grpId="0" animBg="1"/>
      <p:bldP spid="79" grpId="0" animBg="1"/>
      <p:bldP spid="81" grpId="0" animBg="1"/>
      <p:bldP spid="83" grpId="0" animBg="1"/>
      <p:bldP spid="8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Built to Last">
    <p:spTree>
      <p:nvGrpSpPr>
        <p:cNvPr id="1" name=""/>
        <p:cNvGrpSpPr/>
        <p:nvPr/>
      </p:nvGrpSpPr>
      <p:grpSpPr>
        <a:xfrm>
          <a:off x="0" y="0"/>
          <a:ext cx="0" cy="0"/>
          <a:chOff x="0" y="0"/>
          <a:chExt cx="0" cy="0"/>
        </a:xfrm>
      </p:grpSpPr>
      <p:sp>
        <p:nvSpPr>
          <p:cNvPr id="2" name="!!div 86fce566"/>
          <p:cNvSpPr/>
          <p:nvPr/>
        </p:nvSpPr>
        <p:spPr>
          <a:xfrm>
            <a:off x="533400" y="552450"/>
            <a:ext cx="1905000" cy="95250"/>
          </a:xfrm>
          <a:prstGeom prst="rect">
            <a:avLst/>
          </a:prstGeom>
          <a:solidFill>
            <a:srgbClr val="C80E1E"/>
          </a:solidFill>
          <a:ln>
            <a:noFill/>
          </a:ln>
        </p:spPr>
        <p:txBody>
          <a:bodyPr rtlCol="0" anchor="ctr"/>
          <a:lstStyle/>
          <a:p>
            <a:pPr algn="ctr"/>
            <a:endParaRPr/>
          </a:p>
        </p:txBody>
      </p:sp>
      <p:sp>
        <p:nvSpPr>
          <p:cNvPr id="3" name="!!T Built to Last"/>
          <p:cNvSpPr txBox="1"/>
          <p:nvPr/>
        </p:nvSpPr>
        <p:spPr>
          <a:xfrm>
            <a:off x="533400" y="964501"/>
            <a:ext cx="3793054" cy="1962829"/>
          </a:xfrm>
          <a:prstGeom prst="rect">
            <a:avLst/>
          </a:prstGeom>
          <a:noFill/>
        </p:spPr>
        <p:txBody>
          <a:bodyPr wrap="none" lIns="0" tIns="0" rIns="0" bIns="0" anchor="t">
            <a:noAutofit/>
          </a:bodyPr>
          <a:lstStyle/>
          <a:p>
            <a:pPr algn="l">
              <a:lnSpc>
                <a:spcPts val="7728"/>
              </a:lnSpc>
              <a:spcBef>
                <a:spcPts val="0"/>
              </a:spcBef>
              <a:spcAft>
                <a:spcPts val="0"/>
              </a:spcAft>
            </a:pPr>
            <a:r>
              <a:rPr sz="8400" b="0" i="0" kern="100" spc="-150">
                <a:solidFill>
                  <a:srgbClr val="1B1716"/>
                </a:solidFill>
                <a:latin typeface="Plus Jakarta Sans SemiBold"/>
              </a:rPr>
              <a:t>Built to</a:t>
            </a:r>
          </a:p>
          <a:p>
            <a:pPr algn="l">
              <a:lnSpc>
                <a:spcPts val="7728"/>
              </a:lnSpc>
              <a:spcBef>
                <a:spcPts val="0"/>
              </a:spcBef>
              <a:spcAft>
                <a:spcPts val="0"/>
              </a:spcAft>
            </a:pPr>
            <a:r>
              <a:rPr sz="8400" b="0" i="0" kern="100" spc="-150">
                <a:solidFill>
                  <a:srgbClr val="1B1716"/>
                </a:solidFill>
                <a:latin typeface="Plus Jakarta Sans SemiBold"/>
              </a:rPr>
              <a:t>Last</a:t>
            </a:r>
          </a:p>
        </p:txBody>
      </p:sp>
      <p:sp>
        <p:nvSpPr>
          <p:cNvPr id="4" name="!!Rule 5b5f95ac"/>
          <p:cNvSpPr/>
          <p:nvPr/>
        </p:nvSpPr>
        <p:spPr>
          <a:xfrm>
            <a:off x="533400" y="3315295"/>
            <a:ext cx="1765250" cy="19050"/>
          </a:xfrm>
          <a:prstGeom prst="rect">
            <a:avLst/>
          </a:prstGeom>
          <a:solidFill>
            <a:srgbClr val="C80E1E"/>
          </a:solidFill>
          <a:ln>
            <a:noFill/>
          </a:ln>
        </p:spPr>
        <p:txBody>
          <a:bodyPr rtlCol="0" anchor="ctr"/>
          <a:lstStyle/>
          <a:p>
            <a:pPr algn="ctr"/>
            <a:endParaRPr/>
          </a:p>
        </p:txBody>
      </p:sp>
      <p:sp>
        <p:nvSpPr>
          <p:cNvPr id="5" name="!!T 97%"/>
          <p:cNvSpPr txBox="1"/>
          <p:nvPr/>
        </p:nvSpPr>
        <p:spPr>
          <a:xfrm>
            <a:off x="533400" y="3401973"/>
            <a:ext cx="975342"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1B1716"/>
                </a:solidFill>
                <a:latin typeface="Plus Jakarta Sans"/>
              </a:rPr>
              <a:t>97%</a:t>
            </a:r>
          </a:p>
        </p:txBody>
      </p:sp>
      <p:sp>
        <p:nvSpPr>
          <p:cNvPr id="6" name="!!T chance the money lasts to Carmen's 89, f"/>
          <p:cNvSpPr txBox="1"/>
          <p:nvPr/>
        </p:nvSpPr>
        <p:spPr>
          <a:xfrm>
            <a:off x="533400" y="3855458"/>
            <a:ext cx="1853895" cy="539889"/>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chance the money lasts to</a:t>
            </a:r>
          </a:p>
          <a:p>
            <a:pPr algn="l">
              <a:lnSpc>
                <a:spcPts val="1417"/>
              </a:lnSpc>
              <a:spcBef>
                <a:spcPts val="0"/>
              </a:spcBef>
              <a:spcAft>
                <a:spcPts val="0"/>
              </a:spcAft>
            </a:pPr>
            <a:r>
              <a:rPr sz="1050" b="0" i="0" kern="100">
                <a:solidFill>
                  <a:srgbClr val="80606A"/>
                </a:solidFill>
                <a:latin typeface="Plus Jakarta Sans"/>
              </a:rPr>
              <a:t>Carmen's 89, from 62%</a:t>
            </a:r>
          </a:p>
          <a:p>
            <a:pPr algn="l">
              <a:lnSpc>
                <a:spcPts val="1417"/>
              </a:lnSpc>
              <a:spcBef>
                <a:spcPts val="0"/>
              </a:spcBef>
              <a:spcAft>
                <a:spcPts val="0"/>
              </a:spcAft>
            </a:pPr>
            <a:r>
              <a:rPr sz="1050" b="0" i="0" kern="100">
                <a:solidFill>
                  <a:srgbClr val="80606A"/>
                </a:solidFill>
                <a:latin typeface="Plus Jakarta Sans"/>
              </a:rPr>
              <a:t>their own way</a:t>
            </a:r>
          </a:p>
        </p:txBody>
      </p:sp>
      <p:sp>
        <p:nvSpPr>
          <p:cNvPr id="7" name="!!Rule d287fa9e"/>
          <p:cNvSpPr/>
          <p:nvPr/>
        </p:nvSpPr>
        <p:spPr>
          <a:xfrm>
            <a:off x="2546300" y="3315295"/>
            <a:ext cx="1765250" cy="19050"/>
          </a:xfrm>
          <a:prstGeom prst="rect">
            <a:avLst/>
          </a:prstGeom>
          <a:solidFill>
            <a:srgbClr val="C80E1E"/>
          </a:solidFill>
          <a:ln>
            <a:noFill/>
          </a:ln>
        </p:spPr>
        <p:txBody>
          <a:bodyPr rtlCol="0" anchor="ctr"/>
          <a:lstStyle/>
          <a:p>
            <a:pPr algn="ctr"/>
            <a:endParaRPr/>
          </a:p>
        </p:txBody>
      </p:sp>
      <p:sp>
        <p:nvSpPr>
          <p:cNvPr id="8" name="!!T HK$7.7M"/>
          <p:cNvSpPr txBox="1"/>
          <p:nvPr/>
        </p:nvSpPr>
        <p:spPr>
          <a:xfrm>
            <a:off x="2546300" y="3401973"/>
            <a:ext cx="1810985"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1B1716"/>
                </a:solidFill>
                <a:latin typeface="Plus Jakarta Sans"/>
              </a:rPr>
              <a:t>HK$7.7M</a:t>
            </a:r>
          </a:p>
        </p:txBody>
      </p:sp>
      <p:sp>
        <p:nvSpPr>
          <p:cNvPr id="9" name="!!T left to Ryan and Chloe where their own w"/>
          <p:cNvSpPr txBox="1"/>
          <p:nvPr/>
        </p:nvSpPr>
        <p:spPr>
          <a:xfrm>
            <a:off x="2546300" y="3855458"/>
            <a:ext cx="1569616" cy="539889"/>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left to Ryan and Chloe</a:t>
            </a:r>
          </a:p>
          <a:p>
            <a:pPr algn="l">
              <a:lnSpc>
                <a:spcPts val="1417"/>
              </a:lnSpc>
              <a:spcBef>
                <a:spcPts val="0"/>
              </a:spcBef>
              <a:spcAft>
                <a:spcPts val="0"/>
              </a:spcAft>
            </a:pPr>
            <a:r>
              <a:rPr sz="1050" b="0" i="0" kern="100">
                <a:solidFill>
                  <a:srgbClr val="80606A"/>
                </a:solidFill>
                <a:latin typeface="Plus Jakarta Sans"/>
              </a:rPr>
              <a:t>where their own way</a:t>
            </a:r>
          </a:p>
          <a:p>
            <a:pPr algn="l">
              <a:lnSpc>
                <a:spcPts val="1417"/>
              </a:lnSpc>
              <a:spcBef>
                <a:spcPts val="0"/>
              </a:spcBef>
              <a:spcAft>
                <a:spcPts val="0"/>
              </a:spcAft>
            </a:pPr>
            <a:r>
              <a:rPr sz="1050" b="0" i="0" kern="100">
                <a:solidFill>
                  <a:srgbClr val="80606A"/>
                </a:solidFill>
                <a:latin typeface="Plus Jakarta Sans"/>
              </a:rPr>
              <a:t>leaves HK$2.3M</a:t>
            </a:r>
          </a:p>
        </p:txBody>
      </p:sp>
      <p:sp>
        <p:nvSpPr>
          <p:cNvPr id="10" name="!!Rule ea4f3755"/>
          <p:cNvSpPr/>
          <p:nvPr/>
        </p:nvSpPr>
        <p:spPr>
          <a:xfrm>
            <a:off x="4559201" y="3315295"/>
            <a:ext cx="1765250" cy="19050"/>
          </a:xfrm>
          <a:prstGeom prst="rect">
            <a:avLst/>
          </a:prstGeom>
          <a:solidFill>
            <a:srgbClr val="C80E1E"/>
          </a:solidFill>
          <a:ln>
            <a:noFill/>
          </a:ln>
        </p:spPr>
        <p:txBody>
          <a:bodyPr rtlCol="0" anchor="ctr"/>
          <a:lstStyle/>
          <a:p>
            <a:pPr algn="ctr"/>
            <a:endParaRPr/>
          </a:p>
        </p:txBody>
      </p:sp>
      <p:sp>
        <p:nvSpPr>
          <p:cNvPr id="11" name="!!T At 65"/>
          <p:cNvSpPr txBox="1"/>
          <p:nvPr/>
        </p:nvSpPr>
        <p:spPr>
          <a:xfrm>
            <a:off x="4559201" y="3401973"/>
            <a:ext cx="1069524" cy="381000"/>
          </a:xfrm>
          <a:prstGeom prst="rect">
            <a:avLst/>
          </a:prstGeom>
          <a:noFill/>
        </p:spPr>
        <p:txBody>
          <a:bodyPr wrap="none" lIns="0" tIns="0" rIns="0" bIns="0" anchor="t">
            <a:noAutofit/>
          </a:bodyPr>
          <a:lstStyle/>
          <a:p>
            <a:pPr algn="l">
              <a:lnSpc>
                <a:spcPts val="3000"/>
              </a:lnSpc>
              <a:spcBef>
                <a:spcPts val="0"/>
              </a:spcBef>
              <a:spcAft>
                <a:spcPts val="0"/>
              </a:spcAft>
            </a:pPr>
            <a:r>
              <a:rPr sz="3000" b="1" i="0" kern="100" spc="-75">
                <a:solidFill>
                  <a:srgbClr val="1B1716"/>
                </a:solidFill>
                <a:latin typeface="Plus Jakarta Sans"/>
              </a:rPr>
              <a:t>At 65</a:t>
            </a:r>
          </a:p>
        </p:txBody>
      </p:sp>
      <p:sp>
        <p:nvSpPr>
          <p:cNvPr id="12" name="!!T the home their choice, to stay or to mov"/>
          <p:cNvSpPr txBox="1"/>
          <p:nvPr/>
        </p:nvSpPr>
        <p:spPr>
          <a:xfrm>
            <a:off x="4559201" y="3855458"/>
            <a:ext cx="1902485" cy="539889"/>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the home their choice, to</a:t>
            </a:r>
          </a:p>
          <a:p>
            <a:pPr algn="l">
              <a:lnSpc>
                <a:spcPts val="1417"/>
              </a:lnSpc>
              <a:spcBef>
                <a:spcPts val="0"/>
              </a:spcBef>
              <a:spcAft>
                <a:spcPts val="0"/>
              </a:spcAft>
            </a:pPr>
            <a:r>
              <a:rPr sz="1050" b="0" i="0" kern="100">
                <a:solidFill>
                  <a:srgbClr val="80606A"/>
                </a:solidFill>
                <a:latin typeface="Plus Jakarta Sans"/>
              </a:rPr>
              <a:t>stay or to move, not forced</a:t>
            </a:r>
          </a:p>
          <a:p>
            <a:pPr algn="l">
              <a:lnSpc>
                <a:spcPts val="1417"/>
              </a:lnSpc>
              <a:spcBef>
                <a:spcPts val="0"/>
              </a:spcBef>
              <a:spcAft>
                <a:spcPts val="0"/>
              </a:spcAft>
            </a:pPr>
            <a:r>
              <a:rPr sz="1050" b="0" i="0" kern="100">
                <a:solidFill>
                  <a:srgbClr val="80606A"/>
                </a:solidFill>
                <a:latin typeface="Plus Jakarta Sans"/>
              </a:rPr>
              <a:t>at about 83</a:t>
            </a:r>
          </a:p>
        </p:txBody>
      </p:sp>
      <p:sp>
        <p:nvSpPr>
          <p:cNvPr id="13" name="!!T Thank you"/>
          <p:cNvSpPr txBox="1"/>
          <p:nvPr/>
        </p:nvSpPr>
        <p:spPr>
          <a:xfrm>
            <a:off x="533400" y="5412706"/>
            <a:ext cx="1769653" cy="388620"/>
          </a:xfrm>
          <a:prstGeom prst="rect">
            <a:avLst/>
          </a:prstGeom>
          <a:noFill/>
        </p:spPr>
        <p:txBody>
          <a:bodyPr wrap="none" lIns="0" tIns="0" rIns="0" bIns="0" anchor="t">
            <a:noAutofit/>
          </a:bodyPr>
          <a:lstStyle/>
          <a:p>
            <a:pPr algn="l">
              <a:lnSpc>
                <a:spcPts val="3060"/>
              </a:lnSpc>
              <a:spcBef>
                <a:spcPts val="0"/>
              </a:spcBef>
              <a:spcAft>
                <a:spcPts val="0"/>
              </a:spcAft>
            </a:pPr>
            <a:r>
              <a:rPr sz="2550" b="0" i="0" kern="100">
                <a:solidFill>
                  <a:srgbClr val="890816"/>
                </a:solidFill>
                <a:latin typeface="Plus Jakarta Sans SemiBold"/>
              </a:rPr>
              <a:t>Thank you</a:t>
            </a:r>
          </a:p>
        </p:txBody>
      </p:sp>
      <p:sp>
        <p:nvSpPr>
          <p:cNvPr id="14" name="!!T Team Axis"/>
          <p:cNvSpPr txBox="1"/>
          <p:nvPr/>
        </p:nvSpPr>
        <p:spPr>
          <a:xfrm>
            <a:off x="533400" y="6013555"/>
            <a:ext cx="1020934"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Team Axis</a:t>
            </a:r>
          </a:p>
        </p:txBody>
      </p:sp>
      <p:sp>
        <p:nvSpPr>
          <p:cNvPr id="15" name="!!T 2026"/>
          <p:cNvSpPr txBox="1"/>
          <p:nvPr/>
        </p:nvSpPr>
        <p:spPr>
          <a:xfrm>
            <a:off x="533400" y="6246680"/>
            <a:ext cx="471779"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2026</a:t>
            </a:r>
          </a:p>
        </p:txBody>
      </p:sp>
      <p:sp>
        <p:nvSpPr>
          <p:cNvPr id="16" name="!!T Pete"/>
          <p:cNvSpPr txBox="1"/>
          <p:nvPr/>
        </p:nvSpPr>
        <p:spPr>
          <a:xfrm>
            <a:off x="1636365" y="6013555"/>
            <a:ext cx="545452"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Pete</a:t>
            </a:r>
          </a:p>
        </p:txBody>
      </p:sp>
      <p:sp>
        <p:nvSpPr>
          <p:cNvPr id="17" name="!!T Lead adviser"/>
          <p:cNvSpPr txBox="1"/>
          <p:nvPr/>
        </p:nvSpPr>
        <p:spPr>
          <a:xfrm>
            <a:off x="1636365" y="6246680"/>
            <a:ext cx="961302"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Lead adviser</a:t>
            </a:r>
          </a:p>
        </p:txBody>
      </p:sp>
      <p:sp>
        <p:nvSpPr>
          <p:cNvPr id="18" name="!!T Fahtai"/>
          <p:cNvSpPr txBox="1"/>
          <p:nvPr/>
        </p:nvSpPr>
        <p:spPr>
          <a:xfrm>
            <a:off x="2683073" y="6013555"/>
            <a:ext cx="679546"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Fahtai</a:t>
            </a:r>
          </a:p>
        </p:txBody>
      </p:sp>
      <p:sp>
        <p:nvSpPr>
          <p:cNvPr id="19" name="!!T Retirement"/>
          <p:cNvSpPr txBox="1"/>
          <p:nvPr/>
        </p:nvSpPr>
        <p:spPr>
          <a:xfrm>
            <a:off x="2683073" y="6246680"/>
            <a:ext cx="860652"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Retirement</a:t>
            </a:r>
          </a:p>
        </p:txBody>
      </p:sp>
      <p:sp>
        <p:nvSpPr>
          <p:cNvPr id="20" name="!!T Win"/>
          <p:cNvSpPr txBox="1"/>
          <p:nvPr/>
        </p:nvSpPr>
        <p:spPr>
          <a:xfrm>
            <a:off x="3634829" y="6013555"/>
            <a:ext cx="467204"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Win</a:t>
            </a:r>
          </a:p>
        </p:txBody>
      </p:sp>
      <p:sp>
        <p:nvSpPr>
          <p:cNvPr id="21" name="!!T Investment"/>
          <p:cNvSpPr txBox="1"/>
          <p:nvPr/>
        </p:nvSpPr>
        <p:spPr>
          <a:xfrm>
            <a:off x="3634829" y="6246680"/>
            <a:ext cx="866647"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Investment</a:t>
            </a:r>
          </a:p>
        </p:txBody>
      </p:sp>
      <p:sp>
        <p:nvSpPr>
          <p:cNvPr id="22" name="!!T Lookbua"/>
          <p:cNvSpPr txBox="1"/>
          <p:nvPr/>
        </p:nvSpPr>
        <p:spPr>
          <a:xfrm>
            <a:off x="4592241" y="6013555"/>
            <a:ext cx="928961" cy="226219"/>
          </a:xfrm>
          <a:prstGeom prst="rect">
            <a:avLst/>
          </a:prstGeom>
          <a:noFill/>
        </p:spPr>
        <p:txBody>
          <a:bodyPr wrap="none" lIns="0" tIns="0" rIns="0" bIns="0" anchor="t">
            <a:noAutofit/>
          </a:bodyPr>
          <a:lstStyle/>
          <a:p>
            <a:pPr algn="l">
              <a:lnSpc>
                <a:spcPts val="1781"/>
              </a:lnSpc>
              <a:spcBef>
                <a:spcPts val="0"/>
              </a:spcBef>
              <a:spcAft>
                <a:spcPts val="0"/>
              </a:spcAft>
            </a:pPr>
            <a:r>
              <a:rPr sz="1425" b="0" i="0" kern="100">
                <a:solidFill>
                  <a:srgbClr val="1B1716"/>
                </a:solidFill>
                <a:latin typeface="Plus Jakarta Sans SemiBold"/>
              </a:rPr>
              <a:t>Lookbua</a:t>
            </a:r>
          </a:p>
        </p:txBody>
      </p:sp>
      <p:sp>
        <p:nvSpPr>
          <p:cNvPr id="23" name="!!T Protection and risk"/>
          <p:cNvSpPr txBox="1"/>
          <p:nvPr/>
        </p:nvSpPr>
        <p:spPr>
          <a:xfrm>
            <a:off x="4592241" y="6246680"/>
            <a:ext cx="1362480" cy="180023"/>
          </a:xfrm>
          <a:prstGeom prst="rect">
            <a:avLst/>
          </a:prstGeom>
          <a:noFill/>
        </p:spPr>
        <p:txBody>
          <a:bodyPr wrap="none" lIns="0" tIns="0" rIns="0" bIns="0" anchor="t">
            <a:noAutofit/>
          </a:bodyPr>
          <a:lstStyle/>
          <a:p>
            <a:pPr algn="l">
              <a:lnSpc>
                <a:spcPts val="1417"/>
              </a:lnSpc>
              <a:spcBef>
                <a:spcPts val="0"/>
              </a:spcBef>
              <a:spcAft>
                <a:spcPts val="0"/>
              </a:spcAft>
            </a:pPr>
            <a:r>
              <a:rPr sz="1050" b="0" i="0" kern="100">
                <a:solidFill>
                  <a:srgbClr val="80606A"/>
                </a:solidFill>
                <a:latin typeface="Plus Jakarta Sans"/>
              </a:rPr>
              <a:t>Protection and risk</a:t>
            </a:r>
          </a:p>
        </p:txBody>
      </p:sp>
      <p:sp>
        <p:nvSpPr>
          <p:cNvPr id="24" name="!!T Chance and inheritance: 10,000 simulated"/>
          <p:cNvSpPr txBox="1"/>
          <p:nvPr/>
        </p:nvSpPr>
        <p:spPr>
          <a:xfrm>
            <a:off x="533400" y="6547354"/>
            <a:ext cx="4638005" cy="148590"/>
          </a:xfrm>
          <a:prstGeom prst="rect">
            <a:avLst/>
          </a:prstGeom>
          <a:noFill/>
        </p:spPr>
        <p:txBody>
          <a:bodyPr wrap="none" lIns="0" tIns="0" rIns="0" bIns="0" anchor="t">
            <a:noAutofit/>
          </a:bodyPr>
          <a:lstStyle/>
          <a:p>
            <a:pPr algn="l">
              <a:lnSpc>
                <a:spcPts val="1170"/>
              </a:lnSpc>
              <a:spcBef>
                <a:spcPts val="0"/>
              </a:spcBef>
              <a:spcAft>
                <a:spcPts val="0"/>
              </a:spcAft>
            </a:pPr>
            <a:r>
              <a:rPr sz="900" b="0" i="0" kern="100">
                <a:solidFill>
                  <a:srgbClr val="80606A"/>
                </a:solidFill>
                <a:latin typeface="Plus Jakarta Sans"/>
              </a:rPr>
              <a:t>Chance and inheritance: 10,000 simulated markets, today's money (measured).</a:t>
            </a:r>
          </a:p>
        </p:txBody>
      </p:sp>
      <p:sp>
        <p:nvSpPr>
          <p:cNvPr id="25" name="!!div 4180488b"/>
          <p:cNvSpPr/>
          <p:nvPr/>
        </p:nvSpPr>
        <p:spPr>
          <a:xfrm>
            <a:off x="6858000" y="0"/>
            <a:ext cx="5334000" cy="6858000"/>
          </a:xfrm>
          <a:prstGeom prst="rect">
            <a:avLst/>
          </a:prstGeom>
          <a:solidFill>
            <a:srgbClr val="971320"/>
          </a:solidFill>
          <a:ln>
            <a:noFill/>
          </a:ln>
        </p:spPr>
        <p:txBody>
          <a:bodyPr rtlCol="0" anchor="ctr"/>
          <a:lstStyle/>
          <a:p>
            <a:pPr algn="ctr"/>
            <a:endParaRPr/>
          </a:p>
        </p:txBody>
      </p:sp>
      <p:pic>
        <p:nvPicPr>
          <p:cNvPr id="26" name="!!house" descr="imag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16183" y="2081212"/>
            <a:ext cx="2893583" cy="2735509"/>
          </a:xfrm>
          <a:prstGeom prst="rect">
            <a:avLst/>
          </a:prstGeom>
        </p:spPr>
      </p:pic>
      <p:sp>
        <p:nvSpPr>
          <p:cNvPr id="27" name="!!T What passes on"/>
          <p:cNvSpPr txBox="1"/>
          <p:nvPr/>
        </p:nvSpPr>
        <p:spPr>
          <a:xfrm>
            <a:off x="10115550" y="2373297"/>
            <a:ext cx="1334557"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FFFFFF"/>
                </a:solidFill>
                <a:latin typeface="Plus Jakarta Sans SemiBold"/>
              </a:rPr>
              <a:t>What passes on</a:t>
            </a:r>
          </a:p>
        </p:txBody>
      </p:sp>
      <p:sp>
        <p:nvSpPr>
          <p:cNvPr id="28" name="!!T the inheritance kept"/>
          <p:cNvSpPr txBox="1"/>
          <p:nvPr/>
        </p:nvSpPr>
        <p:spPr>
          <a:xfrm>
            <a:off x="10115550" y="2568750"/>
            <a:ext cx="1444356"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E8C6CB"/>
                </a:solidFill>
                <a:latin typeface="Plus Jakarta Sans"/>
              </a:rPr>
              <a:t>the inheritance kept</a:t>
            </a:r>
          </a:p>
        </p:txBody>
      </p:sp>
      <p:sp>
        <p:nvSpPr>
          <p:cNvPr id="29" name="!!T A place for every voice"/>
          <p:cNvSpPr txBox="1"/>
          <p:nvPr/>
        </p:nvSpPr>
        <p:spPr>
          <a:xfrm>
            <a:off x="10115550" y="2923217"/>
            <a:ext cx="1866358"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FFFFFF"/>
                </a:solidFill>
                <a:latin typeface="Plus Jakarta Sans SemiBold"/>
              </a:rPr>
              <a:t>A place for every voice</a:t>
            </a:r>
          </a:p>
        </p:txBody>
      </p:sp>
      <p:sp>
        <p:nvSpPr>
          <p:cNvPr id="30" name="!!T Calls 4 and 5"/>
          <p:cNvSpPr txBox="1"/>
          <p:nvPr/>
        </p:nvSpPr>
        <p:spPr>
          <a:xfrm>
            <a:off x="10115550" y="3118670"/>
            <a:ext cx="945210"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E8C6CB"/>
                </a:solidFill>
                <a:latin typeface="Plus Jakarta Sans"/>
              </a:rPr>
              <a:t>Calls 4 and 5</a:t>
            </a:r>
          </a:p>
        </p:txBody>
      </p:sp>
      <p:sp>
        <p:nvSpPr>
          <p:cNvPr id="31" name="!!T Income for life"/>
          <p:cNvSpPr txBox="1"/>
          <p:nvPr/>
        </p:nvSpPr>
        <p:spPr>
          <a:xfrm>
            <a:off x="10115550" y="3521506"/>
            <a:ext cx="1226019"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FFFFFF"/>
                </a:solidFill>
                <a:latin typeface="Plus Jakarta Sans SemiBold"/>
              </a:rPr>
              <a:t>Income for life</a:t>
            </a:r>
          </a:p>
        </p:txBody>
      </p:sp>
      <p:sp>
        <p:nvSpPr>
          <p:cNvPr id="32" name="!!T Calls 2 and 3"/>
          <p:cNvSpPr txBox="1"/>
          <p:nvPr/>
        </p:nvSpPr>
        <p:spPr>
          <a:xfrm>
            <a:off x="10115550" y="3716959"/>
            <a:ext cx="940004"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E8C6CB"/>
                </a:solidFill>
                <a:latin typeface="Plus Jakarta Sans"/>
              </a:rPr>
              <a:t>Calls 2 and 3</a:t>
            </a:r>
          </a:p>
        </p:txBody>
      </p:sp>
      <p:sp>
        <p:nvSpPr>
          <p:cNvPr id="33" name="!!T Protected first"/>
          <p:cNvSpPr txBox="1"/>
          <p:nvPr/>
        </p:nvSpPr>
        <p:spPr>
          <a:xfrm>
            <a:off x="10115550" y="3974390"/>
            <a:ext cx="1246370"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kern="100">
                <a:solidFill>
                  <a:srgbClr val="FFFFFF"/>
                </a:solidFill>
                <a:latin typeface="Plus Jakarta Sans SemiBold"/>
              </a:rPr>
              <a:t>Protected first</a:t>
            </a:r>
          </a:p>
        </p:txBody>
      </p:sp>
      <p:sp>
        <p:nvSpPr>
          <p:cNvPr id="34" name="!!T Call 1"/>
          <p:cNvSpPr txBox="1"/>
          <p:nvPr/>
        </p:nvSpPr>
        <p:spPr>
          <a:xfrm>
            <a:off x="10115550" y="4169843"/>
            <a:ext cx="445434" cy="173355"/>
          </a:xfrm>
          <a:prstGeom prst="rect">
            <a:avLst/>
          </a:prstGeom>
          <a:noFill/>
        </p:spPr>
        <p:txBody>
          <a:bodyPr wrap="none" lIns="0" tIns="0" rIns="0" bIns="0" anchor="t">
            <a:noAutofit/>
          </a:bodyPr>
          <a:lstStyle/>
          <a:p>
            <a:pPr algn="l">
              <a:lnSpc>
                <a:spcPts val="1364"/>
              </a:lnSpc>
              <a:spcBef>
                <a:spcPts val="0"/>
              </a:spcBef>
              <a:spcAft>
                <a:spcPts val="0"/>
              </a:spcAft>
            </a:pPr>
            <a:r>
              <a:rPr sz="1050" b="0" i="0" kern="100">
                <a:solidFill>
                  <a:srgbClr val="E8C6CB"/>
                </a:solidFill>
                <a:latin typeface="Plus Jakarta Sans"/>
              </a:rPr>
              <a:t>Call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15</Slides>
  <Notes>15</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Built to Last</dc:title>
  <dc:subject>UFP Award 2026, Round Two: a financial proposal for the Wong family</dc:subject>
  <dc:creator>Team Axis</dc:creator>
  <cp:lastModifiedBy>Team Axis</cp:lastModifiedBy>
  <cp:revision>1</cp:revision>
  <dcterms:created xsi:type="dcterms:W3CDTF">2026-10-25T12:20:12Z</dcterms:created>
  <dcterms:modified xsi:type="dcterms:W3CDTF">2026-10-25T12:20:12Z</dcterms:modified>
</cp:coreProperties>
</file>